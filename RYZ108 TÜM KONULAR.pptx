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57"/>
  </p:notesMasterIdLst>
  <p:sldIdLst>
    <p:sldId id="256" r:id="rId2"/>
    <p:sldId id="345" r:id="rId3"/>
    <p:sldId id="327" r:id="rId4"/>
    <p:sldId id="311" r:id="rId5"/>
    <p:sldId id="309" r:id="rId6"/>
    <p:sldId id="265" r:id="rId7"/>
    <p:sldId id="348" r:id="rId8"/>
    <p:sldId id="349" r:id="rId9"/>
    <p:sldId id="352" r:id="rId10"/>
    <p:sldId id="353" r:id="rId11"/>
    <p:sldId id="354" r:id="rId12"/>
    <p:sldId id="355" r:id="rId13"/>
    <p:sldId id="356" r:id="rId14"/>
    <p:sldId id="358" r:id="rId15"/>
    <p:sldId id="359" r:id="rId16"/>
    <p:sldId id="360" r:id="rId17"/>
    <p:sldId id="361" r:id="rId18"/>
    <p:sldId id="362" r:id="rId19"/>
    <p:sldId id="310" r:id="rId20"/>
    <p:sldId id="317" r:id="rId21"/>
    <p:sldId id="329" r:id="rId22"/>
    <p:sldId id="330" r:id="rId23"/>
    <p:sldId id="363" r:id="rId24"/>
    <p:sldId id="312" r:id="rId25"/>
    <p:sldId id="334" r:id="rId26"/>
    <p:sldId id="335" r:id="rId27"/>
    <p:sldId id="383" r:id="rId28"/>
    <p:sldId id="318" r:id="rId29"/>
    <p:sldId id="328" r:id="rId30"/>
    <p:sldId id="267" r:id="rId31"/>
    <p:sldId id="315" r:id="rId32"/>
    <p:sldId id="278" r:id="rId33"/>
    <p:sldId id="338" r:id="rId34"/>
    <p:sldId id="339" r:id="rId35"/>
    <p:sldId id="340" r:id="rId36"/>
    <p:sldId id="314" r:id="rId37"/>
    <p:sldId id="282" r:id="rId38"/>
    <p:sldId id="288" r:id="rId39"/>
    <p:sldId id="364" r:id="rId40"/>
    <p:sldId id="384" r:id="rId41"/>
    <p:sldId id="366" r:id="rId42"/>
    <p:sldId id="368" r:id="rId43"/>
    <p:sldId id="369" r:id="rId44"/>
    <p:sldId id="371" r:id="rId45"/>
    <p:sldId id="373" r:id="rId46"/>
    <p:sldId id="372" r:id="rId47"/>
    <p:sldId id="374" r:id="rId48"/>
    <p:sldId id="375" r:id="rId49"/>
    <p:sldId id="376" r:id="rId50"/>
    <p:sldId id="377" r:id="rId51"/>
    <p:sldId id="378" r:id="rId52"/>
    <p:sldId id="379" r:id="rId53"/>
    <p:sldId id="380" r:id="rId54"/>
    <p:sldId id="381" r:id="rId55"/>
    <p:sldId id="382" r:id="rId56"/>
  </p:sldIdLst>
  <p:sldSz cx="12192000" cy="6858000"/>
  <p:notesSz cx="6858000" cy="9144000"/>
  <p:defaultTextStyle>
    <a:defPPr rtl="0">
      <a:defRPr lang="tr-T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D71E7F-481F-46D6-BE24-2EC414986628}" v="30" dt="2026-05-27T21:58:51.669"/>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94" autoAdjust="0"/>
    <p:restoredTop sz="89548" autoAdjust="0"/>
  </p:normalViewPr>
  <p:slideViewPr>
    <p:cSldViewPr snapToGrid="0">
      <p:cViewPr varScale="1">
        <p:scale>
          <a:sx n="63" d="100"/>
          <a:sy n="63" d="100"/>
        </p:scale>
        <p:origin x="78" y="8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İKE ÖZMEN ARSLAN" userId="b128ab95-86aa-4d7a-a7c0-49c143764621" providerId="ADAL" clId="{D1588729-615E-4A86-9089-4DB067234D6E}"/>
    <pc:docChg chg="undo custSel addSld delSld modSld">
      <pc:chgData name="MELİKE ÖZMEN ARSLAN" userId="b128ab95-86aa-4d7a-a7c0-49c143764621" providerId="ADAL" clId="{D1588729-615E-4A86-9089-4DB067234D6E}" dt="2026-05-27T21:58:51.669" v="358"/>
      <pc:docMkLst>
        <pc:docMk/>
      </pc:docMkLst>
      <pc:sldChg chg="modSp mod">
        <pc:chgData name="MELİKE ÖZMEN ARSLAN" userId="b128ab95-86aa-4d7a-a7c0-49c143764621" providerId="ADAL" clId="{D1588729-615E-4A86-9089-4DB067234D6E}" dt="2026-05-11T01:51:58.826" v="32" actId="20577"/>
        <pc:sldMkLst>
          <pc:docMk/>
          <pc:sldMk cId="1562950394" sldId="327"/>
        </pc:sldMkLst>
        <pc:spChg chg="mod">
          <ac:chgData name="MELİKE ÖZMEN ARSLAN" userId="b128ab95-86aa-4d7a-a7c0-49c143764621" providerId="ADAL" clId="{D1588729-615E-4A86-9089-4DB067234D6E}" dt="2026-05-11T01:51:58.826" v="32" actId="20577"/>
          <ac:spMkLst>
            <pc:docMk/>
            <pc:sldMk cId="1562950394" sldId="327"/>
            <ac:spMk id="10" creationId="{D5158646-DDC2-F900-1D15-3A74B07B4516}"/>
          </ac:spMkLst>
        </pc:spChg>
        <pc:spChg chg="mod">
          <ac:chgData name="MELİKE ÖZMEN ARSLAN" userId="b128ab95-86aa-4d7a-a7c0-49c143764621" providerId="ADAL" clId="{D1588729-615E-4A86-9089-4DB067234D6E}" dt="2026-05-11T01:51:54.501" v="30"/>
          <ac:spMkLst>
            <pc:docMk/>
            <pc:sldMk cId="1562950394" sldId="327"/>
            <ac:spMk id="32" creationId="{FE9B0B1E-6336-D947-FFE6-84D3E11D71EF}"/>
          </ac:spMkLst>
        </pc:spChg>
      </pc:sldChg>
      <pc:sldChg chg="addSp modSp mod">
        <pc:chgData name="MELİKE ÖZMEN ARSLAN" userId="b128ab95-86aa-4d7a-a7c0-49c143764621" providerId="ADAL" clId="{D1588729-615E-4A86-9089-4DB067234D6E}" dt="2026-05-27T21:43:38.996" v="254" actId="27636"/>
        <pc:sldMkLst>
          <pc:docMk/>
          <pc:sldMk cId="3542836423" sldId="364"/>
        </pc:sldMkLst>
        <pc:spChg chg="mod">
          <ac:chgData name="MELİKE ÖZMEN ARSLAN" userId="b128ab95-86aa-4d7a-a7c0-49c143764621" providerId="ADAL" clId="{D1588729-615E-4A86-9089-4DB067234D6E}" dt="2026-05-27T21:43:38.996" v="254" actId="27636"/>
          <ac:spMkLst>
            <pc:docMk/>
            <pc:sldMk cId="3542836423" sldId="364"/>
            <ac:spMk id="3" creationId="{08B49D51-F15E-279E-2CAE-BD1396AB7603}"/>
          </ac:spMkLst>
        </pc:spChg>
        <pc:picChg chg="add mod">
          <ac:chgData name="MELİKE ÖZMEN ARSLAN" userId="b128ab95-86aa-4d7a-a7c0-49c143764621" providerId="ADAL" clId="{D1588729-615E-4A86-9089-4DB067234D6E}" dt="2026-05-27T21:43:20.251" v="246" actId="1076"/>
          <ac:picMkLst>
            <pc:docMk/>
            <pc:sldMk cId="3542836423" sldId="364"/>
            <ac:picMk id="1026" creationId="{CC890E4A-DACF-C74F-3698-B159DEF0323F}"/>
          </ac:picMkLst>
        </pc:picChg>
      </pc:sldChg>
      <pc:sldChg chg="modSp del mod">
        <pc:chgData name="MELİKE ÖZMEN ARSLAN" userId="b128ab95-86aa-4d7a-a7c0-49c143764621" providerId="ADAL" clId="{D1588729-615E-4A86-9089-4DB067234D6E}" dt="2026-05-27T21:51:38.182" v="315" actId="47"/>
        <pc:sldMkLst>
          <pc:docMk/>
          <pc:sldMk cId="994805499" sldId="365"/>
        </pc:sldMkLst>
        <pc:spChg chg="mod">
          <ac:chgData name="MELİKE ÖZMEN ARSLAN" userId="b128ab95-86aa-4d7a-a7c0-49c143764621" providerId="ADAL" clId="{D1588729-615E-4A86-9089-4DB067234D6E}" dt="2026-05-27T21:47:55.750" v="285" actId="20577"/>
          <ac:spMkLst>
            <pc:docMk/>
            <pc:sldMk cId="994805499" sldId="365"/>
            <ac:spMk id="3" creationId="{C1682559-FEB5-D2EB-0D80-F2BEFAEEC3E8}"/>
          </ac:spMkLst>
        </pc:spChg>
      </pc:sldChg>
      <pc:sldChg chg="modSp mod">
        <pc:chgData name="MELİKE ÖZMEN ARSLAN" userId="b128ab95-86aa-4d7a-a7c0-49c143764621" providerId="ADAL" clId="{D1588729-615E-4A86-9089-4DB067234D6E}" dt="2026-05-27T21:52:13.962" v="342" actId="5793"/>
        <pc:sldMkLst>
          <pc:docMk/>
          <pc:sldMk cId="1175327236" sldId="366"/>
        </pc:sldMkLst>
        <pc:spChg chg="mod">
          <ac:chgData name="MELİKE ÖZMEN ARSLAN" userId="b128ab95-86aa-4d7a-a7c0-49c143764621" providerId="ADAL" clId="{D1588729-615E-4A86-9089-4DB067234D6E}" dt="2026-05-27T21:52:13.962" v="342" actId="5793"/>
          <ac:spMkLst>
            <pc:docMk/>
            <pc:sldMk cId="1175327236" sldId="366"/>
            <ac:spMk id="3" creationId="{77F01B16-995C-905E-1628-465E301AD826}"/>
          </ac:spMkLst>
        </pc:spChg>
      </pc:sldChg>
      <pc:sldChg chg="modSp del mod">
        <pc:chgData name="MELİKE ÖZMEN ARSLAN" userId="b128ab95-86aa-4d7a-a7c0-49c143764621" providerId="ADAL" clId="{D1588729-615E-4A86-9089-4DB067234D6E}" dt="2026-05-27T21:52:37.756" v="349" actId="47"/>
        <pc:sldMkLst>
          <pc:docMk/>
          <pc:sldMk cId="2221336648" sldId="367"/>
        </pc:sldMkLst>
        <pc:spChg chg="mod">
          <ac:chgData name="MELİKE ÖZMEN ARSLAN" userId="b128ab95-86aa-4d7a-a7c0-49c143764621" providerId="ADAL" clId="{D1588729-615E-4A86-9089-4DB067234D6E}" dt="2026-05-27T21:52:28.492" v="346" actId="21"/>
          <ac:spMkLst>
            <pc:docMk/>
            <pc:sldMk cId="2221336648" sldId="367"/>
            <ac:spMk id="3" creationId="{DF972AF9-C7D9-728F-3352-5AC12118C05F}"/>
          </ac:spMkLst>
        </pc:spChg>
      </pc:sldChg>
      <pc:sldChg chg="modSp mod">
        <pc:chgData name="MELİKE ÖZMEN ARSLAN" userId="b128ab95-86aa-4d7a-a7c0-49c143764621" providerId="ADAL" clId="{D1588729-615E-4A86-9089-4DB067234D6E}" dt="2026-05-27T21:58:51.669" v="358"/>
        <pc:sldMkLst>
          <pc:docMk/>
          <pc:sldMk cId="1770779744" sldId="368"/>
        </pc:sldMkLst>
        <pc:spChg chg="mod">
          <ac:chgData name="MELİKE ÖZMEN ARSLAN" userId="b128ab95-86aa-4d7a-a7c0-49c143764621" providerId="ADAL" clId="{D1588729-615E-4A86-9089-4DB067234D6E}" dt="2026-05-27T21:58:51.669" v="358"/>
          <ac:spMkLst>
            <pc:docMk/>
            <pc:sldMk cId="1770779744" sldId="368"/>
            <ac:spMk id="3" creationId="{64FFA9F3-75EB-2971-5FE1-11B03C346078}"/>
          </ac:spMkLst>
        </pc:spChg>
      </pc:sldChg>
      <pc:sldChg chg="modSp mod">
        <pc:chgData name="MELİKE ÖZMEN ARSLAN" userId="b128ab95-86aa-4d7a-a7c0-49c143764621" providerId="ADAL" clId="{D1588729-615E-4A86-9089-4DB067234D6E}" dt="2026-05-27T21:52:46.470" v="351" actId="113"/>
        <pc:sldMkLst>
          <pc:docMk/>
          <pc:sldMk cId="4264586280" sldId="369"/>
        </pc:sldMkLst>
        <pc:spChg chg="mod">
          <ac:chgData name="MELİKE ÖZMEN ARSLAN" userId="b128ab95-86aa-4d7a-a7c0-49c143764621" providerId="ADAL" clId="{D1588729-615E-4A86-9089-4DB067234D6E}" dt="2026-05-27T21:52:46.470" v="351" actId="113"/>
          <ac:spMkLst>
            <pc:docMk/>
            <pc:sldMk cId="4264586280" sldId="369"/>
            <ac:spMk id="3" creationId="{BB957DAE-8AFE-D55F-4AB2-9EA40D6BC9E9}"/>
          </ac:spMkLst>
        </pc:spChg>
      </pc:sldChg>
      <pc:sldChg chg="modSp del mod">
        <pc:chgData name="MELİKE ÖZMEN ARSLAN" userId="b128ab95-86aa-4d7a-a7c0-49c143764621" providerId="ADAL" clId="{D1588729-615E-4A86-9089-4DB067234D6E}" dt="2026-05-27T21:52:38.866" v="350" actId="47"/>
        <pc:sldMkLst>
          <pc:docMk/>
          <pc:sldMk cId="3872275356" sldId="370"/>
        </pc:sldMkLst>
        <pc:spChg chg="mod">
          <ac:chgData name="MELİKE ÖZMEN ARSLAN" userId="b128ab95-86aa-4d7a-a7c0-49c143764621" providerId="ADAL" clId="{D1588729-615E-4A86-9089-4DB067234D6E}" dt="2026-05-27T21:52:21.140" v="343" actId="21"/>
          <ac:spMkLst>
            <pc:docMk/>
            <pc:sldMk cId="3872275356" sldId="370"/>
            <ac:spMk id="3" creationId="{4B085A4C-ED53-E65E-047E-A0482A19B2A8}"/>
          </ac:spMkLst>
        </pc:spChg>
      </pc:sldChg>
      <pc:sldChg chg="delSp modSp add mod">
        <pc:chgData name="MELİKE ÖZMEN ARSLAN" userId="b128ab95-86aa-4d7a-a7c0-49c143764621" providerId="ADAL" clId="{D1588729-615E-4A86-9089-4DB067234D6E}" dt="2026-05-11T01:50:25.783" v="20"/>
        <pc:sldMkLst>
          <pc:docMk/>
          <pc:sldMk cId="3338905990" sldId="383"/>
        </pc:sldMkLst>
        <pc:spChg chg="mod">
          <ac:chgData name="MELİKE ÖZMEN ARSLAN" userId="b128ab95-86aa-4d7a-a7c0-49c143764621" providerId="ADAL" clId="{D1588729-615E-4A86-9089-4DB067234D6E}" dt="2026-05-11T01:48:49.040" v="1"/>
          <ac:spMkLst>
            <pc:docMk/>
            <pc:sldMk cId="3338905990" sldId="383"/>
            <ac:spMk id="2" creationId="{D1842293-1B31-F11E-BCD4-6316DD443F0E}"/>
          </ac:spMkLst>
        </pc:spChg>
        <pc:spChg chg="mod">
          <ac:chgData name="MELİKE ÖZMEN ARSLAN" userId="b128ab95-86aa-4d7a-a7c0-49c143764621" providerId="ADAL" clId="{D1588729-615E-4A86-9089-4DB067234D6E}" dt="2026-05-11T01:50:25.783" v="20"/>
          <ac:spMkLst>
            <pc:docMk/>
            <pc:sldMk cId="3338905990" sldId="383"/>
            <ac:spMk id="3" creationId="{E7907F20-CEC8-8407-9B35-92F34A911F62}"/>
          </ac:spMkLst>
        </pc:spChg>
      </pc:sldChg>
      <pc:sldChg chg="delSp modSp add del mod">
        <pc:chgData name="MELİKE ÖZMEN ARSLAN" userId="b128ab95-86aa-4d7a-a7c0-49c143764621" providerId="ADAL" clId="{D1588729-615E-4A86-9089-4DB067234D6E}" dt="2026-05-27T21:51:43.344" v="318" actId="47"/>
        <pc:sldMkLst>
          <pc:docMk/>
          <pc:sldMk cId="2654024110" sldId="384"/>
        </pc:sldMkLst>
        <pc:spChg chg="mod">
          <ac:chgData name="MELİKE ÖZMEN ARSLAN" userId="b128ab95-86aa-4d7a-a7c0-49c143764621" providerId="ADAL" clId="{D1588729-615E-4A86-9089-4DB067234D6E}" dt="2026-05-27T21:44:08.767" v="275"/>
          <ac:spMkLst>
            <pc:docMk/>
            <pc:sldMk cId="2654024110" sldId="384"/>
            <ac:spMk id="3" creationId="{4922EE6B-D7D8-3D3B-C17D-3BDA281F7FFB}"/>
          </ac:spMkLst>
        </pc:spChg>
        <pc:picChg chg="del">
          <ac:chgData name="MELİKE ÖZMEN ARSLAN" userId="b128ab95-86aa-4d7a-a7c0-49c143764621" providerId="ADAL" clId="{D1588729-615E-4A86-9089-4DB067234D6E}" dt="2026-05-27T21:43:50.844" v="256" actId="478"/>
          <ac:picMkLst>
            <pc:docMk/>
            <pc:sldMk cId="2654024110" sldId="384"/>
            <ac:picMk id="1026" creationId="{C6F80702-ABB3-96E7-B03F-695F62CCD767}"/>
          </ac:picMkLst>
        </pc:picChg>
      </pc:sldChg>
      <pc:sldChg chg="new del">
        <pc:chgData name="MELİKE ÖZMEN ARSLAN" userId="b128ab95-86aa-4d7a-a7c0-49c143764621" providerId="ADAL" clId="{D1588729-615E-4A86-9089-4DB067234D6E}" dt="2026-05-27T21:47:59.252" v="287" actId="680"/>
        <pc:sldMkLst>
          <pc:docMk/>
          <pc:sldMk cId="581676790" sldId="385"/>
        </pc:sldMkLst>
      </pc:sldChg>
      <pc:sldChg chg="addSp modSp add del mod modClrScheme chgLayout">
        <pc:chgData name="MELİKE ÖZMEN ARSLAN" userId="b128ab95-86aa-4d7a-a7c0-49c143764621" providerId="ADAL" clId="{D1588729-615E-4A86-9089-4DB067234D6E}" dt="2026-05-27T21:51:36.675" v="314" actId="47"/>
        <pc:sldMkLst>
          <pc:docMk/>
          <pc:sldMk cId="2318723504" sldId="385"/>
        </pc:sldMkLst>
        <pc:spChg chg="mod">
          <ac:chgData name="MELİKE ÖZMEN ARSLAN" userId="b128ab95-86aa-4d7a-a7c0-49c143764621" providerId="ADAL" clId="{D1588729-615E-4A86-9089-4DB067234D6E}" dt="2026-05-27T21:48:18.074" v="295" actId="26606"/>
          <ac:spMkLst>
            <pc:docMk/>
            <pc:sldMk cId="2318723504" sldId="385"/>
            <ac:spMk id="2" creationId="{94D2A2B3-0399-42F6-BE39-684568528007}"/>
          </ac:spMkLst>
        </pc:spChg>
        <pc:spChg chg="mod ord">
          <ac:chgData name="MELİKE ÖZMEN ARSLAN" userId="b128ab95-86aa-4d7a-a7c0-49c143764621" providerId="ADAL" clId="{D1588729-615E-4A86-9089-4DB067234D6E}" dt="2026-05-27T21:49:05.174" v="303" actId="2711"/>
          <ac:spMkLst>
            <pc:docMk/>
            <pc:sldMk cId="2318723504" sldId="385"/>
            <ac:spMk id="3" creationId="{926FF96A-BD3D-4C81-3474-C06C7C40F69C}"/>
          </ac:spMkLst>
        </pc:spChg>
        <pc:picChg chg="add mod">
          <ac:chgData name="MELİKE ÖZMEN ARSLAN" userId="b128ab95-86aa-4d7a-a7c0-49c143764621" providerId="ADAL" clId="{D1588729-615E-4A86-9089-4DB067234D6E}" dt="2026-05-27T21:48:18.074" v="295" actId="26606"/>
          <ac:picMkLst>
            <pc:docMk/>
            <pc:sldMk cId="2318723504" sldId="385"/>
            <ac:picMk id="4" creationId="{84C0632F-3A98-52B4-C71A-73B5D4FC9B08}"/>
          </ac:picMkLst>
        </pc:picChg>
      </pc:sldChg>
      <pc:sldChg chg="delSp modSp add del mod">
        <pc:chgData name="MELİKE ÖZMEN ARSLAN" userId="b128ab95-86aa-4d7a-a7c0-49c143764621" providerId="ADAL" clId="{D1588729-615E-4A86-9089-4DB067234D6E}" dt="2026-05-27T21:51:35.197" v="313" actId="47"/>
        <pc:sldMkLst>
          <pc:docMk/>
          <pc:sldMk cId="3409698322" sldId="386"/>
        </pc:sldMkLst>
        <pc:spChg chg="mod">
          <ac:chgData name="MELİKE ÖZMEN ARSLAN" userId="b128ab95-86aa-4d7a-a7c0-49c143764621" providerId="ADAL" clId="{D1588729-615E-4A86-9089-4DB067234D6E}" dt="2026-05-27T21:49:41.789" v="307" actId="2711"/>
          <ac:spMkLst>
            <pc:docMk/>
            <pc:sldMk cId="3409698322" sldId="386"/>
            <ac:spMk id="3" creationId="{042B6239-6BF9-343E-ED68-B746BB489C82}"/>
          </ac:spMkLst>
        </pc:spChg>
        <pc:picChg chg="del">
          <ac:chgData name="MELİKE ÖZMEN ARSLAN" userId="b128ab95-86aa-4d7a-a7c0-49c143764621" providerId="ADAL" clId="{D1588729-615E-4A86-9089-4DB067234D6E}" dt="2026-05-27T21:48:22.154" v="297" actId="478"/>
          <ac:picMkLst>
            <pc:docMk/>
            <pc:sldMk cId="3409698322" sldId="386"/>
            <ac:picMk id="4" creationId="{D6AAFFEF-D0FD-CAB4-4694-3A921E7B8C97}"/>
          </ac:picMkLst>
        </pc:picChg>
      </pc:sldChg>
      <pc:sldChg chg="modSp add del mod">
        <pc:chgData name="MELİKE ÖZMEN ARSLAN" userId="b128ab95-86aa-4d7a-a7c0-49c143764621" providerId="ADAL" clId="{D1588729-615E-4A86-9089-4DB067234D6E}" dt="2026-05-27T21:51:40.004" v="316" actId="47"/>
        <pc:sldMkLst>
          <pc:docMk/>
          <pc:sldMk cId="3003390492" sldId="387"/>
        </pc:sldMkLst>
        <pc:spChg chg="mod">
          <ac:chgData name="MELİKE ÖZMEN ARSLAN" userId="b128ab95-86aa-4d7a-a7c0-49c143764621" providerId="ADAL" clId="{D1588729-615E-4A86-9089-4DB067234D6E}" dt="2026-05-27T21:50:14.822" v="311" actId="2711"/>
          <ac:spMkLst>
            <pc:docMk/>
            <pc:sldMk cId="3003390492" sldId="387"/>
            <ac:spMk id="3" creationId="{767E8A25-30A9-9E01-B3BF-D5F8958B160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1B7890-EF7E-4A00-8225-D9B1514E22C8}" type="datetimeFigureOut">
              <a:rPr lang="en-US" smtClean="0"/>
              <a:t>5/28/2026</a:t>
            </a:fld>
            <a:endParaRPr lang="en-US"/>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9CAE08-EC66-486C-A15B-3F6261280469}" type="slidenum">
              <a:rPr lang="en-US" smtClean="0"/>
              <a:t>‹#›</a:t>
            </a:fld>
            <a:endParaRPr lang="en-US"/>
          </a:p>
        </p:txBody>
      </p:sp>
    </p:spTree>
    <p:extLst>
      <p:ext uri="{BB962C8B-B14F-4D97-AF65-F5344CB8AC3E}">
        <p14:creationId xmlns:p14="http://schemas.microsoft.com/office/powerpoint/2010/main" val="3543653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09CAE08-EC66-486C-A15B-3F6261280469}" type="slidenum">
              <a:rPr lang="en-US" smtClean="0"/>
              <a:t>21</a:t>
            </a:fld>
            <a:endParaRPr lang="en-US"/>
          </a:p>
        </p:txBody>
      </p:sp>
    </p:spTree>
    <p:extLst>
      <p:ext uri="{BB962C8B-B14F-4D97-AF65-F5344CB8AC3E}">
        <p14:creationId xmlns:p14="http://schemas.microsoft.com/office/powerpoint/2010/main" val="3391485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09CAE08-EC66-486C-A15B-3F6261280469}" type="slidenum">
              <a:rPr lang="en-US" smtClean="0"/>
              <a:t>24</a:t>
            </a:fld>
            <a:endParaRPr lang="en-US"/>
          </a:p>
        </p:txBody>
      </p:sp>
    </p:spTree>
    <p:extLst>
      <p:ext uri="{BB962C8B-B14F-4D97-AF65-F5344CB8AC3E}">
        <p14:creationId xmlns:p14="http://schemas.microsoft.com/office/powerpoint/2010/main" val="3824886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dirty="0"/>
          </a:p>
        </p:txBody>
      </p:sp>
      <p:sp>
        <p:nvSpPr>
          <p:cNvPr id="4" name="Slayt Numarası Yer Tutucusu 3"/>
          <p:cNvSpPr>
            <a:spLocks noGrp="1"/>
          </p:cNvSpPr>
          <p:nvPr>
            <p:ph type="sldNum" sz="quarter" idx="5"/>
          </p:nvPr>
        </p:nvSpPr>
        <p:spPr/>
        <p:txBody>
          <a:bodyPr/>
          <a:lstStyle/>
          <a:p>
            <a:fld id="{409CAE08-EC66-486C-A15B-3F6261280469}" type="slidenum">
              <a:rPr lang="en-US" smtClean="0"/>
              <a:t>31</a:t>
            </a:fld>
            <a:endParaRPr lang="en-US"/>
          </a:p>
        </p:txBody>
      </p:sp>
    </p:spTree>
    <p:extLst>
      <p:ext uri="{BB962C8B-B14F-4D97-AF65-F5344CB8AC3E}">
        <p14:creationId xmlns:p14="http://schemas.microsoft.com/office/powerpoint/2010/main" val="767291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09CAE08-EC66-486C-A15B-3F6261280469}" type="slidenum">
              <a:rPr lang="en-US" smtClean="0"/>
              <a:t>38</a:t>
            </a:fld>
            <a:endParaRPr lang="en-US"/>
          </a:p>
        </p:txBody>
      </p:sp>
    </p:spTree>
    <p:extLst>
      <p:ext uri="{BB962C8B-B14F-4D97-AF65-F5344CB8AC3E}">
        <p14:creationId xmlns:p14="http://schemas.microsoft.com/office/powerpoint/2010/main" val="30722464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bg>
      <p:bgPr>
        <a:gradFill>
          <a:gsLst>
            <a:gs pos="0">
              <a:schemeClr val="accent1">
                <a:lumMod val="5000"/>
                <a:lumOff val="95000"/>
              </a:schemeClr>
            </a:gs>
            <a:gs pos="100000">
              <a:schemeClr val="bg1">
                <a:lumMod val="65000"/>
              </a:schemeClr>
            </a:gs>
          </a:gsLst>
          <a:lin ang="5400000" scaled="1"/>
        </a:gradFill>
        <a:effectLst/>
      </p:bgPr>
    </p:bg>
    <p:spTree>
      <p:nvGrpSpPr>
        <p:cNvPr id="1" name=""/>
        <p:cNvGrpSpPr/>
        <p:nvPr/>
      </p:nvGrpSpPr>
      <p:grpSpPr>
        <a:xfrm>
          <a:off x="0" y="0"/>
          <a:ext cx="0" cy="0"/>
          <a:chOff x="0" y="0"/>
          <a:chExt cx="0" cy="0"/>
        </a:xfrm>
      </p:grpSpPr>
      <p:sp>
        <p:nvSpPr>
          <p:cNvPr id="2" name="Başlık 1"/>
          <p:cNvSpPr>
            <a:spLocks noGrp="1"/>
          </p:cNvSpPr>
          <p:nvPr>
            <p:ph type="ctrTitle"/>
          </p:nvPr>
        </p:nvSpPr>
        <p:spPr>
          <a:xfrm>
            <a:off x="350520" y="990600"/>
            <a:ext cx="4511039" cy="3124935"/>
          </a:xfrm>
        </p:spPr>
        <p:txBody>
          <a:bodyPr rtlCol="0" anchor="b">
            <a:noAutofit/>
          </a:bodyPr>
          <a:lstStyle>
            <a:lvl1pPr algn="ctr">
              <a:defRPr sz="5400">
                <a:solidFill>
                  <a:srgbClr val="C00000"/>
                </a:solidFill>
              </a:defRPr>
            </a:lvl1pPr>
          </a:lstStyle>
          <a:p>
            <a:pPr rtl="0"/>
            <a:r>
              <a:rPr lang="tr-TR" noProof="0" dirty="0"/>
              <a:t>Asıl başlık stilini düzenlemek için tıklayın</a:t>
            </a:r>
          </a:p>
        </p:txBody>
      </p:sp>
      <p:sp>
        <p:nvSpPr>
          <p:cNvPr id="3" name="Alt Başlık 2"/>
          <p:cNvSpPr>
            <a:spLocks noGrp="1"/>
          </p:cNvSpPr>
          <p:nvPr>
            <p:ph type="subTitle" idx="1" hasCustomPrompt="1"/>
          </p:nvPr>
        </p:nvSpPr>
        <p:spPr>
          <a:xfrm>
            <a:off x="350520" y="4394039"/>
            <a:ext cx="4511040" cy="1117687"/>
          </a:xfrm>
        </p:spPr>
        <p:txBody>
          <a:bodyPr rtlCol="0">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tr-TR" noProof="0"/>
              <a:t>Asıl alt başlık stilini düzenlemek için tıklatın</a:t>
            </a:r>
          </a:p>
        </p:txBody>
      </p:sp>
      <p:sp>
        <p:nvSpPr>
          <p:cNvPr id="4" name="Tarih Yer Tutucusu 3"/>
          <p:cNvSpPr>
            <a:spLocks noGrp="1"/>
          </p:cNvSpPr>
          <p:nvPr>
            <p:ph type="dt" sz="half" idx="10"/>
          </p:nvPr>
        </p:nvSpPr>
        <p:spPr>
          <a:xfrm>
            <a:off x="8112956" y="5936187"/>
            <a:ext cx="2743200" cy="365125"/>
          </a:xfrm>
        </p:spPr>
        <p:txBody>
          <a:bodyPr rtlCol="0"/>
          <a:lstStyle/>
          <a:p>
            <a:fld id="{698736D7-D2AE-4EA5-B5D2-DEF3C4B5553A}" type="datetimeFigureOut">
              <a:rPr lang="tr-TR" smtClean="0"/>
              <a:t>28.05.2026</a:t>
            </a:fld>
            <a:endParaRPr lang="tr-TR"/>
          </a:p>
        </p:txBody>
      </p:sp>
      <p:pic>
        <p:nvPicPr>
          <p:cNvPr id="8" name="Picture 2" descr="Machine Learning Delivers a Breakthrough in Color Correction">
            <a:extLst>
              <a:ext uri="{FF2B5EF4-FFF2-40B4-BE49-F238E27FC236}">
                <a16:creationId xmlns:a16="http://schemas.microsoft.com/office/drawing/2014/main" id="{1E52DFB5-4C72-72DE-8EB5-7433C422E2ED}"/>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42032"/>
          <a:stretch>
            <a:fillRect/>
          </a:stretch>
        </p:blipFill>
        <p:spPr bwMode="auto">
          <a:xfrm>
            <a:off x="5375796" y="0"/>
            <a:ext cx="681620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1399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şlık ve Birden Çok İçerik">
    <p:spTree>
      <p:nvGrpSpPr>
        <p:cNvPr id="1" name=""/>
        <p:cNvGrpSpPr/>
        <p:nvPr/>
      </p:nvGrpSpPr>
      <p:grpSpPr>
        <a:xfrm>
          <a:off x="0" y="0"/>
          <a:ext cx="0" cy="0"/>
          <a:chOff x="0" y="0"/>
          <a:chExt cx="0" cy="0"/>
        </a:xfrm>
      </p:grpSpPr>
      <p:sp>
        <p:nvSpPr>
          <p:cNvPr id="8" name="Metin Yer Tutucusu 7">
            <a:extLst>
              <a:ext uri="{FF2B5EF4-FFF2-40B4-BE49-F238E27FC236}">
                <a16:creationId xmlns:a16="http://schemas.microsoft.com/office/drawing/2014/main" id="{4E106B9E-EBA8-4369-8705-FDBBA60DC72E}"/>
              </a:ext>
            </a:extLst>
          </p:cNvPr>
          <p:cNvSpPr>
            <a:spLocks noGrp="1"/>
          </p:cNvSpPr>
          <p:nvPr>
            <p:ph type="body" sz="quarter" idx="13"/>
          </p:nvPr>
        </p:nvSpPr>
        <p:spPr>
          <a:xfrm>
            <a:off x="1860549" y="2101850"/>
            <a:ext cx="4433401" cy="823913"/>
          </a:xfrm>
        </p:spPr>
        <p:txBody>
          <a:bodyPr rtlCol="0" anchor="ctr" anchorCtr="0"/>
          <a:lstStyle>
            <a:lvl1pPr algn="l">
              <a:defRPr/>
            </a:lvl1pPr>
            <a:lvl2pPr algn="l">
              <a:defRPr/>
            </a:lvl2pPr>
            <a:lvl3pPr algn="l">
              <a:defRPr/>
            </a:lvl3pPr>
            <a:lvl4pPr algn="l">
              <a:defRPr/>
            </a:lvl4pPr>
            <a:lvl5pPr algn="l">
              <a:defRPr/>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grpSp>
        <p:nvGrpSpPr>
          <p:cNvPr id="11" name="Grup 10">
            <a:extLst>
              <a:ext uri="{FF2B5EF4-FFF2-40B4-BE49-F238E27FC236}">
                <a16:creationId xmlns:a16="http://schemas.microsoft.com/office/drawing/2014/main" id="{180D0165-A38B-4CE8-AE4D-186DBC04F8D4}"/>
              </a:ext>
            </a:extLst>
          </p:cNvPr>
          <p:cNvGrpSpPr/>
          <p:nvPr/>
        </p:nvGrpSpPr>
        <p:grpSpPr bwMode="ltGray">
          <a:xfrm rot="5400000">
            <a:off x="7251814" y="1766245"/>
            <a:ext cx="4959501" cy="5224009"/>
            <a:chOff x="7232499" y="-159283"/>
            <a:chExt cx="4959501" cy="5224009"/>
          </a:xfrm>
          <a:solidFill>
            <a:schemeClr val="tx1">
              <a:alpha val="75000"/>
            </a:schemeClr>
          </a:solidFill>
        </p:grpSpPr>
        <p:pic>
          <p:nvPicPr>
            <p:cNvPr id="12" name="Grafik 11" descr="Tek dişli">
              <a:extLst>
                <a:ext uri="{FF2B5EF4-FFF2-40B4-BE49-F238E27FC236}">
                  <a16:creationId xmlns:a16="http://schemas.microsoft.com/office/drawing/2014/main" id="{90C052C9-F1E0-4264-8CAC-31B0B8F76D67}"/>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18078" r="23442"/>
            <a:stretch/>
          </p:blipFill>
          <p:spPr bwMode="ltGray">
            <a:xfrm>
              <a:off x="8994950" y="0"/>
              <a:ext cx="3197050" cy="3421066"/>
            </a:xfrm>
            <a:prstGeom prst="rect">
              <a:avLst/>
            </a:prstGeom>
          </p:spPr>
        </p:pic>
        <p:pic>
          <p:nvPicPr>
            <p:cNvPr id="13" name="Grafik 12" descr="Tek dişli">
              <a:extLst>
                <a:ext uri="{FF2B5EF4-FFF2-40B4-BE49-F238E27FC236}">
                  <a16:creationId xmlns:a16="http://schemas.microsoft.com/office/drawing/2014/main" id="{892FFF3D-7B2E-44EB-83BA-5453FEC489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7232499" y="667872"/>
              <a:ext cx="2880000" cy="2880000"/>
            </a:xfrm>
            <a:prstGeom prst="rect">
              <a:avLst/>
            </a:prstGeom>
          </p:spPr>
        </p:pic>
        <p:pic>
          <p:nvPicPr>
            <p:cNvPr id="14" name="Grafik 13" descr="Tek dişli">
              <a:extLst>
                <a:ext uri="{FF2B5EF4-FFF2-40B4-BE49-F238E27FC236}">
                  <a16:creationId xmlns:a16="http://schemas.microsoft.com/office/drawing/2014/main" id="{CC5A9AF4-A787-49A3-83CF-889F9AEE0D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746667" y="2184726"/>
              <a:ext cx="2880000" cy="2880000"/>
            </a:xfrm>
            <a:prstGeom prst="rect">
              <a:avLst/>
            </a:prstGeom>
          </p:spPr>
        </p:pic>
        <p:pic>
          <p:nvPicPr>
            <p:cNvPr id="19" name="Grafik 18" descr="Tek dişli">
              <a:extLst>
                <a:ext uri="{FF2B5EF4-FFF2-40B4-BE49-F238E27FC236}">
                  <a16:creationId xmlns:a16="http://schemas.microsoft.com/office/drawing/2014/main" id="{B5D192A5-6FE9-49BC-9104-102935BA03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501643" y="-159283"/>
              <a:ext cx="1620000" cy="1620000"/>
            </a:xfrm>
            <a:prstGeom prst="rect">
              <a:avLst/>
            </a:prstGeom>
          </p:spPr>
        </p:pic>
      </p:grpSp>
      <p:pic>
        <p:nvPicPr>
          <p:cNvPr id="15" name="Resim 14"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Resim 15" descr="HD-ShadowShor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Dikdörtgen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18" name="Dikdörtgen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Başlık 1"/>
          <p:cNvSpPr>
            <a:spLocks noGrp="1"/>
          </p:cNvSpPr>
          <p:nvPr>
            <p:ph type="title"/>
          </p:nvPr>
        </p:nvSpPr>
        <p:spPr/>
        <p:txBody>
          <a:bodyPr rtlCol="0"/>
          <a:lstStyle/>
          <a:p>
            <a:pPr rtl="0"/>
            <a:r>
              <a:rPr lang="tr-TR" noProof="0"/>
              <a:t>Asıl başlık stilini düzenlemek için tıklayın</a:t>
            </a:r>
          </a:p>
        </p:txBody>
      </p:sp>
      <p:sp>
        <p:nvSpPr>
          <p:cNvPr id="4" name="Tarih Yer Tutucusu 3"/>
          <p:cNvSpPr>
            <a:spLocks noGrp="1"/>
          </p:cNvSpPr>
          <p:nvPr>
            <p:ph type="dt" sz="half" idx="10"/>
          </p:nvPr>
        </p:nvSpPr>
        <p:spPr/>
        <p:txBody>
          <a:bodyPr rtlCol="0"/>
          <a:lstStyle/>
          <a:p>
            <a:fld id="{698736D7-D2AE-4EA5-B5D2-DEF3C4B5553A}" type="datetimeFigureOut">
              <a:rPr lang="tr-TR" smtClean="0"/>
              <a:t>28.05.2026</a:t>
            </a:fld>
            <a:endParaRPr lang="tr-TR"/>
          </a:p>
        </p:txBody>
      </p:sp>
      <p:sp>
        <p:nvSpPr>
          <p:cNvPr id="5" name="Alt Bilgi Yer Tutucusu 4"/>
          <p:cNvSpPr>
            <a:spLocks noGrp="1"/>
          </p:cNvSpPr>
          <p:nvPr>
            <p:ph type="ftr" sz="quarter" idx="11"/>
          </p:nvPr>
        </p:nvSpPr>
        <p:spPr/>
        <p:txBody>
          <a:bodyPr rtlCol="0"/>
          <a:lstStyle/>
          <a:p>
            <a:endParaRPr lang="tr-TR"/>
          </a:p>
        </p:txBody>
      </p:sp>
      <p:sp>
        <p:nvSpPr>
          <p:cNvPr id="6" name="Slayt Numarası Yer Tutucusu 5"/>
          <p:cNvSpPr>
            <a:spLocks noGrp="1"/>
          </p:cNvSpPr>
          <p:nvPr>
            <p:ph type="sldNum" sz="quarter" idx="12"/>
          </p:nvPr>
        </p:nvSpPr>
        <p:spPr/>
        <p:txBody>
          <a:bodyPr rtlCol="0"/>
          <a:lstStyle/>
          <a:p>
            <a:fld id="{DCF80F56-D5A3-4C71-B2F9-F98C7B98AB70}" type="slidenum">
              <a:rPr lang="tr-TR" smtClean="0"/>
              <a:t>‹#›</a:t>
            </a:fld>
            <a:endParaRPr lang="tr-TR"/>
          </a:p>
        </p:txBody>
      </p:sp>
      <p:sp>
        <p:nvSpPr>
          <p:cNvPr id="24" name="Metin Yer Tutucusu 7">
            <a:extLst>
              <a:ext uri="{FF2B5EF4-FFF2-40B4-BE49-F238E27FC236}">
                <a16:creationId xmlns:a16="http://schemas.microsoft.com/office/drawing/2014/main" id="{F099E8F9-E092-4E4C-AB87-FB2B4EC4D0AD}"/>
              </a:ext>
            </a:extLst>
          </p:cNvPr>
          <p:cNvSpPr>
            <a:spLocks noGrp="1"/>
          </p:cNvSpPr>
          <p:nvPr>
            <p:ph type="body" sz="quarter" idx="14"/>
          </p:nvPr>
        </p:nvSpPr>
        <p:spPr>
          <a:xfrm>
            <a:off x="1860549" y="3044624"/>
            <a:ext cx="4433401" cy="823913"/>
          </a:xfrm>
        </p:spPr>
        <p:txBody>
          <a:bodyPr rtlCol="0" anchor="ctr" anchorCtr="0"/>
          <a:lstStyle>
            <a:lvl1pPr algn="l">
              <a:defRPr/>
            </a:lvl1pPr>
            <a:lvl2pPr algn="l">
              <a:defRPr/>
            </a:lvl2pPr>
            <a:lvl3pPr algn="l">
              <a:defRPr/>
            </a:lvl3pPr>
            <a:lvl4pPr algn="l">
              <a:defRPr/>
            </a:lvl4pPr>
            <a:lvl5pPr algn="l">
              <a:defRPr/>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25" name="Metin Yer Tutucusu 7">
            <a:extLst>
              <a:ext uri="{FF2B5EF4-FFF2-40B4-BE49-F238E27FC236}">
                <a16:creationId xmlns:a16="http://schemas.microsoft.com/office/drawing/2014/main" id="{782CF4FC-13E5-4A63-BCF2-3AF43B5F15B9}"/>
              </a:ext>
            </a:extLst>
          </p:cNvPr>
          <p:cNvSpPr>
            <a:spLocks noGrp="1"/>
          </p:cNvSpPr>
          <p:nvPr>
            <p:ph type="body" sz="quarter" idx="15"/>
          </p:nvPr>
        </p:nvSpPr>
        <p:spPr>
          <a:xfrm>
            <a:off x="1860549" y="3987398"/>
            <a:ext cx="4433401" cy="823913"/>
          </a:xfrm>
        </p:spPr>
        <p:txBody>
          <a:bodyPr rtlCol="0" anchor="ctr" anchorCtr="0"/>
          <a:lstStyle>
            <a:lvl1pPr algn="l">
              <a:defRPr/>
            </a:lvl1pPr>
            <a:lvl2pPr algn="l">
              <a:defRPr/>
            </a:lvl2pPr>
            <a:lvl3pPr algn="l">
              <a:defRPr/>
            </a:lvl3pPr>
            <a:lvl4pPr algn="l">
              <a:defRPr/>
            </a:lvl4pPr>
            <a:lvl5pPr algn="l">
              <a:defRPr/>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26" name="Metin Yer Tutucusu 7">
            <a:extLst>
              <a:ext uri="{FF2B5EF4-FFF2-40B4-BE49-F238E27FC236}">
                <a16:creationId xmlns:a16="http://schemas.microsoft.com/office/drawing/2014/main" id="{8523C4DE-E0C6-4EE1-9145-DA7819174663}"/>
              </a:ext>
            </a:extLst>
          </p:cNvPr>
          <p:cNvSpPr>
            <a:spLocks noGrp="1"/>
          </p:cNvSpPr>
          <p:nvPr>
            <p:ph type="body" sz="quarter" idx="16"/>
          </p:nvPr>
        </p:nvSpPr>
        <p:spPr>
          <a:xfrm>
            <a:off x="1860549" y="4930171"/>
            <a:ext cx="4433401" cy="823913"/>
          </a:xfrm>
        </p:spPr>
        <p:txBody>
          <a:bodyPr rtlCol="0" anchor="ctr" anchorCtr="0"/>
          <a:lstStyle>
            <a:lvl1pPr algn="l">
              <a:defRPr/>
            </a:lvl1pPr>
            <a:lvl2pPr algn="l">
              <a:defRPr/>
            </a:lvl2pPr>
            <a:lvl3pPr algn="l">
              <a:defRPr/>
            </a:lvl3pPr>
            <a:lvl4pPr algn="l">
              <a:defRPr/>
            </a:lvl4pPr>
            <a:lvl5pPr algn="l">
              <a:defRPr/>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Tree>
    <p:extLst>
      <p:ext uri="{BB962C8B-B14F-4D97-AF65-F5344CB8AC3E}">
        <p14:creationId xmlns:p14="http://schemas.microsoft.com/office/powerpoint/2010/main" val="3036371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grpSp>
        <p:nvGrpSpPr>
          <p:cNvPr id="18" name="Grup 17">
            <a:extLst>
              <a:ext uri="{FF2B5EF4-FFF2-40B4-BE49-F238E27FC236}">
                <a16:creationId xmlns:a16="http://schemas.microsoft.com/office/drawing/2014/main" id="{EE363D07-B7E9-4C17-BF5B-ADACCCAD7C6C}"/>
              </a:ext>
            </a:extLst>
          </p:cNvPr>
          <p:cNvGrpSpPr/>
          <p:nvPr/>
        </p:nvGrpSpPr>
        <p:grpSpPr>
          <a:xfrm rot="10800000">
            <a:off x="108452" y="75467"/>
            <a:ext cx="5378800" cy="5588856"/>
            <a:chOff x="-424090" y="303112"/>
            <a:chExt cx="5378800" cy="5588856"/>
          </a:xfrm>
          <a:solidFill>
            <a:schemeClr val="tx1">
              <a:alpha val="30000"/>
            </a:schemeClr>
          </a:solidFill>
        </p:grpSpPr>
        <p:pic>
          <p:nvPicPr>
            <p:cNvPr id="12" name="Grafik 11" descr="Tek dişli">
              <a:extLst>
                <a:ext uri="{FF2B5EF4-FFF2-40B4-BE49-F238E27FC236}">
                  <a16:creationId xmlns:a16="http://schemas.microsoft.com/office/drawing/2014/main" id="{BF7F7D52-1EF2-49FA-AE87-7BE7232893FF}"/>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195" t="12276" r="8371" b="1368"/>
            <a:stretch/>
          </p:blipFill>
          <p:spPr>
            <a:xfrm rot="5400000">
              <a:off x="1442081" y="2451153"/>
              <a:ext cx="3275424" cy="3606205"/>
            </a:xfrm>
            <a:prstGeom prst="rect">
              <a:avLst/>
            </a:prstGeom>
          </p:spPr>
        </p:pic>
        <p:pic>
          <p:nvPicPr>
            <p:cNvPr id="13" name="Grafik 12" descr="Tek dişli">
              <a:extLst>
                <a:ext uri="{FF2B5EF4-FFF2-40B4-BE49-F238E27FC236}">
                  <a16:creationId xmlns:a16="http://schemas.microsoft.com/office/drawing/2014/main" id="{ACC0D449-4064-40FD-A10D-BE7844EB877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1092764" y="303112"/>
              <a:ext cx="2880000" cy="2880000"/>
            </a:xfrm>
            <a:prstGeom prst="rect">
              <a:avLst/>
            </a:prstGeom>
          </p:spPr>
        </p:pic>
        <p:pic>
          <p:nvPicPr>
            <p:cNvPr id="14" name="Grafik 13" descr="Tek dişli">
              <a:extLst>
                <a:ext uri="{FF2B5EF4-FFF2-40B4-BE49-F238E27FC236}">
                  <a16:creationId xmlns:a16="http://schemas.microsoft.com/office/drawing/2014/main" id="{1FE621D1-1FD9-49E2-99C8-0CB37634CDC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424090" y="1817280"/>
              <a:ext cx="2880000" cy="2880000"/>
            </a:xfrm>
            <a:prstGeom prst="rect">
              <a:avLst/>
            </a:prstGeom>
          </p:spPr>
        </p:pic>
        <p:pic>
          <p:nvPicPr>
            <p:cNvPr id="16" name="Grafik 15" descr="Tek dişli">
              <a:extLst>
                <a:ext uri="{FF2B5EF4-FFF2-40B4-BE49-F238E27FC236}">
                  <a16:creationId xmlns:a16="http://schemas.microsoft.com/office/drawing/2014/main" id="{0EA6856C-35D0-465E-B0CB-B889D4DA0B2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625457" y="4024986"/>
              <a:ext cx="1620000" cy="1620000"/>
            </a:xfrm>
            <a:prstGeom prst="rect">
              <a:avLst/>
            </a:prstGeom>
          </p:spPr>
        </p:pic>
        <p:pic>
          <p:nvPicPr>
            <p:cNvPr id="17" name="Grafik 16" descr="Tek dişli">
              <a:extLst>
                <a:ext uri="{FF2B5EF4-FFF2-40B4-BE49-F238E27FC236}">
                  <a16:creationId xmlns:a16="http://schemas.microsoft.com/office/drawing/2014/main" id="{A493FB47-F1DA-40B8-A1F4-115CD1F7084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3226710" y="1355170"/>
              <a:ext cx="1728000" cy="1728000"/>
            </a:xfrm>
            <a:prstGeom prst="rect">
              <a:avLst/>
            </a:prstGeom>
          </p:spPr>
        </p:pic>
      </p:grpSp>
      <p:pic>
        <p:nvPicPr>
          <p:cNvPr id="7" name="Resim 6"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Resim 7" descr="HD-ShadowShor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Dikdörtgen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10" name="Dikdörtgen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Başlık 1"/>
          <p:cNvSpPr>
            <a:spLocks noGrp="1"/>
          </p:cNvSpPr>
          <p:nvPr>
            <p:ph type="title"/>
          </p:nvPr>
        </p:nvSpPr>
        <p:spPr>
          <a:xfrm>
            <a:off x="680322" y="2869895"/>
            <a:ext cx="9613860" cy="1090788"/>
          </a:xfrm>
        </p:spPr>
        <p:txBody>
          <a:bodyPr rtlCol="0" anchor="ctr">
            <a:normAutofit/>
          </a:bodyPr>
          <a:lstStyle>
            <a:lvl1pPr algn="r">
              <a:defRPr sz="3600"/>
            </a:lvl1pPr>
          </a:lstStyle>
          <a:p>
            <a:pPr rtl="0"/>
            <a:r>
              <a:rPr lang="tr-TR" noProof="0"/>
              <a:t>Asıl başlık stilini düzenlemek için tıklayın</a:t>
            </a:r>
          </a:p>
        </p:txBody>
      </p:sp>
      <p:sp>
        <p:nvSpPr>
          <p:cNvPr id="3" name="Metin Yer Tutucusu 2"/>
          <p:cNvSpPr>
            <a:spLocks noGrp="1"/>
          </p:cNvSpPr>
          <p:nvPr>
            <p:ph type="body" idx="1"/>
          </p:nvPr>
        </p:nvSpPr>
        <p:spPr>
          <a:xfrm>
            <a:off x="680322" y="4232171"/>
            <a:ext cx="9613860" cy="1704017"/>
          </a:xfrm>
        </p:spPr>
        <p:txBody>
          <a:bodyPr rtlCol="0">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tr-TR" noProof="0"/>
              <a:t>Asıl metin stillerini düzenlemek için tıklayın</a:t>
            </a:r>
          </a:p>
        </p:txBody>
      </p:sp>
      <p:sp>
        <p:nvSpPr>
          <p:cNvPr id="4" name="Tarih Yer Tutucusu 3"/>
          <p:cNvSpPr>
            <a:spLocks noGrp="1"/>
          </p:cNvSpPr>
          <p:nvPr>
            <p:ph type="dt" sz="half" idx="10"/>
          </p:nvPr>
        </p:nvSpPr>
        <p:spPr/>
        <p:txBody>
          <a:bodyPr rtlCol="0"/>
          <a:lstStyle/>
          <a:p>
            <a:fld id="{698736D7-D2AE-4EA5-B5D2-DEF3C4B5553A}" type="datetimeFigureOut">
              <a:rPr lang="tr-TR" smtClean="0"/>
              <a:t>28.05.2026</a:t>
            </a:fld>
            <a:endParaRPr lang="tr-TR"/>
          </a:p>
        </p:txBody>
      </p:sp>
      <p:sp>
        <p:nvSpPr>
          <p:cNvPr id="5" name="Alt Bilgi Yer Tutucusu 4"/>
          <p:cNvSpPr>
            <a:spLocks noGrp="1"/>
          </p:cNvSpPr>
          <p:nvPr>
            <p:ph type="ftr" sz="quarter" idx="11"/>
          </p:nvPr>
        </p:nvSpPr>
        <p:spPr/>
        <p:txBody>
          <a:bodyPr rtlCol="0"/>
          <a:lstStyle/>
          <a:p>
            <a:endParaRPr lang="tr-TR"/>
          </a:p>
        </p:txBody>
      </p:sp>
      <p:sp>
        <p:nvSpPr>
          <p:cNvPr id="6" name="Slayt Numarası Yer Tutucusu 5"/>
          <p:cNvSpPr>
            <a:spLocks noGrp="1"/>
          </p:cNvSpPr>
          <p:nvPr>
            <p:ph type="sldNum" sz="quarter" idx="12"/>
          </p:nvPr>
        </p:nvSpPr>
        <p:spPr>
          <a:xfrm>
            <a:off x="10729455" y="2869895"/>
            <a:ext cx="1154151" cy="1090789"/>
          </a:xfrm>
        </p:spPr>
        <p:txBody>
          <a:bodyPr rtlCol="0"/>
          <a:lstStyle/>
          <a:p>
            <a:fld id="{DCF80F56-D5A3-4C71-B2F9-F98C7B98AB70}" type="slidenum">
              <a:rPr lang="tr-TR" smtClean="0"/>
              <a:t>‹#›</a:t>
            </a:fld>
            <a:endParaRPr lang="tr-TR"/>
          </a:p>
        </p:txBody>
      </p:sp>
    </p:spTree>
    <p:extLst>
      <p:ext uri="{BB962C8B-B14F-4D97-AF65-F5344CB8AC3E}">
        <p14:creationId xmlns:p14="http://schemas.microsoft.com/office/powerpoint/2010/main" val="3748888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grpSp>
        <p:nvGrpSpPr>
          <p:cNvPr id="12" name="Grup 11">
            <a:extLst>
              <a:ext uri="{FF2B5EF4-FFF2-40B4-BE49-F238E27FC236}">
                <a16:creationId xmlns:a16="http://schemas.microsoft.com/office/drawing/2014/main" id="{CBF5BF6C-5F7D-464E-B42E-D194CF355A7E}"/>
              </a:ext>
            </a:extLst>
          </p:cNvPr>
          <p:cNvGrpSpPr/>
          <p:nvPr/>
        </p:nvGrpSpPr>
        <p:grpSpPr bwMode="ltGray">
          <a:xfrm rot="5400000">
            <a:off x="7096454" y="1615369"/>
            <a:ext cx="4959501" cy="5525761"/>
            <a:chOff x="7232499" y="-159283"/>
            <a:chExt cx="4959501" cy="5525761"/>
          </a:xfrm>
          <a:solidFill>
            <a:srgbClr val="76280B">
              <a:alpha val="60000"/>
            </a:srgbClr>
          </a:solidFill>
        </p:grpSpPr>
        <p:pic>
          <p:nvPicPr>
            <p:cNvPr id="13" name="Grafik 12" descr="Tek dişli">
              <a:extLst>
                <a:ext uri="{FF2B5EF4-FFF2-40B4-BE49-F238E27FC236}">
                  <a16:creationId xmlns:a16="http://schemas.microsoft.com/office/drawing/2014/main" id="{8F045C13-A0AE-4F21-8EE7-47DCE4B458F8}"/>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18078" r="23442"/>
            <a:stretch/>
          </p:blipFill>
          <p:spPr bwMode="ltGray">
            <a:xfrm>
              <a:off x="8994950" y="0"/>
              <a:ext cx="3197050" cy="3421066"/>
            </a:xfrm>
            <a:prstGeom prst="rect">
              <a:avLst/>
            </a:prstGeom>
          </p:spPr>
        </p:pic>
        <p:pic>
          <p:nvPicPr>
            <p:cNvPr id="14" name="Grafik 13" descr="Tek dişli">
              <a:extLst>
                <a:ext uri="{FF2B5EF4-FFF2-40B4-BE49-F238E27FC236}">
                  <a16:creationId xmlns:a16="http://schemas.microsoft.com/office/drawing/2014/main" id="{D5197B13-7446-4E28-A62C-4543D7BD63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7232499" y="667872"/>
              <a:ext cx="2880000" cy="2880000"/>
            </a:xfrm>
            <a:prstGeom prst="rect">
              <a:avLst/>
            </a:prstGeom>
          </p:spPr>
        </p:pic>
        <p:pic>
          <p:nvPicPr>
            <p:cNvPr id="15" name="Grafik 14" descr="Tek dişli">
              <a:extLst>
                <a:ext uri="{FF2B5EF4-FFF2-40B4-BE49-F238E27FC236}">
                  <a16:creationId xmlns:a16="http://schemas.microsoft.com/office/drawing/2014/main" id="{4B5B975A-536D-4192-B3DE-875F5E141AA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746667" y="2486478"/>
              <a:ext cx="2880000" cy="2880000"/>
            </a:xfrm>
            <a:prstGeom prst="rect">
              <a:avLst/>
            </a:prstGeom>
          </p:spPr>
        </p:pic>
        <p:pic>
          <p:nvPicPr>
            <p:cNvPr id="16" name="Grafik 15" descr="Tek dişli">
              <a:extLst>
                <a:ext uri="{FF2B5EF4-FFF2-40B4-BE49-F238E27FC236}">
                  <a16:creationId xmlns:a16="http://schemas.microsoft.com/office/drawing/2014/main" id="{5BB09BB4-511A-4714-92A7-D9CA09D1FD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501643" y="-159283"/>
              <a:ext cx="1620000" cy="1620000"/>
            </a:xfrm>
            <a:prstGeom prst="rect">
              <a:avLst/>
            </a:prstGeom>
          </p:spPr>
        </p:pic>
      </p:grpSp>
      <p:pic>
        <p:nvPicPr>
          <p:cNvPr id="8" name="Resim 7"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Resim 8" descr="HD-ShadowShor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Dikdörtgen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Dikdörtgen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Başlık 1"/>
          <p:cNvSpPr>
            <a:spLocks noGrp="1"/>
          </p:cNvSpPr>
          <p:nvPr>
            <p:ph type="title"/>
          </p:nvPr>
        </p:nvSpPr>
        <p:spPr/>
        <p:txBody>
          <a:bodyPr rtlCol="0"/>
          <a:lstStyle/>
          <a:p>
            <a:pPr rtl="0"/>
            <a:r>
              <a:rPr lang="tr-TR" noProof="0"/>
              <a:t>Asıl başlık stilini düzenlemek için tıklayın</a:t>
            </a:r>
          </a:p>
        </p:txBody>
      </p:sp>
      <p:sp>
        <p:nvSpPr>
          <p:cNvPr id="3" name="İçerik Yer Tutucusu 2"/>
          <p:cNvSpPr>
            <a:spLocks noGrp="1"/>
          </p:cNvSpPr>
          <p:nvPr>
            <p:ph sz="half" idx="1"/>
          </p:nvPr>
        </p:nvSpPr>
        <p:spPr>
          <a:xfrm>
            <a:off x="680320" y="2336873"/>
            <a:ext cx="4698358" cy="3599316"/>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4" name="İçerik Yer Tutucusu 3"/>
          <p:cNvSpPr>
            <a:spLocks noGrp="1"/>
          </p:cNvSpPr>
          <p:nvPr>
            <p:ph sz="half" idx="2"/>
          </p:nvPr>
        </p:nvSpPr>
        <p:spPr>
          <a:xfrm>
            <a:off x="5594123" y="2336873"/>
            <a:ext cx="4700058" cy="3599316"/>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5" name="Tarih Yer Tutucusu 4"/>
          <p:cNvSpPr>
            <a:spLocks noGrp="1"/>
          </p:cNvSpPr>
          <p:nvPr>
            <p:ph type="dt" sz="half" idx="10"/>
          </p:nvPr>
        </p:nvSpPr>
        <p:spPr/>
        <p:txBody>
          <a:bodyPr rtlCol="0"/>
          <a:lstStyle/>
          <a:p>
            <a:fld id="{698736D7-D2AE-4EA5-B5D2-DEF3C4B5553A}" type="datetimeFigureOut">
              <a:rPr lang="tr-TR" smtClean="0"/>
              <a:t>28.05.2026</a:t>
            </a:fld>
            <a:endParaRPr lang="tr-TR"/>
          </a:p>
        </p:txBody>
      </p:sp>
      <p:sp>
        <p:nvSpPr>
          <p:cNvPr id="6" name="Alt Bilgi Yer Tutucusu 5"/>
          <p:cNvSpPr>
            <a:spLocks noGrp="1"/>
          </p:cNvSpPr>
          <p:nvPr>
            <p:ph type="ftr" sz="quarter" idx="11"/>
          </p:nvPr>
        </p:nvSpPr>
        <p:spPr/>
        <p:txBody>
          <a:bodyPr rtlCol="0"/>
          <a:lstStyle/>
          <a:p>
            <a:endParaRPr lang="tr-TR"/>
          </a:p>
        </p:txBody>
      </p:sp>
      <p:sp>
        <p:nvSpPr>
          <p:cNvPr id="7" name="Slayt Numarası Yer Tutucusu 6"/>
          <p:cNvSpPr>
            <a:spLocks noGrp="1"/>
          </p:cNvSpPr>
          <p:nvPr>
            <p:ph type="sldNum" sz="quarter" idx="12"/>
          </p:nvPr>
        </p:nvSpPr>
        <p:spPr/>
        <p:txBody>
          <a:bodyPr rtlCol="0"/>
          <a:lstStyle/>
          <a:p>
            <a:fld id="{DCF80F56-D5A3-4C71-B2F9-F98C7B98AB70}" type="slidenum">
              <a:rPr lang="tr-TR" smtClean="0"/>
              <a:t>‹#›</a:t>
            </a:fld>
            <a:endParaRPr lang="tr-TR"/>
          </a:p>
        </p:txBody>
      </p:sp>
    </p:spTree>
    <p:extLst>
      <p:ext uri="{BB962C8B-B14F-4D97-AF65-F5344CB8AC3E}">
        <p14:creationId xmlns:p14="http://schemas.microsoft.com/office/powerpoint/2010/main" val="3795298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İki İçerik">
    <p:spTree>
      <p:nvGrpSpPr>
        <p:cNvPr id="1" name=""/>
        <p:cNvGrpSpPr/>
        <p:nvPr/>
      </p:nvGrpSpPr>
      <p:grpSpPr>
        <a:xfrm>
          <a:off x="0" y="0"/>
          <a:ext cx="0" cy="0"/>
          <a:chOff x="0" y="0"/>
          <a:chExt cx="0" cy="0"/>
        </a:xfrm>
      </p:grpSpPr>
      <p:pic>
        <p:nvPicPr>
          <p:cNvPr id="8" name="Resim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Dikdörtgen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11" name="Dikdörtgen 10"/>
          <p:cNvSpPr/>
          <p:nvPr/>
        </p:nvSpPr>
        <p:spPr>
          <a:xfrm>
            <a:off x="13077" y="609600"/>
            <a:ext cx="1602997" cy="1368198"/>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Başlık 1"/>
          <p:cNvSpPr>
            <a:spLocks noGrp="1"/>
          </p:cNvSpPr>
          <p:nvPr>
            <p:ph type="title"/>
          </p:nvPr>
        </p:nvSpPr>
        <p:spPr>
          <a:xfrm>
            <a:off x="2137646" y="753228"/>
            <a:ext cx="9613861" cy="1080938"/>
          </a:xfrm>
        </p:spPr>
        <p:txBody>
          <a:bodyPr rtlCol="0"/>
          <a:lstStyle/>
          <a:p>
            <a:pPr rtl="0"/>
            <a:r>
              <a:rPr lang="tr-TR" noProof="0"/>
              <a:t>Asıl başlık stilini düzenlemek için tıklayın</a:t>
            </a:r>
          </a:p>
        </p:txBody>
      </p:sp>
      <p:sp>
        <p:nvSpPr>
          <p:cNvPr id="3" name="İçerik Yer Tutucusu 2"/>
          <p:cNvSpPr>
            <a:spLocks noGrp="1"/>
          </p:cNvSpPr>
          <p:nvPr>
            <p:ph sz="half" idx="1"/>
          </p:nvPr>
        </p:nvSpPr>
        <p:spPr>
          <a:xfrm>
            <a:off x="2137645" y="2336873"/>
            <a:ext cx="4698358" cy="3599316"/>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4" name="İçerik Yer Tutucusu 3"/>
          <p:cNvSpPr>
            <a:spLocks noGrp="1"/>
          </p:cNvSpPr>
          <p:nvPr>
            <p:ph sz="half" idx="2"/>
          </p:nvPr>
        </p:nvSpPr>
        <p:spPr>
          <a:xfrm>
            <a:off x="7051448" y="2336873"/>
            <a:ext cx="4700058" cy="3599316"/>
          </a:xfrm>
        </p:spPr>
        <p:txBody>
          <a:bodyPr rtlCol="0" anchor="ctr" anchorCtr="0"/>
          <a:lstStyle>
            <a:lvl1pPr algn="ctr">
              <a:defRPr/>
            </a:lvl1pPr>
            <a:lvl2pPr algn="ctr">
              <a:defRPr/>
            </a:lvl2pPr>
            <a:lvl3pPr algn="ctr">
              <a:defRPr/>
            </a:lvl3pPr>
            <a:lvl4pPr algn="ctr">
              <a:defRPr/>
            </a:lvl4pPr>
            <a:lvl5pPr algn="ctr">
              <a:defRPr/>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5" name="Tarih Yer Tutucusu 4"/>
          <p:cNvSpPr>
            <a:spLocks noGrp="1"/>
          </p:cNvSpPr>
          <p:nvPr>
            <p:ph type="dt" sz="half" idx="10"/>
          </p:nvPr>
        </p:nvSpPr>
        <p:spPr>
          <a:xfrm>
            <a:off x="9008306" y="5936187"/>
            <a:ext cx="2743200" cy="365125"/>
          </a:xfrm>
        </p:spPr>
        <p:txBody>
          <a:bodyPr rtlCol="0"/>
          <a:lstStyle/>
          <a:p>
            <a:fld id="{698736D7-D2AE-4EA5-B5D2-DEF3C4B5553A}" type="datetimeFigureOut">
              <a:rPr lang="tr-TR" smtClean="0"/>
              <a:t>28.05.2026</a:t>
            </a:fld>
            <a:endParaRPr lang="tr-TR"/>
          </a:p>
        </p:txBody>
      </p:sp>
      <p:sp>
        <p:nvSpPr>
          <p:cNvPr id="6" name="Alt Bilgi Yer Tutucusu 5"/>
          <p:cNvSpPr>
            <a:spLocks noGrp="1"/>
          </p:cNvSpPr>
          <p:nvPr>
            <p:ph type="ftr" sz="quarter" idx="11"/>
          </p:nvPr>
        </p:nvSpPr>
        <p:spPr>
          <a:xfrm>
            <a:off x="2137646" y="5936188"/>
            <a:ext cx="6870660" cy="365125"/>
          </a:xfrm>
        </p:spPr>
        <p:txBody>
          <a:bodyPr rtlCol="0"/>
          <a:lstStyle/>
          <a:p>
            <a:endParaRPr lang="tr-TR"/>
          </a:p>
        </p:txBody>
      </p:sp>
      <p:sp>
        <p:nvSpPr>
          <p:cNvPr id="7" name="Slayt Numarası Yer Tutucusu 6"/>
          <p:cNvSpPr>
            <a:spLocks noGrp="1"/>
          </p:cNvSpPr>
          <p:nvPr>
            <p:ph type="sldNum" sz="quarter" idx="12"/>
          </p:nvPr>
        </p:nvSpPr>
        <p:spPr>
          <a:xfrm>
            <a:off x="156705" y="753227"/>
            <a:ext cx="1154151" cy="1090789"/>
          </a:xfrm>
        </p:spPr>
        <p:txBody>
          <a:bodyPr rtlCol="0"/>
          <a:lstStyle/>
          <a:p>
            <a:fld id="{DCF80F56-D5A3-4C71-B2F9-F98C7B98AB70}" type="slidenum">
              <a:rPr lang="tr-TR" smtClean="0"/>
              <a:t>‹#›</a:t>
            </a:fld>
            <a:endParaRPr lang="tr-TR"/>
          </a:p>
        </p:txBody>
      </p:sp>
    </p:spTree>
    <p:extLst>
      <p:ext uri="{BB962C8B-B14F-4D97-AF65-F5344CB8AC3E}">
        <p14:creationId xmlns:p14="http://schemas.microsoft.com/office/powerpoint/2010/main" val="3111820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grpSp>
        <p:nvGrpSpPr>
          <p:cNvPr id="14" name="Grup 13">
            <a:extLst>
              <a:ext uri="{FF2B5EF4-FFF2-40B4-BE49-F238E27FC236}">
                <a16:creationId xmlns:a16="http://schemas.microsoft.com/office/drawing/2014/main" id="{F90C5C8C-B074-498F-921D-CC0B5DF8FBD3}"/>
              </a:ext>
            </a:extLst>
          </p:cNvPr>
          <p:cNvGrpSpPr/>
          <p:nvPr/>
        </p:nvGrpSpPr>
        <p:grpSpPr>
          <a:xfrm rot="10800000">
            <a:off x="108452" y="75467"/>
            <a:ext cx="5378800" cy="5588856"/>
            <a:chOff x="-424090" y="303112"/>
            <a:chExt cx="5378800" cy="5588856"/>
          </a:xfrm>
          <a:solidFill>
            <a:srgbClr val="F6BF73">
              <a:alpha val="30196"/>
            </a:srgbClr>
          </a:solidFill>
        </p:grpSpPr>
        <p:pic>
          <p:nvPicPr>
            <p:cNvPr id="15" name="Grafik 14" descr="Tek dişli">
              <a:extLst>
                <a:ext uri="{FF2B5EF4-FFF2-40B4-BE49-F238E27FC236}">
                  <a16:creationId xmlns:a16="http://schemas.microsoft.com/office/drawing/2014/main" id="{C270183A-92E0-49A5-B6BC-F19346763723}"/>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195" t="12276" r="8371" b="1368"/>
            <a:stretch/>
          </p:blipFill>
          <p:spPr>
            <a:xfrm rot="5400000">
              <a:off x="1442081" y="2451153"/>
              <a:ext cx="3275424" cy="3606205"/>
            </a:xfrm>
            <a:prstGeom prst="rect">
              <a:avLst/>
            </a:prstGeom>
          </p:spPr>
        </p:pic>
        <p:pic>
          <p:nvPicPr>
            <p:cNvPr id="16" name="Grafik 15" descr="Tek dişli">
              <a:extLst>
                <a:ext uri="{FF2B5EF4-FFF2-40B4-BE49-F238E27FC236}">
                  <a16:creationId xmlns:a16="http://schemas.microsoft.com/office/drawing/2014/main" id="{6E086889-5472-4B65-A156-D0B8F369C3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1092764" y="303112"/>
              <a:ext cx="2880000" cy="2880000"/>
            </a:xfrm>
            <a:prstGeom prst="rect">
              <a:avLst/>
            </a:prstGeom>
          </p:spPr>
        </p:pic>
        <p:pic>
          <p:nvPicPr>
            <p:cNvPr id="17" name="Grafik 16" descr="Tek dişli">
              <a:extLst>
                <a:ext uri="{FF2B5EF4-FFF2-40B4-BE49-F238E27FC236}">
                  <a16:creationId xmlns:a16="http://schemas.microsoft.com/office/drawing/2014/main" id="{4BCBF44F-62C7-4F40-99DF-85C459F43E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424090" y="1817280"/>
              <a:ext cx="2880000" cy="2880000"/>
            </a:xfrm>
            <a:prstGeom prst="rect">
              <a:avLst/>
            </a:prstGeom>
          </p:spPr>
        </p:pic>
        <p:pic>
          <p:nvPicPr>
            <p:cNvPr id="18" name="Grafik 17" descr="Tek dişli">
              <a:extLst>
                <a:ext uri="{FF2B5EF4-FFF2-40B4-BE49-F238E27FC236}">
                  <a16:creationId xmlns:a16="http://schemas.microsoft.com/office/drawing/2014/main" id="{ABF64D53-5ED0-4A1D-A7EA-94CDB0D37EC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625457" y="4024986"/>
              <a:ext cx="1620000" cy="1620000"/>
            </a:xfrm>
            <a:prstGeom prst="rect">
              <a:avLst/>
            </a:prstGeom>
          </p:spPr>
        </p:pic>
        <p:pic>
          <p:nvPicPr>
            <p:cNvPr id="19" name="Grafik 18" descr="Tek dişli">
              <a:extLst>
                <a:ext uri="{FF2B5EF4-FFF2-40B4-BE49-F238E27FC236}">
                  <a16:creationId xmlns:a16="http://schemas.microsoft.com/office/drawing/2014/main" id="{2565C769-10BF-4E7B-B099-B4FD458436E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3226710" y="1355170"/>
              <a:ext cx="1728000" cy="1728000"/>
            </a:xfrm>
            <a:prstGeom prst="rect">
              <a:avLst/>
            </a:prstGeom>
          </p:spPr>
        </p:pic>
      </p:grpSp>
      <p:pic>
        <p:nvPicPr>
          <p:cNvPr id="10" name="Resim 9"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Resim 10" descr="HD-ShadowShor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Dikdörtgen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Dikdörtgen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Başlık 1"/>
          <p:cNvSpPr>
            <a:spLocks noGrp="1"/>
          </p:cNvSpPr>
          <p:nvPr>
            <p:ph type="title"/>
          </p:nvPr>
        </p:nvSpPr>
        <p:spPr>
          <a:xfrm>
            <a:off x="680319" y="753229"/>
            <a:ext cx="9613863" cy="1080937"/>
          </a:xfrm>
        </p:spPr>
        <p:txBody>
          <a:bodyPr rtlCol="0"/>
          <a:lstStyle/>
          <a:p>
            <a:pPr rtl="0"/>
            <a:r>
              <a:rPr lang="tr-TR" noProof="0"/>
              <a:t>Asıl başlık stilini düzenlemek için tıklayın</a:t>
            </a:r>
          </a:p>
        </p:txBody>
      </p:sp>
      <p:sp>
        <p:nvSpPr>
          <p:cNvPr id="3" name="Metin Yer Tutucusu 2"/>
          <p:cNvSpPr>
            <a:spLocks noGrp="1"/>
          </p:cNvSpPr>
          <p:nvPr>
            <p:ph type="body" idx="1"/>
          </p:nvPr>
        </p:nvSpPr>
        <p:spPr>
          <a:xfrm>
            <a:off x="680320" y="2336873"/>
            <a:ext cx="4698358" cy="693135"/>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Asıl metin stillerini düzenlemek için tıklayın</a:t>
            </a:r>
          </a:p>
        </p:txBody>
      </p:sp>
      <p:sp>
        <p:nvSpPr>
          <p:cNvPr id="4" name="İçerik Yer Tutucusu 3"/>
          <p:cNvSpPr>
            <a:spLocks noGrp="1"/>
          </p:cNvSpPr>
          <p:nvPr>
            <p:ph sz="half" idx="2"/>
          </p:nvPr>
        </p:nvSpPr>
        <p:spPr>
          <a:xfrm>
            <a:off x="680322" y="3030008"/>
            <a:ext cx="4698355" cy="2906179"/>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5" name="Metin Yer Tutucusu 4"/>
          <p:cNvSpPr>
            <a:spLocks noGrp="1"/>
          </p:cNvSpPr>
          <p:nvPr>
            <p:ph type="body" sz="quarter" idx="3"/>
          </p:nvPr>
        </p:nvSpPr>
        <p:spPr>
          <a:xfrm>
            <a:off x="5594123" y="2336873"/>
            <a:ext cx="4700059" cy="692076"/>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Asıl metin stillerini düzenlemek için tıklayın</a:t>
            </a:r>
          </a:p>
        </p:txBody>
      </p:sp>
      <p:sp>
        <p:nvSpPr>
          <p:cNvPr id="6" name="İçerik Yer Tutucusu 5"/>
          <p:cNvSpPr>
            <a:spLocks noGrp="1"/>
          </p:cNvSpPr>
          <p:nvPr>
            <p:ph sz="quarter" idx="4"/>
          </p:nvPr>
        </p:nvSpPr>
        <p:spPr>
          <a:xfrm>
            <a:off x="5594123" y="3030008"/>
            <a:ext cx="4700059" cy="2906179"/>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7" name="Tarih Yer Tutucusu 6"/>
          <p:cNvSpPr>
            <a:spLocks noGrp="1"/>
          </p:cNvSpPr>
          <p:nvPr>
            <p:ph type="dt" sz="half" idx="10"/>
          </p:nvPr>
        </p:nvSpPr>
        <p:spPr/>
        <p:txBody>
          <a:bodyPr rtlCol="0"/>
          <a:lstStyle/>
          <a:p>
            <a:fld id="{698736D7-D2AE-4EA5-B5D2-DEF3C4B5553A}" type="datetimeFigureOut">
              <a:rPr lang="tr-TR" smtClean="0"/>
              <a:t>28.05.2026</a:t>
            </a:fld>
            <a:endParaRPr lang="tr-TR"/>
          </a:p>
        </p:txBody>
      </p:sp>
      <p:sp>
        <p:nvSpPr>
          <p:cNvPr id="8" name="Alt Bilgi Yer Tutucusu 7"/>
          <p:cNvSpPr>
            <a:spLocks noGrp="1"/>
          </p:cNvSpPr>
          <p:nvPr>
            <p:ph type="ftr" sz="quarter" idx="11"/>
          </p:nvPr>
        </p:nvSpPr>
        <p:spPr/>
        <p:txBody>
          <a:bodyPr rtlCol="0"/>
          <a:lstStyle/>
          <a:p>
            <a:endParaRPr lang="tr-TR"/>
          </a:p>
        </p:txBody>
      </p:sp>
      <p:sp>
        <p:nvSpPr>
          <p:cNvPr id="9" name="Slayt Numarası Yer Tutucusu 8"/>
          <p:cNvSpPr>
            <a:spLocks noGrp="1"/>
          </p:cNvSpPr>
          <p:nvPr>
            <p:ph type="sldNum" sz="quarter" idx="12"/>
          </p:nvPr>
        </p:nvSpPr>
        <p:spPr/>
        <p:txBody>
          <a:bodyPr rtlCol="0"/>
          <a:lstStyle/>
          <a:p>
            <a:fld id="{DCF80F56-D5A3-4C71-B2F9-F98C7B98AB70}" type="slidenum">
              <a:rPr lang="tr-TR" smtClean="0"/>
              <a:t>‹#›</a:t>
            </a:fld>
            <a:endParaRPr lang="tr-TR"/>
          </a:p>
        </p:txBody>
      </p:sp>
    </p:spTree>
    <p:extLst>
      <p:ext uri="{BB962C8B-B14F-4D97-AF65-F5344CB8AC3E}">
        <p14:creationId xmlns:p14="http://schemas.microsoft.com/office/powerpoint/2010/main" val="1781359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şlık ve İçerik">
    <p:bg>
      <p:bgPr>
        <a:gradFill flip="none" rotWithShape="1">
          <a:gsLst>
            <a:gs pos="1000">
              <a:schemeClr val="tx1">
                <a:lumMod val="95000"/>
              </a:schemeClr>
            </a:gs>
            <a:gs pos="100000">
              <a:schemeClr val="tx1">
                <a:lumMod val="9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10" name="Dikdörtgen 9"/>
          <p:cNvSpPr/>
          <p:nvPr/>
        </p:nvSpPr>
        <p:spPr bwMode="ltGray">
          <a:xfrm>
            <a:off x="0" y="-66945"/>
            <a:ext cx="12190412" cy="1368198"/>
          </a:xfrm>
          <a:prstGeom prst="rect">
            <a:avLst/>
          </a:prstGeom>
          <a:gradFill flip="none" rotWithShape="1">
            <a:gsLst>
              <a:gs pos="1000">
                <a:schemeClr val="accent1">
                  <a:lumMod val="50000"/>
                </a:schemeClr>
              </a:gs>
              <a:gs pos="100000">
                <a:schemeClr val="accent1">
                  <a:lumMod val="7500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Başlık 1"/>
          <p:cNvSpPr>
            <a:spLocks noGrp="1"/>
          </p:cNvSpPr>
          <p:nvPr>
            <p:ph type="title"/>
          </p:nvPr>
        </p:nvSpPr>
        <p:spPr>
          <a:xfrm>
            <a:off x="555981" y="76685"/>
            <a:ext cx="10886376" cy="1080938"/>
          </a:xfrm>
        </p:spPr>
        <p:txBody>
          <a:bodyPr rtlCol="0"/>
          <a:lstStyle>
            <a:lvl1pPr>
              <a:defRPr sz="3600">
                <a:latin typeface="+mn-lt"/>
              </a:defRPr>
            </a:lvl1pPr>
          </a:lstStyle>
          <a:p>
            <a:pPr rtl="0"/>
            <a:r>
              <a:rPr lang="tr-TR" noProof="0" dirty="0"/>
              <a:t>Asıl başlık stilini düzenlemek için tıklayın</a:t>
            </a:r>
          </a:p>
        </p:txBody>
      </p:sp>
      <p:sp>
        <p:nvSpPr>
          <p:cNvPr id="18" name="İçerik Yer Tutucusu 2">
            <a:extLst>
              <a:ext uri="{FF2B5EF4-FFF2-40B4-BE49-F238E27FC236}">
                <a16:creationId xmlns:a16="http://schemas.microsoft.com/office/drawing/2014/main" id="{FD7CD5CF-F924-43C6-9C02-06FBC84A6729}"/>
              </a:ext>
            </a:extLst>
          </p:cNvPr>
          <p:cNvSpPr>
            <a:spLocks noGrp="1"/>
          </p:cNvSpPr>
          <p:nvPr>
            <p:ph idx="1"/>
          </p:nvPr>
        </p:nvSpPr>
        <p:spPr>
          <a:xfrm>
            <a:off x="555981" y="1767396"/>
            <a:ext cx="10886376" cy="3702647"/>
          </a:xfrm>
        </p:spPr>
        <p:txBody>
          <a:bodyPr rtlCol="0"/>
          <a:lstStyle>
            <a:lvl1pPr>
              <a:defRPr sz="2000">
                <a:solidFill>
                  <a:schemeClr val="bg1"/>
                </a:solidFill>
                <a:effectLst/>
              </a:defRPr>
            </a:lvl1pPr>
            <a:lvl2pPr>
              <a:defRPr sz="1800">
                <a:solidFill>
                  <a:schemeClr val="bg1"/>
                </a:solidFill>
                <a:effectLst/>
              </a:defRPr>
            </a:lvl2pPr>
            <a:lvl3pPr>
              <a:defRPr sz="1600">
                <a:solidFill>
                  <a:schemeClr val="bg1"/>
                </a:solidFill>
                <a:effectLst/>
              </a:defRPr>
            </a:lvl3pPr>
            <a:lvl4pPr>
              <a:defRPr>
                <a:solidFill>
                  <a:schemeClr val="bg1"/>
                </a:solidFill>
                <a:effectLst/>
              </a:defRPr>
            </a:lvl4pPr>
            <a:lvl5pPr>
              <a:defRPr>
                <a:solidFill>
                  <a:schemeClr val="bg1"/>
                </a:solidFill>
                <a:effectLst/>
              </a:defRPr>
            </a:lvl5pPr>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Tree>
    <p:extLst>
      <p:ext uri="{BB962C8B-B14F-4D97-AF65-F5344CB8AC3E}">
        <p14:creationId xmlns:p14="http://schemas.microsoft.com/office/powerpoint/2010/main" val="624166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grpSp>
        <p:nvGrpSpPr>
          <p:cNvPr id="10" name="Grup 9">
            <a:extLst>
              <a:ext uri="{FF2B5EF4-FFF2-40B4-BE49-F238E27FC236}">
                <a16:creationId xmlns:a16="http://schemas.microsoft.com/office/drawing/2014/main" id="{1CA97C9F-27FA-4BCE-84C2-EA9C0347E974}"/>
              </a:ext>
            </a:extLst>
          </p:cNvPr>
          <p:cNvGrpSpPr/>
          <p:nvPr/>
        </p:nvGrpSpPr>
        <p:grpSpPr>
          <a:xfrm rot="5400000">
            <a:off x="227324" y="1282732"/>
            <a:ext cx="5378800" cy="5588856"/>
            <a:chOff x="-424090" y="303112"/>
            <a:chExt cx="5378800" cy="5588856"/>
          </a:xfrm>
          <a:solidFill>
            <a:srgbClr val="F6BF73">
              <a:alpha val="30196"/>
            </a:srgbClr>
          </a:solidFill>
        </p:grpSpPr>
        <p:pic>
          <p:nvPicPr>
            <p:cNvPr id="11" name="Grafik 10" descr="Tek dişli">
              <a:extLst>
                <a:ext uri="{FF2B5EF4-FFF2-40B4-BE49-F238E27FC236}">
                  <a16:creationId xmlns:a16="http://schemas.microsoft.com/office/drawing/2014/main" id="{6EEB6AF8-1385-4805-8E97-CDE431030B09}"/>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195" t="12276" r="8371" b="1368"/>
            <a:stretch/>
          </p:blipFill>
          <p:spPr>
            <a:xfrm rot="5400000">
              <a:off x="1442081" y="2451153"/>
              <a:ext cx="3275424" cy="3606205"/>
            </a:xfrm>
            <a:prstGeom prst="rect">
              <a:avLst/>
            </a:prstGeom>
          </p:spPr>
        </p:pic>
        <p:pic>
          <p:nvPicPr>
            <p:cNvPr id="12" name="Grafik 11" descr="Tek dişli">
              <a:extLst>
                <a:ext uri="{FF2B5EF4-FFF2-40B4-BE49-F238E27FC236}">
                  <a16:creationId xmlns:a16="http://schemas.microsoft.com/office/drawing/2014/main" id="{1F08FE59-AC1A-4BF7-B9D5-7672C8C7D39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1092764" y="303112"/>
              <a:ext cx="2880000" cy="2880000"/>
            </a:xfrm>
            <a:prstGeom prst="rect">
              <a:avLst/>
            </a:prstGeom>
          </p:spPr>
        </p:pic>
        <p:pic>
          <p:nvPicPr>
            <p:cNvPr id="13" name="Grafik 12" descr="Tek dişli">
              <a:extLst>
                <a:ext uri="{FF2B5EF4-FFF2-40B4-BE49-F238E27FC236}">
                  <a16:creationId xmlns:a16="http://schemas.microsoft.com/office/drawing/2014/main" id="{F44470E0-8B01-46E6-90F1-4B52CB3EFF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424090" y="1817280"/>
              <a:ext cx="2880000" cy="2880000"/>
            </a:xfrm>
            <a:prstGeom prst="rect">
              <a:avLst/>
            </a:prstGeom>
          </p:spPr>
        </p:pic>
        <p:pic>
          <p:nvPicPr>
            <p:cNvPr id="14" name="Grafik 13" descr="Tek dişli">
              <a:extLst>
                <a:ext uri="{FF2B5EF4-FFF2-40B4-BE49-F238E27FC236}">
                  <a16:creationId xmlns:a16="http://schemas.microsoft.com/office/drawing/2014/main" id="{2FB2E216-0387-4DF4-A432-E877C96A7B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625457" y="4024986"/>
              <a:ext cx="1620000" cy="1620000"/>
            </a:xfrm>
            <a:prstGeom prst="rect">
              <a:avLst/>
            </a:prstGeom>
          </p:spPr>
        </p:pic>
        <p:pic>
          <p:nvPicPr>
            <p:cNvPr id="15" name="Grafik 14" descr="Tek dişli">
              <a:extLst>
                <a:ext uri="{FF2B5EF4-FFF2-40B4-BE49-F238E27FC236}">
                  <a16:creationId xmlns:a16="http://schemas.microsoft.com/office/drawing/2014/main" id="{53685AA4-853C-46A8-8ADB-FA80FE59BF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3226710" y="1355170"/>
              <a:ext cx="1728000" cy="1728000"/>
            </a:xfrm>
            <a:prstGeom prst="rect">
              <a:avLst/>
            </a:prstGeom>
          </p:spPr>
        </p:pic>
      </p:grpSp>
      <p:pic>
        <p:nvPicPr>
          <p:cNvPr id="6" name="Resim 5"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Resim 6" descr="HD-ShadowShor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Dikdörtgen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Dikdörtgen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Başlık 1"/>
          <p:cNvSpPr>
            <a:spLocks noGrp="1"/>
          </p:cNvSpPr>
          <p:nvPr>
            <p:ph type="title"/>
          </p:nvPr>
        </p:nvSpPr>
        <p:spPr/>
        <p:txBody>
          <a:bodyPr rtlCol="0"/>
          <a:lstStyle/>
          <a:p>
            <a:pPr rtl="0"/>
            <a:r>
              <a:rPr lang="tr-TR" noProof="0"/>
              <a:t>Asıl başlık stilini düzenlemek için tıklayın</a:t>
            </a:r>
          </a:p>
        </p:txBody>
      </p:sp>
      <p:sp>
        <p:nvSpPr>
          <p:cNvPr id="3" name="Tarih Yer Tutucusu 2"/>
          <p:cNvSpPr>
            <a:spLocks noGrp="1"/>
          </p:cNvSpPr>
          <p:nvPr>
            <p:ph type="dt" sz="half" idx="10"/>
          </p:nvPr>
        </p:nvSpPr>
        <p:spPr/>
        <p:txBody>
          <a:bodyPr rtlCol="0"/>
          <a:lstStyle/>
          <a:p>
            <a:fld id="{698736D7-D2AE-4EA5-B5D2-DEF3C4B5553A}" type="datetimeFigureOut">
              <a:rPr lang="tr-TR" smtClean="0"/>
              <a:t>28.05.2026</a:t>
            </a:fld>
            <a:endParaRPr lang="tr-TR"/>
          </a:p>
        </p:txBody>
      </p:sp>
      <p:sp>
        <p:nvSpPr>
          <p:cNvPr id="4" name="Alt Bilgi Yer Tutucusu 3"/>
          <p:cNvSpPr>
            <a:spLocks noGrp="1"/>
          </p:cNvSpPr>
          <p:nvPr>
            <p:ph type="ftr" sz="quarter" idx="11"/>
          </p:nvPr>
        </p:nvSpPr>
        <p:spPr/>
        <p:txBody>
          <a:bodyPr rtlCol="0"/>
          <a:lstStyle/>
          <a:p>
            <a:endParaRPr lang="tr-TR"/>
          </a:p>
        </p:txBody>
      </p:sp>
      <p:sp>
        <p:nvSpPr>
          <p:cNvPr id="5" name="Slayt Numarası Yer Tutucusu 4"/>
          <p:cNvSpPr>
            <a:spLocks noGrp="1"/>
          </p:cNvSpPr>
          <p:nvPr>
            <p:ph type="sldNum" sz="quarter" idx="12"/>
          </p:nvPr>
        </p:nvSpPr>
        <p:spPr/>
        <p:txBody>
          <a:bodyPr rtlCol="0"/>
          <a:lstStyle/>
          <a:p>
            <a:fld id="{DCF80F56-D5A3-4C71-B2F9-F98C7B98AB70}" type="slidenum">
              <a:rPr lang="tr-TR" smtClean="0"/>
              <a:t>‹#›</a:t>
            </a:fld>
            <a:endParaRPr lang="tr-TR"/>
          </a:p>
        </p:txBody>
      </p:sp>
    </p:spTree>
    <p:extLst>
      <p:ext uri="{BB962C8B-B14F-4D97-AF65-F5344CB8AC3E}">
        <p14:creationId xmlns:p14="http://schemas.microsoft.com/office/powerpoint/2010/main" val="1713425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Yalnızca Başlık">
    <p:spTree>
      <p:nvGrpSpPr>
        <p:cNvPr id="1" name=""/>
        <p:cNvGrpSpPr/>
        <p:nvPr/>
      </p:nvGrpSpPr>
      <p:grpSpPr>
        <a:xfrm>
          <a:off x="0" y="0"/>
          <a:ext cx="0" cy="0"/>
          <a:chOff x="0" y="0"/>
          <a:chExt cx="0" cy="0"/>
        </a:xfrm>
      </p:grpSpPr>
      <p:grpSp>
        <p:nvGrpSpPr>
          <p:cNvPr id="10" name="Grup 9">
            <a:extLst>
              <a:ext uri="{FF2B5EF4-FFF2-40B4-BE49-F238E27FC236}">
                <a16:creationId xmlns:a16="http://schemas.microsoft.com/office/drawing/2014/main" id="{1CA97C9F-27FA-4BCE-84C2-EA9C0347E974}"/>
              </a:ext>
            </a:extLst>
          </p:cNvPr>
          <p:cNvGrpSpPr/>
          <p:nvPr/>
        </p:nvGrpSpPr>
        <p:grpSpPr>
          <a:xfrm rot="5400000">
            <a:off x="227324" y="1282732"/>
            <a:ext cx="5378800" cy="5588856"/>
            <a:chOff x="-424090" y="303112"/>
            <a:chExt cx="5378800" cy="5588856"/>
          </a:xfrm>
          <a:solidFill>
            <a:srgbClr val="F6BF73">
              <a:alpha val="30196"/>
            </a:srgbClr>
          </a:solidFill>
        </p:grpSpPr>
        <p:pic>
          <p:nvPicPr>
            <p:cNvPr id="11" name="Grafik 10" descr="Tek dişli">
              <a:extLst>
                <a:ext uri="{FF2B5EF4-FFF2-40B4-BE49-F238E27FC236}">
                  <a16:creationId xmlns:a16="http://schemas.microsoft.com/office/drawing/2014/main" id="{6EEB6AF8-1385-4805-8E97-CDE431030B09}"/>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195" t="12276" r="8371" b="1368"/>
            <a:stretch/>
          </p:blipFill>
          <p:spPr>
            <a:xfrm rot="5400000">
              <a:off x="1442081" y="2451153"/>
              <a:ext cx="3275424" cy="3606205"/>
            </a:xfrm>
            <a:prstGeom prst="rect">
              <a:avLst/>
            </a:prstGeom>
          </p:spPr>
        </p:pic>
        <p:pic>
          <p:nvPicPr>
            <p:cNvPr id="12" name="Grafik 11" descr="Tek dişli">
              <a:extLst>
                <a:ext uri="{FF2B5EF4-FFF2-40B4-BE49-F238E27FC236}">
                  <a16:creationId xmlns:a16="http://schemas.microsoft.com/office/drawing/2014/main" id="{1F08FE59-AC1A-4BF7-B9D5-7672C8C7D39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1092764" y="303112"/>
              <a:ext cx="2880000" cy="2880000"/>
            </a:xfrm>
            <a:prstGeom prst="rect">
              <a:avLst/>
            </a:prstGeom>
          </p:spPr>
        </p:pic>
        <p:pic>
          <p:nvPicPr>
            <p:cNvPr id="13" name="Grafik 12" descr="Tek dişli">
              <a:extLst>
                <a:ext uri="{FF2B5EF4-FFF2-40B4-BE49-F238E27FC236}">
                  <a16:creationId xmlns:a16="http://schemas.microsoft.com/office/drawing/2014/main" id="{F44470E0-8B01-46E6-90F1-4B52CB3EFF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424090" y="1817280"/>
              <a:ext cx="2880000" cy="2880000"/>
            </a:xfrm>
            <a:prstGeom prst="rect">
              <a:avLst/>
            </a:prstGeom>
          </p:spPr>
        </p:pic>
        <p:pic>
          <p:nvPicPr>
            <p:cNvPr id="14" name="Grafik 13" descr="Tek dişli">
              <a:extLst>
                <a:ext uri="{FF2B5EF4-FFF2-40B4-BE49-F238E27FC236}">
                  <a16:creationId xmlns:a16="http://schemas.microsoft.com/office/drawing/2014/main" id="{2FB2E216-0387-4DF4-A432-E877C96A7B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625457" y="4024986"/>
              <a:ext cx="1620000" cy="1620000"/>
            </a:xfrm>
            <a:prstGeom prst="rect">
              <a:avLst/>
            </a:prstGeom>
          </p:spPr>
        </p:pic>
        <p:pic>
          <p:nvPicPr>
            <p:cNvPr id="15" name="Grafik 14" descr="Tek dişli">
              <a:extLst>
                <a:ext uri="{FF2B5EF4-FFF2-40B4-BE49-F238E27FC236}">
                  <a16:creationId xmlns:a16="http://schemas.microsoft.com/office/drawing/2014/main" id="{53685AA4-853C-46A8-8ADB-FA80FE59BF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3226710" y="1355170"/>
              <a:ext cx="1728000" cy="1728000"/>
            </a:xfrm>
            <a:prstGeom prst="rect">
              <a:avLst/>
            </a:prstGeom>
          </p:spPr>
        </p:pic>
      </p:grpSp>
      <p:pic>
        <p:nvPicPr>
          <p:cNvPr id="6" name="Resim 5"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Resim 6" descr="HD-ShadowShor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Dikdörtgen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9" name="Dikdörtgen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Başlık 1"/>
          <p:cNvSpPr>
            <a:spLocks noGrp="1"/>
          </p:cNvSpPr>
          <p:nvPr>
            <p:ph type="title"/>
          </p:nvPr>
        </p:nvSpPr>
        <p:spPr/>
        <p:txBody>
          <a:bodyPr rtlCol="0"/>
          <a:lstStyle/>
          <a:p>
            <a:pPr rtl="0"/>
            <a:r>
              <a:rPr lang="tr-TR" noProof="0"/>
              <a:t>Asıl başlık stilini düzenlemek için tıklayın</a:t>
            </a:r>
          </a:p>
        </p:txBody>
      </p:sp>
      <p:sp>
        <p:nvSpPr>
          <p:cNvPr id="3" name="Tarih Yer Tutucusu 2"/>
          <p:cNvSpPr>
            <a:spLocks noGrp="1"/>
          </p:cNvSpPr>
          <p:nvPr>
            <p:ph type="dt" sz="half" idx="10"/>
          </p:nvPr>
        </p:nvSpPr>
        <p:spPr/>
        <p:txBody>
          <a:bodyPr rtlCol="0"/>
          <a:lstStyle/>
          <a:p>
            <a:fld id="{698736D7-D2AE-4EA5-B5D2-DEF3C4B5553A}" type="datetimeFigureOut">
              <a:rPr lang="tr-TR" smtClean="0"/>
              <a:t>28.05.2026</a:t>
            </a:fld>
            <a:endParaRPr lang="tr-TR"/>
          </a:p>
        </p:txBody>
      </p:sp>
      <p:sp>
        <p:nvSpPr>
          <p:cNvPr id="4" name="Alt Bilgi Yer Tutucusu 3"/>
          <p:cNvSpPr>
            <a:spLocks noGrp="1"/>
          </p:cNvSpPr>
          <p:nvPr>
            <p:ph type="ftr" sz="quarter" idx="11"/>
          </p:nvPr>
        </p:nvSpPr>
        <p:spPr/>
        <p:txBody>
          <a:bodyPr rtlCol="0"/>
          <a:lstStyle/>
          <a:p>
            <a:endParaRPr lang="tr-TR"/>
          </a:p>
        </p:txBody>
      </p:sp>
      <p:sp>
        <p:nvSpPr>
          <p:cNvPr id="5" name="Slayt Numarası Yer Tutucusu 4"/>
          <p:cNvSpPr>
            <a:spLocks noGrp="1"/>
          </p:cNvSpPr>
          <p:nvPr>
            <p:ph type="sldNum" sz="quarter" idx="12"/>
          </p:nvPr>
        </p:nvSpPr>
        <p:spPr/>
        <p:txBody>
          <a:bodyPr rtlCol="0"/>
          <a:lstStyle/>
          <a:p>
            <a:fld id="{DCF80F56-D5A3-4C71-B2F9-F98C7B98AB70}" type="slidenum">
              <a:rPr lang="tr-TR" smtClean="0"/>
              <a:t>‹#›</a:t>
            </a:fld>
            <a:endParaRPr lang="tr-TR"/>
          </a:p>
        </p:txBody>
      </p:sp>
      <p:sp>
        <p:nvSpPr>
          <p:cNvPr id="17" name="Metin Yer Tutucusu 16">
            <a:extLst>
              <a:ext uri="{FF2B5EF4-FFF2-40B4-BE49-F238E27FC236}">
                <a16:creationId xmlns:a16="http://schemas.microsoft.com/office/drawing/2014/main" id="{D683A405-3ADE-448E-893F-D3D2E11CCA4C}"/>
              </a:ext>
            </a:extLst>
          </p:cNvPr>
          <p:cNvSpPr>
            <a:spLocks noGrp="1"/>
          </p:cNvSpPr>
          <p:nvPr>
            <p:ph type="body" sz="quarter" idx="13"/>
          </p:nvPr>
        </p:nvSpPr>
        <p:spPr>
          <a:xfrm>
            <a:off x="1897819" y="2290763"/>
            <a:ext cx="8396362" cy="3100387"/>
          </a:xfrm>
        </p:spPr>
        <p:txBody>
          <a:bodyPr rtlCol="0" anchor="ctr">
            <a:normAutofit/>
          </a:bodyPr>
          <a:lstStyle>
            <a:lvl1pPr marL="0" indent="0" algn="ctr">
              <a:buNone/>
              <a:defRPr sz="6000"/>
            </a:lvl1pPr>
          </a:lstStyle>
          <a:p>
            <a:pPr lvl="0" rtl="0"/>
            <a:r>
              <a:rPr lang="tr-TR" noProof="0"/>
              <a:t>Asıl metin stillerini düzenlemek için tıklayın</a:t>
            </a:r>
          </a:p>
        </p:txBody>
      </p:sp>
    </p:spTree>
    <p:extLst>
      <p:ext uri="{BB962C8B-B14F-4D97-AF65-F5344CB8AC3E}">
        <p14:creationId xmlns:p14="http://schemas.microsoft.com/office/powerpoint/2010/main" val="3649913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grpSp>
        <p:nvGrpSpPr>
          <p:cNvPr id="7" name="Grup 6">
            <a:extLst>
              <a:ext uri="{FF2B5EF4-FFF2-40B4-BE49-F238E27FC236}">
                <a16:creationId xmlns:a16="http://schemas.microsoft.com/office/drawing/2014/main" id="{AC2D2AED-B2EF-46D8-BC7C-81AE25C80786}"/>
              </a:ext>
            </a:extLst>
          </p:cNvPr>
          <p:cNvGrpSpPr/>
          <p:nvPr/>
        </p:nvGrpSpPr>
        <p:grpSpPr bwMode="ltGray">
          <a:xfrm>
            <a:off x="7232499" y="-159283"/>
            <a:ext cx="4959501" cy="5224009"/>
            <a:chOff x="7232499" y="-159283"/>
            <a:chExt cx="4959501" cy="5224009"/>
          </a:xfrm>
          <a:solidFill>
            <a:srgbClr val="76280B">
              <a:alpha val="60000"/>
            </a:srgbClr>
          </a:solidFill>
        </p:grpSpPr>
        <p:pic>
          <p:nvPicPr>
            <p:cNvPr id="8" name="Grafik 7" descr="Tek dişli">
              <a:extLst>
                <a:ext uri="{FF2B5EF4-FFF2-40B4-BE49-F238E27FC236}">
                  <a16:creationId xmlns:a16="http://schemas.microsoft.com/office/drawing/2014/main" id="{2F9289FC-9317-4EC5-8064-00D341850192}"/>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18078" r="23442"/>
            <a:stretch/>
          </p:blipFill>
          <p:spPr bwMode="ltGray">
            <a:xfrm>
              <a:off x="8994950" y="0"/>
              <a:ext cx="3197050" cy="3421066"/>
            </a:xfrm>
            <a:prstGeom prst="rect">
              <a:avLst/>
            </a:prstGeom>
          </p:spPr>
        </p:pic>
        <p:pic>
          <p:nvPicPr>
            <p:cNvPr id="9" name="Grafik 8" descr="Tek dişli">
              <a:extLst>
                <a:ext uri="{FF2B5EF4-FFF2-40B4-BE49-F238E27FC236}">
                  <a16:creationId xmlns:a16="http://schemas.microsoft.com/office/drawing/2014/main" id="{09784D29-4AB9-4581-A176-2BC2AD58F8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7232499" y="667872"/>
              <a:ext cx="2880000" cy="2880000"/>
            </a:xfrm>
            <a:prstGeom prst="rect">
              <a:avLst/>
            </a:prstGeom>
          </p:spPr>
        </p:pic>
        <p:pic>
          <p:nvPicPr>
            <p:cNvPr id="10" name="Grafik 9" descr="Tek dişli">
              <a:extLst>
                <a:ext uri="{FF2B5EF4-FFF2-40B4-BE49-F238E27FC236}">
                  <a16:creationId xmlns:a16="http://schemas.microsoft.com/office/drawing/2014/main" id="{25EF2775-3EFB-4A64-8FAF-4D8B56AE07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746667" y="2184726"/>
              <a:ext cx="2880000" cy="2880000"/>
            </a:xfrm>
            <a:prstGeom prst="rect">
              <a:avLst/>
            </a:prstGeom>
          </p:spPr>
        </p:pic>
        <p:pic>
          <p:nvPicPr>
            <p:cNvPr id="11" name="Grafik 10" descr="Tek dişli">
              <a:extLst>
                <a:ext uri="{FF2B5EF4-FFF2-40B4-BE49-F238E27FC236}">
                  <a16:creationId xmlns:a16="http://schemas.microsoft.com/office/drawing/2014/main" id="{A34C11DA-4074-454D-800C-0FC5FBF1CD1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501643" y="-159283"/>
              <a:ext cx="1620000" cy="1620000"/>
            </a:xfrm>
            <a:prstGeom prst="rect">
              <a:avLst/>
            </a:prstGeom>
          </p:spPr>
        </p:pic>
      </p:grpSp>
      <p:pic>
        <p:nvPicPr>
          <p:cNvPr id="5" name="Resim 4"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Dikdörtgen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arih Yer Tutucusu 1"/>
          <p:cNvSpPr>
            <a:spLocks noGrp="1"/>
          </p:cNvSpPr>
          <p:nvPr>
            <p:ph type="dt" sz="half" idx="10"/>
          </p:nvPr>
        </p:nvSpPr>
        <p:spPr/>
        <p:txBody>
          <a:bodyPr rtlCol="0"/>
          <a:lstStyle/>
          <a:p>
            <a:fld id="{698736D7-D2AE-4EA5-B5D2-DEF3C4B5553A}" type="datetimeFigureOut">
              <a:rPr lang="tr-TR" smtClean="0"/>
              <a:t>28.05.2026</a:t>
            </a:fld>
            <a:endParaRPr lang="tr-TR"/>
          </a:p>
        </p:txBody>
      </p:sp>
      <p:sp>
        <p:nvSpPr>
          <p:cNvPr id="3" name="Alt Bilgi Yer Tutucusu 2"/>
          <p:cNvSpPr>
            <a:spLocks noGrp="1"/>
          </p:cNvSpPr>
          <p:nvPr>
            <p:ph type="ftr" sz="quarter" idx="11"/>
          </p:nvPr>
        </p:nvSpPr>
        <p:spPr/>
        <p:txBody>
          <a:bodyPr rtlCol="0"/>
          <a:lstStyle/>
          <a:p>
            <a:endParaRPr lang="tr-TR"/>
          </a:p>
        </p:txBody>
      </p:sp>
      <p:sp>
        <p:nvSpPr>
          <p:cNvPr id="4" name="Slayt Numarası Yer Tutucusu 3"/>
          <p:cNvSpPr>
            <a:spLocks noGrp="1"/>
          </p:cNvSpPr>
          <p:nvPr>
            <p:ph type="sldNum" sz="quarter" idx="12"/>
          </p:nvPr>
        </p:nvSpPr>
        <p:spPr/>
        <p:txBody>
          <a:bodyPr rtlCol="0"/>
          <a:lstStyle/>
          <a:p>
            <a:fld id="{DCF80F56-D5A3-4C71-B2F9-F98C7B98AB70}" type="slidenum">
              <a:rPr lang="tr-TR" smtClean="0"/>
              <a:t>‹#›</a:t>
            </a:fld>
            <a:endParaRPr lang="tr-TR"/>
          </a:p>
        </p:txBody>
      </p:sp>
    </p:spTree>
    <p:extLst>
      <p:ext uri="{BB962C8B-B14F-4D97-AF65-F5344CB8AC3E}">
        <p14:creationId xmlns:p14="http://schemas.microsoft.com/office/powerpoint/2010/main" val="3975415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grpSp>
        <p:nvGrpSpPr>
          <p:cNvPr id="17" name="Grup 16">
            <a:extLst>
              <a:ext uri="{FF2B5EF4-FFF2-40B4-BE49-F238E27FC236}">
                <a16:creationId xmlns:a16="http://schemas.microsoft.com/office/drawing/2014/main" id="{9F6BBB30-80DB-4A1B-9DD3-A090C4EF2F33}"/>
              </a:ext>
            </a:extLst>
          </p:cNvPr>
          <p:cNvGrpSpPr/>
          <p:nvPr/>
        </p:nvGrpSpPr>
        <p:grpSpPr bwMode="ltGray">
          <a:xfrm rot="5400000">
            <a:off x="7251814" y="1766245"/>
            <a:ext cx="4959501" cy="5224009"/>
            <a:chOff x="7232499" y="-159283"/>
            <a:chExt cx="4959501" cy="5224009"/>
          </a:xfrm>
          <a:solidFill>
            <a:srgbClr val="76280B">
              <a:alpha val="60000"/>
            </a:srgbClr>
          </a:solidFill>
        </p:grpSpPr>
        <p:pic>
          <p:nvPicPr>
            <p:cNvPr id="18" name="Grafik 17" descr="Tek dişli">
              <a:extLst>
                <a:ext uri="{FF2B5EF4-FFF2-40B4-BE49-F238E27FC236}">
                  <a16:creationId xmlns:a16="http://schemas.microsoft.com/office/drawing/2014/main" id="{4FC3313D-A401-4847-ABED-CDF1803D067C}"/>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18078" r="23442"/>
            <a:stretch/>
          </p:blipFill>
          <p:spPr bwMode="ltGray">
            <a:xfrm>
              <a:off x="8994950" y="0"/>
              <a:ext cx="3197050" cy="3421066"/>
            </a:xfrm>
            <a:prstGeom prst="rect">
              <a:avLst/>
            </a:prstGeom>
          </p:spPr>
        </p:pic>
        <p:pic>
          <p:nvPicPr>
            <p:cNvPr id="19" name="Grafik 18" descr="Tek dişli">
              <a:extLst>
                <a:ext uri="{FF2B5EF4-FFF2-40B4-BE49-F238E27FC236}">
                  <a16:creationId xmlns:a16="http://schemas.microsoft.com/office/drawing/2014/main" id="{62BA598A-71EC-4BD4-8924-8F16E990AF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7232499" y="667872"/>
              <a:ext cx="2880000" cy="2880000"/>
            </a:xfrm>
            <a:prstGeom prst="rect">
              <a:avLst/>
            </a:prstGeom>
          </p:spPr>
        </p:pic>
        <p:pic>
          <p:nvPicPr>
            <p:cNvPr id="20" name="Grafik 19" descr="Tek dişli">
              <a:extLst>
                <a:ext uri="{FF2B5EF4-FFF2-40B4-BE49-F238E27FC236}">
                  <a16:creationId xmlns:a16="http://schemas.microsoft.com/office/drawing/2014/main" id="{2086399E-589B-48EE-B396-961A783106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746667" y="2184726"/>
              <a:ext cx="2880000" cy="2880000"/>
            </a:xfrm>
            <a:prstGeom prst="rect">
              <a:avLst/>
            </a:prstGeom>
          </p:spPr>
        </p:pic>
        <p:pic>
          <p:nvPicPr>
            <p:cNvPr id="21" name="Grafik 20" descr="Tek dişli">
              <a:extLst>
                <a:ext uri="{FF2B5EF4-FFF2-40B4-BE49-F238E27FC236}">
                  <a16:creationId xmlns:a16="http://schemas.microsoft.com/office/drawing/2014/main" id="{F2A039E4-F69C-4905-B047-6891B77F8C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501643" y="-159283"/>
              <a:ext cx="1620000" cy="1620000"/>
            </a:xfrm>
            <a:prstGeom prst="rect">
              <a:avLst/>
            </a:prstGeom>
          </p:spPr>
        </p:pic>
      </p:grpSp>
      <p:pic>
        <p:nvPicPr>
          <p:cNvPr id="8" name="Resim 7"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Dikdörtgen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Dikdörtgen 10"/>
          <p:cNvSpPr/>
          <p:nvPr/>
        </p:nvSpPr>
        <p:spPr>
          <a:xfrm>
            <a:off x="-3554"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Başlık 1"/>
          <p:cNvSpPr>
            <a:spLocks noGrp="1"/>
          </p:cNvSpPr>
          <p:nvPr>
            <p:ph type="title"/>
          </p:nvPr>
        </p:nvSpPr>
        <p:spPr>
          <a:xfrm>
            <a:off x="2432921" y="753227"/>
            <a:ext cx="9613859" cy="1080940"/>
          </a:xfrm>
        </p:spPr>
        <p:txBody>
          <a:bodyPr rtlCol="0" anchor="ctr">
            <a:normAutofit/>
          </a:bodyPr>
          <a:lstStyle>
            <a:lvl1pPr>
              <a:defRPr sz="3600"/>
            </a:lvl1pPr>
          </a:lstStyle>
          <a:p>
            <a:pPr rtl="0"/>
            <a:r>
              <a:rPr lang="tr-TR" noProof="0"/>
              <a:t>Asıl başlık stilini düzenlemek için tıklayın</a:t>
            </a:r>
          </a:p>
        </p:txBody>
      </p:sp>
      <p:sp>
        <p:nvSpPr>
          <p:cNvPr id="3" name="İçerik Yer Tutucusu 2"/>
          <p:cNvSpPr>
            <a:spLocks noGrp="1"/>
          </p:cNvSpPr>
          <p:nvPr>
            <p:ph idx="1"/>
          </p:nvPr>
        </p:nvSpPr>
        <p:spPr>
          <a:xfrm>
            <a:off x="6438446" y="2336873"/>
            <a:ext cx="5608336" cy="3599313"/>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4" name="Metin Yer Tutucusu 3"/>
          <p:cNvSpPr>
            <a:spLocks noGrp="1"/>
          </p:cNvSpPr>
          <p:nvPr>
            <p:ph type="body" sz="half" idx="2"/>
          </p:nvPr>
        </p:nvSpPr>
        <p:spPr>
          <a:xfrm>
            <a:off x="2432922" y="2336872"/>
            <a:ext cx="3790078" cy="3599317"/>
          </a:xfrm>
        </p:spPr>
        <p:txBody>
          <a:bodyPr rtlCol="0"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tr-TR" noProof="0"/>
              <a:t>Asıl metin stillerini düzenlemek için tıklayın</a:t>
            </a:r>
          </a:p>
        </p:txBody>
      </p:sp>
      <p:sp>
        <p:nvSpPr>
          <p:cNvPr id="5" name="Tarih Yer Tutucusu 4"/>
          <p:cNvSpPr>
            <a:spLocks noGrp="1"/>
          </p:cNvSpPr>
          <p:nvPr>
            <p:ph type="dt" sz="half" idx="10"/>
          </p:nvPr>
        </p:nvSpPr>
        <p:spPr>
          <a:xfrm>
            <a:off x="9303581" y="5936187"/>
            <a:ext cx="2743200" cy="365125"/>
          </a:xfrm>
        </p:spPr>
        <p:txBody>
          <a:bodyPr rtlCol="0"/>
          <a:lstStyle/>
          <a:p>
            <a:fld id="{698736D7-D2AE-4EA5-B5D2-DEF3C4B5553A}" type="datetimeFigureOut">
              <a:rPr lang="tr-TR" smtClean="0"/>
              <a:t>28.05.2026</a:t>
            </a:fld>
            <a:endParaRPr lang="tr-TR"/>
          </a:p>
        </p:txBody>
      </p:sp>
      <p:sp>
        <p:nvSpPr>
          <p:cNvPr id="6" name="Alt Bilgi Yer Tutucusu 5"/>
          <p:cNvSpPr>
            <a:spLocks noGrp="1"/>
          </p:cNvSpPr>
          <p:nvPr>
            <p:ph type="ftr" sz="quarter" idx="11"/>
          </p:nvPr>
        </p:nvSpPr>
        <p:spPr>
          <a:xfrm>
            <a:off x="2432921" y="5936188"/>
            <a:ext cx="6870660" cy="365125"/>
          </a:xfrm>
        </p:spPr>
        <p:txBody>
          <a:bodyPr rtlCol="0"/>
          <a:lstStyle/>
          <a:p>
            <a:endParaRPr lang="tr-TR"/>
          </a:p>
        </p:txBody>
      </p:sp>
      <p:sp>
        <p:nvSpPr>
          <p:cNvPr id="7" name="Slayt Numarası Yer Tutucusu 6"/>
          <p:cNvSpPr>
            <a:spLocks noGrp="1"/>
          </p:cNvSpPr>
          <p:nvPr>
            <p:ph type="sldNum" sz="quarter" idx="12"/>
          </p:nvPr>
        </p:nvSpPr>
        <p:spPr>
          <a:xfrm>
            <a:off x="140074" y="753227"/>
            <a:ext cx="1154151" cy="1090789"/>
          </a:xfrm>
        </p:spPr>
        <p:txBody>
          <a:bodyPr rtlCol="0"/>
          <a:lstStyle/>
          <a:p>
            <a:fld id="{DCF80F56-D5A3-4C71-B2F9-F98C7B98AB70}" type="slidenum">
              <a:rPr lang="tr-TR" smtClean="0"/>
              <a:t>‹#›</a:t>
            </a:fld>
            <a:endParaRPr lang="tr-TR"/>
          </a:p>
        </p:txBody>
      </p:sp>
    </p:spTree>
    <p:extLst>
      <p:ext uri="{BB962C8B-B14F-4D97-AF65-F5344CB8AC3E}">
        <p14:creationId xmlns:p14="http://schemas.microsoft.com/office/powerpoint/2010/main" val="34813071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Resim">
    <p:spTree>
      <p:nvGrpSpPr>
        <p:cNvPr id="1" name=""/>
        <p:cNvGrpSpPr/>
        <p:nvPr/>
      </p:nvGrpSpPr>
      <p:grpSpPr>
        <a:xfrm>
          <a:off x="0" y="0"/>
          <a:ext cx="0" cy="0"/>
          <a:chOff x="0" y="0"/>
          <a:chExt cx="0" cy="0"/>
        </a:xfrm>
      </p:grpSpPr>
      <p:grpSp>
        <p:nvGrpSpPr>
          <p:cNvPr id="17" name="Grup 16">
            <a:extLst>
              <a:ext uri="{FF2B5EF4-FFF2-40B4-BE49-F238E27FC236}">
                <a16:creationId xmlns:a16="http://schemas.microsoft.com/office/drawing/2014/main" id="{9F6BBB30-80DB-4A1B-9DD3-A090C4EF2F33}"/>
              </a:ext>
            </a:extLst>
          </p:cNvPr>
          <p:cNvGrpSpPr/>
          <p:nvPr/>
        </p:nvGrpSpPr>
        <p:grpSpPr bwMode="ltGray">
          <a:xfrm rot="5400000">
            <a:off x="7251814" y="1766245"/>
            <a:ext cx="4959501" cy="5224009"/>
            <a:chOff x="7232499" y="-159283"/>
            <a:chExt cx="4959501" cy="5224009"/>
          </a:xfrm>
          <a:solidFill>
            <a:srgbClr val="76280B">
              <a:alpha val="60000"/>
            </a:srgbClr>
          </a:solidFill>
        </p:grpSpPr>
        <p:pic>
          <p:nvPicPr>
            <p:cNvPr id="18" name="Grafik 17" descr="Tek dişli">
              <a:extLst>
                <a:ext uri="{FF2B5EF4-FFF2-40B4-BE49-F238E27FC236}">
                  <a16:creationId xmlns:a16="http://schemas.microsoft.com/office/drawing/2014/main" id="{4FC3313D-A401-4847-ABED-CDF1803D067C}"/>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18078" r="23442"/>
            <a:stretch/>
          </p:blipFill>
          <p:spPr bwMode="ltGray">
            <a:xfrm>
              <a:off x="8994950" y="0"/>
              <a:ext cx="3197050" cy="3421066"/>
            </a:xfrm>
            <a:prstGeom prst="rect">
              <a:avLst/>
            </a:prstGeom>
          </p:spPr>
        </p:pic>
        <p:pic>
          <p:nvPicPr>
            <p:cNvPr id="19" name="Grafik 18" descr="Tek dişli">
              <a:extLst>
                <a:ext uri="{FF2B5EF4-FFF2-40B4-BE49-F238E27FC236}">
                  <a16:creationId xmlns:a16="http://schemas.microsoft.com/office/drawing/2014/main" id="{62BA598A-71EC-4BD4-8924-8F16E990AF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7232499" y="667872"/>
              <a:ext cx="2880000" cy="2880000"/>
            </a:xfrm>
            <a:prstGeom prst="rect">
              <a:avLst/>
            </a:prstGeom>
          </p:spPr>
        </p:pic>
        <p:pic>
          <p:nvPicPr>
            <p:cNvPr id="20" name="Grafik 19" descr="Tek dişli">
              <a:extLst>
                <a:ext uri="{FF2B5EF4-FFF2-40B4-BE49-F238E27FC236}">
                  <a16:creationId xmlns:a16="http://schemas.microsoft.com/office/drawing/2014/main" id="{2086399E-589B-48EE-B396-961A783106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746667" y="2184726"/>
              <a:ext cx="2880000" cy="2880000"/>
            </a:xfrm>
            <a:prstGeom prst="rect">
              <a:avLst/>
            </a:prstGeom>
          </p:spPr>
        </p:pic>
        <p:pic>
          <p:nvPicPr>
            <p:cNvPr id="21" name="Grafik 20" descr="Tek dişli">
              <a:extLst>
                <a:ext uri="{FF2B5EF4-FFF2-40B4-BE49-F238E27FC236}">
                  <a16:creationId xmlns:a16="http://schemas.microsoft.com/office/drawing/2014/main" id="{F2A039E4-F69C-4905-B047-6891B77F8C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501643" y="-159283"/>
              <a:ext cx="1620000" cy="1620000"/>
            </a:xfrm>
            <a:prstGeom prst="rect">
              <a:avLst/>
            </a:prstGeom>
          </p:spPr>
        </p:pic>
      </p:grpSp>
      <p:pic>
        <p:nvPicPr>
          <p:cNvPr id="8" name="Resim 7"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Dikdörtgen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Dikdörtgen 10"/>
          <p:cNvSpPr/>
          <p:nvPr/>
        </p:nvSpPr>
        <p:spPr>
          <a:xfrm>
            <a:off x="-3554"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Başlık 1"/>
          <p:cNvSpPr>
            <a:spLocks noGrp="1"/>
          </p:cNvSpPr>
          <p:nvPr>
            <p:ph type="title"/>
          </p:nvPr>
        </p:nvSpPr>
        <p:spPr>
          <a:xfrm>
            <a:off x="2432921" y="753227"/>
            <a:ext cx="9613859" cy="1080940"/>
          </a:xfrm>
        </p:spPr>
        <p:txBody>
          <a:bodyPr rtlCol="0" anchor="ctr">
            <a:normAutofit/>
          </a:bodyPr>
          <a:lstStyle>
            <a:lvl1pPr>
              <a:defRPr sz="3600"/>
            </a:lvl1pPr>
          </a:lstStyle>
          <a:p>
            <a:pPr rtl="0"/>
            <a:r>
              <a:rPr lang="tr-TR" noProof="0"/>
              <a:t>Asıl başlık stilini düzenlemek için tıklayın</a:t>
            </a:r>
          </a:p>
        </p:txBody>
      </p:sp>
      <p:sp>
        <p:nvSpPr>
          <p:cNvPr id="4" name="Metin Yer Tutucusu 3"/>
          <p:cNvSpPr>
            <a:spLocks noGrp="1"/>
          </p:cNvSpPr>
          <p:nvPr>
            <p:ph type="body" sz="half" idx="2"/>
          </p:nvPr>
        </p:nvSpPr>
        <p:spPr>
          <a:xfrm>
            <a:off x="2432922" y="2336872"/>
            <a:ext cx="2620817" cy="3599317"/>
          </a:xfrm>
        </p:spPr>
        <p:txBody>
          <a:bodyPr rtlCol="0"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tr-TR" noProof="0"/>
              <a:t>Asıl metin stillerini düzenlemek için tıklayın</a:t>
            </a:r>
          </a:p>
        </p:txBody>
      </p:sp>
      <p:sp>
        <p:nvSpPr>
          <p:cNvPr id="5" name="Tarih Yer Tutucusu 4"/>
          <p:cNvSpPr>
            <a:spLocks noGrp="1"/>
          </p:cNvSpPr>
          <p:nvPr>
            <p:ph type="dt" sz="half" idx="10"/>
          </p:nvPr>
        </p:nvSpPr>
        <p:spPr>
          <a:xfrm>
            <a:off x="9303581" y="5936187"/>
            <a:ext cx="2743200" cy="365125"/>
          </a:xfrm>
        </p:spPr>
        <p:txBody>
          <a:bodyPr rtlCol="0"/>
          <a:lstStyle/>
          <a:p>
            <a:fld id="{698736D7-D2AE-4EA5-B5D2-DEF3C4B5553A}" type="datetimeFigureOut">
              <a:rPr lang="tr-TR" smtClean="0"/>
              <a:t>28.05.2026</a:t>
            </a:fld>
            <a:endParaRPr lang="tr-TR"/>
          </a:p>
        </p:txBody>
      </p:sp>
      <p:sp>
        <p:nvSpPr>
          <p:cNvPr id="6" name="Alt Bilgi Yer Tutucusu 5"/>
          <p:cNvSpPr>
            <a:spLocks noGrp="1"/>
          </p:cNvSpPr>
          <p:nvPr>
            <p:ph type="ftr" sz="quarter" idx="11"/>
          </p:nvPr>
        </p:nvSpPr>
        <p:spPr>
          <a:xfrm>
            <a:off x="2432921" y="5936188"/>
            <a:ext cx="6870660" cy="365125"/>
          </a:xfrm>
        </p:spPr>
        <p:txBody>
          <a:bodyPr rtlCol="0"/>
          <a:lstStyle/>
          <a:p>
            <a:endParaRPr lang="tr-TR"/>
          </a:p>
        </p:txBody>
      </p:sp>
      <p:sp>
        <p:nvSpPr>
          <p:cNvPr id="7" name="Slayt Numarası Yer Tutucusu 6"/>
          <p:cNvSpPr>
            <a:spLocks noGrp="1"/>
          </p:cNvSpPr>
          <p:nvPr>
            <p:ph type="sldNum" sz="quarter" idx="12"/>
          </p:nvPr>
        </p:nvSpPr>
        <p:spPr>
          <a:xfrm>
            <a:off x="140074" y="753227"/>
            <a:ext cx="1154151" cy="1090789"/>
          </a:xfrm>
        </p:spPr>
        <p:txBody>
          <a:bodyPr rtlCol="0"/>
          <a:lstStyle/>
          <a:p>
            <a:fld id="{DCF80F56-D5A3-4C71-B2F9-F98C7B98AB70}" type="slidenum">
              <a:rPr lang="tr-TR" smtClean="0"/>
              <a:t>‹#›</a:t>
            </a:fld>
            <a:endParaRPr lang="tr-TR"/>
          </a:p>
        </p:txBody>
      </p:sp>
      <p:sp>
        <p:nvSpPr>
          <p:cNvPr id="16" name="Resim Yer Tutucusu 2">
            <a:extLst>
              <a:ext uri="{FF2B5EF4-FFF2-40B4-BE49-F238E27FC236}">
                <a16:creationId xmlns:a16="http://schemas.microsoft.com/office/drawing/2014/main" id="{5E59F855-D2A7-4662-804E-17B59CD1A41D}"/>
              </a:ext>
            </a:extLst>
          </p:cNvPr>
          <p:cNvSpPr>
            <a:spLocks noGrp="1"/>
          </p:cNvSpPr>
          <p:nvPr>
            <p:ph type="pic" idx="1"/>
          </p:nvPr>
        </p:nvSpPr>
        <p:spPr>
          <a:xfrm>
            <a:off x="5213022" y="2327474"/>
            <a:ext cx="6833757" cy="3608712"/>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tr-TR" noProof="0"/>
              <a:t>Resim eklemek için simgeye tıklayın</a:t>
            </a:r>
          </a:p>
        </p:txBody>
      </p:sp>
    </p:spTree>
    <p:extLst>
      <p:ext uri="{BB962C8B-B14F-4D97-AF65-F5344CB8AC3E}">
        <p14:creationId xmlns:p14="http://schemas.microsoft.com/office/powerpoint/2010/main" val="7859658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Resim Yazısı İçeren Panoramik Resim">
    <p:spTree>
      <p:nvGrpSpPr>
        <p:cNvPr id="1" name=""/>
        <p:cNvGrpSpPr/>
        <p:nvPr/>
      </p:nvGrpSpPr>
      <p:grpSpPr>
        <a:xfrm>
          <a:off x="0" y="0"/>
          <a:ext cx="0" cy="0"/>
          <a:chOff x="0" y="0"/>
          <a:chExt cx="0" cy="0"/>
        </a:xfrm>
      </p:grpSpPr>
      <p:pic>
        <p:nvPicPr>
          <p:cNvPr id="8" name="Resim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Resim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Dikdörtgen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11" name="Dikdörtgen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Başlık 1"/>
          <p:cNvSpPr>
            <a:spLocks noGrp="1"/>
          </p:cNvSpPr>
          <p:nvPr>
            <p:ph type="title"/>
          </p:nvPr>
        </p:nvSpPr>
        <p:spPr>
          <a:xfrm>
            <a:off x="680322" y="4711616"/>
            <a:ext cx="9613859" cy="1090482"/>
          </a:xfrm>
        </p:spPr>
        <p:txBody>
          <a:bodyPr rtlCol="0" anchor="ctr" anchorCtr="0">
            <a:normAutofit/>
          </a:bodyPr>
          <a:lstStyle>
            <a:lvl1pPr>
              <a:defRPr sz="2400"/>
            </a:lvl1pPr>
          </a:lstStyle>
          <a:p>
            <a:pPr rtl="0"/>
            <a:r>
              <a:rPr lang="tr-TR" noProof="0"/>
              <a:t>Asıl başlık stilini düzenlemek için tıklayın</a:t>
            </a:r>
          </a:p>
        </p:txBody>
      </p:sp>
      <p:sp>
        <p:nvSpPr>
          <p:cNvPr id="5" name="Tarih Yer Tutucusu 4"/>
          <p:cNvSpPr>
            <a:spLocks noGrp="1"/>
          </p:cNvSpPr>
          <p:nvPr>
            <p:ph type="dt" sz="half" idx="10"/>
          </p:nvPr>
        </p:nvSpPr>
        <p:spPr/>
        <p:txBody>
          <a:bodyPr rtlCol="0"/>
          <a:lstStyle/>
          <a:p>
            <a:fld id="{698736D7-D2AE-4EA5-B5D2-DEF3C4B5553A}" type="datetimeFigureOut">
              <a:rPr lang="tr-TR" smtClean="0"/>
              <a:t>28.05.2026</a:t>
            </a:fld>
            <a:endParaRPr lang="tr-TR"/>
          </a:p>
        </p:txBody>
      </p:sp>
      <p:sp>
        <p:nvSpPr>
          <p:cNvPr id="6" name="Alt Bilgi Yer Tutucusu 5"/>
          <p:cNvSpPr>
            <a:spLocks noGrp="1"/>
          </p:cNvSpPr>
          <p:nvPr>
            <p:ph type="ftr" sz="quarter" idx="11"/>
          </p:nvPr>
        </p:nvSpPr>
        <p:spPr/>
        <p:txBody>
          <a:bodyPr rtlCol="0"/>
          <a:lstStyle/>
          <a:p>
            <a:endParaRPr lang="tr-TR"/>
          </a:p>
        </p:txBody>
      </p:sp>
      <p:sp>
        <p:nvSpPr>
          <p:cNvPr id="7" name="Slayt Numarası Yer Tutucusu 6"/>
          <p:cNvSpPr>
            <a:spLocks noGrp="1"/>
          </p:cNvSpPr>
          <p:nvPr>
            <p:ph type="sldNum" sz="quarter" idx="12"/>
          </p:nvPr>
        </p:nvSpPr>
        <p:spPr>
          <a:xfrm>
            <a:off x="10729455" y="4711309"/>
            <a:ext cx="1154151" cy="1090789"/>
          </a:xfrm>
        </p:spPr>
        <p:txBody>
          <a:bodyPr rtlCol="0"/>
          <a:lstStyle/>
          <a:p>
            <a:fld id="{DCF80F56-D5A3-4C71-B2F9-F98C7B98AB70}" type="slidenum">
              <a:rPr lang="tr-TR" smtClean="0"/>
              <a:t>‹#›</a:t>
            </a:fld>
            <a:endParaRPr lang="tr-TR"/>
          </a:p>
        </p:txBody>
      </p:sp>
      <p:sp>
        <p:nvSpPr>
          <p:cNvPr id="13" name="SmartArt Yer Tutucusu 12">
            <a:extLst>
              <a:ext uri="{FF2B5EF4-FFF2-40B4-BE49-F238E27FC236}">
                <a16:creationId xmlns:a16="http://schemas.microsoft.com/office/drawing/2014/main" id="{DBD7FBFD-679C-4A5B-A176-220004B60453}"/>
              </a:ext>
            </a:extLst>
          </p:cNvPr>
          <p:cNvSpPr>
            <a:spLocks noGrp="1"/>
          </p:cNvSpPr>
          <p:nvPr>
            <p:ph type="dgm" sz="quarter" idx="13"/>
          </p:nvPr>
        </p:nvSpPr>
        <p:spPr>
          <a:xfrm>
            <a:off x="680321" y="386862"/>
            <a:ext cx="9614617" cy="3867638"/>
          </a:xfrm>
        </p:spPr>
        <p:txBody>
          <a:bodyPr rtlCol="0"/>
          <a:lstStyle/>
          <a:p>
            <a:pPr rtl="0"/>
            <a:r>
              <a:rPr lang="tr-TR" noProof="0"/>
              <a:t>SmartArt grafiği eklemek için simgeye tıklayın</a:t>
            </a:r>
          </a:p>
        </p:txBody>
      </p:sp>
    </p:spTree>
    <p:extLst>
      <p:ext uri="{BB962C8B-B14F-4D97-AF65-F5344CB8AC3E}">
        <p14:creationId xmlns:p14="http://schemas.microsoft.com/office/powerpoint/2010/main" val="23180458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grpSp>
        <p:nvGrpSpPr>
          <p:cNvPr id="12" name="Grup 11">
            <a:extLst>
              <a:ext uri="{FF2B5EF4-FFF2-40B4-BE49-F238E27FC236}">
                <a16:creationId xmlns:a16="http://schemas.microsoft.com/office/drawing/2014/main" id="{22B243BA-55F2-42F1-B294-0EB708FCD888}"/>
              </a:ext>
            </a:extLst>
          </p:cNvPr>
          <p:cNvGrpSpPr/>
          <p:nvPr/>
        </p:nvGrpSpPr>
        <p:grpSpPr>
          <a:xfrm rot="10800000">
            <a:off x="108452" y="75467"/>
            <a:ext cx="5378800" cy="5588856"/>
            <a:chOff x="-424090" y="303112"/>
            <a:chExt cx="5378800" cy="5588856"/>
          </a:xfrm>
          <a:solidFill>
            <a:srgbClr val="F6BF73">
              <a:alpha val="30196"/>
            </a:srgbClr>
          </a:solidFill>
        </p:grpSpPr>
        <p:pic>
          <p:nvPicPr>
            <p:cNvPr id="13" name="Grafik 12" descr="Tek dişli">
              <a:extLst>
                <a:ext uri="{FF2B5EF4-FFF2-40B4-BE49-F238E27FC236}">
                  <a16:creationId xmlns:a16="http://schemas.microsoft.com/office/drawing/2014/main" id="{46408269-63CF-4017-AC0D-C35B044D3076}"/>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195" t="12276" r="8371" b="1368"/>
            <a:stretch/>
          </p:blipFill>
          <p:spPr>
            <a:xfrm rot="5400000">
              <a:off x="1442081" y="2451153"/>
              <a:ext cx="3275424" cy="3606205"/>
            </a:xfrm>
            <a:prstGeom prst="rect">
              <a:avLst/>
            </a:prstGeom>
          </p:spPr>
        </p:pic>
        <p:pic>
          <p:nvPicPr>
            <p:cNvPr id="14" name="Grafik 13" descr="Tek dişli">
              <a:extLst>
                <a:ext uri="{FF2B5EF4-FFF2-40B4-BE49-F238E27FC236}">
                  <a16:creationId xmlns:a16="http://schemas.microsoft.com/office/drawing/2014/main" id="{7A3695B4-ADE3-45A9-8119-67D5F83A8C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1092764" y="303112"/>
              <a:ext cx="2880000" cy="2880000"/>
            </a:xfrm>
            <a:prstGeom prst="rect">
              <a:avLst/>
            </a:prstGeom>
          </p:spPr>
        </p:pic>
        <p:pic>
          <p:nvPicPr>
            <p:cNvPr id="15" name="Grafik 14" descr="Tek dişli">
              <a:extLst>
                <a:ext uri="{FF2B5EF4-FFF2-40B4-BE49-F238E27FC236}">
                  <a16:creationId xmlns:a16="http://schemas.microsoft.com/office/drawing/2014/main" id="{6B8F0030-0551-4558-8533-64D2E4838DB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424090" y="1817280"/>
              <a:ext cx="2880000" cy="2880000"/>
            </a:xfrm>
            <a:prstGeom prst="rect">
              <a:avLst/>
            </a:prstGeom>
          </p:spPr>
        </p:pic>
        <p:pic>
          <p:nvPicPr>
            <p:cNvPr id="16" name="Grafik 15" descr="Tek dişli">
              <a:extLst>
                <a:ext uri="{FF2B5EF4-FFF2-40B4-BE49-F238E27FC236}">
                  <a16:creationId xmlns:a16="http://schemas.microsoft.com/office/drawing/2014/main" id="{59607E3E-29E0-44E4-899A-0955FA4D36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625457" y="4024986"/>
              <a:ext cx="1620000" cy="1620000"/>
            </a:xfrm>
            <a:prstGeom prst="rect">
              <a:avLst/>
            </a:prstGeom>
          </p:spPr>
        </p:pic>
        <p:pic>
          <p:nvPicPr>
            <p:cNvPr id="17" name="Grafik 16" descr="Tek dişli">
              <a:extLst>
                <a:ext uri="{FF2B5EF4-FFF2-40B4-BE49-F238E27FC236}">
                  <a16:creationId xmlns:a16="http://schemas.microsoft.com/office/drawing/2014/main" id="{AD4251FC-462A-4B83-9F84-2358E52E31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3226710" y="1355170"/>
              <a:ext cx="1728000" cy="1728000"/>
            </a:xfrm>
            <a:prstGeom prst="rect">
              <a:avLst/>
            </a:prstGeom>
          </p:spPr>
        </p:pic>
      </p:grpSp>
      <p:pic>
        <p:nvPicPr>
          <p:cNvPr id="8" name="Resim 7"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Resim 8" descr="HD-ShadowShor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Dikdörtgen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Dikdörtgen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Başlık 1"/>
          <p:cNvSpPr>
            <a:spLocks noGrp="1"/>
          </p:cNvSpPr>
          <p:nvPr>
            <p:ph type="title"/>
          </p:nvPr>
        </p:nvSpPr>
        <p:spPr>
          <a:xfrm>
            <a:off x="680322" y="609597"/>
            <a:ext cx="9613858" cy="3592750"/>
          </a:xfrm>
        </p:spPr>
        <p:txBody>
          <a:bodyPr rtlCol="0" anchor="ctr"/>
          <a:lstStyle>
            <a:lvl1pPr>
              <a:defRPr sz="3200"/>
            </a:lvl1pPr>
          </a:lstStyle>
          <a:p>
            <a:pPr rtl="0"/>
            <a:r>
              <a:rPr lang="tr-TR" noProof="0"/>
              <a:t>Asıl başlık stilini düzenlemek için tıklayın</a:t>
            </a:r>
          </a:p>
        </p:txBody>
      </p:sp>
      <p:sp>
        <p:nvSpPr>
          <p:cNvPr id="4" name="Metin Yer Tutucusu 3"/>
          <p:cNvSpPr>
            <a:spLocks noGrp="1"/>
          </p:cNvSpPr>
          <p:nvPr>
            <p:ph type="body" sz="half" idx="2"/>
          </p:nvPr>
        </p:nvSpPr>
        <p:spPr>
          <a:xfrm>
            <a:off x="680322" y="4711615"/>
            <a:ext cx="9613859" cy="1090789"/>
          </a:xfrm>
        </p:spPr>
        <p:txBody>
          <a:bodyPr rtlCol="0"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tr-TR" noProof="0"/>
              <a:t>Asıl metin stillerini düzenlemek için tıklayın</a:t>
            </a:r>
          </a:p>
        </p:txBody>
      </p:sp>
      <p:sp>
        <p:nvSpPr>
          <p:cNvPr id="5" name="Tarih Yer Tutucusu 4"/>
          <p:cNvSpPr>
            <a:spLocks noGrp="1"/>
          </p:cNvSpPr>
          <p:nvPr>
            <p:ph type="dt" sz="half" idx="10"/>
          </p:nvPr>
        </p:nvSpPr>
        <p:spPr/>
        <p:txBody>
          <a:bodyPr rtlCol="0"/>
          <a:lstStyle/>
          <a:p>
            <a:fld id="{698736D7-D2AE-4EA5-B5D2-DEF3C4B5553A}" type="datetimeFigureOut">
              <a:rPr lang="tr-TR" smtClean="0"/>
              <a:t>28.05.2026</a:t>
            </a:fld>
            <a:endParaRPr lang="tr-TR"/>
          </a:p>
        </p:txBody>
      </p:sp>
      <p:sp>
        <p:nvSpPr>
          <p:cNvPr id="6" name="Alt Bilgi Yer Tutucusu 5"/>
          <p:cNvSpPr>
            <a:spLocks noGrp="1"/>
          </p:cNvSpPr>
          <p:nvPr>
            <p:ph type="ftr" sz="quarter" idx="11"/>
          </p:nvPr>
        </p:nvSpPr>
        <p:spPr/>
        <p:txBody>
          <a:bodyPr rtlCol="0"/>
          <a:lstStyle/>
          <a:p>
            <a:endParaRPr lang="tr-TR"/>
          </a:p>
        </p:txBody>
      </p:sp>
      <p:sp>
        <p:nvSpPr>
          <p:cNvPr id="7" name="Slayt Numarası Yer Tutucusu 6"/>
          <p:cNvSpPr>
            <a:spLocks noGrp="1"/>
          </p:cNvSpPr>
          <p:nvPr>
            <p:ph type="sldNum" sz="quarter" idx="12"/>
          </p:nvPr>
        </p:nvSpPr>
        <p:spPr>
          <a:xfrm>
            <a:off x="10729455" y="4711615"/>
            <a:ext cx="1154151" cy="1090789"/>
          </a:xfrm>
        </p:spPr>
        <p:txBody>
          <a:bodyPr rtlCol="0"/>
          <a:lstStyle/>
          <a:p>
            <a:fld id="{DCF80F56-D5A3-4C71-B2F9-F98C7B98AB70}" type="slidenum">
              <a:rPr lang="tr-TR" smtClean="0"/>
              <a:t>‹#›</a:t>
            </a:fld>
            <a:endParaRPr lang="tr-TR"/>
          </a:p>
        </p:txBody>
      </p:sp>
    </p:spTree>
    <p:extLst>
      <p:ext uri="{BB962C8B-B14F-4D97-AF65-F5344CB8AC3E}">
        <p14:creationId xmlns:p14="http://schemas.microsoft.com/office/powerpoint/2010/main" val="23318151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grpSp>
        <p:nvGrpSpPr>
          <p:cNvPr id="18" name="Grup 17">
            <a:extLst>
              <a:ext uri="{FF2B5EF4-FFF2-40B4-BE49-F238E27FC236}">
                <a16:creationId xmlns:a16="http://schemas.microsoft.com/office/drawing/2014/main" id="{D7FCAB52-C8F0-4659-9B95-C792632631CE}"/>
              </a:ext>
            </a:extLst>
          </p:cNvPr>
          <p:cNvGrpSpPr/>
          <p:nvPr/>
        </p:nvGrpSpPr>
        <p:grpSpPr bwMode="ltGray">
          <a:xfrm rot="5400000">
            <a:off x="7251814" y="1766245"/>
            <a:ext cx="4959501" cy="5224009"/>
            <a:chOff x="7232499" y="-159283"/>
            <a:chExt cx="4959501" cy="5224009"/>
          </a:xfrm>
          <a:solidFill>
            <a:srgbClr val="76280B">
              <a:alpha val="60000"/>
            </a:srgbClr>
          </a:solidFill>
        </p:grpSpPr>
        <p:pic>
          <p:nvPicPr>
            <p:cNvPr id="19" name="Grafik 18" descr="Tek dişli">
              <a:extLst>
                <a:ext uri="{FF2B5EF4-FFF2-40B4-BE49-F238E27FC236}">
                  <a16:creationId xmlns:a16="http://schemas.microsoft.com/office/drawing/2014/main" id="{5E98770F-9E46-4F69-9A76-F671813AF579}"/>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18078" r="23442"/>
            <a:stretch/>
          </p:blipFill>
          <p:spPr bwMode="ltGray">
            <a:xfrm>
              <a:off x="8994950" y="0"/>
              <a:ext cx="3197050" cy="3421066"/>
            </a:xfrm>
            <a:prstGeom prst="rect">
              <a:avLst/>
            </a:prstGeom>
          </p:spPr>
        </p:pic>
        <p:pic>
          <p:nvPicPr>
            <p:cNvPr id="20" name="Grafik 19" descr="Tek dişli">
              <a:extLst>
                <a:ext uri="{FF2B5EF4-FFF2-40B4-BE49-F238E27FC236}">
                  <a16:creationId xmlns:a16="http://schemas.microsoft.com/office/drawing/2014/main" id="{F08BF8CF-C3C2-4767-B88B-DE07E6A628E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7232499" y="667872"/>
              <a:ext cx="2880000" cy="2880000"/>
            </a:xfrm>
            <a:prstGeom prst="rect">
              <a:avLst/>
            </a:prstGeom>
          </p:spPr>
        </p:pic>
        <p:pic>
          <p:nvPicPr>
            <p:cNvPr id="21" name="Grafik 20" descr="Tek dişli">
              <a:extLst>
                <a:ext uri="{FF2B5EF4-FFF2-40B4-BE49-F238E27FC236}">
                  <a16:creationId xmlns:a16="http://schemas.microsoft.com/office/drawing/2014/main" id="{E63AFEB7-4AAE-448E-8B0B-C2F2287771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746667" y="2184726"/>
              <a:ext cx="2880000" cy="2880000"/>
            </a:xfrm>
            <a:prstGeom prst="rect">
              <a:avLst/>
            </a:prstGeom>
          </p:spPr>
        </p:pic>
        <p:pic>
          <p:nvPicPr>
            <p:cNvPr id="22" name="Grafik 21" descr="Tek dişli">
              <a:extLst>
                <a:ext uri="{FF2B5EF4-FFF2-40B4-BE49-F238E27FC236}">
                  <a16:creationId xmlns:a16="http://schemas.microsoft.com/office/drawing/2014/main" id="{E279C731-1AAF-453A-94B0-6CC2920395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501643" y="-159283"/>
              <a:ext cx="1620000" cy="1620000"/>
            </a:xfrm>
            <a:prstGeom prst="rect">
              <a:avLst/>
            </a:prstGeom>
          </p:spPr>
        </p:pic>
      </p:grpSp>
      <p:pic>
        <p:nvPicPr>
          <p:cNvPr id="11" name="Resim 10"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Resim 12" descr="HD-ShadowShor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Dikdörtgen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Dikdörtgen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Başlık 1"/>
          <p:cNvSpPr>
            <a:spLocks noGrp="1"/>
          </p:cNvSpPr>
          <p:nvPr>
            <p:ph type="title"/>
          </p:nvPr>
        </p:nvSpPr>
        <p:spPr>
          <a:xfrm>
            <a:off x="1127856" y="609598"/>
            <a:ext cx="8718877" cy="3036061"/>
          </a:xfrm>
        </p:spPr>
        <p:txBody>
          <a:bodyPr rtlCol="0" anchor="ctr"/>
          <a:lstStyle>
            <a:lvl1pPr>
              <a:defRPr sz="3200"/>
            </a:lvl1pPr>
          </a:lstStyle>
          <a:p>
            <a:pPr rtl="0"/>
            <a:r>
              <a:rPr lang="tr-TR" noProof="0"/>
              <a:t>Asıl başlık stilini düzenlemek için tıklayın</a:t>
            </a:r>
          </a:p>
        </p:txBody>
      </p:sp>
      <p:sp>
        <p:nvSpPr>
          <p:cNvPr id="12" name="Metin Yer Tutucusu 3"/>
          <p:cNvSpPr>
            <a:spLocks noGrp="1"/>
          </p:cNvSpPr>
          <p:nvPr>
            <p:ph type="body" sz="half" idx="13"/>
          </p:nvPr>
        </p:nvSpPr>
        <p:spPr>
          <a:xfrm>
            <a:off x="1402288" y="3653379"/>
            <a:ext cx="8156579" cy="548968"/>
          </a:xfrm>
        </p:spPr>
        <p:txBody>
          <a:bodyPr rtlCol="0"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tr-TR" noProof="0"/>
              <a:t>Asıl metin stillerini düzenlemek için tıklayın</a:t>
            </a:r>
          </a:p>
        </p:txBody>
      </p:sp>
      <p:sp>
        <p:nvSpPr>
          <p:cNvPr id="4" name="Metin Yer Tutucusu 3"/>
          <p:cNvSpPr>
            <a:spLocks noGrp="1"/>
          </p:cNvSpPr>
          <p:nvPr>
            <p:ph type="body" sz="half" idx="2"/>
          </p:nvPr>
        </p:nvSpPr>
        <p:spPr>
          <a:xfrm>
            <a:off x="680322" y="4711615"/>
            <a:ext cx="9613859" cy="1090789"/>
          </a:xfrm>
        </p:spPr>
        <p:txBody>
          <a:bodyPr rtlCol="0"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tr-TR" noProof="0"/>
              <a:t>Asıl metin stillerini düzenlemek için tıklayın</a:t>
            </a:r>
          </a:p>
        </p:txBody>
      </p:sp>
      <p:sp>
        <p:nvSpPr>
          <p:cNvPr id="5" name="Tarih Yer Tutucusu 4"/>
          <p:cNvSpPr>
            <a:spLocks noGrp="1"/>
          </p:cNvSpPr>
          <p:nvPr>
            <p:ph type="dt" sz="half" idx="10"/>
          </p:nvPr>
        </p:nvSpPr>
        <p:spPr/>
        <p:txBody>
          <a:bodyPr rtlCol="0"/>
          <a:lstStyle/>
          <a:p>
            <a:fld id="{698736D7-D2AE-4EA5-B5D2-DEF3C4B5553A}" type="datetimeFigureOut">
              <a:rPr lang="tr-TR" smtClean="0"/>
              <a:t>28.05.2026</a:t>
            </a:fld>
            <a:endParaRPr lang="tr-TR"/>
          </a:p>
        </p:txBody>
      </p:sp>
      <p:sp>
        <p:nvSpPr>
          <p:cNvPr id="6" name="Alt Bilgi Yer Tutucusu 5"/>
          <p:cNvSpPr>
            <a:spLocks noGrp="1"/>
          </p:cNvSpPr>
          <p:nvPr>
            <p:ph type="ftr" sz="quarter" idx="11"/>
          </p:nvPr>
        </p:nvSpPr>
        <p:spPr/>
        <p:txBody>
          <a:bodyPr rtlCol="0"/>
          <a:lstStyle/>
          <a:p>
            <a:endParaRPr lang="tr-TR"/>
          </a:p>
        </p:txBody>
      </p:sp>
      <p:sp>
        <p:nvSpPr>
          <p:cNvPr id="7" name="Slayt Numarası Yer Tutucusu 6"/>
          <p:cNvSpPr>
            <a:spLocks noGrp="1"/>
          </p:cNvSpPr>
          <p:nvPr>
            <p:ph type="sldNum" sz="quarter" idx="12"/>
          </p:nvPr>
        </p:nvSpPr>
        <p:spPr>
          <a:xfrm>
            <a:off x="10729455" y="4709925"/>
            <a:ext cx="1154151" cy="1090789"/>
          </a:xfrm>
        </p:spPr>
        <p:txBody>
          <a:bodyPr rtlCol="0"/>
          <a:lstStyle/>
          <a:p>
            <a:fld id="{DCF80F56-D5A3-4C71-B2F9-F98C7B98AB70}" type="slidenum">
              <a:rPr lang="tr-TR" smtClean="0"/>
              <a:t>‹#›</a:t>
            </a:fld>
            <a:endParaRPr lang="tr-TR"/>
          </a:p>
        </p:txBody>
      </p:sp>
      <p:sp>
        <p:nvSpPr>
          <p:cNvPr id="16" name="Metin Kutusu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rtl="0"/>
            <a:r>
              <a:rPr lang="tr-TR" sz="7200" noProof="0">
                <a:solidFill>
                  <a:schemeClr val="tx1"/>
                </a:solidFill>
                <a:effectLst/>
              </a:rPr>
              <a:t>“</a:t>
            </a:r>
          </a:p>
        </p:txBody>
      </p:sp>
      <p:sp>
        <p:nvSpPr>
          <p:cNvPr id="17" name="Metin Kutusu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tr-TR" sz="7200" noProof="0">
                <a:solidFill>
                  <a:schemeClr val="tx1"/>
                </a:solidFill>
                <a:effectLst/>
              </a:rPr>
              <a:t>”</a:t>
            </a:r>
          </a:p>
        </p:txBody>
      </p:sp>
    </p:spTree>
    <p:extLst>
      <p:ext uri="{BB962C8B-B14F-4D97-AF65-F5344CB8AC3E}">
        <p14:creationId xmlns:p14="http://schemas.microsoft.com/office/powerpoint/2010/main" val="2441133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d Kartı">
    <p:spTree>
      <p:nvGrpSpPr>
        <p:cNvPr id="1" name=""/>
        <p:cNvGrpSpPr/>
        <p:nvPr/>
      </p:nvGrpSpPr>
      <p:grpSpPr>
        <a:xfrm>
          <a:off x="0" y="0"/>
          <a:ext cx="0" cy="0"/>
          <a:chOff x="0" y="0"/>
          <a:chExt cx="0" cy="0"/>
        </a:xfrm>
      </p:grpSpPr>
      <p:grpSp>
        <p:nvGrpSpPr>
          <p:cNvPr id="10" name="Grup 9">
            <a:extLst>
              <a:ext uri="{FF2B5EF4-FFF2-40B4-BE49-F238E27FC236}">
                <a16:creationId xmlns:a16="http://schemas.microsoft.com/office/drawing/2014/main" id="{8CB2BD5A-C0EC-4AC1-BBF1-851D8321B964}"/>
              </a:ext>
            </a:extLst>
          </p:cNvPr>
          <p:cNvGrpSpPr/>
          <p:nvPr/>
        </p:nvGrpSpPr>
        <p:grpSpPr>
          <a:xfrm rot="5400000">
            <a:off x="188826" y="1282475"/>
            <a:ext cx="5378800" cy="5588856"/>
            <a:chOff x="-424090" y="303112"/>
            <a:chExt cx="5378800" cy="5588856"/>
          </a:xfrm>
          <a:solidFill>
            <a:srgbClr val="F6BF73">
              <a:alpha val="30196"/>
            </a:srgbClr>
          </a:solidFill>
        </p:grpSpPr>
        <p:pic>
          <p:nvPicPr>
            <p:cNvPr id="13" name="Grafik 12" descr="Tek dişli">
              <a:extLst>
                <a:ext uri="{FF2B5EF4-FFF2-40B4-BE49-F238E27FC236}">
                  <a16:creationId xmlns:a16="http://schemas.microsoft.com/office/drawing/2014/main" id="{538A56DB-6938-460F-9BB3-A0A34C234B32}"/>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195" t="12276" r="8371" b="1368"/>
            <a:stretch/>
          </p:blipFill>
          <p:spPr>
            <a:xfrm rot="5400000">
              <a:off x="1442081" y="2451153"/>
              <a:ext cx="3275424" cy="3606205"/>
            </a:xfrm>
            <a:prstGeom prst="rect">
              <a:avLst/>
            </a:prstGeom>
          </p:spPr>
        </p:pic>
        <p:pic>
          <p:nvPicPr>
            <p:cNvPr id="14" name="Grafik 13" descr="Tek dişli">
              <a:extLst>
                <a:ext uri="{FF2B5EF4-FFF2-40B4-BE49-F238E27FC236}">
                  <a16:creationId xmlns:a16="http://schemas.microsoft.com/office/drawing/2014/main" id="{E2A1D679-9D00-4DC7-82EC-B6C33270E7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1092764" y="303112"/>
              <a:ext cx="2880000" cy="2880000"/>
            </a:xfrm>
            <a:prstGeom prst="rect">
              <a:avLst/>
            </a:prstGeom>
          </p:spPr>
        </p:pic>
        <p:pic>
          <p:nvPicPr>
            <p:cNvPr id="15" name="Grafik 14" descr="Tek dişli">
              <a:extLst>
                <a:ext uri="{FF2B5EF4-FFF2-40B4-BE49-F238E27FC236}">
                  <a16:creationId xmlns:a16="http://schemas.microsoft.com/office/drawing/2014/main" id="{8DFB6E86-77FA-4731-B7FA-5A63254A3E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424090" y="1817280"/>
              <a:ext cx="2880000" cy="2880000"/>
            </a:xfrm>
            <a:prstGeom prst="rect">
              <a:avLst/>
            </a:prstGeom>
          </p:spPr>
        </p:pic>
        <p:pic>
          <p:nvPicPr>
            <p:cNvPr id="16" name="Grafik 15" descr="Tek dişli">
              <a:extLst>
                <a:ext uri="{FF2B5EF4-FFF2-40B4-BE49-F238E27FC236}">
                  <a16:creationId xmlns:a16="http://schemas.microsoft.com/office/drawing/2014/main" id="{982D40F0-DDB8-45E0-B9D1-5964842C730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625457" y="4024986"/>
              <a:ext cx="1620000" cy="1620000"/>
            </a:xfrm>
            <a:prstGeom prst="rect">
              <a:avLst/>
            </a:prstGeom>
          </p:spPr>
        </p:pic>
        <p:pic>
          <p:nvPicPr>
            <p:cNvPr id="17" name="Grafik 16" descr="Tek dişli">
              <a:extLst>
                <a:ext uri="{FF2B5EF4-FFF2-40B4-BE49-F238E27FC236}">
                  <a16:creationId xmlns:a16="http://schemas.microsoft.com/office/drawing/2014/main" id="{D744A42C-4948-489C-8EB2-12C65C47E90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3226710" y="1355170"/>
              <a:ext cx="1728000" cy="1728000"/>
            </a:xfrm>
            <a:prstGeom prst="rect">
              <a:avLst/>
            </a:prstGeom>
          </p:spPr>
        </p:pic>
      </p:grpSp>
      <p:pic>
        <p:nvPicPr>
          <p:cNvPr id="9" name="Resim 8"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4189" y="5928628"/>
            <a:ext cx="10437812" cy="321164"/>
          </a:xfrm>
          <a:prstGeom prst="rect">
            <a:avLst/>
          </a:prstGeom>
        </p:spPr>
      </p:pic>
      <p:sp>
        <p:nvSpPr>
          <p:cNvPr id="11" name="Dikdörtgen 10"/>
          <p:cNvSpPr/>
          <p:nvPr/>
        </p:nvSpPr>
        <p:spPr bwMode="ltGray">
          <a:xfrm>
            <a:off x="1754188"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Dikdörtgen 11"/>
          <p:cNvSpPr/>
          <p:nvPr/>
        </p:nvSpPr>
        <p:spPr>
          <a:xfrm>
            <a:off x="-4931" y="4556102"/>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Başlık 1"/>
          <p:cNvSpPr>
            <a:spLocks noGrp="1"/>
          </p:cNvSpPr>
          <p:nvPr>
            <p:ph type="title"/>
          </p:nvPr>
        </p:nvSpPr>
        <p:spPr>
          <a:xfrm>
            <a:off x="2177332" y="4711615"/>
            <a:ext cx="9613862" cy="588535"/>
          </a:xfrm>
        </p:spPr>
        <p:txBody>
          <a:bodyPr rtlCol="0" anchor="b"/>
          <a:lstStyle>
            <a:lvl1pPr>
              <a:defRPr sz="3200"/>
            </a:lvl1pPr>
          </a:lstStyle>
          <a:p>
            <a:pPr rtl="0"/>
            <a:r>
              <a:rPr lang="tr-TR" noProof="0"/>
              <a:t>Asıl başlık stilini düzenlemek için tıklayın</a:t>
            </a:r>
          </a:p>
        </p:txBody>
      </p:sp>
      <p:sp>
        <p:nvSpPr>
          <p:cNvPr id="4" name="Metin Yer Tutucusu 3"/>
          <p:cNvSpPr>
            <a:spLocks noGrp="1"/>
          </p:cNvSpPr>
          <p:nvPr>
            <p:ph type="body" sz="half" idx="2"/>
          </p:nvPr>
        </p:nvSpPr>
        <p:spPr>
          <a:xfrm>
            <a:off x="2177333" y="5300149"/>
            <a:ext cx="9613862" cy="502255"/>
          </a:xfrm>
        </p:spPr>
        <p:txBody>
          <a:bodyPr rtlCol="0"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tr-TR" noProof="0"/>
              <a:t>Asıl metin stillerini düzenlemek için tıklayın</a:t>
            </a:r>
          </a:p>
        </p:txBody>
      </p:sp>
      <p:sp>
        <p:nvSpPr>
          <p:cNvPr id="5" name="Tarih Yer Tutucusu 4"/>
          <p:cNvSpPr>
            <a:spLocks noGrp="1"/>
          </p:cNvSpPr>
          <p:nvPr>
            <p:ph type="dt" sz="half" idx="10"/>
          </p:nvPr>
        </p:nvSpPr>
        <p:spPr>
          <a:xfrm>
            <a:off x="9047994" y="5936187"/>
            <a:ext cx="2743200" cy="365125"/>
          </a:xfrm>
        </p:spPr>
        <p:txBody>
          <a:bodyPr rtlCol="0"/>
          <a:lstStyle/>
          <a:p>
            <a:fld id="{698736D7-D2AE-4EA5-B5D2-DEF3C4B5553A}" type="datetimeFigureOut">
              <a:rPr lang="tr-TR" smtClean="0"/>
              <a:t>28.05.2026</a:t>
            </a:fld>
            <a:endParaRPr lang="tr-TR"/>
          </a:p>
        </p:txBody>
      </p:sp>
      <p:sp>
        <p:nvSpPr>
          <p:cNvPr id="6" name="Alt Bilgi Yer Tutucusu 5"/>
          <p:cNvSpPr>
            <a:spLocks noGrp="1"/>
          </p:cNvSpPr>
          <p:nvPr>
            <p:ph type="ftr" sz="quarter" idx="11"/>
          </p:nvPr>
        </p:nvSpPr>
        <p:spPr>
          <a:xfrm>
            <a:off x="2177334" y="5936188"/>
            <a:ext cx="6870660" cy="365125"/>
          </a:xfrm>
        </p:spPr>
        <p:txBody>
          <a:bodyPr rtlCol="0"/>
          <a:lstStyle/>
          <a:p>
            <a:endParaRPr lang="tr-TR"/>
          </a:p>
        </p:txBody>
      </p:sp>
      <p:sp>
        <p:nvSpPr>
          <p:cNvPr id="7" name="Slayt Numarası Yer Tutucusu 6"/>
          <p:cNvSpPr>
            <a:spLocks noGrp="1"/>
          </p:cNvSpPr>
          <p:nvPr>
            <p:ph type="sldNum" sz="quarter" idx="12"/>
          </p:nvPr>
        </p:nvSpPr>
        <p:spPr>
          <a:xfrm>
            <a:off x="138697" y="4698039"/>
            <a:ext cx="1154151" cy="1090789"/>
          </a:xfrm>
        </p:spPr>
        <p:txBody>
          <a:bodyPr rtlCol="0"/>
          <a:lstStyle/>
          <a:p>
            <a:fld id="{DCF80F56-D5A3-4C71-B2F9-F98C7B98AB70}" type="slidenum">
              <a:rPr lang="tr-TR" smtClean="0"/>
              <a:t>‹#›</a:t>
            </a:fld>
            <a:endParaRPr lang="tr-TR"/>
          </a:p>
        </p:txBody>
      </p:sp>
    </p:spTree>
    <p:extLst>
      <p:ext uri="{BB962C8B-B14F-4D97-AF65-F5344CB8AC3E}">
        <p14:creationId xmlns:p14="http://schemas.microsoft.com/office/powerpoint/2010/main" val="8532884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grpSp>
        <p:nvGrpSpPr>
          <p:cNvPr id="23" name="Grup 22">
            <a:extLst>
              <a:ext uri="{FF2B5EF4-FFF2-40B4-BE49-F238E27FC236}">
                <a16:creationId xmlns:a16="http://schemas.microsoft.com/office/drawing/2014/main" id="{BFC60FB4-27C2-4896-9B64-2DFE33815CE2}"/>
              </a:ext>
            </a:extLst>
          </p:cNvPr>
          <p:cNvGrpSpPr/>
          <p:nvPr/>
        </p:nvGrpSpPr>
        <p:grpSpPr bwMode="ltGray">
          <a:xfrm>
            <a:off x="7232499" y="-159283"/>
            <a:ext cx="4959501" cy="5224009"/>
            <a:chOff x="7232499" y="-159283"/>
            <a:chExt cx="4959501" cy="5224009"/>
          </a:xfrm>
          <a:solidFill>
            <a:srgbClr val="76280B">
              <a:alpha val="60000"/>
            </a:srgbClr>
          </a:solidFill>
        </p:grpSpPr>
        <p:pic>
          <p:nvPicPr>
            <p:cNvPr id="24" name="Grafik 23" descr="Tek dişli">
              <a:extLst>
                <a:ext uri="{FF2B5EF4-FFF2-40B4-BE49-F238E27FC236}">
                  <a16:creationId xmlns:a16="http://schemas.microsoft.com/office/drawing/2014/main" id="{EE89D477-BED5-4149-965A-0C122D97A012}"/>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18078" r="23442"/>
            <a:stretch/>
          </p:blipFill>
          <p:spPr bwMode="ltGray">
            <a:xfrm>
              <a:off x="8994950" y="0"/>
              <a:ext cx="3197050" cy="3421066"/>
            </a:xfrm>
            <a:prstGeom prst="rect">
              <a:avLst/>
            </a:prstGeom>
          </p:spPr>
        </p:pic>
        <p:pic>
          <p:nvPicPr>
            <p:cNvPr id="25" name="Grafik 24" descr="Tek dişli">
              <a:extLst>
                <a:ext uri="{FF2B5EF4-FFF2-40B4-BE49-F238E27FC236}">
                  <a16:creationId xmlns:a16="http://schemas.microsoft.com/office/drawing/2014/main" id="{5CCE09A4-D09F-43A2-8459-2E9D3E9602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7232499" y="667872"/>
              <a:ext cx="2880000" cy="2880000"/>
            </a:xfrm>
            <a:prstGeom prst="rect">
              <a:avLst/>
            </a:prstGeom>
          </p:spPr>
        </p:pic>
        <p:pic>
          <p:nvPicPr>
            <p:cNvPr id="26" name="Grafik 25" descr="Tek dişli">
              <a:extLst>
                <a:ext uri="{FF2B5EF4-FFF2-40B4-BE49-F238E27FC236}">
                  <a16:creationId xmlns:a16="http://schemas.microsoft.com/office/drawing/2014/main" id="{9A46A1B3-2A0B-4FFE-AE15-A11187E434D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746667" y="2184726"/>
              <a:ext cx="2880000" cy="2880000"/>
            </a:xfrm>
            <a:prstGeom prst="rect">
              <a:avLst/>
            </a:prstGeom>
          </p:spPr>
        </p:pic>
        <p:pic>
          <p:nvPicPr>
            <p:cNvPr id="27" name="Grafik 26" descr="Tek dişli">
              <a:extLst>
                <a:ext uri="{FF2B5EF4-FFF2-40B4-BE49-F238E27FC236}">
                  <a16:creationId xmlns:a16="http://schemas.microsoft.com/office/drawing/2014/main" id="{D4F4A02A-94BC-4984-A372-3B77FC854C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501643" y="-159283"/>
              <a:ext cx="1620000" cy="1620000"/>
            </a:xfrm>
            <a:prstGeom prst="rect">
              <a:avLst/>
            </a:prstGeom>
          </p:spPr>
        </p:pic>
      </p:grpSp>
      <p:pic>
        <p:nvPicPr>
          <p:cNvPr id="13" name="Resim 12"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Resim 13" descr="HD-ShadowShor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Dikdörtgen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Dikdörtgen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Başlık 1"/>
          <p:cNvSpPr>
            <a:spLocks noGrp="1"/>
          </p:cNvSpPr>
          <p:nvPr>
            <p:ph type="title"/>
          </p:nvPr>
        </p:nvSpPr>
        <p:spPr>
          <a:xfrm>
            <a:off x="669222" y="753228"/>
            <a:ext cx="9624960" cy="1080938"/>
          </a:xfrm>
        </p:spPr>
        <p:txBody>
          <a:bodyPr rtlCol="0"/>
          <a:lstStyle/>
          <a:p>
            <a:pPr rtl="0"/>
            <a:r>
              <a:rPr lang="tr-TR" noProof="0"/>
              <a:t>Asıl başlık stilini düzenlemek için tıklayın</a:t>
            </a:r>
          </a:p>
        </p:txBody>
      </p:sp>
      <p:sp>
        <p:nvSpPr>
          <p:cNvPr id="7" name="Metin Yer Tutucusu 2"/>
          <p:cNvSpPr>
            <a:spLocks noGrp="1"/>
          </p:cNvSpPr>
          <p:nvPr>
            <p:ph type="body" idx="1"/>
          </p:nvPr>
        </p:nvSpPr>
        <p:spPr>
          <a:xfrm>
            <a:off x="660946" y="2336873"/>
            <a:ext cx="3070034"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Asıl metin stillerini düzenlemek için tıklayın</a:t>
            </a:r>
          </a:p>
        </p:txBody>
      </p:sp>
      <p:sp>
        <p:nvSpPr>
          <p:cNvPr id="8" name="Metin Yer Tutucusu 3"/>
          <p:cNvSpPr>
            <a:spLocks noGrp="1"/>
          </p:cNvSpPr>
          <p:nvPr>
            <p:ph type="body" sz="half" idx="15"/>
          </p:nvPr>
        </p:nvSpPr>
        <p:spPr>
          <a:xfrm>
            <a:off x="680322" y="3022673"/>
            <a:ext cx="3049702" cy="2913513"/>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tr-TR" noProof="0"/>
              <a:t>Asıl metin stillerini düzenlemek için tıklayın</a:t>
            </a:r>
          </a:p>
        </p:txBody>
      </p:sp>
      <p:sp>
        <p:nvSpPr>
          <p:cNvPr id="9" name="Metin Yer Tutucusu 4"/>
          <p:cNvSpPr>
            <a:spLocks noGrp="1"/>
          </p:cNvSpPr>
          <p:nvPr>
            <p:ph type="body" sz="quarter" idx="3"/>
          </p:nvPr>
        </p:nvSpPr>
        <p:spPr>
          <a:xfrm>
            <a:off x="3956025" y="2336873"/>
            <a:ext cx="3063240"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Asıl metin stillerini düzenlemek için tıklayın</a:t>
            </a:r>
          </a:p>
        </p:txBody>
      </p:sp>
      <p:sp>
        <p:nvSpPr>
          <p:cNvPr id="10" name="Metin Yer Tutucusu 3"/>
          <p:cNvSpPr>
            <a:spLocks noGrp="1"/>
          </p:cNvSpPr>
          <p:nvPr>
            <p:ph type="body" sz="half" idx="16"/>
          </p:nvPr>
        </p:nvSpPr>
        <p:spPr>
          <a:xfrm>
            <a:off x="3945470" y="3022673"/>
            <a:ext cx="3063240" cy="2913513"/>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tr-TR" noProof="0"/>
              <a:t>Asıl metin stillerini düzenlemek için tıklayın</a:t>
            </a:r>
          </a:p>
        </p:txBody>
      </p:sp>
      <p:sp>
        <p:nvSpPr>
          <p:cNvPr id="11" name="Metin Yer Tutucusu 4"/>
          <p:cNvSpPr>
            <a:spLocks noGrp="1"/>
          </p:cNvSpPr>
          <p:nvPr>
            <p:ph type="body" sz="quarter" idx="13"/>
          </p:nvPr>
        </p:nvSpPr>
        <p:spPr>
          <a:xfrm>
            <a:off x="7224156" y="2336873"/>
            <a:ext cx="3070025"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Asıl metin stillerini düzenlemek için tıklayın</a:t>
            </a:r>
          </a:p>
        </p:txBody>
      </p:sp>
      <p:sp>
        <p:nvSpPr>
          <p:cNvPr id="12" name="Metin Yer Tutucusu 3"/>
          <p:cNvSpPr>
            <a:spLocks noGrp="1"/>
          </p:cNvSpPr>
          <p:nvPr>
            <p:ph type="body" sz="half" idx="17"/>
          </p:nvPr>
        </p:nvSpPr>
        <p:spPr>
          <a:xfrm>
            <a:off x="7224156" y="3022673"/>
            <a:ext cx="3070025" cy="2913513"/>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tr-TR" noProof="0"/>
              <a:t>Asıl metin stillerini düzenlemek için tıklayın</a:t>
            </a:r>
          </a:p>
        </p:txBody>
      </p:sp>
      <p:sp>
        <p:nvSpPr>
          <p:cNvPr id="3" name="Tarih Yer Tutucusu 2"/>
          <p:cNvSpPr>
            <a:spLocks noGrp="1"/>
          </p:cNvSpPr>
          <p:nvPr>
            <p:ph type="dt" sz="half" idx="10"/>
          </p:nvPr>
        </p:nvSpPr>
        <p:spPr/>
        <p:txBody>
          <a:bodyPr rtlCol="0"/>
          <a:lstStyle/>
          <a:p>
            <a:fld id="{698736D7-D2AE-4EA5-B5D2-DEF3C4B5553A}" type="datetimeFigureOut">
              <a:rPr lang="tr-TR" smtClean="0"/>
              <a:t>28.05.2026</a:t>
            </a:fld>
            <a:endParaRPr lang="tr-TR"/>
          </a:p>
        </p:txBody>
      </p:sp>
      <p:sp>
        <p:nvSpPr>
          <p:cNvPr id="4" name="Alt Bilgi Yer Tutucusu 3"/>
          <p:cNvSpPr>
            <a:spLocks noGrp="1"/>
          </p:cNvSpPr>
          <p:nvPr>
            <p:ph type="ftr" sz="quarter" idx="11"/>
          </p:nvPr>
        </p:nvSpPr>
        <p:spPr/>
        <p:txBody>
          <a:bodyPr rtlCol="0"/>
          <a:lstStyle/>
          <a:p>
            <a:endParaRPr lang="tr-TR"/>
          </a:p>
        </p:txBody>
      </p:sp>
      <p:sp>
        <p:nvSpPr>
          <p:cNvPr id="5" name="Slayt Numarası Yer Tutucusu 4"/>
          <p:cNvSpPr>
            <a:spLocks noGrp="1"/>
          </p:cNvSpPr>
          <p:nvPr>
            <p:ph type="sldNum" sz="quarter" idx="12"/>
          </p:nvPr>
        </p:nvSpPr>
        <p:spPr/>
        <p:txBody>
          <a:bodyPr rtlCol="0"/>
          <a:lstStyle/>
          <a:p>
            <a:fld id="{DCF80F56-D5A3-4C71-B2F9-F98C7B98AB70}" type="slidenum">
              <a:rPr lang="tr-TR" smtClean="0"/>
              <a:t>‹#›</a:t>
            </a:fld>
            <a:endParaRPr lang="tr-TR"/>
          </a:p>
        </p:txBody>
      </p:sp>
    </p:spTree>
    <p:extLst>
      <p:ext uri="{BB962C8B-B14F-4D97-AF65-F5344CB8AC3E}">
        <p14:creationId xmlns:p14="http://schemas.microsoft.com/office/powerpoint/2010/main" val="1280973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3 Sütun">
    <p:spTree>
      <p:nvGrpSpPr>
        <p:cNvPr id="1" name=""/>
        <p:cNvGrpSpPr/>
        <p:nvPr/>
      </p:nvGrpSpPr>
      <p:grpSpPr>
        <a:xfrm>
          <a:off x="0" y="0"/>
          <a:ext cx="0" cy="0"/>
          <a:chOff x="0" y="0"/>
          <a:chExt cx="0" cy="0"/>
        </a:xfrm>
      </p:grpSpPr>
      <p:grpSp>
        <p:nvGrpSpPr>
          <p:cNvPr id="18" name="Grup 17">
            <a:extLst>
              <a:ext uri="{FF2B5EF4-FFF2-40B4-BE49-F238E27FC236}">
                <a16:creationId xmlns:a16="http://schemas.microsoft.com/office/drawing/2014/main" id="{D1F89FDF-9788-47AD-B230-0314E7C8D087}"/>
              </a:ext>
            </a:extLst>
          </p:cNvPr>
          <p:cNvGrpSpPr/>
          <p:nvPr/>
        </p:nvGrpSpPr>
        <p:grpSpPr>
          <a:xfrm rot="10800000">
            <a:off x="99308" y="75467"/>
            <a:ext cx="5378800" cy="5588856"/>
            <a:chOff x="-424090" y="303112"/>
            <a:chExt cx="5378800" cy="5588856"/>
          </a:xfrm>
          <a:solidFill>
            <a:srgbClr val="F6BF73">
              <a:alpha val="30196"/>
            </a:srgbClr>
          </a:solidFill>
        </p:grpSpPr>
        <p:pic>
          <p:nvPicPr>
            <p:cNvPr id="19" name="Grafik 18" descr="Tek dişli">
              <a:extLst>
                <a:ext uri="{FF2B5EF4-FFF2-40B4-BE49-F238E27FC236}">
                  <a16:creationId xmlns:a16="http://schemas.microsoft.com/office/drawing/2014/main" id="{9CD6B783-A97E-437E-B4E2-F7D761F0A2EB}"/>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3195" t="12276" r="8371" b="1368"/>
            <a:stretch/>
          </p:blipFill>
          <p:spPr>
            <a:xfrm rot="5400000">
              <a:off x="1442081" y="2451153"/>
              <a:ext cx="3275424" cy="3606205"/>
            </a:xfrm>
            <a:prstGeom prst="rect">
              <a:avLst/>
            </a:prstGeom>
          </p:spPr>
        </p:pic>
        <p:pic>
          <p:nvPicPr>
            <p:cNvPr id="20" name="Grafik 19" descr="Tek dişli">
              <a:extLst>
                <a:ext uri="{FF2B5EF4-FFF2-40B4-BE49-F238E27FC236}">
                  <a16:creationId xmlns:a16="http://schemas.microsoft.com/office/drawing/2014/main" id="{4699BB72-0480-4165-8D15-316CEED8CE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1092764" y="303112"/>
              <a:ext cx="2880000" cy="2880000"/>
            </a:xfrm>
            <a:prstGeom prst="rect">
              <a:avLst/>
            </a:prstGeom>
          </p:spPr>
        </p:pic>
        <p:pic>
          <p:nvPicPr>
            <p:cNvPr id="21" name="Grafik 20" descr="Tek dişli">
              <a:extLst>
                <a:ext uri="{FF2B5EF4-FFF2-40B4-BE49-F238E27FC236}">
                  <a16:creationId xmlns:a16="http://schemas.microsoft.com/office/drawing/2014/main" id="{685C07D9-1911-4085-8555-C992A61B10C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424090" y="1817280"/>
              <a:ext cx="2880000" cy="2880000"/>
            </a:xfrm>
            <a:prstGeom prst="rect">
              <a:avLst/>
            </a:prstGeom>
          </p:spPr>
        </p:pic>
        <p:pic>
          <p:nvPicPr>
            <p:cNvPr id="22" name="Grafik 21" descr="Tek dişli">
              <a:extLst>
                <a:ext uri="{FF2B5EF4-FFF2-40B4-BE49-F238E27FC236}">
                  <a16:creationId xmlns:a16="http://schemas.microsoft.com/office/drawing/2014/main" id="{D621B3C3-2371-4ED0-BC1D-87AABF852B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625457" y="4024986"/>
              <a:ext cx="1620000" cy="1620000"/>
            </a:xfrm>
            <a:prstGeom prst="rect">
              <a:avLst/>
            </a:prstGeom>
          </p:spPr>
        </p:pic>
        <p:pic>
          <p:nvPicPr>
            <p:cNvPr id="23" name="Grafik 22" descr="Tek dişli">
              <a:extLst>
                <a:ext uri="{FF2B5EF4-FFF2-40B4-BE49-F238E27FC236}">
                  <a16:creationId xmlns:a16="http://schemas.microsoft.com/office/drawing/2014/main" id="{D7D15287-50FE-4441-BA06-D454D73F7E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3226710" y="1355170"/>
              <a:ext cx="1728000" cy="1728000"/>
            </a:xfrm>
            <a:prstGeom prst="rect">
              <a:avLst/>
            </a:prstGeom>
          </p:spPr>
        </p:pic>
      </p:grpSp>
      <p:pic>
        <p:nvPicPr>
          <p:cNvPr id="13" name="Resim 12"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3076" y="1970240"/>
            <a:ext cx="10437812" cy="321164"/>
          </a:xfrm>
          <a:prstGeom prst="rect">
            <a:avLst/>
          </a:prstGeom>
        </p:spPr>
      </p:pic>
      <p:pic>
        <p:nvPicPr>
          <p:cNvPr id="14" name="Resim 13" descr="HD-ShadowShor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Dikdörtgen 15"/>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17" name="Dikdörtgen 16"/>
          <p:cNvSpPr/>
          <p:nvPr/>
        </p:nvSpPr>
        <p:spPr>
          <a:xfrm>
            <a:off x="13077"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3" name="Tarih Yer Tutucusu 2"/>
          <p:cNvSpPr>
            <a:spLocks noGrp="1"/>
          </p:cNvSpPr>
          <p:nvPr>
            <p:ph type="dt" sz="half" idx="10"/>
          </p:nvPr>
        </p:nvSpPr>
        <p:spPr>
          <a:xfrm>
            <a:off x="8989256" y="5936187"/>
            <a:ext cx="2743200" cy="365125"/>
          </a:xfrm>
        </p:spPr>
        <p:txBody>
          <a:bodyPr rtlCol="0"/>
          <a:lstStyle/>
          <a:p>
            <a:fld id="{698736D7-D2AE-4EA5-B5D2-DEF3C4B5553A}" type="datetimeFigureOut">
              <a:rPr lang="tr-TR" smtClean="0"/>
              <a:t>28.05.2026</a:t>
            </a:fld>
            <a:endParaRPr lang="tr-TR"/>
          </a:p>
        </p:txBody>
      </p:sp>
      <p:sp>
        <p:nvSpPr>
          <p:cNvPr id="4" name="Alt Bilgi Yer Tutucusu 3"/>
          <p:cNvSpPr>
            <a:spLocks noGrp="1"/>
          </p:cNvSpPr>
          <p:nvPr>
            <p:ph type="ftr" sz="quarter" idx="11"/>
          </p:nvPr>
        </p:nvSpPr>
        <p:spPr>
          <a:xfrm>
            <a:off x="2118596" y="5936188"/>
            <a:ext cx="6870660" cy="365125"/>
          </a:xfrm>
        </p:spPr>
        <p:txBody>
          <a:bodyPr rtlCol="0"/>
          <a:lstStyle/>
          <a:p>
            <a:endParaRPr lang="tr-TR"/>
          </a:p>
        </p:txBody>
      </p:sp>
      <p:sp>
        <p:nvSpPr>
          <p:cNvPr id="5" name="Slayt Numarası Yer Tutucusu 4"/>
          <p:cNvSpPr>
            <a:spLocks noGrp="1"/>
          </p:cNvSpPr>
          <p:nvPr>
            <p:ph type="sldNum" sz="quarter" idx="12"/>
          </p:nvPr>
        </p:nvSpPr>
        <p:spPr>
          <a:xfrm>
            <a:off x="140493" y="748304"/>
            <a:ext cx="1154151" cy="1090789"/>
          </a:xfrm>
        </p:spPr>
        <p:txBody>
          <a:bodyPr rtlCol="0"/>
          <a:lstStyle/>
          <a:p>
            <a:fld id="{DCF80F56-D5A3-4C71-B2F9-F98C7B98AB70}" type="slidenum">
              <a:rPr lang="tr-TR" smtClean="0"/>
              <a:t>‹#›</a:t>
            </a:fld>
            <a:endParaRPr lang="tr-TR"/>
          </a:p>
        </p:txBody>
      </p:sp>
      <p:cxnSp>
        <p:nvCxnSpPr>
          <p:cNvPr id="33" name="Düz Bağlayıcı 32">
            <a:extLst>
              <a:ext uri="{FF2B5EF4-FFF2-40B4-BE49-F238E27FC236}">
                <a16:creationId xmlns:a16="http://schemas.microsoft.com/office/drawing/2014/main" id="{2664D24B-EA78-4E18-9226-569365267E5E}"/>
              </a:ext>
            </a:extLst>
          </p:cNvPr>
          <p:cNvCxnSpPr/>
          <p:nvPr/>
        </p:nvCxnSpPr>
        <p:spPr>
          <a:xfrm>
            <a:off x="8571139" y="969699"/>
            <a:ext cx="0" cy="648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7" name="Başlık 1">
            <a:extLst>
              <a:ext uri="{FF2B5EF4-FFF2-40B4-BE49-F238E27FC236}">
                <a16:creationId xmlns:a16="http://schemas.microsoft.com/office/drawing/2014/main" id="{5BE17E03-04A7-46ED-8623-88DFFD7E30B0}"/>
              </a:ext>
            </a:extLst>
          </p:cNvPr>
          <p:cNvSpPr txBox="1">
            <a:spLocks/>
          </p:cNvSpPr>
          <p:nvPr/>
        </p:nvSpPr>
        <p:spPr>
          <a:xfrm>
            <a:off x="2106131" y="790252"/>
            <a:ext cx="3060802" cy="10809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rtl="0"/>
            <a:endParaRPr lang="tr-TR" sz="2400" noProof="0"/>
          </a:p>
        </p:txBody>
      </p:sp>
      <p:cxnSp>
        <p:nvCxnSpPr>
          <p:cNvPr id="38" name="Düz Bağlayıcı 37">
            <a:extLst>
              <a:ext uri="{FF2B5EF4-FFF2-40B4-BE49-F238E27FC236}">
                <a16:creationId xmlns:a16="http://schemas.microsoft.com/office/drawing/2014/main" id="{A3840076-AFCB-4C84-8E23-85DAD3CBEF3E}"/>
              </a:ext>
            </a:extLst>
          </p:cNvPr>
          <p:cNvCxnSpPr/>
          <p:nvPr/>
        </p:nvCxnSpPr>
        <p:spPr>
          <a:xfrm>
            <a:off x="5294539" y="969699"/>
            <a:ext cx="0" cy="648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1" name="Başlık 50">
            <a:extLst>
              <a:ext uri="{FF2B5EF4-FFF2-40B4-BE49-F238E27FC236}">
                <a16:creationId xmlns:a16="http://schemas.microsoft.com/office/drawing/2014/main" id="{BBA20603-8433-4B38-976F-F18CF78D6BF9}"/>
              </a:ext>
            </a:extLst>
          </p:cNvPr>
          <p:cNvSpPr>
            <a:spLocks noGrp="1"/>
          </p:cNvSpPr>
          <p:nvPr>
            <p:ph type="title"/>
          </p:nvPr>
        </p:nvSpPr>
        <p:spPr>
          <a:xfrm>
            <a:off x="2106132" y="735087"/>
            <a:ext cx="3060802" cy="1080938"/>
          </a:xfrm>
        </p:spPr>
        <p:txBody>
          <a:bodyPr rtlCol="0" anchor="ctr" anchorCtr="0"/>
          <a:lstStyle>
            <a:lvl1pPr algn="ctr">
              <a:defRPr/>
            </a:lvl1pPr>
          </a:lstStyle>
          <a:p>
            <a:pPr rtl="0"/>
            <a:r>
              <a:rPr lang="tr-TR" noProof="0"/>
              <a:t>Asıl başlık stilini düzenlemek için tıklayın</a:t>
            </a:r>
          </a:p>
        </p:txBody>
      </p:sp>
      <p:sp>
        <p:nvSpPr>
          <p:cNvPr id="53" name="Metin Yer Tutucusu 52">
            <a:extLst>
              <a:ext uri="{FF2B5EF4-FFF2-40B4-BE49-F238E27FC236}">
                <a16:creationId xmlns:a16="http://schemas.microsoft.com/office/drawing/2014/main" id="{EF340F6C-3335-49B0-AE89-7103CA6A7F5E}"/>
              </a:ext>
            </a:extLst>
          </p:cNvPr>
          <p:cNvSpPr>
            <a:spLocks noGrp="1"/>
          </p:cNvSpPr>
          <p:nvPr>
            <p:ph type="body" sz="quarter" idx="18"/>
          </p:nvPr>
        </p:nvSpPr>
        <p:spPr>
          <a:xfrm>
            <a:off x="5384611" y="735013"/>
            <a:ext cx="3060700" cy="1081087"/>
          </a:xfrm>
        </p:spPr>
        <p:txBody>
          <a:bodyPr rtlCol="0" anchor="ctr" anchorCtr="0">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rtl="0"/>
            <a:r>
              <a:rPr lang="tr-TR" noProof="0"/>
              <a:t>Asıl metin stillerini düzenlemek için tıklayın</a:t>
            </a:r>
          </a:p>
        </p:txBody>
      </p:sp>
      <p:sp>
        <p:nvSpPr>
          <p:cNvPr id="55" name="Metin Yer Tutucusu 54">
            <a:extLst>
              <a:ext uri="{FF2B5EF4-FFF2-40B4-BE49-F238E27FC236}">
                <a16:creationId xmlns:a16="http://schemas.microsoft.com/office/drawing/2014/main" id="{1F0AD31D-2FFB-40A9-96C2-F4EE3869BC54}"/>
              </a:ext>
            </a:extLst>
          </p:cNvPr>
          <p:cNvSpPr>
            <a:spLocks noGrp="1"/>
          </p:cNvSpPr>
          <p:nvPr>
            <p:ph type="body" sz="quarter" idx="19"/>
          </p:nvPr>
        </p:nvSpPr>
        <p:spPr>
          <a:xfrm>
            <a:off x="8662988" y="746125"/>
            <a:ext cx="3070225" cy="1058862"/>
          </a:xfrm>
        </p:spPr>
        <p:txBody>
          <a:bodyPr rtlCol="0" anchor="ctr" anchorCtr="0">
            <a:noAutofit/>
          </a:bodyPr>
          <a:lstStyle>
            <a:lvl1pPr marL="0" indent="0" algn="ctr">
              <a:buNone/>
              <a:defRPr sz="3600">
                <a:latin typeface="+mj-lt"/>
              </a:defRPr>
            </a:lvl1pPr>
            <a:lvl2pPr algn="ctr">
              <a:defRPr sz="3600">
                <a:latin typeface="+mj-lt"/>
              </a:defRPr>
            </a:lvl2pPr>
            <a:lvl3pPr algn="ctr">
              <a:defRPr sz="3600">
                <a:latin typeface="+mj-lt"/>
              </a:defRPr>
            </a:lvl3pPr>
            <a:lvl4pPr algn="ctr">
              <a:defRPr sz="3600">
                <a:latin typeface="+mj-lt"/>
              </a:defRPr>
            </a:lvl4pPr>
            <a:lvl5pPr algn="ctr">
              <a:defRPr sz="3600">
                <a:latin typeface="+mj-lt"/>
              </a:defRPr>
            </a:lvl5pPr>
          </a:lstStyle>
          <a:p>
            <a:pPr lvl="0" rtl="0"/>
            <a:r>
              <a:rPr lang="tr-TR" noProof="0"/>
              <a:t>Asıl metin stillerini düzenlemek için tıklayın</a:t>
            </a:r>
          </a:p>
        </p:txBody>
      </p:sp>
      <p:sp>
        <p:nvSpPr>
          <p:cNvPr id="57" name="İçerik Yer Tutucusu 56">
            <a:extLst>
              <a:ext uri="{FF2B5EF4-FFF2-40B4-BE49-F238E27FC236}">
                <a16:creationId xmlns:a16="http://schemas.microsoft.com/office/drawing/2014/main" id="{52B689E9-5B4C-4CC0-AAA4-847EB66C3302}"/>
              </a:ext>
            </a:extLst>
          </p:cNvPr>
          <p:cNvSpPr>
            <a:spLocks noGrp="1"/>
          </p:cNvSpPr>
          <p:nvPr>
            <p:ph sz="quarter" idx="20"/>
          </p:nvPr>
        </p:nvSpPr>
        <p:spPr>
          <a:xfrm>
            <a:off x="2106131" y="2116138"/>
            <a:ext cx="3060802" cy="3713162"/>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58" name="İçerik Yer Tutucusu 56">
            <a:extLst>
              <a:ext uri="{FF2B5EF4-FFF2-40B4-BE49-F238E27FC236}">
                <a16:creationId xmlns:a16="http://schemas.microsoft.com/office/drawing/2014/main" id="{1D5202CC-08D0-4157-9CB3-AA1EF4A2C855}"/>
              </a:ext>
            </a:extLst>
          </p:cNvPr>
          <p:cNvSpPr>
            <a:spLocks noGrp="1"/>
          </p:cNvSpPr>
          <p:nvPr>
            <p:ph sz="quarter" idx="21"/>
          </p:nvPr>
        </p:nvSpPr>
        <p:spPr>
          <a:xfrm>
            <a:off x="5384611" y="2103211"/>
            <a:ext cx="3060802" cy="3713162"/>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59" name="İçerik Yer Tutucusu 56">
            <a:extLst>
              <a:ext uri="{FF2B5EF4-FFF2-40B4-BE49-F238E27FC236}">
                <a16:creationId xmlns:a16="http://schemas.microsoft.com/office/drawing/2014/main" id="{7BE8E782-50B7-4C4E-BEA5-DDA27E0F6817}"/>
              </a:ext>
            </a:extLst>
          </p:cNvPr>
          <p:cNvSpPr>
            <a:spLocks noGrp="1"/>
          </p:cNvSpPr>
          <p:nvPr>
            <p:ph sz="quarter" idx="22"/>
          </p:nvPr>
        </p:nvSpPr>
        <p:spPr>
          <a:xfrm>
            <a:off x="8659892" y="2097613"/>
            <a:ext cx="3060802" cy="3713162"/>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Tree>
    <p:extLst>
      <p:ext uri="{BB962C8B-B14F-4D97-AF65-F5344CB8AC3E}">
        <p14:creationId xmlns:p14="http://schemas.microsoft.com/office/powerpoint/2010/main" val="14342931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grpSp>
        <p:nvGrpSpPr>
          <p:cNvPr id="28" name="Grup 27">
            <a:extLst>
              <a:ext uri="{FF2B5EF4-FFF2-40B4-BE49-F238E27FC236}">
                <a16:creationId xmlns:a16="http://schemas.microsoft.com/office/drawing/2014/main" id="{2C074DF2-6D4F-4B58-A82E-6322DB69A6CC}"/>
              </a:ext>
            </a:extLst>
          </p:cNvPr>
          <p:cNvGrpSpPr/>
          <p:nvPr/>
        </p:nvGrpSpPr>
        <p:grpSpPr bwMode="ltGray">
          <a:xfrm>
            <a:off x="7232499" y="-159283"/>
            <a:ext cx="4959501" cy="5242297"/>
            <a:chOff x="7232499" y="-159283"/>
            <a:chExt cx="4959501" cy="5242297"/>
          </a:xfrm>
          <a:solidFill>
            <a:srgbClr val="76280B">
              <a:alpha val="60000"/>
            </a:srgbClr>
          </a:solidFill>
        </p:grpSpPr>
        <p:pic>
          <p:nvPicPr>
            <p:cNvPr id="29" name="Grafik 28" descr="Tek dişli">
              <a:extLst>
                <a:ext uri="{FF2B5EF4-FFF2-40B4-BE49-F238E27FC236}">
                  <a16:creationId xmlns:a16="http://schemas.microsoft.com/office/drawing/2014/main" id="{B9A8CB2C-0A50-43EC-A2C7-F536FF84DE44}"/>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18078" r="23442"/>
            <a:stretch/>
          </p:blipFill>
          <p:spPr bwMode="ltGray">
            <a:xfrm>
              <a:off x="8994950" y="0"/>
              <a:ext cx="3197050" cy="3421066"/>
            </a:xfrm>
            <a:prstGeom prst="rect">
              <a:avLst/>
            </a:prstGeom>
          </p:spPr>
        </p:pic>
        <p:pic>
          <p:nvPicPr>
            <p:cNvPr id="31" name="Grafik 30" descr="Tek dişli">
              <a:extLst>
                <a:ext uri="{FF2B5EF4-FFF2-40B4-BE49-F238E27FC236}">
                  <a16:creationId xmlns:a16="http://schemas.microsoft.com/office/drawing/2014/main" id="{71F3D36D-2C1A-4D06-A27F-6A64AA1188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7232499" y="667872"/>
              <a:ext cx="2880000" cy="2880000"/>
            </a:xfrm>
            <a:prstGeom prst="rect">
              <a:avLst/>
            </a:prstGeom>
          </p:spPr>
        </p:pic>
        <p:pic>
          <p:nvPicPr>
            <p:cNvPr id="32" name="Grafik 31" descr="Tek dişli">
              <a:extLst>
                <a:ext uri="{FF2B5EF4-FFF2-40B4-BE49-F238E27FC236}">
                  <a16:creationId xmlns:a16="http://schemas.microsoft.com/office/drawing/2014/main" id="{61F0F601-D5AC-45C0-92B6-2376085B0D5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746667" y="2203014"/>
              <a:ext cx="2880000" cy="2880000"/>
            </a:xfrm>
            <a:prstGeom prst="rect">
              <a:avLst/>
            </a:prstGeom>
          </p:spPr>
        </p:pic>
        <p:pic>
          <p:nvPicPr>
            <p:cNvPr id="33" name="Grafik 32" descr="Tek dişli">
              <a:extLst>
                <a:ext uri="{FF2B5EF4-FFF2-40B4-BE49-F238E27FC236}">
                  <a16:creationId xmlns:a16="http://schemas.microsoft.com/office/drawing/2014/main" id="{DE792A6A-B423-4979-BD59-4CD4A74069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ltGray">
            <a:xfrm>
              <a:off x="8501643" y="-159283"/>
              <a:ext cx="1620000" cy="1620000"/>
            </a:xfrm>
            <a:prstGeom prst="rect">
              <a:avLst/>
            </a:prstGeom>
          </p:spPr>
        </p:pic>
      </p:grpSp>
      <p:pic>
        <p:nvPicPr>
          <p:cNvPr id="15" name="Resim 14" descr="HD-ShadowLong.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Resim 15" descr="HD-ShadowShort.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Dikdörtgen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Dikdörtgen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Başlık 1"/>
          <p:cNvSpPr>
            <a:spLocks noGrp="1"/>
          </p:cNvSpPr>
          <p:nvPr>
            <p:ph type="title"/>
          </p:nvPr>
        </p:nvSpPr>
        <p:spPr>
          <a:xfrm>
            <a:off x="680322" y="753228"/>
            <a:ext cx="9613860" cy="1080938"/>
          </a:xfrm>
        </p:spPr>
        <p:txBody>
          <a:bodyPr rtlCol="0"/>
          <a:lstStyle/>
          <a:p>
            <a:pPr rtl="0"/>
            <a:r>
              <a:rPr lang="tr-TR" noProof="0"/>
              <a:t>Asıl başlık stilini düzenlemek için tıklayın</a:t>
            </a:r>
          </a:p>
        </p:txBody>
      </p:sp>
      <p:sp>
        <p:nvSpPr>
          <p:cNvPr id="19" name="Metin Yer Tutucusu 2"/>
          <p:cNvSpPr>
            <a:spLocks noGrp="1"/>
          </p:cNvSpPr>
          <p:nvPr>
            <p:ph type="body" idx="1"/>
          </p:nvPr>
        </p:nvSpPr>
        <p:spPr>
          <a:xfrm>
            <a:off x="680318" y="4297503"/>
            <a:ext cx="3049705"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Asıl metin stillerini düzenlemek için tıklayın</a:t>
            </a:r>
          </a:p>
        </p:txBody>
      </p:sp>
      <p:sp>
        <p:nvSpPr>
          <p:cNvPr id="20" name="Resim Yer Tutucusu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tr-TR" noProof="0"/>
              <a:t>Resim eklemek için simgeye tıklayın</a:t>
            </a:r>
          </a:p>
        </p:txBody>
      </p:sp>
      <p:sp>
        <p:nvSpPr>
          <p:cNvPr id="21" name="Metin Yer Tutucusu 3"/>
          <p:cNvSpPr>
            <a:spLocks noGrp="1"/>
          </p:cNvSpPr>
          <p:nvPr>
            <p:ph type="body" sz="half" idx="18"/>
          </p:nvPr>
        </p:nvSpPr>
        <p:spPr>
          <a:xfrm>
            <a:off x="680318" y="4873765"/>
            <a:ext cx="3049705" cy="106242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tr-TR" noProof="0"/>
              <a:t>Asıl metin stillerini düzenlemek için tıklayın</a:t>
            </a:r>
          </a:p>
        </p:txBody>
      </p:sp>
      <p:sp>
        <p:nvSpPr>
          <p:cNvPr id="22" name="Metin Yer Tutucusu 4"/>
          <p:cNvSpPr>
            <a:spLocks noGrp="1"/>
          </p:cNvSpPr>
          <p:nvPr>
            <p:ph type="body" sz="quarter" idx="3"/>
          </p:nvPr>
        </p:nvSpPr>
        <p:spPr>
          <a:xfrm>
            <a:off x="3945471" y="4297503"/>
            <a:ext cx="3063240"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Asıl metin stillerini düzenlemek için tıklayın</a:t>
            </a:r>
          </a:p>
        </p:txBody>
      </p:sp>
      <p:sp>
        <p:nvSpPr>
          <p:cNvPr id="23" name="Resim Yer Tutucusu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tr-TR" noProof="0"/>
              <a:t>Resim eklemek için simgeye tıklayın</a:t>
            </a:r>
          </a:p>
        </p:txBody>
      </p:sp>
      <p:sp>
        <p:nvSpPr>
          <p:cNvPr id="24" name="Metin Yer Tutucusu 3"/>
          <p:cNvSpPr>
            <a:spLocks noGrp="1"/>
          </p:cNvSpPr>
          <p:nvPr>
            <p:ph type="body" sz="half" idx="19"/>
          </p:nvPr>
        </p:nvSpPr>
        <p:spPr>
          <a:xfrm>
            <a:off x="3944117" y="4873764"/>
            <a:ext cx="3067297" cy="106242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tr-TR" noProof="0"/>
              <a:t>Asıl metin stillerini düzenlemek için tıklayın</a:t>
            </a:r>
          </a:p>
        </p:txBody>
      </p:sp>
      <p:sp>
        <p:nvSpPr>
          <p:cNvPr id="25" name="Metin Yer Tutucusu 4"/>
          <p:cNvSpPr>
            <a:spLocks noGrp="1"/>
          </p:cNvSpPr>
          <p:nvPr>
            <p:ph type="body" sz="quarter" idx="13"/>
          </p:nvPr>
        </p:nvSpPr>
        <p:spPr>
          <a:xfrm>
            <a:off x="7230678" y="4297503"/>
            <a:ext cx="3063505" cy="576262"/>
          </a:xfrm>
        </p:spPr>
        <p:txBody>
          <a:bodyPr rtlCol="0"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Asıl metin stillerini düzenlemek için tıklayın</a:t>
            </a:r>
          </a:p>
        </p:txBody>
      </p:sp>
      <p:sp>
        <p:nvSpPr>
          <p:cNvPr id="26" name="Resim Yer Tutucusu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tr-TR" noProof="0"/>
              <a:t>Resim eklemek için simgeye tıklayın</a:t>
            </a:r>
          </a:p>
        </p:txBody>
      </p:sp>
      <p:sp>
        <p:nvSpPr>
          <p:cNvPr id="27" name="Metin Yer Tutucusu 3"/>
          <p:cNvSpPr>
            <a:spLocks noGrp="1"/>
          </p:cNvSpPr>
          <p:nvPr>
            <p:ph type="body" sz="half" idx="20"/>
          </p:nvPr>
        </p:nvSpPr>
        <p:spPr>
          <a:xfrm>
            <a:off x="7230553" y="4873762"/>
            <a:ext cx="3067563" cy="106242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tr-TR" noProof="0"/>
              <a:t>Asıl metin stillerini düzenlemek için tıklayın</a:t>
            </a:r>
          </a:p>
        </p:txBody>
      </p:sp>
      <p:sp>
        <p:nvSpPr>
          <p:cNvPr id="3" name="Tarih Yer Tutucusu 2"/>
          <p:cNvSpPr>
            <a:spLocks noGrp="1"/>
          </p:cNvSpPr>
          <p:nvPr>
            <p:ph type="dt" sz="half" idx="10"/>
          </p:nvPr>
        </p:nvSpPr>
        <p:spPr/>
        <p:txBody>
          <a:bodyPr rtlCol="0"/>
          <a:lstStyle/>
          <a:p>
            <a:fld id="{698736D7-D2AE-4EA5-B5D2-DEF3C4B5553A}" type="datetimeFigureOut">
              <a:rPr lang="tr-TR" smtClean="0"/>
              <a:t>28.05.2026</a:t>
            </a:fld>
            <a:endParaRPr lang="tr-TR"/>
          </a:p>
        </p:txBody>
      </p:sp>
      <p:sp>
        <p:nvSpPr>
          <p:cNvPr id="4" name="Alt Bilgi Yer Tutucusu 3"/>
          <p:cNvSpPr>
            <a:spLocks noGrp="1"/>
          </p:cNvSpPr>
          <p:nvPr>
            <p:ph type="ftr" sz="quarter" idx="11"/>
          </p:nvPr>
        </p:nvSpPr>
        <p:spPr/>
        <p:txBody>
          <a:bodyPr rtlCol="0"/>
          <a:lstStyle/>
          <a:p>
            <a:endParaRPr lang="tr-TR"/>
          </a:p>
        </p:txBody>
      </p:sp>
      <p:sp>
        <p:nvSpPr>
          <p:cNvPr id="5" name="Slayt Numarası Yer Tutucusu 4"/>
          <p:cNvSpPr>
            <a:spLocks noGrp="1"/>
          </p:cNvSpPr>
          <p:nvPr>
            <p:ph type="sldNum" sz="quarter" idx="12"/>
          </p:nvPr>
        </p:nvSpPr>
        <p:spPr/>
        <p:txBody>
          <a:bodyPr rtlCol="0"/>
          <a:lstStyle/>
          <a:p>
            <a:fld id="{DCF80F56-D5A3-4C71-B2F9-F98C7B98AB70}" type="slidenum">
              <a:rPr lang="tr-TR" smtClean="0"/>
              <a:t>‹#›</a:t>
            </a:fld>
            <a:endParaRPr lang="tr-TR"/>
          </a:p>
        </p:txBody>
      </p:sp>
    </p:spTree>
    <p:extLst>
      <p:ext uri="{BB962C8B-B14F-4D97-AF65-F5344CB8AC3E}">
        <p14:creationId xmlns:p14="http://schemas.microsoft.com/office/powerpoint/2010/main" val="1426110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tx1">
                <a:lumMod val="95000"/>
              </a:schemeClr>
            </a:gs>
            <a:gs pos="100000">
              <a:schemeClr val="accent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pic>
        <p:nvPicPr>
          <p:cNvPr id="7" name="Resim 6" descr="hashOverlay-FullResolve.png"/>
          <p:cNvPicPr>
            <a:picLocks noChangeAspect="1"/>
          </p:cNvPicPr>
          <p:nvPr/>
        </p:nvPicPr>
        <p:blipFill>
          <a:blip r:embed="rId21">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Yer Tutucusu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pPr rtl="0"/>
            <a:r>
              <a:rPr lang="tr-TR" noProof="0" dirty="0"/>
              <a:t>Asıl başlık stilini düzenlemek için tıklayın</a:t>
            </a:r>
          </a:p>
        </p:txBody>
      </p:sp>
      <p:sp>
        <p:nvSpPr>
          <p:cNvPr id="3" name="Metin Yer Tutucusu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4" name="Tarih Yer Tutucusu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98736D7-D2AE-4EA5-B5D2-DEF3C4B5553A}" type="datetimeFigureOut">
              <a:rPr lang="tr-TR" smtClean="0"/>
              <a:t>28.05.2026</a:t>
            </a:fld>
            <a:endParaRPr lang="tr-TR"/>
          </a:p>
        </p:txBody>
      </p:sp>
      <p:sp>
        <p:nvSpPr>
          <p:cNvPr id="5" name="Alt Bilgi Yer Tutucusu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DCF80F56-D5A3-4C71-B2F9-F98C7B98AB70}" type="slidenum">
              <a:rPr lang="tr-TR" smtClean="0"/>
              <a:t>‹#›</a:t>
            </a:fld>
            <a:endParaRPr lang="tr-TR"/>
          </a:p>
        </p:txBody>
      </p:sp>
    </p:spTree>
    <p:extLst>
      <p:ext uri="{BB962C8B-B14F-4D97-AF65-F5344CB8AC3E}">
        <p14:creationId xmlns:p14="http://schemas.microsoft.com/office/powerpoint/2010/main" val="1587694422"/>
      </p:ext>
    </p:extLst>
  </p:cSld>
  <p:clrMap bg1="dk1" tx1="lt1" bg2="dk2"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Lst>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lstStyle/>
          <a:p>
            <a:r>
              <a:rPr lang="tr-TR" dirty="0">
                <a:effectLst>
                  <a:outerShdw blurRad="38100" dist="38100" dir="2700000" algn="tl">
                    <a:srgbClr val="000000">
                      <a:alpha val="43137"/>
                    </a:srgbClr>
                  </a:outerShdw>
                </a:effectLst>
              </a:rPr>
              <a:t>RYZ108 MAKİNE ÖĞRENMESİ</a:t>
            </a:r>
            <a:endParaRPr lang="tr-TR" dirty="0"/>
          </a:p>
        </p:txBody>
      </p:sp>
      <p:sp>
        <p:nvSpPr>
          <p:cNvPr id="3" name="Alt Başlık 2"/>
          <p:cNvSpPr>
            <a:spLocks noGrp="1"/>
          </p:cNvSpPr>
          <p:nvPr>
            <p:ph type="subTitle" idx="1"/>
          </p:nvPr>
        </p:nvSpPr>
        <p:spPr>
          <a:xfrm>
            <a:off x="841778" y="4541863"/>
            <a:ext cx="3528522" cy="426377"/>
          </a:xfrm>
        </p:spPr>
        <p:txBody>
          <a:bodyPr>
            <a:normAutofit/>
          </a:bodyPr>
          <a:lstStyle/>
          <a:p>
            <a:pPr marL="0" marR="0" lvl="0" indent="0" algn="l" defTabSz="914400" rtl="0" eaLnBrk="1" fontAlgn="auto" latinLnBrk="0" hangingPunct="1">
              <a:lnSpc>
                <a:spcPct val="90000"/>
              </a:lnSpc>
              <a:spcBef>
                <a:spcPts val="1800"/>
              </a:spcBef>
              <a:spcAft>
                <a:spcPts val="0"/>
              </a:spcAft>
              <a:buClrTx/>
              <a:buSzPct val="100000"/>
              <a:buFont typeface="Arial" pitchFamily="34" charset="0"/>
              <a:buNone/>
              <a:tabLst/>
              <a:defRPr/>
            </a:pPr>
            <a:r>
              <a:rPr kumimoji="0" lang="tr-TR" sz="1800" b="0" i="0" u="none" strike="noStrike" kern="1200" cap="all" spc="0" normalizeH="0" baseline="0" noProof="0" dirty="0">
                <a:ln>
                  <a:noFill/>
                </a:ln>
                <a:effectLst/>
                <a:uLnTx/>
                <a:uFillTx/>
                <a:latin typeface="Calibri Light"/>
                <a:ea typeface="+mn-ea"/>
                <a:cs typeface="+mn-cs"/>
              </a:rPr>
              <a:t>Öğr. Gör. Melike özmen </a:t>
            </a:r>
            <a:r>
              <a:rPr kumimoji="0" lang="tr-TR" sz="1800" b="0" i="0" u="none" strike="noStrike" kern="1200" cap="all" spc="0" normalizeH="0" baseline="0" noProof="0" dirty="0" err="1">
                <a:ln>
                  <a:noFill/>
                </a:ln>
                <a:effectLst/>
                <a:uLnTx/>
                <a:uFillTx/>
                <a:latin typeface="Calibri Light"/>
                <a:ea typeface="+mn-ea"/>
                <a:cs typeface="+mn-cs"/>
              </a:rPr>
              <a:t>arslan</a:t>
            </a:r>
            <a:endParaRPr kumimoji="0" lang="tr-TR" sz="1800" b="0" i="0" u="none" strike="noStrike" kern="1200" cap="all" spc="0" normalizeH="0" baseline="0" noProof="0" dirty="0">
              <a:ln>
                <a:noFill/>
              </a:ln>
              <a:effectLst/>
              <a:uLnTx/>
              <a:uFillTx/>
              <a:latin typeface="Calibri Light"/>
              <a:ea typeface="+mn-ea"/>
              <a:cs typeface="+mn-cs"/>
            </a:endParaRPr>
          </a:p>
        </p:txBody>
      </p:sp>
    </p:spTree>
    <p:extLst>
      <p:ext uri="{BB962C8B-B14F-4D97-AF65-F5344CB8AC3E}">
        <p14:creationId xmlns:p14="http://schemas.microsoft.com/office/powerpoint/2010/main" val="516508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C5AF6D0-A359-A5DC-A5F9-CA323FC37DD9}"/>
              </a:ext>
            </a:extLst>
          </p:cNvPr>
          <p:cNvSpPr>
            <a:spLocks noGrp="1"/>
          </p:cNvSpPr>
          <p:nvPr>
            <p:ph type="title"/>
          </p:nvPr>
        </p:nvSpPr>
        <p:spPr/>
        <p:txBody>
          <a:bodyPr/>
          <a:lstStyle/>
          <a:p>
            <a:r>
              <a:rPr lang="tr-TR" b="0" dirty="0"/>
              <a:t>Makine Öğrenmesi Nedir?</a:t>
            </a:r>
            <a:endParaRPr lang="en-US" b="0" dirty="0"/>
          </a:p>
        </p:txBody>
      </p:sp>
      <p:sp>
        <p:nvSpPr>
          <p:cNvPr id="3" name="İçerik Yer Tutucusu 2">
            <a:extLst>
              <a:ext uri="{FF2B5EF4-FFF2-40B4-BE49-F238E27FC236}">
                <a16:creationId xmlns:a16="http://schemas.microsoft.com/office/drawing/2014/main" id="{38A3CA67-B4B5-23B3-5D14-9CE71AF46310}"/>
              </a:ext>
            </a:extLst>
          </p:cNvPr>
          <p:cNvSpPr>
            <a:spLocks noGrp="1"/>
          </p:cNvSpPr>
          <p:nvPr>
            <p:ph idx="1"/>
          </p:nvPr>
        </p:nvSpPr>
        <p:spPr>
          <a:xfrm>
            <a:off x="677333" y="2160589"/>
            <a:ext cx="9119809" cy="3880773"/>
          </a:xfrm>
        </p:spPr>
        <p:txBody>
          <a:bodyPr>
            <a:normAutofit/>
          </a:bodyPr>
          <a:lstStyle/>
          <a:p>
            <a:pPr algn="just"/>
            <a:r>
              <a:rPr lang="en-US" dirty="0" err="1"/>
              <a:t>Makine</a:t>
            </a:r>
            <a:r>
              <a:rPr lang="en-US" dirty="0"/>
              <a:t> </a:t>
            </a:r>
            <a:r>
              <a:rPr lang="en-US" dirty="0" err="1"/>
              <a:t>öğrenmesi</a:t>
            </a:r>
            <a:r>
              <a:rPr lang="en-US" dirty="0"/>
              <a:t> (Machine Learning, ML), </a:t>
            </a:r>
            <a:r>
              <a:rPr lang="en-US" dirty="0" err="1"/>
              <a:t>verilerden</a:t>
            </a:r>
            <a:r>
              <a:rPr lang="en-US" dirty="0"/>
              <a:t> </a:t>
            </a:r>
            <a:r>
              <a:rPr lang="en-US" dirty="0" err="1"/>
              <a:t>otomatik</a:t>
            </a:r>
            <a:r>
              <a:rPr lang="en-US" dirty="0"/>
              <a:t> </a:t>
            </a:r>
            <a:r>
              <a:rPr lang="en-US" dirty="0" err="1"/>
              <a:t>olarak</a:t>
            </a:r>
            <a:r>
              <a:rPr lang="en-US" dirty="0"/>
              <a:t> </a:t>
            </a:r>
            <a:r>
              <a:rPr lang="en-US" dirty="0" err="1"/>
              <a:t>öğrenen</a:t>
            </a:r>
            <a:r>
              <a:rPr lang="en-US" dirty="0"/>
              <a:t> </a:t>
            </a:r>
            <a:r>
              <a:rPr lang="en-US" dirty="0" err="1"/>
              <a:t>ve</a:t>
            </a:r>
            <a:r>
              <a:rPr lang="en-US" dirty="0"/>
              <a:t> </a:t>
            </a:r>
            <a:r>
              <a:rPr lang="en-US" dirty="0" err="1"/>
              <a:t>insan</a:t>
            </a:r>
            <a:r>
              <a:rPr lang="en-US" dirty="0"/>
              <a:t> </a:t>
            </a:r>
            <a:r>
              <a:rPr lang="en-US" dirty="0" err="1"/>
              <a:t>müdahalesi</a:t>
            </a:r>
            <a:r>
              <a:rPr lang="en-US" dirty="0"/>
              <a:t> </a:t>
            </a:r>
            <a:r>
              <a:rPr lang="en-US" dirty="0" err="1"/>
              <a:t>olmadan</a:t>
            </a:r>
            <a:r>
              <a:rPr lang="en-US" dirty="0"/>
              <a:t> </a:t>
            </a:r>
            <a:r>
              <a:rPr lang="en-US" dirty="0" err="1"/>
              <a:t>tahminler</a:t>
            </a:r>
            <a:r>
              <a:rPr lang="en-US" dirty="0"/>
              <a:t> </a:t>
            </a:r>
            <a:r>
              <a:rPr lang="en-US" dirty="0" err="1"/>
              <a:t>veya</a:t>
            </a:r>
            <a:r>
              <a:rPr lang="en-US" dirty="0"/>
              <a:t> </a:t>
            </a:r>
            <a:r>
              <a:rPr lang="en-US" dirty="0" err="1"/>
              <a:t>kararlar</a:t>
            </a:r>
            <a:r>
              <a:rPr lang="en-US" dirty="0"/>
              <a:t> </a:t>
            </a:r>
            <a:r>
              <a:rPr lang="en-US" dirty="0" err="1"/>
              <a:t>alabilen</a:t>
            </a:r>
            <a:r>
              <a:rPr lang="en-US" dirty="0"/>
              <a:t> </a:t>
            </a:r>
            <a:r>
              <a:rPr lang="en-US" dirty="0" err="1"/>
              <a:t>algoritmaların</a:t>
            </a:r>
            <a:r>
              <a:rPr lang="en-US" dirty="0"/>
              <a:t> </a:t>
            </a:r>
            <a:r>
              <a:rPr lang="en-US" dirty="0" err="1"/>
              <a:t>geliştirilmesini</a:t>
            </a:r>
            <a:r>
              <a:rPr lang="en-US" dirty="0"/>
              <a:t> </a:t>
            </a:r>
            <a:r>
              <a:rPr lang="en-US" dirty="0" err="1"/>
              <a:t>sağlayan</a:t>
            </a:r>
            <a:r>
              <a:rPr lang="en-US" dirty="0"/>
              <a:t> </a:t>
            </a:r>
            <a:r>
              <a:rPr lang="en-US" dirty="0" err="1"/>
              <a:t>bir</a:t>
            </a:r>
            <a:r>
              <a:rPr lang="en-US" dirty="0"/>
              <a:t> </a:t>
            </a:r>
            <a:r>
              <a:rPr lang="en-US" dirty="0" err="1"/>
              <a:t>yapay</a:t>
            </a:r>
            <a:r>
              <a:rPr lang="en-US" dirty="0"/>
              <a:t> </a:t>
            </a:r>
            <a:r>
              <a:rPr lang="en-US" dirty="0" err="1"/>
              <a:t>zeka</a:t>
            </a:r>
            <a:r>
              <a:rPr lang="en-US" dirty="0"/>
              <a:t> </a:t>
            </a:r>
            <a:r>
              <a:rPr lang="en-US" dirty="0" err="1"/>
              <a:t>dalıdır</a:t>
            </a:r>
            <a:r>
              <a:rPr lang="en-US" dirty="0"/>
              <a:t>.</a:t>
            </a:r>
            <a:endParaRPr lang="tr-TR" dirty="0"/>
          </a:p>
          <a:p>
            <a:pPr algn="just"/>
            <a:endParaRPr lang="tr-TR" dirty="0"/>
          </a:p>
          <a:p>
            <a:pPr algn="just"/>
            <a:r>
              <a:rPr lang="en-US" dirty="0" err="1"/>
              <a:t>Makine</a:t>
            </a:r>
            <a:r>
              <a:rPr lang="en-US" dirty="0"/>
              <a:t> </a:t>
            </a:r>
            <a:r>
              <a:rPr lang="en-US" dirty="0" err="1"/>
              <a:t>öğrenmesi</a:t>
            </a:r>
            <a:r>
              <a:rPr lang="en-US" dirty="0"/>
              <a:t> </a:t>
            </a:r>
            <a:r>
              <a:rPr lang="en-US" dirty="0" err="1"/>
              <a:t>sistemleri</a:t>
            </a:r>
            <a:r>
              <a:rPr lang="en-US" dirty="0"/>
              <a:t>, </a:t>
            </a:r>
            <a:r>
              <a:rPr lang="en-US" dirty="0" err="1"/>
              <a:t>açıkça</a:t>
            </a:r>
            <a:r>
              <a:rPr lang="en-US" dirty="0"/>
              <a:t> </a:t>
            </a:r>
            <a:r>
              <a:rPr lang="en-US" dirty="0" err="1"/>
              <a:t>programlanmadan</a:t>
            </a:r>
            <a:r>
              <a:rPr lang="en-US" dirty="0"/>
              <a:t>, </a:t>
            </a:r>
            <a:r>
              <a:rPr lang="en-US" dirty="0" err="1"/>
              <a:t>verilerdeki</a:t>
            </a:r>
            <a:r>
              <a:rPr lang="en-US" dirty="0"/>
              <a:t> </a:t>
            </a:r>
            <a:r>
              <a:rPr lang="en-US" dirty="0" err="1"/>
              <a:t>örüntüleri</a:t>
            </a:r>
            <a:r>
              <a:rPr lang="en-US" dirty="0"/>
              <a:t> (pattern) </a:t>
            </a:r>
            <a:r>
              <a:rPr lang="en-US" dirty="0" err="1"/>
              <a:t>tanıyarak</a:t>
            </a:r>
            <a:r>
              <a:rPr lang="en-US" dirty="0"/>
              <a:t> </a:t>
            </a:r>
            <a:r>
              <a:rPr lang="en-US" dirty="0" err="1"/>
              <a:t>kendilerini</a:t>
            </a:r>
            <a:r>
              <a:rPr lang="en-US" dirty="0"/>
              <a:t> </a:t>
            </a:r>
            <a:r>
              <a:rPr lang="en-US" dirty="0" err="1"/>
              <a:t>geliştirirler</a:t>
            </a:r>
            <a:r>
              <a:rPr lang="en-US" dirty="0"/>
              <a:t>. </a:t>
            </a:r>
            <a:endParaRPr lang="tr-TR" dirty="0"/>
          </a:p>
          <a:p>
            <a:pPr algn="just"/>
            <a:endParaRPr lang="tr-TR" dirty="0"/>
          </a:p>
          <a:p>
            <a:pPr algn="just"/>
            <a:r>
              <a:rPr lang="tr-TR" dirty="0"/>
              <a:t>B</a:t>
            </a:r>
            <a:r>
              <a:rPr lang="en-US" dirty="0" err="1"/>
              <a:t>ilgisayar</a:t>
            </a:r>
            <a:r>
              <a:rPr lang="en-US" dirty="0"/>
              <a:t>, </a:t>
            </a:r>
            <a:r>
              <a:rPr lang="en-US" dirty="0" err="1"/>
              <a:t>deneyim</a:t>
            </a:r>
            <a:r>
              <a:rPr lang="en-US" dirty="0"/>
              <a:t> </a:t>
            </a:r>
            <a:r>
              <a:rPr lang="en-US" dirty="0" err="1"/>
              <a:t>kazandıkça</a:t>
            </a:r>
            <a:r>
              <a:rPr lang="en-US" dirty="0"/>
              <a:t> </a:t>
            </a:r>
            <a:r>
              <a:rPr lang="en-US" dirty="0" err="1"/>
              <a:t>performansını</a:t>
            </a:r>
            <a:r>
              <a:rPr lang="en-US" dirty="0"/>
              <a:t> </a:t>
            </a:r>
            <a:r>
              <a:rPr lang="en-US" dirty="0" err="1"/>
              <a:t>artırır</a:t>
            </a:r>
            <a:r>
              <a:rPr lang="en-US" dirty="0"/>
              <a:t> </a:t>
            </a:r>
            <a:r>
              <a:rPr lang="en-US" dirty="0" err="1"/>
              <a:t>ve</a:t>
            </a:r>
            <a:r>
              <a:rPr lang="en-US" dirty="0"/>
              <a:t> </a:t>
            </a:r>
            <a:r>
              <a:rPr lang="en-US" dirty="0" err="1"/>
              <a:t>daha</a:t>
            </a:r>
            <a:r>
              <a:rPr lang="en-US" dirty="0"/>
              <a:t> </a:t>
            </a:r>
            <a:r>
              <a:rPr lang="en-US" dirty="0" err="1"/>
              <a:t>doğru</a:t>
            </a:r>
            <a:r>
              <a:rPr lang="en-US" dirty="0"/>
              <a:t> </a:t>
            </a:r>
            <a:r>
              <a:rPr lang="en-US" dirty="0" err="1"/>
              <a:t>tahminler</a:t>
            </a:r>
            <a:r>
              <a:rPr lang="en-US" dirty="0"/>
              <a:t> </a:t>
            </a:r>
            <a:r>
              <a:rPr lang="en-US" dirty="0" err="1"/>
              <a:t>yapar</a:t>
            </a:r>
            <a:r>
              <a:rPr lang="en-US" dirty="0"/>
              <a:t>.</a:t>
            </a:r>
          </a:p>
        </p:txBody>
      </p:sp>
    </p:spTree>
    <p:extLst>
      <p:ext uri="{BB962C8B-B14F-4D97-AF65-F5344CB8AC3E}">
        <p14:creationId xmlns:p14="http://schemas.microsoft.com/office/powerpoint/2010/main" val="1305116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kdörtgen 3">
            <a:extLst>
              <a:ext uri="{FF2B5EF4-FFF2-40B4-BE49-F238E27FC236}">
                <a16:creationId xmlns:a16="http://schemas.microsoft.com/office/drawing/2014/main" id="{C0795696-E0B1-A757-4765-6DE148506DB9}"/>
              </a:ext>
            </a:extLst>
          </p:cNvPr>
          <p:cNvSpPr/>
          <p:nvPr/>
        </p:nvSpPr>
        <p:spPr>
          <a:xfrm>
            <a:off x="4741983" y="1604512"/>
            <a:ext cx="2590800" cy="803868"/>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tr-TR" sz="2400" b="1" dirty="0"/>
              <a:t>Makine Öğrenmesi</a:t>
            </a:r>
            <a:endParaRPr lang="en-US" sz="2400" b="1" dirty="0"/>
          </a:p>
        </p:txBody>
      </p:sp>
      <p:sp>
        <p:nvSpPr>
          <p:cNvPr id="5" name="Dikdörtgen 4">
            <a:extLst>
              <a:ext uri="{FF2B5EF4-FFF2-40B4-BE49-F238E27FC236}">
                <a16:creationId xmlns:a16="http://schemas.microsoft.com/office/drawing/2014/main" id="{574F10DE-2624-CBC3-E563-2C2E9C94BAF4}"/>
              </a:ext>
            </a:extLst>
          </p:cNvPr>
          <p:cNvSpPr/>
          <p:nvPr/>
        </p:nvSpPr>
        <p:spPr>
          <a:xfrm>
            <a:off x="1857223" y="2577402"/>
            <a:ext cx="2069960" cy="85159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tr-TR" sz="2000" b="1" dirty="0">
                <a:latin typeface="Arial" panose="020B0604020202020204" pitchFamily="34" charset="0"/>
                <a:cs typeface="Arial" panose="020B0604020202020204" pitchFamily="34" charset="0"/>
              </a:rPr>
              <a:t>Denetimli Öğrenme</a:t>
            </a:r>
            <a:endParaRPr lang="en-US" sz="2000" b="1" dirty="0">
              <a:latin typeface="Arial" panose="020B0604020202020204" pitchFamily="34" charset="0"/>
              <a:cs typeface="Arial" panose="020B0604020202020204" pitchFamily="34" charset="0"/>
            </a:endParaRPr>
          </a:p>
        </p:txBody>
      </p:sp>
      <p:sp>
        <p:nvSpPr>
          <p:cNvPr id="6" name="Dikdörtgen 5">
            <a:extLst>
              <a:ext uri="{FF2B5EF4-FFF2-40B4-BE49-F238E27FC236}">
                <a16:creationId xmlns:a16="http://schemas.microsoft.com/office/drawing/2014/main" id="{F049504D-70BC-18DB-F51A-BAF63D36F94D}"/>
              </a:ext>
            </a:extLst>
          </p:cNvPr>
          <p:cNvSpPr/>
          <p:nvPr/>
        </p:nvSpPr>
        <p:spPr>
          <a:xfrm>
            <a:off x="5052647" y="2577402"/>
            <a:ext cx="1969477" cy="85159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tr-TR" sz="2000" b="1" dirty="0">
                <a:latin typeface="Arial" panose="020B0604020202020204" pitchFamily="34" charset="0"/>
                <a:cs typeface="Arial" panose="020B0604020202020204" pitchFamily="34" charset="0"/>
              </a:rPr>
              <a:t>Denetimsiz Öğrenme</a:t>
            </a:r>
            <a:endParaRPr lang="en-US" sz="2000" b="1" dirty="0">
              <a:latin typeface="Arial" panose="020B0604020202020204" pitchFamily="34" charset="0"/>
              <a:cs typeface="Arial" panose="020B0604020202020204" pitchFamily="34" charset="0"/>
            </a:endParaRPr>
          </a:p>
        </p:txBody>
      </p:sp>
      <p:sp>
        <p:nvSpPr>
          <p:cNvPr id="7" name="Dikdörtgen 6">
            <a:extLst>
              <a:ext uri="{FF2B5EF4-FFF2-40B4-BE49-F238E27FC236}">
                <a16:creationId xmlns:a16="http://schemas.microsoft.com/office/drawing/2014/main" id="{C3EA14B0-BA55-7EE2-2F07-5E6C328F7327}"/>
              </a:ext>
            </a:extLst>
          </p:cNvPr>
          <p:cNvSpPr/>
          <p:nvPr/>
        </p:nvSpPr>
        <p:spPr>
          <a:xfrm>
            <a:off x="8147588" y="2577402"/>
            <a:ext cx="2049864" cy="85159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tr-TR" sz="2000" b="1" dirty="0">
                <a:latin typeface="Arial" panose="020B0604020202020204" pitchFamily="34" charset="0"/>
                <a:cs typeface="Arial" panose="020B0604020202020204" pitchFamily="34" charset="0"/>
              </a:rPr>
              <a:t>Pekiştirmeli Öğrenme</a:t>
            </a:r>
            <a:endParaRPr lang="en-US" sz="2000" b="1" dirty="0">
              <a:latin typeface="Arial" panose="020B0604020202020204" pitchFamily="34" charset="0"/>
              <a:cs typeface="Arial" panose="020B0604020202020204" pitchFamily="34" charset="0"/>
            </a:endParaRPr>
          </a:p>
        </p:txBody>
      </p:sp>
      <p:sp>
        <p:nvSpPr>
          <p:cNvPr id="9" name="Dikdörtgen 8">
            <a:extLst>
              <a:ext uri="{FF2B5EF4-FFF2-40B4-BE49-F238E27FC236}">
                <a16:creationId xmlns:a16="http://schemas.microsoft.com/office/drawing/2014/main" id="{2D1335C8-B21E-D361-45B0-F9194F5DAA48}"/>
              </a:ext>
            </a:extLst>
          </p:cNvPr>
          <p:cNvSpPr/>
          <p:nvPr/>
        </p:nvSpPr>
        <p:spPr>
          <a:xfrm>
            <a:off x="1857223" y="3602835"/>
            <a:ext cx="2069960" cy="1307541"/>
          </a:xfrm>
          <a:prstGeom prst="rect">
            <a:avLst/>
          </a:prstGeom>
          <a:noFill/>
          <a:ln>
            <a:noFill/>
          </a:ln>
        </p:spPr>
        <p:style>
          <a:lnRef idx="0">
            <a:scrgbClr r="0" g="0" b="0"/>
          </a:lnRef>
          <a:fillRef idx="0">
            <a:scrgbClr r="0" g="0" b="0"/>
          </a:fillRef>
          <a:effectRef idx="0">
            <a:scrgbClr r="0" g="0" b="0"/>
          </a:effectRef>
          <a:fontRef idx="minor">
            <a:schemeClr val="accent3"/>
          </a:fontRef>
        </p:style>
        <p:txBody>
          <a:bodyPr rtlCol="0" anchor="ctr"/>
          <a:lstStyle/>
          <a:p>
            <a:pPr algn="ctr"/>
            <a:r>
              <a:rPr lang="tr-TR" b="1" u="sng" dirty="0"/>
              <a:t>Regresyon</a:t>
            </a:r>
          </a:p>
          <a:p>
            <a:pPr algn="ctr"/>
            <a:r>
              <a:rPr lang="tr-TR" dirty="0"/>
              <a:t>Doğrusal Regresyon</a:t>
            </a:r>
          </a:p>
          <a:p>
            <a:pPr algn="ctr"/>
            <a:r>
              <a:rPr lang="tr-TR" dirty="0"/>
              <a:t>K En Yakın Komşuluk</a:t>
            </a:r>
          </a:p>
          <a:p>
            <a:pPr algn="ctr"/>
            <a:r>
              <a:rPr lang="tr-TR" dirty="0"/>
              <a:t>Karar Ağaçları</a:t>
            </a:r>
            <a:endParaRPr lang="en-US" dirty="0"/>
          </a:p>
        </p:txBody>
      </p:sp>
      <p:sp>
        <p:nvSpPr>
          <p:cNvPr id="10" name="Dikdörtgen 9">
            <a:extLst>
              <a:ext uri="{FF2B5EF4-FFF2-40B4-BE49-F238E27FC236}">
                <a16:creationId xmlns:a16="http://schemas.microsoft.com/office/drawing/2014/main" id="{D5158646-DDC2-F900-1D15-3A74B07B4516}"/>
              </a:ext>
            </a:extLst>
          </p:cNvPr>
          <p:cNvSpPr/>
          <p:nvPr/>
        </p:nvSpPr>
        <p:spPr>
          <a:xfrm>
            <a:off x="1618634" y="5084211"/>
            <a:ext cx="2547137" cy="1396300"/>
          </a:xfrm>
          <a:prstGeom prst="rect">
            <a:avLst/>
          </a:prstGeom>
          <a:noFill/>
          <a:ln>
            <a:noFill/>
          </a:ln>
        </p:spPr>
        <p:style>
          <a:lnRef idx="0">
            <a:scrgbClr r="0" g="0" b="0"/>
          </a:lnRef>
          <a:fillRef idx="0">
            <a:scrgbClr r="0" g="0" b="0"/>
          </a:fillRef>
          <a:effectRef idx="0">
            <a:scrgbClr r="0" g="0" b="0"/>
          </a:effectRef>
          <a:fontRef idx="minor">
            <a:schemeClr val="accent3"/>
          </a:fontRef>
        </p:style>
        <p:txBody>
          <a:bodyPr rtlCol="0" anchor="ctr"/>
          <a:lstStyle/>
          <a:p>
            <a:pPr algn="ctr"/>
            <a:r>
              <a:rPr lang="tr-TR" b="1" u="sng" dirty="0"/>
              <a:t>Sınıflandırma</a:t>
            </a:r>
          </a:p>
          <a:p>
            <a:pPr algn="ctr"/>
            <a:r>
              <a:rPr lang="tr-TR" dirty="0"/>
              <a:t>Lojistik Regresyon</a:t>
            </a:r>
          </a:p>
          <a:p>
            <a:pPr algn="ctr"/>
            <a:r>
              <a:rPr lang="tr-TR" dirty="0"/>
              <a:t>K En Yakın Komşuluk</a:t>
            </a:r>
          </a:p>
          <a:p>
            <a:pPr algn="ctr"/>
            <a:r>
              <a:rPr lang="tr-TR" dirty="0"/>
              <a:t>Karar Ağaçları</a:t>
            </a:r>
          </a:p>
          <a:p>
            <a:pPr algn="ctr"/>
            <a:r>
              <a:rPr lang="tr-TR" dirty="0"/>
              <a:t>Destek Vektör Makineleri</a:t>
            </a:r>
            <a:endParaRPr lang="en-US" dirty="0"/>
          </a:p>
        </p:txBody>
      </p:sp>
      <p:sp>
        <p:nvSpPr>
          <p:cNvPr id="32" name="Dikdörtgen 31">
            <a:extLst>
              <a:ext uri="{FF2B5EF4-FFF2-40B4-BE49-F238E27FC236}">
                <a16:creationId xmlns:a16="http://schemas.microsoft.com/office/drawing/2014/main" id="{FE9B0B1E-6336-D947-FFE6-84D3E11D71EF}"/>
              </a:ext>
            </a:extLst>
          </p:cNvPr>
          <p:cNvSpPr/>
          <p:nvPr/>
        </p:nvSpPr>
        <p:spPr>
          <a:xfrm>
            <a:off x="4897314" y="3593208"/>
            <a:ext cx="2280138" cy="1317168"/>
          </a:xfrm>
          <a:prstGeom prst="rect">
            <a:avLst/>
          </a:prstGeom>
          <a:noFill/>
          <a:ln>
            <a:noFill/>
          </a:ln>
        </p:spPr>
        <p:style>
          <a:lnRef idx="0">
            <a:scrgbClr r="0" g="0" b="0"/>
          </a:lnRef>
          <a:fillRef idx="0">
            <a:scrgbClr r="0" g="0" b="0"/>
          </a:fillRef>
          <a:effectRef idx="0">
            <a:scrgbClr r="0" g="0" b="0"/>
          </a:effectRef>
          <a:fontRef idx="minor">
            <a:schemeClr val="accent3"/>
          </a:fontRef>
        </p:style>
        <p:txBody>
          <a:bodyPr rtlCol="0" anchor="ctr"/>
          <a:lstStyle/>
          <a:p>
            <a:pPr algn="ctr"/>
            <a:r>
              <a:rPr lang="tr-TR" dirty="0"/>
              <a:t>Hiyerarşik Kümeleme</a:t>
            </a:r>
          </a:p>
          <a:p>
            <a:pPr algn="ctr"/>
            <a:r>
              <a:rPr lang="tr-TR" dirty="0"/>
              <a:t>K </a:t>
            </a:r>
            <a:r>
              <a:rPr lang="tr-TR" dirty="0" err="1"/>
              <a:t>Means</a:t>
            </a:r>
            <a:endParaRPr lang="tr-TR" dirty="0"/>
          </a:p>
          <a:p>
            <a:pPr algn="ctr"/>
            <a:r>
              <a:rPr lang="tr-TR" dirty="0"/>
              <a:t>Apriori Algoritması</a:t>
            </a:r>
          </a:p>
        </p:txBody>
      </p:sp>
      <p:sp>
        <p:nvSpPr>
          <p:cNvPr id="46" name="Dikdörtgen 45">
            <a:extLst>
              <a:ext uri="{FF2B5EF4-FFF2-40B4-BE49-F238E27FC236}">
                <a16:creationId xmlns:a16="http://schemas.microsoft.com/office/drawing/2014/main" id="{6F94866E-40EB-739F-CC98-605BAC55F971}"/>
              </a:ext>
            </a:extLst>
          </p:cNvPr>
          <p:cNvSpPr/>
          <p:nvPr/>
        </p:nvSpPr>
        <p:spPr>
          <a:xfrm>
            <a:off x="8147584" y="3598021"/>
            <a:ext cx="2069961" cy="1312355"/>
          </a:xfrm>
          <a:prstGeom prst="rect">
            <a:avLst/>
          </a:prstGeom>
          <a:noFill/>
          <a:ln>
            <a:noFill/>
          </a:ln>
        </p:spPr>
        <p:style>
          <a:lnRef idx="0">
            <a:scrgbClr r="0" g="0" b="0"/>
          </a:lnRef>
          <a:fillRef idx="0">
            <a:scrgbClr r="0" g="0" b="0"/>
          </a:fillRef>
          <a:effectRef idx="0">
            <a:scrgbClr r="0" g="0" b="0"/>
          </a:effectRef>
          <a:fontRef idx="minor">
            <a:schemeClr val="accent3"/>
          </a:fontRef>
        </p:style>
        <p:txBody>
          <a:bodyPr rtlCol="0" anchor="ctr"/>
          <a:lstStyle/>
          <a:p>
            <a:pPr algn="ctr"/>
            <a:r>
              <a:rPr lang="tr-TR" b="1" u="sng" dirty="0"/>
              <a:t>Karar Verme</a:t>
            </a:r>
          </a:p>
          <a:p>
            <a:pPr algn="ctr"/>
            <a:r>
              <a:rPr lang="tr-TR" b="1" dirty="0"/>
              <a:t>-</a:t>
            </a:r>
            <a:r>
              <a:rPr lang="tr-TR" dirty="0"/>
              <a:t>Q Learning</a:t>
            </a:r>
          </a:p>
          <a:p>
            <a:pPr algn="ctr"/>
            <a:r>
              <a:rPr lang="tr-TR" dirty="0"/>
              <a:t>-TD Learning</a:t>
            </a:r>
          </a:p>
          <a:p>
            <a:pPr algn="ctr"/>
            <a:r>
              <a:rPr lang="tr-TR" dirty="0"/>
              <a:t>-R Learning</a:t>
            </a:r>
          </a:p>
          <a:p>
            <a:pPr algn="ctr"/>
            <a:endParaRPr lang="en-US" b="1" dirty="0"/>
          </a:p>
        </p:txBody>
      </p:sp>
    </p:spTree>
    <p:extLst>
      <p:ext uri="{BB962C8B-B14F-4D97-AF65-F5344CB8AC3E}">
        <p14:creationId xmlns:p14="http://schemas.microsoft.com/office/powerpoint/2010/main" val="1562950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577F5-D978-A7BC-EB9F-E8E6D26C2D9D}"/>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64D9C84D-C47E-33E8-6C0F-29F2A884F2AB}"/>
              </a:ext>
            </a:extLst>
          </p:cNvPr>
          <p:cNvSpPr>
            <a:spLocks noGrp="1"/>
          </p:cNvSpPr>
          <p:nvPr>
            <p:ph type="title"/>
          </p:nvPr>
        </p:nvSpPr>
        <p:spPr/>
        <p:txBody>
          <a:bodyPr/>
          <a:lstStyle/>
          <a:p>
            <a:r>
              <a:rPr lang="tr-TR" dirty="0">
                <a:cs typeface="Arial" panose="020B0604020202020204" pitchFamily="34" charset="0"/>
              </a:rPr>
              <a:t>Makine Öğrenmesi Terimleri</a:t>
            </a:r>
          </a:p>
        </p:txBody>
      </p:sp>
      <p:sp>
        <p:nvSpPr>
          <p:cNvPr id="3" name="İçerik Yer Tutucusu 2">
            <a:extLst>
              <a:ext uri="{FF2B5EF4-FFF2-40B4-BE49-F238E27FC236}">
                <a16:creationId xmlns:a16="http://schemas.microsoft.com/office/drawing/2014/main" id="{7C55C87C-53CB-018A-7FC4-AD7594DA5B36}"/>
              </a:ext>
            </a:extLst>
          </p:cNvPr>
          <p:cNvSpPr>
            <a:spLocks noGrp="1"/>
          </p:cNvSpPr>
          <p:nvPr>
            <p:ph idx="1"/>
          </p:nvPr>
        </p:nvSpPr>
        <p:spPr>
          <a:xfrm>
            <a:off x="406029" y="1597882"/>
            <a:ext cx="9571984" cy="3880773"/>
          </a:xfrm>
        </p:spPr>
        <p:txBody>
          <a:bodyPr>
            <a:normAutofit/>
          </a:bodyPr>
          <a:lstStyle/>
          <a:p>
            <a:r>
              <a:rPr lang="en-US" sz="2000" b="1" i="0" dirty="0" err="1">
                <a:solidFill>
                  <a:srgbClr val="0D0D0D"/>
                </a:solidFill>
                <a:effectLst/>
                <a:cs typeface="Arial" panose="020B0604020202020204" pitchFamily="34" charset="0"/>
              </a:rPr>
              <a:t>Denetimli</a:t>
            </a:r>
            <a:r>
              <a:rPr lang="en-US" sz="2000" b="1" i="0" dirty="0">
                <a:solidFill>
                  <a:srgbClr val="0D0D0D"/>
                </a:solidFill>
                <a:effectLst/>
                <a:cs typeface="Arial" panose="020B0604020202020204" pitchFamily="34" charset="0"/>
              </a:rPr>
              <a:t> </a:t>
            </a:r>
            <a:r>
              <a:rPr lang="en-US" sz="2000" b="1" i="0" dirty="0" err="1">
                <a:solidFill>
                  <a:srgbClr val="0D0D0D"/>
                </a:solidFill>
                <a:effectLst/>
                <a:cs typeface="Arial" panose="020B0604020202020204" pitchFamily="34" charset="0"/>
              </a:rPr>
              <a:t>Öğrenme</a:t>
            </a:r>
            <a:r>
              <a:rPr lang="en-US" sz="2000" b="1" i="0" dirty="0">
                <a:solidFill>
                  <a:srgbClr val="0D0D0D"/>
                </a:solidFill>
                <a:effectLst/>
                <a:cs typeface="Arial" panose="020B0604020202020204" pitchFamily="34" charset="0"/>
              </a:rPr>
              <a:t> (Supervised Learning)</a:t>
            </a:r>
            <a:r>
              <a:rPr lang="en-US" sz="2000" b="0" i="0" dirty="0">
                <a:solidFill>
                  <a:srgbClr val="0D0D0D"/>
                </a:solidFill>
                <a:effectLst/>
                <a:cs typeface="Arial" panose="020B0604020202020204" pitchFamily="34" charset="0"/>
              </a:rPr>
              <a:t>:</a:t>
            </a:r>
            <a:endParaRPr lang="tr-TR" sz="2000" b="0" i="0" dirty="0">
              <a:solidFill>
                <a:srgbClr val="0D0D0D"/>
              </a:solidFill>
              <a:effectLst/>
              <a:cs typeface="Arial" panose="020B0604020202020204" pitchFamily="34" charset="0"/>
            </a:endParaRPr>
          </a:p>
          <a:p>
            <a:r>
              <a:rPr lang="en-US" sz="2000" b="0" i="0" dirty="0" err="1">
                <a:solidFill>
                  <a:srgbClr val="0D0D0D"/>
                </a:solidFill>
                <a:effectLst/>
                <a:cs typeface="Arial" panose="020B0604020202020204" pitchFamily="34" charset="0"/>
              </a:rPr>
              <a:t>Etiketlenmiş</a:t>
            </a:r>
            <a:r>
              <a:rPr lang="en-US" sz="2000" b="0" i="0" dirty="0">
                <a:solidFill>
                  <a:srgbClr val="0D0D0D"/>
                </a:solidFill>
                <a:effectLst/>
                <a:cs typeface="Arial" panose="020B0604020202020204" pitchFamily="34" charset="0"/>
              </a:rPr>
              <a:t> </a:t>
            </a:r>
            <a:r>
              <a:rPr lang="en-US" sz="2000" b="0" i="0" dirty="0" err="1">
                <a:solidFill>
                  <a:srgbClr val="0D0D0D"/>
                </a:solidFill>
                <a:effectLst/>
                <a:cs typeface="Arial" panose="020B0604020202020204" pitchFamily="34" charset="0"/>
              </a:rPr>
              <a:t>veri</a:t>
            </a:r>
            <a:r>
              <a:rPr lang="en-US" sz="2000" b="0" i="0" dirty="0">
                <a:solidFill>
                  <a:srgbClr val="0D0D0D"/>
                </a:solidFill>
                <a:effectLst/>
                <a:cs typeface="Arial" panose="020B0604020202020204" pitchFamily="34" charset="0"/>
              </a:rPr>
              <a:t> </a:t>
            </a:r>
            <a:r>
              <a:rPr lang="en-US" sz="2000" b="0" i="0" dirty="0" err="1">
                <a:solidFill>
                  <a:srgbClr val="0D0D0D"/>
                </a:solidFill>
                <a:effectLst/>
                <a:cs typeface="Arial" panose="020B0604020202020204" pitchFamily="34" charset="0"/>
              </a:rPr>
              <a:t>kümesine</a:t>
            </a:r>
            <a:r>
              <a:rPr lang="en-US" sz="2000" b="0" i="0" dirty="0">
                <a:solidFill>
                  <a:srgbClr val="0D0D0D"/>
                </a:solidFill>
                <a:effectLst/>
                <a:cs typeface="Arial" panose="020B0604020202020204" pitchFamily="34" charset="0"/>
              </a:rPr>
              <a:t> </a:t>
            </a:r>
            <a:r>
              <a:rPr lang="en-US" sz="2000" b="0" i="0" dirty="0" err="1">
                <a:solidFill>
                  <a:srgbClr val="0D0D0D"/>
                </a:solidFill>
                <a:effectLst/>
                <a:cs typeface="Arial" panose="020B0604020202020204" pitchFamily="34" charset="0"/>
              </a:rPr>
              <a:t>dayalı</a:t>
            </a:r>
            <a:r>
              <a:rPr lang="en-US" sz="2000" b="0" i="0" dirty="0">
                <a:solidFill>
                  <a:srgbClr val="0D0D0D"/>
                </a:solidFill>
                <a:effectLst/>
                <a:cs typeface="Arial" panose="020B0604020202020204" pitchFamily="34" charset="0"/>
              </a:rPr>
              <a:t> </a:t>
            </a:r>
            <a:r>
              <a:rPr lang="en-US" sz="2000" b="0" i="0" dirty="0" err="1">
                <a:solidFill>
                  <a:srgbClr val="0D0D0D"/>
                </a:solidFill>
                <a:effectLst/>
                <a:cs typeface="Arial" panose="020B0604020202020204" pitchFamily="34" charset="0"/>
              </a:rPr>
              <a:t>olarak</a:t>
            </a:r>
            <a:r>
              <a:rPr lang="en-US" sz="2000" b="0" i="0" dirty="0">
                <a:solidFill>
                  <a:srgbClr val="0D0D0D"/>
                </a:solidFill>
                <a:effectLst/>
                <a:cs typeface="Arial" panose="020B0604020202020204" pitchFamily="34" charset="0"/>
              </a:rPr>
              <a:t> </a:t>
            </a:r>
            <a:r>
              <a:rPr lang="en-US" sz="2000" b="0" i="0" dirty="0" err="1">
                <a:solidFill>
                  <a:srgbClr val="0D0D0D"/>
                </a:solidFill>
                <a:effectLst/>
                <a:cs typeface="Arial" panose="020B0604020202020204" pitchFamily="34" charset="0"/>
              </a:rPr>
              <a:t>modelin</a:t>
            </a:r>
            <a:r>
              <a:rPr lang="en-US" sz="2000" b="0" i="0" dirty="0">
                <a:solidFill>
                  <a:srgbClr val="0D0D0D"/>
                </a:solidFill>
                <a:effectLst/>
                <a:cs typeface="Arial" panose="020B0604020202020204" pitchFamily="34" charset="0"/>
              </a:rPr>
              <a:t> </a:t>
            </a:r>
            <a:r>
              <a:rPr lang="en-US" sz="2000" b="0" i="0" dirty="0" err="1">
                <a:solidFill>
                  <a:srgbClr val="0D0D0D"/>
                </a:solidFill>
                <a:effectLst/>
                <a:cs typeface="Arial" panose="020B0604020202020204" pitchFamily="34" charset="0"/>
              </a:rPr>
              <a:t>eğitildiği</a:t>
            </a:r>
            <a:r>
              <a:rPr lang="en-US" sz="2000" b="0" i="0" dirty="0">
                <a:solidFill>
                  <a:srgbClr val="0D0D0D"/>
                </a:solidFill>
                <a:effectLst/>
                <a:cs typeface="Arial" panose="020B0604020202020204" pitchFamily="34" charset="0"/>
              </a:rPr>
              <a:t> </a:t>
            </a:r>
            <a:r>
              <a:rPr lang="en-US" sz="2000" b="0" i="0" dirty="0" err="1">
                <a:solidFill>
                  <a:srgbClr val="0D0D0D"/>
                </a:solidFill>
                <a:effectLst/>
                <a:cs typeface="Arial" panose="020B0604020202020204" pitchFamily="34" charset="0"/>
              </a:rPr>
              <a:t>bir</a:t>
            </a:r>
            <a:r>
              <a:rPr lang="en-US" sz="2000" b="0" i="0" dirty="0">
                <a:solidFill>
                  <a:srgbClr val="0D0D0D"/>
                </a:solidFill>
                <a:effectLst/>
                <a:cs typeface="Arial" panose="020B0604020202020204" pitchFamily="34" charset="0"/>
              </a:rPr>
              <a:t> </a:t>
            </a:r>
            <a:r>
              <a:rPr lang="en-US" sz="2000" b="0" i="0" dirty="0" err="1">
                <a:solidFill>
                  <a:srgbClr val="0D0D0D"/>
                </a:solidFill>
                <a:effectLst/>
                <a:cs typeface="Arial" panose="020B0604020202020204" pitchFamily="34" charset="0"/>
              </a:rPr>
              <a:t>öğrenme</a:t>
            </a:r>
            <a:r>
              <a:rPr lang="en-US" sz="2000" b="0" i="0" dirty="0">
                <a:solidFill>
                  <a:srgbClr val="0D0D0D"/>
                </a:solidFill>
                <a:effectLst/>
                <a:cs typeface="Arial" panose="020B0604020202020204" pitchFamily="34" charset="0"/>
              </a:rPr>
              <a:t> </a:t>
            </a:r>
            <a:r>
              <a:rPr lang="en-US" sz="2000" b="0" i="0" dirty="0" err="1">
                <a:solidFill>
                  <a:srgbClr val="0D0D0D"/>
                </a:solidFill>
                <a:effectLst/>
                <a:cs typeface="Arial" panose="020B0604020202020204" pitchFamily="34" charset="0"/>
              </a:rPr>
              <a:t>türüdür</a:t>
            </a:r>
            <a:r>
              <a:rPr lang="en-US" sz="2000" b="0" i="0" dirty="0">
                <a:solidFill>
                  <a:srgbClr val="0D0D0D"/>
                </a:solidFill>
                <a:effectLst/>
                <a:cs typeface="Arial" panose="020B0604020202020204" pitchFamily="34" charset="0"/>
              </a:rPr>
              <a:t>. </a:t>
            </a:r>
            <a:r>
              <a:rPr lang="en-US" sz="2000" b="0" i="0" dirty="0" err="1">
                <a:solidFill>
                  <a:srgbClr val="0D0D0D"/>
                </a:solidFill>
                <a:effectLst/>
                <a:cs typeface="Arial" panose="020B0604020202020204" pitchFamily="34" charset="0"/>
              </a:rPr>
              <a:t>Girdi</a:t>
            </a:r>
            <a:r>
              <a:rPr lang="en-US" sz="2000" b="0" i="0" dirty="0">
                <a:solidFill>
                  <a:srgbClr val="0D0D0D"/>
                </a:solidFill>
                <a:effectLst/>
                <a:cs typeface="Arial" panose="020B0604020202020204" pitchFamily="34" charset="0"/>
              </a:rPr>
              <a:t> </a:t>
            </a:r>
            <a:r>
              <a:rPr lang="en-US" sz="2000" b="0" i="0" dirty="0" err="1">
                <a:solidFill>
                  <a:srgbClr val="0D0D0D"/>
                </a:solidFill>
                <a:effectLst/>
                <a:cs typeface="Arial" panose="020B0604020202020204" pitchFamily="34" charset="0"/>
              </a:rPr>
              <a:t>ve</a:t>
            </a:r>
            <a:r>
              <a:rPr lang="en-US" sz="2000" b="0" i="0" dirty="0">
                <a:solidFill>
                  <a:srgbClr val="0D0D0D"/>
                </a:solidFill>
                <a:effectLst/>
                <a:cs typeface="Arial" panose="020B0604020202020204" pitchFamily="34" charset="0"/>
              </a:rPr>
              <a:t> </a:t>
            </a:r>
            <a:r>
              <a:rPr lang="en-US" sz="2000" b="0" i="0" dirty="0" err="1">
                <a:solidFill>
                  <a:srgbClr val="0D0D0D"/>
                </a:solidFill>
                <a:effectLst/>
                <a:cs typeface="Arial" panose="020B0604020202020204" pitchFamily="34" charset="0"/>
              </a:rPr>
              <a:t>çıktı</a:t>
            </a:r>
            <a:r>
              <a:rPr lang="en-US" sz="2000" b="0" i="0" dirty="0">
                <a:solidFill>
                  <a:srgbClr val="0D0D0D"/>
                </a:solidFill>
                <a:effectLst/>
                <a:cs typeface="Arial" panose="020B0604020202020204" pitchFamily="34" charset="0"/>
              </a:rPr>
              <a:t> </a:t>
            </a:r>
            <a:r>
              <a:rPr lang="en-US" sz="2000" b="0" i="0" dirty="0" err="1">
                <a:solidFill>
                  <a:srgbClr val="0D0D0D"/>
                </a:solidFill>
                <a:effectLst/>
                <a:cs typeface="Arial" panose="020B0604020202020204" pitchFamily="34" charset="0"/>
              </a:rPr>
              <a:t>ilişkisi</a:t>
            </a:r>
            <a:r>
              <a:rPr lang="en-US" sz="2000" b="0" i="0" dirty="0">
                <a:solidFill>
                  <a:srgbClr val="0D0D0D"/>
                </a:solidFill>
                <a:effectLst/>
                <a:cs typeface="Arial" panose="020B0604020202020204" pitchFamily="34" charset="0"/>
              </a:rPr>
              <a:t> </a:t>
            </a:r>
            <a:r>
              <a:rPr lang="en-US" sz="2000" b="0" i="0" dirty="0" err="1">
                <a:solidFill>
                  <a:srgbClr val="0D0D0D"/>
                </a:solidFill>
                <a:effectLst/>
                <a:cs typeface="Arial" panose="020B0604020202020204" pitchFamily="34" charset="0"/>
              </a:rPr>
              <a:t>belirtilir</a:t>
            </a:r>
            <a:r>
              <a:rPr lang="en-US" sz="2000" b="0" i="0" dirty="0">
                <a:solidFill>
                  <a:srgbClr val="0D0D0D"/>
                </a:solidFill>
                <a:effectLst/>
                <a:latin typeface="+mj-lt"/>
                <a:cs typeface="Arial" panose="020B0604020202020204" pitchFamily="34" charset="0"/>
              </a:rPr>
              <a:t>.</a:t>
            </a:r>
          </a:p>
        </p:txBody>
      </p:sp>
      <p:pic>
        <p:nvPicPr>
          <p:cNvPr id="4" name="Resim 3">
            <a:extLst>
              <a:ext uri="{FF2B5EF4-FFF2-40B4-BE49-F238E27FC236}">
                <a16:creationId xmlns:a16="http://schemas.microsoft.com/office/drawing/2014/main" id="{F04CDDEE-32F6-8FA1-2A03-1ABF3AF541F4}"/>
              </a:ext>
            </a:extLst>
          </p:cNvPr>
          <p:cNvPicPr>
            <a:picLocks noChangeAspect="1"/>
          </p:cNvPicPr>
          <p:nvPr/>
        </p:nvPicPr>
        <p:blipFill>
          <a:blip r:embed="rId2"/>
          <a:stretch>
            <a:fillRect/>
          </a:stretch>
        </p:blipFill>
        <p:spPr>
          <a:xfrm>
            <a:off x="3270829" y="2912840"/>
            <a:ext cx="5456680" cy="2565815"/>
          </a:xfrm>
          <a:prstGeom prst="rect">
            <a:avLst/>
          </a:prstGeom>
        </p:spPr>
      </p:pic>
    </p:spTree>
    <p:extLst>
      <p:ext uri="{BB962C8B-B14F-4D97-AF65-F5344CB8AC3E}">
        <p14:creationId xmlns:p14="http://schemas.microsoft.com/office/powerpoint/2010/main" val="519321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B53CA-527E-9B63-4FA9-410AB9163B81}"/>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02C4731C-B892-C754-5E20-FB195ED0EAE6}"/>
              </a:ext>
            </a:extLst>
          </p:cNvPr>
          <p:cNvSpPr>
            <a:spLocks noGrp="1"/>
          </p:cNvSpPr>
          <p:nvPr>
            <p:ph type="title"/>
          </p:nvPr>
        </p:nvSpPr>
        <p:spPr/>
        <p:txBody>
          <a:bodyPr/>
          <a:lstStyle/>
          <a:p>
            <a:r>
              <a:rPr lang="tr-TR" dirty="0">
                <a:cs typeface="Arial" panose="020B0604020202020204" pitchFamily="34" charset="0"/>
              </a:rPr>
              <a:t>Makine Öğrenmesi Terimleri</a:t>
            </a:r>
          </a:p>
        </p:txBody>
      </p:sp>
      <p:sp>
        <p:nvSpPr>
          <p:cNvPr id="3" name="İçerik Yer Tutucusu 2">
            <a:extLst>
              <a:ext uri="{FF2B5EF4-FFF2-40B4-BE49-F238E27FC236}">
                <a16:creationId xmlns:a16="http://schemas.microsoft.com/office/drawing/2014/main" id="{0B1DB252-151E-BF99-DC53-E221FFE650DC}"/>
              </a:ext>
            </a:extLst>
          </p:cNvPr>
          <p:cNvSpPr>
            <a:spLocks noGrp="1"/>
          </p:cNvSpPr>
          <p:nvPr>
            <p:ph idx="1"/>
          </p:nvPr>
        </p:nvSpPr>
        <p:spPr>
          <a:xfrm>
            <a:off x="406029" y="1597882"/>
            <a:ext cx="11229962" cy="3880773"/>
          </a:xfrm>
        </p:spPr>
        <p:txBody>
          <a:bodyPr>
            <a:normAutofit/>
          </a:bodyPr>
          <a:lstStyle/>
          <a:p>
            <a:pPr marL="0" defTabSz="457200"/>
            <a:r>
              <a:rPr lang="tr-TR" sz="2000" b="1" dirty="0">
                <a:solidFill>
                  <a:srgbClr val="0D0D0D"/>
                </a:solidFill>
                <a:cs typeface="Arial" panose="020B0604020202020204" pitchFamily="34" charset="0"/>
              </a:rPr>
              <a:t>Sınıflandırma (</a:t>
            </a:r>
            <a:r>
              <a:rPr lang="tr-TR" sz="2000" b="1" dirty="0" err="1">
                <a:solidFill>
                  <a:srgbClr val="0D0D0D"/>
                </a:solidFill>
                <a:cs typeface="Arial" panose="020B0604020202020204" pitchFamily="34" charset="0"/>
              </a:rPr>
              <a:t>classification</a:t>
            </a:r>
            <a:r>
              <a:rPr lang="tr-TR" sz="2000" b="1" dirty="0">
                <a:solidFill>
                  <a:srgbClr val="0D0D0D"/>
                </a:solidFill>
                <a:cs typeface="Arial" panose="020B0604020202020204" pitchFamily="34" charset="0"/>
              </a:rPr>
              <a:t>): </a:t>
            </a:r>
            <a:r>
              <a:rPr lang="tr-TR" sz="2000" dirty="0">
                <a:solidFill>
                  <a:srgbClr val="0D0D0D"/>
                </a:solidFill>
                <a:cs typeface="Arial" panose="020B0604020202020204" pitchFamily="34" charset="0"/>
              </a:rPr>
              <a:t>Giriş verisine ait çıktıların nitel olduğu durumlarda kullanılan yöntemlerin her veri örneğinin hangi sınıfa ait olduğunu belirlemesidir.</a:t>
            </a:r>
          </a:p>
          <a:p>
            <a:pPr algn="just"/>
            <a:endParaRPr lang="tr-TR" sz="2800" dirty="0">
              <a:latin typeface="Arial" panose="020B0604020202020204" pitchFamily="34" charset="0"/>
              <a:cs typeface="Arial" panose="020B0604020202020204" pitchFamily="34" charset="0"/>
            </a:endParaRPr>
          </a:p>
          <a:p>
            <a:pPr algn="just"/>
            <a:endParaRPr lang="tr-TR" sz="2800" dirty="0">
              <a:latin typeface="Arial" panose="020B0604020202020204" pitchFamily="34" charset="0"/>
              <a:cs typeface="Arial" panose="020B0604020202020204" pitchFamily="34" charset="0"/>
            </a:endParaRPr>
          </a:p>
        </p:txBody>
      </p:sp>
      <p:pic>
        <p:nvPicPr>
          <p:cNvPr id="6146" name="Picture 2" descr="Introduction | Machine Learning | Google for Developers">
            <a:extLst>
              <a:ext uri="{FF2B5EF4-FFF2-40B4-BE49-F238E27FC236}">
                <a16:creationId xmlns:a16="http://schemas.microsoft.com/office/drawing/2014/main" id="{036F9C01-4843-37A6-2ADB-4C7B1160E98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61299" y="3815135"/>
            <a:ext cx="5589187" cy="2792405"/>
          </a:xfrm>
          <a:prstGeom prst="rect">
            <a:avLst/>
          </a:prstGeom>
          <a:noFill/>
          <a:extLst>
            <a:ext uri="{909E8E84-426E-40DD-AFC4-6F175D3DCCD1}">
              <a14:hiddenFill xmlns:a14="http://schemas.microsoft.com/office/drawing/2010/main">
                <a:solidFill>
                  <a:srgbClr val="FFFFFF"/>
                </a:solidFill>
              </a14:hiddenFill>
            </a:ext>
          </a:extLst>
        </p:spPr>
      </p:pic>
      <p:sp>
        <p:nvSpPr>
          <p:cNvPr id="14" name="Metin kutusu 13">
            <a:extLst>
              <a:ext uri="{FF2B5EF4-FFF2-40B4-BE49-F238E27FC236}">
                <a16:creationId xmlns:a16="http://schemas.microsoft.com/office/drawing/2014/main" id="{0899382A-298E-DF20-3B7E-86C492DAE807}"/>
              </a:ext>
            </a:extLst>
          </p:cNvPr>
          <p:cNvSpPr txBox="1"/>
          <p:nvPr/>
        </p:nvSpPr>
        <p:spPr>
          <a:xfrm>
            <a:off x="555981" y="2845639"/>
            <a:ext cx="9862398" cy="1938992"/>
          </a:xfrm>
          <a:prstGeom prst="rect">
            <a:avLst/>
          </a:prstGeom>
          <a:noFill/>
        </p:spPr>
        <p:txBody>
          <a:bodyPr wrap="square">
            <a:spAutoFit/>
          </a:bodyPr>
          <a:lstStyle/>
          <a:p>
            <a:r>
              <a:rPr lang="en-US" sz="2000" dirty="0">
                <a:solidFill>
                  <a:srgbClr val="0D0D0D"/>
                </a:solidFill>
                <a:latin typeface="+mj-lt"/>
                <a:cs typeface="Arial" panose="020B0604020202020204" pitchFamily="34" charset="0"/>
              </a:rPr>
              <a:t>Eğer </a:t>
            </a:r>
            <a:r>
              <a:rPr lang="en-US" sz="2000" dirty="0" err="1">
                <a:solidFill>
                  <a:srgbClr val="0D0D0D"/>
                </a:solidFill>
                <a:latin typeface="+mj-lt"/>
                <a:cs typeface="Arial" panose="020B0604020202020204" pitchFamily="34" charset="0"/>
              </a:rPr>
              <a:t>ilgilendiğimiz</a:t>
            </a:r>
            <a:r>
              <a:rPr lang="en-US" sz="2000" dirty="0">
                <a:solidFill>
                  <a:srgbClr val="0D0D0D"/>
                </a:solidFill>
                <a:latin typeface="+mj-lt"/>
                <a:cs typeface="Arial" panose="020B0604020202020204" pitchFamily="34" charset="0"/>
              </a:rPr>
              <a:t> problem </a:t>
            </a:r>
            <a:r>
              <a:rPr lang="en-US" sz="2000" dirty="0" err="1">
                <a:solidFill>
                  <a:srgbClr val="0D0D0D"/>
                </a:solidFill>
                <a:latin typeface="+mj-lt"/>
                <a:cs typeface="Arial" panose="020B0604020202020204" pitchFamily="34" charset="0"/>
              </a:rPr>
              <a:t>sınıflandırma</a:t>
            </a:r>
            <a:r>
              <a:rPr lang="en-US" sz="2000" dirty="0">
                <a:solidFill>
                  <a:srgbClr val="0D0D0D"/>
                </a:solidFill>
                <a:latin typeface="+mj-lt"/>
                <a:cs typeface="Arial" panose="020B0604020202020204" pitchFamily="34" charset="0"/>
              </a:rPr>
              <a:t> </a:t>
            </a:r>
            <a:r>
              <a:rPr lang="en-US" sz="2000" dirty="0" err="1">
                <a:solidFill>
                  <a:srgbClr val="0D0D0D"/>
                </a:solidFill>
                <a:latin typeface="+mj-lt"/>
                <a:cs typeface="Arial" panose="020B0604020202020204" pitchFamily="34" charset="0"/>
              </a:rPr>
              <a:t>problemi</a:t>
            </a:r>
            <a:r>
              <a:rPr lang="en-US" sz="2000" dirty="0">
                <a:solidFill>
                  <a:srgbClr val="0D0D0D"/>
                </a:solidFill>
                <a:latin typeface="+mj-lt"/>
                <a:cs typeface="Arial" panose="020B0604020202020204" pitchFamily="34" charset="0"/>
              </a:rPr>
              <a:t> </a:t>
            </a:r>
            <a:r>
              <a:rPr lang="en-US" sz="2000" dirty="0" err="1">
                <a:solidFill>
                  <a:srgbClr val="0D0D0D"/>
                </a:solidFill>
                <a:latin typeface="+mj-lt"/>
                <a:cs typeface="Arial" panose="020B0604020202020204" pitchFamily="34" charset="0"/>
              </a:rPr>
              <a:t>ise</a:t>
            </a:r>
            <a:r>
              <a:rPr lang="en-US" sz="2000" dirty="0">
                <a:solidFill>
                  <a:srgbClr val="0D0D0D"/>
                </a:solidFill>
                <a:latin typeface="+mj-lt"/>
                <a:cs typeface="Arial" panose="020B0604020202020204" pitchFamily="34" charset="0"/>
              </a:rPr>
              <a:t>;</a:t>
            </a:r>
            <a:br>
              <a:rPr lang="en-US" sz="2000" dirty="0">
                <a:solidFill>
                  <a:srgbClr val="0D0D0D"/>
                </a:solidFill>
                <a:latin typeface="+mj-lt"/>
                <a:cs typeface="Arial" panose="020B0604020202020204" pitchFamily="34" charset="0"/>
              </a:rPr>
            </a:br>
            <a:r>
              <a:rPr lang="en-US" sz="2000" dirty="0">
                <a:solidFill>
                  <a:srgbClr val="0D0D0D"/>
                </a:solidFill>
                <a:latin typeface="+mj-lt"/>
                <a:cs typeface="Arial" panose="020B0604020202020204" pitchFamily="34" charset="0"/>
              </a:rPr>
              <a:t>- Accuracy</a:t>
            </a:r>
            <a:br>
              <a:rPr lang="en-US" sz="2000" dirty="0">
                <a:solidFill>
                  <a:srgbClr val="0D0D0D"/>
                </a:solidFill>
                <a:latin typeface="+mj-lt"/>
                <a:cs typeface="Arial" panose="020B0604020202020204" pitchFamily="34" charset="0"/>
              </a:rPr>
            </a:br>
            <a:r>
              <a:rPr lang="en-US" sz="2000" dirty="0">
                <a:solidFill>
                  <a:srgbClr val="0D0D0D"/>
                </a:solidFill>
                <a:latin typeface="+mj-lt"/>
                <a:cs typeface="Arial" panose="020B0604020202020204" pitchFamily="34" charset="0"/>
              </a:rPr>
              <a:t>- Precision</a:t>
            </a:r>
            <a:br>
              <a:rPr lang="en-US" sz="2000" dirty="0">
                <a:solidFill>
                  <a:srgbClr val="0D0D0D"/>
                </a:solidFill>
                <a:latin typeface="+mj-lt"/>
                <a:cs typeface="Arial" panose="020B0604020202020204" pitchFamily="34" charset="0"/>
              </a:rPr>
            </a:br>
            <a:r>
              <a:rPr lang="en-US" sz="2000" dirty="0">
                <a:solidFill>
                  <a:srgbClr val="0D0D0D"/>
                </a:solidFill>
                <a:latin typeface="+mj-lt"/>
                <a:cs typeface="Arial" panose="020B0604020202020204" pitchFamily="34" charset="0"/>
              </a:rPr>
              <a:t>- Recall</a:t>
            </a:r>
            <a:br>
              <a:rPr lang="en-US" sz="2000" dirty="0">
                <a:solidFill>
                  <a:srgbClr val="0D0D0D"/>
                </a:solidFill>
                <a:latin typeface="+mj-lt"/>
                <a:cs typeface="Arial" panose="020B0604020202020204" pitchFamily="34" charset="0"/>
              </a:rPr>
            </a:br>
            <a:r>
              <a:rPr lang="en-US" sz="2000" dirty="0">
                <a:solidFill>
                  <a:srgbClr val="0D0D0D"/>
                </a:solidFill>
                <a:latin typeface="+mj-lt"/>
                <a:cs typeface="Arial" panose="020B0604020202020204" pitchFamily="34" charset="0"/>
              </a:rPr>
              <a:t>- F1 Score</a:t>
            </a:r>
            <a:br>
              <a:rPr lang="en-US" sz="2000" dirty="0">
                <a:solidFill>
                  <a:srgbClr val="0D0D0D"/>
                </a:solidFill>
                <a:latin typeface="+mj-lt"/>
                <a:cs typeface="Arial" panose="020B0604020202020204" pitchFamily="34" charset="0"/>
              </a:rPr>
            </a:br>
            <a:r>
              <a:rPr lang="en-US" sz="2000" dirty="0">
                <a:solidFill>
                  <a:srgbClr val="0D0D0D"/>
                </a:solidFill>
                <a:latin typeface="+mj-lt"/>
                <a:cs typeface="Arial" panose="020B0604020202020204" pitchFamily="34" charset="0"/>
              </a:rPr>
              <a:t>- AUC-ROC Curve</a:t>
            </a:r>
          </a:p>
        </p:txBody>
      </p:sp>
    </p:spTree>
    <p:extLst>
      <p:ext uri="{BB962C8B-B14F-4D97-AF65-F5344CB8AC3E}">
        <p14:creationId xmlns:p14="http://schemas.microsoft.com/office/powerpoint/2010/main" val="1226985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96E84E1-1D25-C51E-5D00-949DD25098C4}"/>
              </a:ext>
            </a:extLst>
          </p:cNvPr>
          <p:cNvSpPr>
            <a:spLocks noGrp="1"/>
          </p:cNvSpPr>
          <p:nvPr>
            <p:ph type="title"/>
          </p:nvPr>
        </p:nvSpPr>
        <p:spPr/>
        <p:txBody>
          <a:bodyPr/>
          <a:lstStyle/>
          <a:p>
            <a:r>
              <a:rPr lang="en-US" dirty="0"/>
              <a:t>Bir </a:t>
            </a:r>
            <a:r>
              <a:rPr lang="en-US" dirty="0" err="1"/>
              <a:t>Sınıflandırma</a:t>
            </a:r>
            <a:r>
              <a:rPr lang="en-US" dirty="0"/>
              <a:t> </a:t>
            </a:r>
            <a:r>
              <a:rPr lang="en-US" dirty="0" err="1"/>
              <a:t>Örneği</a:t>
            </a:r>
            <a:endParaRPr lang="en-US" dirty="0"/>
          </a:p>
        </p:txBody>
      </p:sp>
      <p:sp>
        <p:nvSpPr>
          <p:cNvPr id="3" name="İçerik Yer Tutucusu 2">
            <a:extLst>
              <a:ext uri="{FF2B5EF4-FFF2-40B4-BE49-F238E27FC236}">
                <a16:creationId xmlns:a16="http://schemas.microsoft.com/office/drawing/2014/main" id="{6C08A8B0-3583-0FA0-478B-F743DE9DB171}"/>
              </a:ext>
            </a:extLst>
          </p:cNvPr>
          <p:cNvSpPr>
            <a:spLocks noGrp="1"/>
          </p:cNvSpPr>
          <p:nvPr>
            <p:ph idx="1"/>
          </p:nvPr>
        </p:nvSpPr>
        <p:spPr>
          <a:xfrm>
            <a:off x="640791" y="1729778"/>
            <a:ext cx="6524642" cy="3777622"/>
          </a:xfrm>
        </p:spPr>
        <p:txBody>
          <a:bodyPr/>
          <a:lstStyle/>
          <a:p>
            <a:pPr algn="just"/>
            <a:r>
              <a:rPr lang="en-US" sz="2000" dirty="0" err="1">
                <a:cs typeface="Arial" panose="020B0604020202020204" pitchFamily="34" charset="0"/>
              </a:rPr>
              <a:t>Sağdaki</a:t>
            </a:r>
            <a:r>
              <a:rPr lang="en-US" sz="2000" dirty="0">
                <a:cs typeface="Arial" panose="020B0604020202020204" pitchFamily="34" charset="0"/>
              </a:rPr>
              <a:t> </a:t>
            </a:r>
            <a:r>
              <a:rPr lang="en-US" sz="2000" dirty="0" err="1">
                <a:cs typeface="Arial" panose="020B0604020202020204" pitchFamily="34" charset="0"/>
              </a:rPr>
              <a:t>veri</a:t>
            </a:r>
            <a:r>
              <a:rPr lang="en-US" sz="2000" dirty="0">
                <a:cs typeface="Arial" panose="020B0604020202020204" pitchFamily="34" charset="0"/>
              </a:rPr>
              <a:t> </a:t>
            </a:r>
            <a:r>
              <a:rPr lang="en-US" sz="2000" dirty="0" err="1">
                <a:cs typeface="Arial" panose="020B0604020202020204" pitchFamily="34" charset="0"/>
              </a:rPr>
              <a:t>kümesinde</a:t>
            </a:r>
            <a:r>
              <a:rPr lang="en-US" sz="2000" dirty="0">
                <a:cs typeface="Arial" panose="020B0604020202020204" pitchFamily="34" charset="0"/>
              </a:rPr>
              <a:t> </a:t>
            </a:r>
            <a:r>
              <a:rPr lang="en-US" sz="2000" dirty="0" err="1">
                <a:cs typeface="Arial" panose="020B0604020202020204" pitchFamily="34" charset="0"/>
              </a:rPr>
              <a:t>amaç</a:t>
            </a:r>
            <a:r>
              <a:rPr lang="en-US" sz="2000" dirty="0">
                <a:cs typeface="Arial" panose="020B0604020202020204" pitchFamily="34" charset="0"/>
              </a:rPr>
              <a:t> X </a:t>
            </a:r>
            <a:r>
              <a:rPr lang="en-US" sz="2000" dirty="0" err="1">
                <a:cs typeface="Arial" panose="020B0604020202020204" pitchFamily="34" charset="0"/>
              </a:rPr>
              <a:t>girdisine</a:t>
            </a:r>
            <a:r>
              <a:rPr lang="en-US" sz="2000" dirty="0">
                <a:cs typeface="Arial" panose="020B0604020202020204" pitchFamily="34" charset="0"/>
              </a:rPr>
              <a:t> </a:t>
            </a:r>
            <a:r>
              <a:rPr lang="en-US" sz="2000" dirty="0" err="1">
                <a:cs typeface="Arial" panose="020B0604020202020204" pitchFamily="34" charset="0"/>
              </a:rPr>
              <a:t>kar</a:t>
            </a:r>
            <a:r>
              <a:rPr lang="tr-TR" sz="2000" dirty="0">
                <a:cs typeface="Arial" panose="020B0604020202020204" pitchFamily="34" charset="0"/>
              </a:rPr>
              <a:t>ş</a:t>
            </a:r>
            <a:r>
              <a:rPr lang="en-US" sz="2000" dirty="0">
                <a:cs typeface="Arial" panose="020B0604020202020204" pitchFamily="34" charset="0"/>
              </a:rPr>
              <a:t>ı Y </a:t>
            </a:r>
            <a:r>
              <a:rPr lang="en-US" sz="2000" dirty="0" err="1">
                <a:cs typeface="Arial" panose="020B0604020202020204" pitchFamily="34" charset="0"/>
              </a:rPr>
              <a:t>etiket</a:t>
            </a:r>
            <a:r>
              <a:rPr lang="en-US" sz="2000" dirty="0">
                <a:cs typeface="Arial" panose="020B0604020202020204" pitchFamily="34" charset="0"/>
              </a:rPr>
              <a:t> (label) </a:t>
            </a:r>
            <a:r>
              <a:rPr lang="en-US" sz="2000" dirty="0" err="1">
                <a:cs typeface="Arial" panose="020B0604020202020204" pitchFamily="34" charset="0"/>
              </a:rPr>
              <a:t>değerini</a:t>
            </a:r>
            <a:r>
              <a:rPr lang="en-US" sz="2000" dirty="0">
                <a:cs typeface="Arial" panose="020B0604020202020204" pitchFamily="34" charset="0"/>
              </a:rPr>
              <a:t> </a:t>
            </a:r>
            <a:r>
              <a:rPr lang="en-US" sz="2000" dirty="0" err="1">
                <a:cs typeface="Arial" panose="020B0604020202020204" pitchFamily="34" charset="0"/>
              </a:rPr>
              <a:t>üretmektir</a:t>
            </a:r>
            <a:r>
              <a:rPr lang="en-US" sz="2000" dirty="0">
                <a:cs typeface="Arial" panose="020B0604020202020204" pitchFamily="34" charset="0"/>
              </a:rPr>
              <a:t>. </a:t>
            </a:r>
            <a:endParaRPr lang="tr-TR" sz="2000" dirty="0">
              <a:cs typeface="Arial" panose="020B0604020202020204" pitchFamily="34" charset="0"/>
            </a:endParaRPr>
          </a:p>
          <a:p>
            <a:pPr algn="just"/>
            <a:r>
              <a:rPr lang="en-US" sz="2000" dirty="0" err="1">
                <a:cs typeface="Arial" panose="020B0604020202020204" pitchFamily="34" charset="0"/>
              </a:rPr>
              <a:t>Öyle</a:t>
            </a:r>
            <a:r>
              <a:rPr lang="en-US" sz="2000" dirty="0">
                <a:cs typeface="Arial" panose="020B0604020202020204" pitchFamily="34" charset="0"/>
              </a:rPr>
              <a:t> </a:t>
            </a:r>
            <a:r>
              <a:rPr lang="en-US" sz="2000" dirty="0" err="1">
                <a:cs typeface="Arial" panose="020B0604020202020204" pitchFamily="34" charset="0"/>
              </a:rPr>
              <a:t>bir</a:t>
            </a:r>
            <a:r>
              <a:rPr lang="en-US" sz="2000" dirty="0">
                <a:cs typeface="Arial" panose="020B0604020202020204" pitchFamily="34" charset="0"/>
              </a:rPr>
              <a:t> f :</a:t>
            </a:r>
            <a:r>
              <a:rPr lang="tr-TR" sz="2000" dirty="0">
                <a:cs typeface="Arial" panose="020B0604020202020204" pitchFamily="34" charset="0"/>
              </a:rPr>
              <a:t> </a:t>
            </a:r>
            <a:r>
              <a:rPr lang="en-US" sz="2000" dirty="0">
                <a:cs typeface="Arial" panose="020B0604020202020204" pitchFamily="34" charset="0"/>
              </a:rPr>
              <a:t>XY </a:t>
            </a:r>
            <a:r>
              <a:rPr lang="en-US" sz="2000" dirty="0" err="1">
                <a:cs typeface="Arial" panose="020B0604020202020204" pitchFamily="34" charset="0"/>
              </a:rPr>
              <a:t>sınıflandırma</a:t>
            </a:r>
            <a:r>
              <a:rPr lang="en-US" sz="2000" dirty="0">
                <a:cs typeface="Arial" panose="020B0604020202020204" pitchFamily="34" charset="0"/>
              </a:rPr>
              <a:t> </a:t>
            </a:r>
            <a:r>
              <a:rPr lang="en-US" sz="2000" dirty="0" err="1">
                <a:cs typeface="Arial" panose="020B0604020202020204" pitchFamily="34" charset="0"/>
              </a:rPr>
              <a:t>fonksiyonu</a:t>
            </a:r>
            <a:r>
              <a:rPr lang="en-US" sz="2000" dirty="0">
                <a:cs typeface="Arial" panose="020B0604020202020204" pitchFamily="34" charset="0"/>
              </a:rPr>
              <a:t> </a:t>
            </a:r>
            <a:r>
              <a:rPr lang="en-US" sz="2000" dirty="0" err="1">
                <a:cs typeface="Arial" panose="020B0604020202020204" pitchFamily="34" charset="0"/>
              </a:rPr>
              <a:t>tanımlanmalıdır</a:t>
            </a:r>
            <a:r>
              <a:rPr lang="en-US" sz="2000" dirty="0">
                <a:cs typeface="Arial" panose="020B0604020202020204" pitchFamily="34" charset="0"/>
              </a:rPr>
              <a:t> ki </a:t>
            </a:r>
            <a:r>
              <a:rPr lang="en-US" sz="2000" dirty="0" err="1">
                <a:cs typeface="Arial" panose="020B0604020202020204" pitchFamily="34" charset="0"/>
              </a:rPr>
              <a:t>en</a:t>
            </a:r>
            <a:r>
              <a:rPr lang="en-US" sz="2000" dirty="0">
                <a:cs typeface="Arial" panose="020B0604020202020204" pitchFamily="34" charset="0"/>
              </a:rPr>
              <a:t> </a:t>
            </a:r>
            <a:r>
              <a:rPr lang="en-US" sz="2000" dirty="0" err="1">
                <a:cs typeface="Arial" panose="020B0604020202020204" pitchFamily="34" charset="0"/>
              </a:rPr>
              <a:t>az</a:t>
            </a:r>
            <a:r>
              <a:rPr lang="en-US" sz="2000" dirty="0">
                <a:cs typeface="Arial" panose="020B0604020202020204" pitchFamily="34" charset="0"/>
              </a:rPr>
              <a:t> </a:t>
            </a:r>
            <a:r>
              <a:rPr lang="en-US" sz="2000" dirty="0" err="1">
                <a:cs typeface="Arial" panose="020B0604020202020204" pitchFamily="34" charset="0"/>
              </a:rPr>
              <a:t>hata</a:t>
            </a:r>
            <a:r>
              <a:rPr lang="en-US" sz="2000" dirty="0">
                <a:cs typeface="Arial" panose="020B0604020202020204" pitchFamily="34" charset="0"/>
              </a:rPr>
              <a:t> </a:t>
            </a:r>
            <a:r>
              <a:rPr lang="en-US" sz="2000" dirty="0" err="1">
                <a:cs typeface="Arial" panose="020B0604020202020204" pitchFamily="34" charset="0"/>
              </a:rPr>
              <a:t>ile</a:t>
            </a:r>
            <a:r>
              <a:rPr lang="en-US" sz="2000" dirty="0">
                <a:cs typeface="Arial" panose="020B0604020202020204" pitchFamily="34" charset="0"/>
              </a:rPr>
              <a:t> </a:t>
            </a:r>
            <a:r>
              <a:rPr lang="en-US" sz="2000" dirty="0" err="1">
                <a:cs typeface="Arial" panose="020B0604020202020204" pitchFamily="34" charset="0"/>
              </a:rPr>
              <a:t>sınıflandırma</a:t>
            </a:r>
            <a:r>
              <a:rPr lang="en-US" sz="2000" dirty="0">
                <a:cs typeface="Arial" panose="020B0604020202020204" pitchFamily="34" charset="0"/>
              </a:rPr>
              <a:t> </a:t>
            </a:r>
            <a:r>
              <a:rPr lang="en-US" sz="2000" dirty="0" err="1">
                <a:cs typeface="Arial" panose="020B0604020202020204" pitchFamily="34" charset="0"/>
              </a:rPr>
              <a:t>yapılabilsin</a:t>
            </a:r>
            <a:r>
              <a:rPr lang="en-US" sz="2000" dirty="0">
                <a:cs typeface="Arial" panose="020B0604020202020204" pitchFamily="34" charset="0"/>
              </a:rPr>
              <a:t>.</a:t>
            </a:r>
          </a:p>
          <a:p>
            <a:pPr algn="l"/>
            <a:endParaRPr lang="en-US" dirty="0"/>
          </a:p>
        </p:txBody>
      </p:sp>
      <p:pic>
        <p:nvPicPr>
          <p:cNvPr id="4" name="Resim 3">
            <a:extLst>
              <a:ext uri="{FF2B5EF4-FFF2-40B4-BE49-F238E27FC236}">
                <a16:creationId xmlns:a16="http://schemas.microsoft.com/office/drawing/2014/main" id="{E386C80E-AD85-48A2-6B08-A2E8085C99DC}"/>
              </a:ext>
            </a:extLst>
          </p:cNvPr>
          <p:cNvPicPr>
            <a:picLocks noChangeAspect="1"/>
          </p:cNvPicPr>
          <p:nvPr/>
        </p:nvPicPr>
        <p:blipFill>
          <a:blip r:embed="rId2"/>
          <a:stretch>
            <a:fillRect/>
          </a:stretch>
        </p:blipFill>
        <p:spPr>
          <a:xfrm>
            <a:off x="7911896" y="1729778"/>
            <a:ext cx="1261885" cy="4585265"/>
          </a:xfrm>
          <a:prstGeom prst="rect">
            <a:avLst/>
          </a:prstGeom>
        </p:spPr>
      </p:pic>
      <p:pic>
        <p:nvPicPr>
          <p:cNvPr id="5" name="Resim 4">
            <a:extLst>
              <a:ext uri="{FF2B5EF4-FFF2-40B4-BE49-F238E27FC236}">
                <a16:creationId xmlns:a16="http://schemas.microsoft.com/office/drawing/2014/main" id="{BDB056CA-38FF-A870-6319-1B042F2BC1F6}"/>
              </a:ext>
            </a:extLst>
          </p:cNvPr>
          <p:cNvPicPr>
            <a:picLocks noChangeAspect="1"/>
          </p:cNvPicPr>
          <p:nvPr/>
        </p:nvPicPr>
        <p:blipFill>
          <a:blip r:embed="rId3"/>
          <a:stretch>
            <a:fillRect/>
          </a:stretch>
        </p:blipFill>
        <p:spPr>
          <a:xfrm>
            <a:off x="2018197" y="3618589"/>
            <a:ext cx="3636454" cy="1402827"/>
          </a:xfrm>
          <a:prstGeom prst="rect">
            <a:avLst/>
          </a:prstGeom>
        </p:spPr>
      </p:pic>
    </p:spTree>
    <p:extLst>
      <p:ext uri="{BB962C8B-B14F-4D97-AF65-F5344CB8AC3E}">
        <p14:creationId xmlns:p14="http://schemas.microsoft.com/office/powerpoint/2010/main" val="3517806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BB3219D-D4E5-AFB2-3AAE-4FE23C179CB4}"/>
              </a:ext>
            </a:extLst>
          </p:cNvPr>
          <p:cNvSpPr>
            <a:spLocks noGrp="1"/>
          </p:cNvSpPr>
          <p:nvPr>
            <p:ph type="title"/>
          </p:nvPr>
        </p:nvSpPr>
        <p:spPr/>
        <p:txBody>
          <a:bodyPr/>
          <a:lstStyle/>
          <a:p>
            <a:r>
              <a:rPr lang="tr-TR" dirty="0"/>
              <a:t>Sınıflandırma Örneği</a:t>
            </a:r>
            <a:endParaRPr lang="en-US" dirty="0"/>
          </a:p>
        </p:txBody>
      </p:sp>
      <p:sp>
        <p:nvSpPr>
          <p:cNvPr id="3" name="İçerik Yer Tutucusu 2">
            <a:extLst>
              <a:ext uri="{FF2B5EF4-FFF2-40B4-BE49-F238E27FC236}">
                <a16:creationId xmlns:a16="http://schemas.microsoft.com/office/drawing/2014/main" id="{8E2F9510-B315-6AF7-A14B-A813EE4392B7}"/>
              </a:ext>
            </a:extLst>
          </p:cNvPr>
          <p:cNvSpPr>
            <a:spLocks noGrp="1"/>
          </p:cNvSpPr>
          <p:nvPr>
            <p:ph idx="1"/>
          </p:nvPr>
        </p:nvSpPr>
        <p:spPr/>
        <p:txBody>
          <a:bodyPr>
            <a:normAutofit/>
          </a:bodyPr>
          <a:lstStyle/>
          <a:p>
            <a:r>
              <a:rPr lang="en-US" sz="2000" dirty="0" err="1">
                <a:effectLst/>
              </a:rPr>
              <a:t>Öğrencilerin</a:t>
            </a:r>
            <a:r>
              <a:rPr lang="en-US" sz="2000" dirty="0">
                <a:effectLst/>
              </a:rPr>
              <a:t> </a:t>
            </a:r>
            <a:r>
              <a:rPr lang="en-US" sz="2000" dirty="0" err="1">
                <a:effectLst/>
              </a:rPr>
              <a:t>notlarına</a:t>
            </a:r>
            <a:r>
              <a:rPr lang="en-US" sz="2000" dirty="0">
                <a:effectLst/>
              </a:rPr>
              <a:t> </a:t>
            </a:r>
            <a:r>
              <a:rPr lang="en-US" sz="2000" dirty="0" err="1">
                <a:effectLst/>
              </a:rPr>
              <a:t>göre</a:t>
            </a:r>
            <a:r>
              <a:rPr lang="en-US" sz="2000" dirty="0">
                <a:effectLst/>
              </a:rPr>
              <a:t> </a:t>
            </a:r>
            <a:r>
              <a:rPr lang="en-US" sz="2000" dirty="0" err="1">
                <a:effectLst/>
              </a:rPr>
              <a:t>geçtiğini</a:t>
            </a:r>
            <a:r>
              <a:rPr lang="en-US" sz="2000" dirty="0">
                <a:effectLst/>
              </a:rPr>
              <a:t> </a:t>
            </a:r>
            <a:r>
              <a:rPr lang="en-US" sz="2000" dirty="0" err="1">
                <a:effectLst/>
              </a:rPr>
              <a:t>veya</a:t>
            </a:r>
            <a:r>
              <a:rPr lang="en-US" sz="2000" dirty="0">
                <a:effectLst/>
              </a:rPr>
              <a:t> </a:t>
            </a:r>
            <a:r>
              <a:rPr lang="en-US" sz="2000" dirty="0" err="1">
                <a:effectLst/>
              </a:rPr>
              <a:t>kaldığını</a:t>
            </a:r>
            <a:r>
              <a:rPr lang="en-US" sz="2000" dirty="0">
                <a:effectLst/>
              </a:rPr>
              <a:t> </a:t>
            </a:r>
            <a:r>
              <a:rPr lang="en-US" sz="2000" dirty="0" err="1">
                <a:effectLst/>
              </a:rPr>
              <a:t>belirleyen</a:t>
            </a:r>
            <a:r>
              <a:rPr lang="en-US" sz="2000" dirty="0">
                <a:effectLst/>
              </a:rPr>
              <a:t> </a:t>
            </a:r>
            <a:r>
              <a:rPr lang="en-US" sz="2000" dirty="0" err="1">
                <a:effectLst/>
              </a:rPr>
              <a:t>bir</a:t>
            </a:r>
            <a:r>
              <a:rPr lang="en-US" sz="2000" dirty="0">
                <a:effectLst/>
              </a:rPr>
              <a:t> </a:t>
            </a:r>
            <a:r>
              <a:rPr lang="en-US" sz="2000" dirty="0" err="1">
                <a:effectLst/>
              </a:rPr>
              <a:t>sınıflandırma</a:t>
            </a:r>
            <a:endParaRPr lang="en-US" sz="2000" dirty="0">
              <a:effectLst/>
            </a:endParaRPr>
          </a:p>
        </p:txBody>
      </p:sp>
      <p:pic>
        <p:nvPicPr>
          <p:cNvPr id="4" name="Resim 3">
            <a:extLst>
              <a:ext uri="{FF2B5EF4-FFF2-40B4-BE49-F238E27FC236}">
                <a16:creationId xmlns:a16="http://schemas.microsoft.com/office/drawing/2014/main" id="{9CA2423A-BEE0-D0CB-7E2A-4D38293911AF}"/>
              </a:ext>
            </a:extLst>
          </p:cNvPr>
          <p:cNvPicPr>
            <a:picLocks noChangeAspect="1"/>
          </p:cNvPicPr>
          <p:nvPr/>
        </p:nvPicPr>
        <p:blipFill>
          <a:blip r:embed="rId2"/>
          <a:stretch>
            <a:fillRect/>
          </a:stretch>
        </p:blipFill>
        <p:spPr>
          <a:xfrm>
            <a:off x="2198558" y="2346750"/>
            <a:ext cx="7794884" cy="2543937"/>
          </a:xfrm>
          <a:prstGeom prst="rect">
            <a:avLst/>
          </a:prstGeom>
        </p:spPr>
      </p:pic>
      <p:pic>
        <p:nvPicPr>
          <p:cNvPr id="5" name="Resim 4">
            <a:extLst>
              <a:ext uri="{FF2B5EF4-FFF2-40B4-BE49-F238E27FC236}">
                <a16:creationId xmlns:a16="http://schemas.microsoft.com/office/drawing/2014/main" id="{54736683-9FCB-277B-217B-03536759FA3E}"/>
              </a:ext>
            </a:extLst>
          </p:cNvPr>
          <p:cNvPicPr>
            <a:picLocks noChangeAspect="1"/>
          </p:cNvPicPr>
          <p:nvPr/>
        </p:nvPicPr>
        <p:blipFill>
          <a:blip r:embed="rId3"/>
          <a:stretch>
            <a:fillRect/>
          </a:stretch>
        </p:blipFill>
        <p:spPr>
          <a:xfrm>
            <a:off x="4439168" y="4987649"/>
            <a:ext cx="3313663" cy="1030090"/>
          </a:xfrm>
          <a:prstGeom prst="rect">
            <a:avLst/>
          </a:prstGeom>
        </p:spPr>
      </p:pic>
    </p:spTree>
    <p:extLst>
      <p:ext uri="{BB962C8B-B14F-4D97-AF65-F5344CB8AC3E}">
        <p14:creationId xmlns:p14="http://schemas.microsoft.com/office/powerpoint/2010/main" val="1279984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70FB3B0-6DFD-570C-3C52-FE518FD04E3B}"/>
              </a:ext>
            </a:extLst>
          </p:cNvPr>
          <p:cNvSpPr>
            <a:spLocks noGrp="1"/>
          </p:cNvSpPr>
          <p:nvPr>
            <p:ph type="title"/>
          </p:nvPr>
        </p:nvSpPr>
        <p:spPr/>
        <p:txBody>
          <a:bodyPr/>
          <a:lstStyle/>
          <a:p>
            <a:r>
              <a:rPr lang="tr-TR" dirty="0"/>
              <a:t>Sınıflandırma Örneği</a:t>
            </a:r>
            <a:endParaRPr lang="en-US" dirty="0"/>
          </a:p>
        </p:txBody>
      </p:sp>
      <p:sp>
        <p:nvSpPr>
          <p:cNvPr id="3" name="İçerik Yer Tutucusu 2">
            <a:extLst>
              <a:ext uri="{FF2B5EF4-FFF2-40B4-BE49-F238E27FC236}">
                <a16:creationId xmlns:a16="http://schemas.microsoft.com/office/drawing/2014/main" id="{55FB6351-C06D-AEB9-BA14-9D9F07DD513B}"/>
              </a:ext>
            </a:extLst>
          </p:cNvPr>
          <p:cNvSpPr>
            <a:spLocks noGrp="1"/>
          </p:cNvSpPr>
          <p:nvPr>
            <p:ph idx="1"/>
          </p:nvPr>
        </p:nvSpPr>
        <p:spPr/>
        <p:txBody>
          <a:bodyPr/>
          <a:lstStyle/>
          <a:p>
            <a:r>
              <a:rPr lang="en-US" dirty="0">
                <a:effectLst/>
              </a:rPr>
              <a:t>Hava </a:t>
            </a:r>
            <a:r>
              <a:rPr lang="en-US" dirty="0" err="1">
                <a:effectLst/>
              </a:rPr>
              <a:t>durumuna</a:t>
            </a:r>
            <a:r>
              <a:rPr lang="en-US" dirty="0">
                <a:effectLst/>
              </a:rPr>
              <a:t> </a:t>
            </a:r>
            <a:r>
              <a:rPr lang="en-US" dirty="0" err="1">
                <a:effectLst/>
              </a:rPr>
              <a:t>göre</a:t>
            </a:r>
            <a:r>
              <a:rPr lang="en-US" dirty="0">
                <a:effectLst/>
              </a:rPr>
              <a:t> </a:t>
            </a:r>
            <a:r>
              <a:rPr lang="en-US" dirty="0" err="1">
                <a:effectLst/>
              </a:rPr>
              <a:t>kişinin</a:t>
            </a:r>
            <a:r>
              <a:rPr lang="en-US" dirty="0">
                <a:effectLst/>
              </a:rPr>
              <a:t> </a:t>
            </a:r>
            <a:r>
              <a:rPr lang="en-US" dirty="0" err="1">
                <a:effectLst/>
              </a:rPr>
              <a:t>şemsiye</a:t>
            </a:r>
            <a:r>
              <a:rPr lang="en-US" dirty="0">
                <a:effectLst/>
              </a:rPr>
              <a:t> </a:t>
            </a:r>
            <a:r>
              <a:rPr lang="en-US" dirty="0" err="1">
                <a:effectLst/>
              </a:rPr>
              <a:t>alıp</a:t>
            </a:r>
            <a:r>
              <a:rPr lang="en-US" dirty="0">
                <a:effectLst/>
              </a:rPr>
              <a:t> </a:t>
            </a:r>
            <a:r>
              <a:rPr lang="en-US" dirty="0" err="1">
                <a:effectLst/>
              </a:rPr>
              <a:t>almayacağını</a:t>
            </a:r>
            <a:r>
              <a:rPr lang="en-US" dirty="0">
                <a:effectLst/>
              </a:rPr>
              <a:t> </a:t>
            </a:r>
            <a:r>
              <a:rPr lang="en-US" dirty="0" err="1">
                <a:effectLst/>
              </a:rPr>
              <a:t>tahmin</a:t>
            </a:r>
            <a:r>
              <a:rPr lang="en-US" dirty="0">
                <a:effectLst/>
              </a:rPr>
              <a:t> </a:t>
            </a:r>
            <a:r>
              <a:rPr lang="en-US" dirty="0" err="1">
                <a:effectLst/>
              </a:rPr>
              <a:t>etmek</a:t>
            </a:r>
            <a:r>
              <a:rPr lang="en-US" dirty="0">
                <a:effectLst/>
              </a:rPr>
              <a:t>.</a:t>
            </a:r>
          </a:p>
        </p:txBody>
      </p:sp>
      <p:pic>
        <p:nvPicPr>
          <p:cNvPr id="5" name="Resim 4">
            <a:extLst>
              <a:ext uri="{FF2B5EF4-FFF2-40B4-BE49-F238E27FC236}">
                <a16:creationId xmlns:a16="http://schemas.microsoft.com/office/drawing/2014/main" id="{032A1CCD-41E0-3CFE-50BE-22035FB12B13}"/>
              </a:ext>
            </a:extLst>
          </p:cNvPr>
          <p:cNvPicPr>
            <a:picLocks noChangeAspect="1"/>
          </p:cNvPicPr>
          <p:nvPr/>
        </p:nvPicPr>
        <p:blipFill>
          <a:blip r:embed="rId2"/>
          <a:stretch>
            <a:fillRect/>
          </a:stretch>
        </p:blipFill>
        <p:spPr>
          <a:xfrm>
            <a:off x="1982309" y="2290990"/>
            <a:ext cx="8227381" cy="2655458"/>
          </a:xfrm>
          <a:prstGeom prst="rect">
            <a:avLst/>
          </a:prstGeom>
        </p:spPr>
      </p:pic>
      <p:pic>
        <p:nvPicPr>
          <p:cNvPr id="6" name="Resim 5">
            <a:extLst>
              <a:ext uri="{FF2B5EF4-FFF2-40B4-BE49-F238E27FC236}">
                <a16:creationId xmlns:a16="http://schemas.microsoft.com/office/drawing/2014/main" id="{9005D362-B7DD-8342-4180-F6D1C12304F9}"/>
              </a:ext>
            </a:extLst>
          </p:cNvPr>
          <p:cNvPicPr>
            <a:picLocks noChangeAspect="1"/>
          </p:cNvPicPr>
          <p:nvPr/>
        </p:nvPicPr>
        <p:blipFill>
          <a:blip r:embed="rId3"/>
          <a:stretch>
            <a:fillRect/>
          </a:stretch>
        </p:blipFill>
        <p:spPr>
          <a:xfrm>
            <a:off x="2893792" y="5047149"/>
            <a:ext cx="6210754" cy="1032667"/>
          </a:xfrm>
          <a:prstGeom prst="rect">
            <a:avLst/>
          </a:prstGeom>
        </p:spPr>
      </p:pic>
    </p:spTree>
    <p:extLst>
      <p:ext uri="{BB962C8B-B14F-4D97-AF65-F5344CB8AC3E}">
        <p14:creationId xmlns:p14="http://schemas.microsoft.com/office/powerpoint/2010/main" val="1367724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1164C83-DE18-7244-08F2-11233D25A575}"/>
              </a:ext>
            </a:extLst>
          </p:cNvPr>
          <p:cNvSpPr>
            <a:spLocks noGrp="1"/>
          </p:cNvSpPr>
          <p:nvPr>
            <p:ph type="title"/>
          </p:nvPr>
        </p:nvSpPr>
        <p:spPr/>
        <p:txBody>
          <a:bodyPr/>
          <a:lstStyle/>
          <a:p>
            <a:r>
              <a:rPr lang="tr-TR" dirty="0">
                <a:cs typeface="Arial" panose="020B0604020202020204" pitchFamily="34" charset="0"/>
              </a:rPr>
              <a:t>Makine Öğrenmesi Performans Metrikleri</a:t>
            </a:r>
            <a:endParaRPr lang="tr-TR" dirty="0"/>
          </a:p>
        </p:txBody>
      </p:sp>
      <p:sp>
        <p:nvSpPr>
          <p:cNvPr id="3" name="İçerik Yer Tutucusu 2">
            <a:extLst>
              <a:ext uri="{FF2B5EF4-FFF2-40B4-BE49-F238E27FC236}">
                <a16:creationId xmlns:a16="http://schemas.microsoft.com/office/drawing/2014/main" id="{0E4F1420-60A9-AECD-624E-742CAEF0CDE0}"/>
              </a:ext>
            </a:extLst>
          </p:cNvPr>
          <p:cNvSpPr>
            <a:spLocks noGrp="1"/>
          </p:cNvSpPr>
          <p:nvPr>
            <p:ph idx="1"/>
          </p:nvPr>
        </p:nvSpPr>
        <p:spPr>
          <a:xfrm>
            <a:off x="555981" y="1767396"/>
            <a:ext cx="6012459" cy="3702647"/>
          </a:xfrm>
        </p:spPr>
        <p:txBody>
          <a:bodyPr>
            <a:normAutofit lnSpcReduction="10000"/>
          </a:bodyPr>
          <a:lstStyle/>
          <a:p>
            <a:r>
              <a:rPr lang="tr-TR" dirty="0">
                <a:effectLst/>
              </a:rPr>
              <a:t>Karmaşıklık/Hata Matrisi (</a:t>
            </a:r>
            <a:r>
              <a:rPr lang="tr-TR" dirty="0" err="1">
                <a:effectLst/>
              </a:rPr>
              <a:t>Confusion</a:t>
            </a:r>
            <a:r>
              <a:rPr lang="tr-TR" dirty="0">
                <a:effectLst/>
              </a:rPr>
              <a:t> </a:t>
            </a:r>
            <a:r>
              <a:rPr lang="tr-TR" dirty="0" err="1">
                <a:effectLst/>
              </a:rPr>
              <a:t>Matrix</a:t>
            </a:r>
            <a:r>
              <a:rPr lang="tr-TR" dirty="0">
                <a:effectLst/>
              </a:rPr>
              <a:t>) : Makine öğrenmesinde kullanılan sınıflandırma modellerinin performansını değerlendirmek için hedef niteliğe ait tahminlerin ve gerçek değerlerin karşılaştırıldığı hata matrisi sıklıkla kullanılmaktadır. Her ne olursa olsun sınıflandırma tahminleri şu dört değerlendirmeden birine sahip olacaktır:</a:t>
            </a:r>
          </a:p>
          <a:p>
            <a:endParaRPr lang="tr-TR" dirty="0">
              <a:effectLst/>
            </a:endParaRPr>
          </a:p>
          <a:p>
            <a:r>
              <a:rPr lang="tr-TR" dirty="0">
                <a:effectLst/>
              </a:rPr>
              <a:t>Doğruya doğru demek (True </a:t>
            </a:r>
            <a:r>
              <a:rPr lang="tr-TR" dirty="0" err="1">
                <a:effectLst/>
              </a:rPr>
              <a:t>Positive</a:t>
            </a:r>
            <a:r>
              <a:rPr lang="tr-TR" dirty="0">
                <a:effectLst/>
              </a:rPr>
              <a:t> – TP) DOĞRU</a:t>
            </a:r>
          </a:p>
          <a:p>
            <a:r>
              <a:rPr lang="tr-TR" dirty="0">
                <a:effectLst/>
              </a:rPr>
              <a:t>Yanlışa yanlış demek (True </a:t>
            </a:r>
            <a:r>
              <a:rPr lang="tr-TR" dirty="0" err="1">
                <a:effectLst/>
              </a:rPr>
              <a:t>Negative</a:t>
            </a:r>
            <a:r>
              <a:rPr lang="tr-TR" dirty="0">
                <a:effectLst/>
              </a:rPr>
              <a:t> – TN) DOĞRU</a:t>
            </a:r>
          </a:p>
          <a:p>
            <a:r>
              <a:rPr lang="tr-TR" dirty="0">
                <a:effectLst/>
              </a:rPr>
              <a:t>Doğruya yanlış demek (</a:t>
            </a:r>
            <a:r>
              <a:rPr lang="tr-TR" dirty="0" err="1">
                <a:effectLst/>
              </a:rPr>
              <a:t>False</a:t>
            </a:r>
            <a:r>
              <a:rPr lang="tr-TR" dirty="0">
                <a:effectLst/>
              </a:rPr>
              <a:t> </a:t>
            </a:r>
            <a:r>
              <a:rPr lang="tr-TR" dirty="0" err="1">
                <a:effectLst/>
              </a:rPr>
              <a:t>Positive</a:t>
            </a:r>
            <a:r>
              <a:rPr lang="tr-TR" dirty="0">
                <a:effectLst/>
              </a:rPr>
              <a:t> – FP) YANLIŞ</a:t>
            </a:r>
          </a:p>
          <a:p>
            <a:r>
              <a:rPr lang="tr-TR" dirty="0">
                <a:effectLst/>
              </a:rPr>
              <a:t>Yanlışa doğru demek(</a:t>
            </a:r>
            <a:r>
              <a:rPr lang="tr-TR" dirty="0" err="1">
                <a:effectLst/>
              </a:rPr>
              <a:t>False</a:t>
            </a:r>
            <a:r>
              <a:rPr lang="tr-TR" dirty="0">
                <a:effectLst/>
              </a:rPr>
              <a:t> </a:t>
            </a:r>
            <a:r>
              <a:rPr lang="tr-TR" dirty="0" err="1">
                <a:effectLst/>
              </a:rPr>
              <a:t>Negative</a:t>
            </a:r>
            <a:r>
              <a:rPr lang="tr-TR" dirty="0">
                <a:effectLst/>
              </a:rPr>
              <a:t> – FN) YANLIŞ</a:t>
            </a:r>
          </a:p>
          <a:p>
            <a:endParaRPr lang="tr-TR" dirty="0">
              <a:effectLst/>
            </a:endParaRPr>
          </a:p>
        </p:txBody>
      </p:sp>
      <p:pic>
        <p:nvPicPr>
          <p:cNvPr id="4" name="Resim 3">
            <a:extLst>
              <a:ext uri="{FF2B5EF4-FFF2-40B4-BE49-F238E27FC236}">
                <a16:creationId xmlns:a16="http://schemas.microsoft.com/office/drawing/2014/main" id="{F7C0F78B-347D-B942-68BB-4699DFF3B5E1}"/>
              </a:ext>
            </a:extLst>
          </p:cNvPr>
          <p:cNvPicPr>
            <a:picLocks noChangeAspect="1"/>
          </p:cNvPicPr>
          <p:nvPr/>
        </p:nvPicPr>
        <p:blipFill>
          <a:blip r:embed="rId2"/>
          <a:stretch>
            <a:fillRect/>
          </a:stretch>
        </p:blipFill>
        <p:spPr>
          <a:xfrm>
            <a:off x="6961164" y="1767396"/>
            <a:ext cx="4481193" cy="3100949"/>
          </a:xfrm>
          <a:prstGeom prst="rect">
            <a:avLst/>
          </a:prstGeom>
        </p:spPr>
      </p:pic>
    </p:spTree>
    <p:extLst>
      <p:ext uri="{BB962C8B-B14F-4D97-AF65-F5344CB8AC3E}">
        <p14:creationId xmlns:p14="http://schemas.microsoft.com/office/powerpoint/2010/main" val="2202545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589CF-197A-4FB8-C59A-79DFAF92232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0733BF5-6DA5-7CEF-F5F4-29EC3D933108}"/>
              </a:ext>
            </a:extLst>
          </p:cNvPr>
          <p:cNvSpPr>
            <a:spLocks noGrp="1"/>
          </p:cNvSpPr>
          <p:nvPr>
            <p:ph type="title"/>
          </p:nvPr>
        </p:nvSpPr>
        <p:spPr/>
        <p:txBody>
          <a:bodyPr/>
          <a:lstStyle/>
          <a:p>
            <a:r>
              <a:rPr lang="tr-TR" dirty="0">
                <a:cs typeface="Arial" panose="020B0604020202020204" pitchFamily="34" charset="0"/>
              </a:rPr>
              <a:t>Makine Öğrenmesi Performans Metrikleri</a:t>
            </a:r>
            <a:endParaRPr lang="tr-TR" dirty="0"/>
          </a:p>
        </p:txBody>
      </p:sp>
      <p:sp>
        <p:nvSpPr>
          <p:cNvPr id="3" name="İçerik Yer Tutucusu 2">
            <a:extLst>
              <a:ext uri="{FF2B5EF4-FFF2-40B4-BE49-F238E27FC236}">
                <a16:creationId xmlns:a16="http://schemas.microsoft.com/office/drawing/2014/main" id="{4BC9C352-7B4F-EABF-3609-2FD3F7EFFD26}"/>
              </a:ext>
            </a:extLst>
          </p:cNvPr>
          <p:cNvSpPr>
            <a:spLocks noGrp="1"/>
          </p:cNvSpPr>
          <p:nvPr>
            <p:ph idx="1"/>
          </p:nvPr>
        </p:nvSpPr>
        <p:spPr>
          <a:xfrm>
            <a:off x="555981" y="1767396"/>
            <a:ext cx="6241059" cy="3702647"/>
          </a:xfrm>
        </p:spPr>
        <p:txBody>
          <a:bodyPr>
            <a:normAutofit/>
          </a:bodyPr>
          <a:lstStyle/>
          <a:p>
            <a:r>
              <a:rPr lang="en-US" b="1" dirty="0">
                <a:solidFill>
                  <a:srgbClr val="0D0D0D"/>
                </a:solidFill>
                <a:effectLst/>
                <a:cs typeface="Arial" panose="020B0604020202020204" pitchFamily="34" charset="0"/>
              </a:rPr>
              <a:t>Accuracy</a:t>
            </a:r>
            <a:r>
              <a:rPr lang="tr-TR" b="1" dirty="0">
                <a:solidFill>
                  <a:srgbClr val="0D0D0D"/>
                </a:solidFill>
                <a:cs typeface="Arial" panose="020B0604020202020204" pitchFamily="34" charset="0"/>
              </a:rPr>
              <a:t> (Doğruluk)</a:t>
            </a:r>
            <a:r>
              <a:rPr lang="en-US" b="1" dirty="0">
                <a:solidFill>
                  <a:srgbClr val="0D0D0D"/>
                </a:solidFill>
                <a:effectLst/>
                <a:cs typeface="Arial" panose="020B0604020202020204" pitchFamily="34" charset="0"/>
              </a:rPr>
              <a:t>:</a:t>
            </a:r>
            <a:r>
              <a:rPr lang="tr-TR" b="1" dirty="0">
                <a:solidFill>
                  <a:srgbClr val="0D0D0D"/>
                </a:solidFill>
                <a:effectLst/>
                <a:cs typeface="Arial" panose="020B0604020202020204" pitchFamily="34" charset="0"/>
              </a:rPr>
              <a:t> </a:t>
            </a:r>
          </a:p>
          <a:p>
            <a:r>
              <a:rPr lang="en-US" dirty="0" err="1">
                <a:solidFill>
                  <a:srgbClr val="0D0D0D"/>
                </a:solidFill>
                <a:effectLst/>
                <a:cs typeface="Arial" panose="020B0604020202020204" pitchFamily="34" charset="0"/>
              </a:rPr>
              <a:t>Sınıflandırma</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problemlerinde</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kullanılan</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bir</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başarı</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metriğidir</a:t>
            </a:r>
            <a:r>
              <a:rPr lang="en-US" dirty="0">
                <a:solidFill>
                  <a:srgbClr val="0D0D0D"/>
                </a:solidFill>
                <a:effectLst/>
                <a:cs typeface="Arial" panose="020B0604020202020204" pitchFamily="34" charset="0"/>
              </a:rPr>
              <a:t>. Doğru </a:t>
            </a:r>
            <a:r>
              <a:rPr lang="en-US" dirty="0" err="1">
                <a:solidFill>
                  <a:srgbClr val="0D0D0D"/>
                </a:solidFill>
                <a:effectLst/>
                <a:cs typeface="Arial" panose="020B0604020202020204" pitchFamily="34" charset="0"/>
              </a:rPr>
              <a:t>olarak</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sınıflandırılan</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örneklerin</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oranını</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ifade</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eder</a:t>
            </a:r>
            <a:r>
              <a:rPr lang="en-US" dirty="0">
                <a:solidFill>
                  <a:srgbClr val="0D0D0D"/>
                </a:solidFill>
                <a:effectLst/>
                <a:cs typeface="Arial" panose="020B0604020202020204" pitchFamily="34" charset="0"/>
              </a:rPr>
              <a:t>.</a:t>
            </a:r>
            <a:endParaRPr lang="tr-TR" dirty="0">
              <a:solidFill>
                <a:srgbClr val="0D0D0D"/>
              </a:solidFill>
              <a:effectLst/>
              <a:cs typeface="Arial" panose="020B0604020202020204" pitchFamily="34" charset="0"/>
            </a:endParaRPr>
          </a:p>
          <a:p>
            <a:r>
              <a:rPr lang="en-US" dirty="0">
                <a:solidFill>
                  <a:srgbClr val="0D0D0D"/>
                </a:solidFill>
                <a:effectLst/>
                <a:cs typeface="Arial" panose="020B0604020202020204" pitchFamily="34" charset="0"/>
              </a:rPr>
              <a:t>Yani; </a:t>
            </a:r>
            <a:r>
              <a:rPr lang="en-US" dirty="0" err="1">
                <a:solidFill>
                  <a:srgbClr val="0D0D0D"/>
                </a:solidFill>
                <a:effectLst/>
                <a:cs typeface="Arial" panose="020B0604020202020204" pitchFamily="34" charset="0"/>
              </a:rPr>
              <a:t>doğrular</a:t>
            </a:r>
            <a:r>
              <a:rPr lang="en-US" dirty="0">
                <a:solidFill>
                  <a:srgbClr val="0D0D0D"/>
                </a:solidFill>
                <a:effectLst/>
                <a:cs typeface="Arial" panose="020B0604020202020204" pitchFamily="34" charset="0"/>
              </a:rPr>
              <a:t> / </a:t>
            </a:r>
            <a:r>
              <a:rPr lang="en-US" dirty="0" err="1">
                <a:solidFill>
                  <a:srgbClr val="0D0D0D"/>
                </a:solidFill>
                <a:effectLst/>
                <a:cs typeface="Arial" panose="020B0604020202020204" pitchFamily="34" charset="0"/>
              </a:rPr>
              <a:t>toplam</a:t>
            </a:r>
            <a:r>
              <a:rPr lang="en-US" dirty="0">
                <a:solidFill>
                  <a:srgbClr val="0D0D0D"/>
                </a:solidFill>
                <a:effectLst/>
                <a:cs typeface="Arial" panose="020B0604020202020204" pitchFamily="34" charset="0"/>
              </a:rPr>
              <a:t>. </a:t>
            </a:r>
            <a:endParaRPr lang="tr-TR" dirty="0">
              <a:solidFill>
                <a:srgbClr val="0D0D0D"/>
              </a:solidFill>
              <a:effectLst/>
              <a:cs typeface="Arial" panose="020B0604020202020204" pitchFamily="34" charset="0"/>
            </a:endParaRPr>
          </a:p>
          <a:p>
            <a:r>
              <a:rPr lang="en-US" dirty="0">
                <a:solidFill>
                  <a:srgbClr val="0D0D0D"/>
                </a:solidFill>
                <a:effectLst/>
                <a:cs typeface="Arial" panose="020B0604020202020204" pitchFamily="34" charset="0"/>
              </a:rPr>
              <a:t>Yani </a:t>
            </a:r>
            <a:r>
              <a:rPr lang="en-US" dirty="0" err="1">
                <a:solidFill>
                  <a:srgbClr val="0D0D0D"/>
                </a:solidFill>
                <a:effectLst/>
                <a:cs typeface="Arial" panose="020B0604020202020204" pitchFamily="34" charset="0"/>
              </a:rPr>
              <a:t>yoka</a:t>
            </a:r>
            <a:r>
              <a:rPr lang="en-US" dirty="0">
                <a:solidFill>
                  <a:srgbClr val="0D0D0D"/>
                </a:solidFill>
                <a:effectLst/>
                <a:cs typeface="Arial" panose="020B0604020202020204" pitchFamily="34" charset="0"/>
              </a:rPr>
              <a:t> yok </a:t>
            </a:r>
            <a:r>
              <a:rPr lang="en-US" dirty="0" err="1">
                <a:solidFill>
                  <a:srgbClr val="0D0D0D"/>
                </a:solidFill>
                <a:effectLst/>
                <a:cs typeface="Arial" panose="020B0604020202020204" pitchFamily="34" charset="0"/>
              </a:rPr>
              <a:t>vara</a:t>
            </a:r>
            <a:r>
              <a:rPr lang="en-US" dirty="0">
                <a:solidFill>
                  <a:srgbClr val="0D0D0D"/>
                </a:solidFill>
                <a:effectLst/>
                <a:cs typeface="Arial" panose="020B0604020202020204" pitchFamily="34" charset="0"/>
              </a:rPr>
              <a:t> var </a:t>
            </a:r>
            <a:r>
              <a:rPr lang="en-US" dirty="0" err="1">
                <a:solidFill>
                  <a:srgbClr val="0D0D0D"/>
                </a:solidFill>
                <a:effectLst/>
                <a:cs typeface="Arial" panose="020B0604020202020204" pitchFamily="34" charset="0"/>
              </a:rPr>
              <a:t>dediklerimizin</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toplama</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oranı</a:t>
            </a:r>
            <a:r>
              <a:rPr lang="en-US" dirty="0">
                <a:solidFill>
                  <a:srgbClr val="0D0D0D"/>
                </a:solidFill>
                <a:effectLst/>
                <a:cs typeface="Arial" panose="020B0604020202020204" pitchFamily="34" charset="0"/>
              </a:rPr>
              <a:t>. Ayrıca </a:t>
            </a:r>
            <a:r>
              <a:rPr lang="en-US" dirty="0" err="1">
                <a:solidFill>
                  <a:srgbClr val="0D0D0D"/>
                </a:solidFill>
                <a:effectLst/>
                <a:cs typeface="Arial" panose="020B0604020202020204" pitchFamily="34" charset="0"/>
              </a:rPr>
              <a:t>esas</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köşegenin</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toplama</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oranı</a:t>
            </a:r>
            <a:r>
              <a:rPr lang="en-US" dirty="0">
                <a:solidFill>
                  <a:srgbClr val="0D0D0D"/>
                </a:solidFill>
                <a:effectLst/>
                <a:cs typeface="Arial" panose="020B0604020202020204" pitchFamily="34" charset="0"/>
              </a:rPr>
              <a:t> da </a:t>
            </a:r>
            <a:r>
              <a:rPr lang="en-US" dirty="0" err="1">
                <a:solidFill>
                  <a:srgbClr val="0D0D0D"/>
                </a:solidFill>
                <a:effectLst/>
                <a:cs typeface="Arial" panose="020B0604020202020204" pitchFamily="34" charset="0"/>
              </a:rPr>
              <a:t>diyebiliriz</a:t>
            </a:r>
            <a:r>
              <a:rPr lang="en-US" dirty="0">
                <a:solidFill>
                  <a:srgbClr val="0D0D0D"/>
                </a:solidFill>
                <a:effectLst/>
                <a:cs typeface="Arial" panose="020B0604020202020204" pitchFamily="34" charset="0"/>
              </a:rPr>
              <a:t>.</a:t>
            </a:r>
            <a:endParaRPr lang="tr-TR" dirty="0">
              <a:solidFill>
                <a:srgbClr val="0D0D0D"/>
              </a:solidFill>
              <a:effectLst/>
              <a:cs typeface="Arial" panose="020B0604020202020204" pitchFamily="34" charset="0"/>
            </a:endParaRPr>
          </a:p>
          <a:p>
            <a:r>
              <a:rPr lang="en-US" dirty="0" err="1">
                <a:solidFill>
                  <a:srgbClr val="0D0D0D"/>
                </a:solidFill>
                <a:effectLst/>
                <a:cs typeface="Arial" panose="020B0604020202020204" pitchFamily="34" charset="0"/>
              </a:rPr>
              <a:t>Doğruluk</a:t>
            </a:r>
            <a:r>
              <a:rPr lang="en-US" dirty="0">
                <a:solidFill>
                  <a:srgbClr val="0D0D0D"/>
                </a:solidFill>
                <a:effectLst/>
                <a:cs typeface="Arial" panose="020B0604020202020204" pitchFamily="34" charset="0"/>
              </a:rPr>
              <a:t> =  TN + TP / TOPLAM = 100+200 / 330 = 0,91</a:t>
            </a:r>
          </a:p>
          <a:p>
            <a:pPr marL="0" indent="0">
              <a:buNone/>
            </a:pPr>
            <a:endParaRPr lang="en-US" b="1" dirty="0">
              <a:solidFill>
                <a:srgbClr val="0D0D0D"/>
              </a:solidFill>
              <a:effectLst/>
              <a:latin typeface="Arial" panose="020B0604020202020204" pitchFamily="34" charset="0"/>
              <a:cs typeface="Arial" panose="020B0604020202020204" pitchFamily="34" charset="0"/>
            </a:endParaRPr>
          </a:p>
        </p:txBody>
      </p:sp>
      <p:pic>
        <p:nvPicPr>
          <p:cNvPr id="4" name="Resim 3">
            <a:extLst>
              <a:ext uri="{FF2B5EF4-FFF2-40B4-BE49-F238E27FC236}">
                <a16:creationId xmlns:a16="http://schemas.microsoft.com/office/drawing/2014/main" id="{756B0229-2706-5883-F3BB-A958E87CC439}"/>
              </a:ext>
            </a:extLst>
          </p:cNvPr>
          <p:cNvPicPr>
            <a:picLocks noChangeAspect="1"/>
          </p:cNvPicPr>
          <p:nvPr/>
        </p:nvPicPr>
        <p:blipFill>
          <a:blip r:embed="rId2"/>
          <a:stretch>
            <a:fillRect/>
          </a:stretch>
        </p:blipFill>
        <p:spPr>
          <a:xfrm>
            <a:off x="6961164" y="1767396"/>
            <a:ext cx="4481193" cy="3100949"/>
          </a:xfrm>
          <a:prstGeom prst="rect">
            <a:avLst/>
          </a:prstGeom>
        </p:spPr>
      </p:pic>
    </p:spTree>
    <p:extLst>
      <p:ext uri="{BB962C8B-B14F-4D97-AF65-F5344CB8AC3E}">
        <p14:creationId xmlns:p14="http://schemas.microsoft.com/office/powerpoint/2010/main" val="1448459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C904F-55EF-0432-5C52-DD91DCC4487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D522253-0E32-D468-C7BA-BF3106471B1C}"/>
              </a:ext>
            </a:extLst>
          </p:cNvPr>
          <p:cNvSpPr>
            <a:spLocks noGrp="1"/>
          </p:cNvSpPr>
          <p:nvPr>
            <p:ph type="title"/>
          </p:nvPr>
        </p:nvSpPr>
        <p:spPr/>
        <p:txBody>
          <a:bodyPr/>
          <a:lstStyle/>
          <a:p>
            <a:r>
              <a:rPr lang="tr-TR" dirty="0">
                <a:cs typeface="Arial" panose="020B0604020202020204" pitchFamily="34" charset="0"/>
              </a:rPr>
              <a:t>Makine Öğrenmesi Performans Metrikleri</a:t>
            </a:r>
            <a:endParaRPr lang="tr-TR" dirty="0"/>
          </a:p>
        </p:txBody>
      </p:sp>
      <p:sp>
        <p:nvSpPr>
          <p:cNvPr id="3" name="İçerik Yer Tutucusu 2">
            <a:extLst>
              <a:ext uri="{FF2B5EF4-FFF2-40B4-BE49-F238E27FC236}">
                <a16:creationId xmlns:a16="http://schemas.microsoft.com/office/drawing/2014/main" id="{12C8BDEA-3066-08B5-7117-FBDF40FE87FD}"/>
              </a:ext>
            </a:extLst>
          </p:cNvPr>
          <p:cNvSpPr>
            <a:spLocks noGrp="1"/>
          </p:cNvSpPr>
          <p:nvPr>
            <p:ph idx="1"/>
          </p:nvPr>
        </p:nvSpPr>
        <p:spPr>
          <a:xfrm>
            <a:off x="555981" y="1767396"/>
            <a:ext cx="6241059" cy="3702647"/>
          </a:xfrm>
        </p:spPr>
        <p:txBody>
          <a:bodyPr>
            <a:normAutofit/>
          </a:bodyPr>
          <a:lstStyle/>
          <a:p>
            <a:r>
              <a:rPr lang="en-US" b="1" dirty="0">
                <a:solidFill>
                  <a:srgbClr val="0D0D0D"/>
                </a:solidFill>
                <a:effectLst/>
                <a:cs typeface="Arial" panose="020B0604020202020204" pitchFamily="34" charset="0"/>
              </a:rPr>
              <a:t>Hata </a:t>
            </a:r>
            <a:r>
              <a:rPr lang="en-US" b="1" dirty="0" err="1">
                <a:solidFill>
                  <a:srgbClr val="0D0D0D"/>
                </a:solidFill>
                <a:effectLst/>
                <a:cs typeface="Arial" panose="020B0604020202020204" pitchFamily="34" charset="0"/>
              </a:rPr>
              <a:t>Oranı</a:t>
            </a:r>
            <a:r>
              <a:rPr lang="en-US" b="1" dirty="0">
                <a:solidFill>
                  <a:srgbClr val="0D0D0D"/>
                </a:solidFill>
                <a:effectLst/>
                <a:cs typeface="Arial" panose="020B0604020202020204" pitchFamily="34" charset="0"/>
              </a:rPr>
              <a:t> (Error Rate / Misclassification Rate): </a:t>
            </a:r>
            <a:r>
              <a:rPr lang="en-US" dirty="0" err="1">
                <a:solidFill>
                  <a:srgbClr val="0D0D0D"/>
                </a:solidFill>
                <a:effectLst/>
                <a:cs typeface="Arial" panose="020B0604020202020204" pitchFamily="34" charset="0"/>
              </a:rPr>
              <a:t>Yanlışların</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toplama</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oranıdır</a:t>
            </a:r>
            <a:r>
              <a:rPr lang="en-US" dirty="0">
                <a:solidFill>
                  <a:srgbClr val="0D0D0D"/>
                </a:solidFill>
                <a:effectLst/>
                <a:cs typeface="Arial" panose="020B0604020202020204" pitchFamily="34" charset="0"/>
              </a:rPr>
              <a:t>. </a:t>
            </a:r>
          </a:p>
          <a:p>
            <a:r>
              <a:rPr lang="en-US" dirty="0">
                <a:solidFill>
                  <a:srgbClr val="0D0D0D"/>
                </a:solidFill>
                <a:effectLst/>
                <a:cs typeface="Arial" panose="020B0604020202020204" pitchFamily="34" charset="0"/>
              </a:rPr>
              <a:t>Bu </a:t>
            </a:r>
            <a:r>
              <a:rPr lang="en-US" dirty="0" err="1">
                <a:solidFill>
                  <a:srgbClr val="0D0D0D"/>
                </a:solidFill>
                <a:effectLst/>
                <a:cs typeface="Arial" panose="020B0604020202020204" pitchFamily="34" charset="0"/>
              </a:rPr>
              <a:t>aynı</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zamanda</a:t>
            </a:r>
            <a:r>
              <a:rPr lang="en-US" dirty="0">
                <a:solidFill>
                  <a:srgbClr val="0D0D0D"/>
                </a:solidFill>
                <a:effectLst/>
                <a:cs typeface="Arial" panose="020B0604020202020204" pitchFamily="34" charset="0"/>
              </a:rPr>
              <a:t> 1’den </a:t>
            </a:r>
            <a:r>
              <a:rPr lang="en-US" dirty="0" err="1">
                <a:solidFill>
                  <a:srgbClr val="0D0D0D"/>
                </a:solidFill>
                <a:effectLst/>
                <a:cs typeface="Arial" panose="020B0604020202020204" pitchFamily="34" charset="0"/>
              </a:rPr>
              <a:t>doğruluk</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oranını</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çıkararak</a:t>
            </a:r>
            <a:r>
              <a:rPr lang="en-US" dirty="0">
                <a:solidFill>
                  <a:srgbClr val="0D0D0D"/>
                </a:solidFill>
                <a:effectLst/>
                <a:cs typeface="Arial" panose="020B0604020202020204" pitchFamily="34" charset="0"/>
              </a:rPr>
              <a:t> da </a:t>
            </a:r>
            <a:r>
              <a:rPr lang="en-US" dirty="0" err="1">
                <a:solidFill>
                  <a:srgbClr val="0D0D0D"/>
                </a:solidFill>
                <a:effectLst/>
                <a:cs typeface="Arial" panose="020B0604020202020204" pitchFamily="34" charset="0"/>
              </a:rPr>
              <a:t>elde</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edilir</a:t>
            </a:r>
            <a:r>
              <a:rPr lang="en-US" dirty="0">
                <a:solidFill>
                  <a:srgbClr val="0D0D0D"/>
                </a:solidFill>
                <a:effectLst/>
                <a:cs typeface="Arial" panose="020B0604020202020204" pitchFamily="34" charset="0"/>
              </a:rPr>
              <a:t>. Ayrıca </a:t>
            </a:r>
            <a:r>
              <a:rPr lang="en-US" dirty="0" err="1">
                <a:solidFill>
                  <a:srgbClr val="0D0D0D"/>
                </a:solidFill>
                <a:effectLst/>
                <a:cs typeface="Arial" panose="020B0604020202020204" pitchFamily="34" charset="0"/>
              </a:rPr>
              <a:t>yedek</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köşegenin</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toplama</a:t>
            </a:r>
            <a:r>
              <a:rPr lang="en-US" dirty="0">
                <a:solidFill>
                  <a:srgbClr val="0D0D0D"/>
                </a:solidFill>
                <a:effectLst/>
                <a:cs typeface="Arial" panose="020B0604020202020204" pitchFamily="34" charset="0"/>
              </a:rPr>
              <a:t> </a:t>
            </a:r>
            <a:r>
              <a:rPr lang="en-US" dirty="0" err="1">
                <a:solidFill>
                  <a:srgbClr val="0D0D0D"/>
                </a:solidFill>
                <a:effectLst/>
                <a:cs typeface="Arial" panose="020B0604020202020204" pitchFamily="34" charset="0"/>
              </a:rPr>
              <a:t>oranıdır</a:t>
            </a:r>
            <a:r>
              <a:rPr lang="en-US" dirty="0">
                <a:solidFill>
                  <a:srgbClr val="0D0D0D"/>
                </a:solidFill>
                <a:effectLst/>
                <a:cs typeface="Arial" panose="020B0604020202020204" pitchFamily="34" charset="0"/>
              </a:rPr>
              <a:t> da </a:t>
            </a:r>
            <a:r>
              <a:rPr lang="en-US" dirty="0" err="1">
                <a:solidFill>
                  <a:srgbClr val="0D0D0D"/>
                </a:solidFill>
                <a:effectLst/>
                <a:cs typeface="Arial" panose="020B0604020202020204" pitchFamily="34" charset="0"/>
              </a:rPr>
              <a:t>diyebiliriz</a:t>
            </a:r>
            <a:r>
              <a:rPr lang="en-US" dirty="0">
                <a:solidFill>
                  <a:srgbClr val="0D0D0D"/>
                </a:solidFill>
                <a:effectLst/>
                <a:cs typeface="Arial" panose="020B0604020202020204" pitchFamily="34" charset="0"/>
              </a:rPr>
              <a:t>.</a:t>
            </a:r>
          </a:p>
          <a:p>
            <a:r>
              <a:rPr lang="en-US" dirty="0">
                <a:solidFill>
                  <a:srgbClr val="0D0D0D"/>
                </a:solidFill>
                <a:effectLst/>
                <a:cs typeface="Arial" panose="020B0604020202020204" pitchFamily="34" charset="0"/>
              </a:rPr>
              <a:t>Hata </a:t>
            </a:r>
            <a:r>
              <a:rPr lang="en-US" dirty="0" err="1">
                <a:solidFill>
                  <a:srgbClr val="0D0D0D"/>
                </a:solidFill>
                <a:effectLst/>
                <a:cs typeface="Arial" panose="020B0604020202020204" pitchFamily="34" charset="0"/>
              </a:rPr>
              <a:t>Oranı</a:t>
            </a:r>
            <a:r>
              <a:rPr lang="en-US" dirty="0">
                <a:solidFill>
                  <a:srgbClr val="0D0D0D"/>
                </a:solidFill>
                <a:effectLst/>
                <a:cs typeface="Arial" panose="020B0604020202020204" pitchFamily="34" charset="0"/>
              </a:rPr>
              <a:t> = FN + FP / TOPLAM = 10 + 20 / 330 = 0,09</a:t>
            </a:r>
          </a:p>
          <a:p>
            <a:r>
              <a:rPr lang="en-US" dirty="0">
                <a:solidFill>
                  <a:srgbClr val="0D0D0D"/>
                </a:solidFill>
                <a:effectLst/>
                <a:cs typeface="Arial" panose="020B0604020202020204" pitchFamily="34" charset="0"/>
              </a:rPr>
              <a:t>Hata </a:t>
            </a:r>
            <a:r>
              <a:rPr lang="en-US" dirty="0" err="1">
                <a:solidFill>
                  <a:srgbClr val="0D0D0D"/>
                </a:solidFill>
                <a:effectLst/>
                <a:cs typeface="Arial" panose="020B0604020202020204" pitchFamily="34" charset="0"/>
              </a:rPr>
              <a:t>Oranı</a:t>
            </a:r>
            <a:r>
              <a:rPr lang="en-US" dirty="0">
                <a:solidFill>
                  <a:srgbClr val="0D0D0D"/>
                </a:solidFill>
                <a:effectLst/>
                <a:cs typeface="Arial" panose="020B0604020202020204" pitchFamily="34" charset="0"/>
              </a:rPr>
              <a:t> = 1 - </a:t>
            </a:r>
            <a:r>
              <a:rPr lang="en-US" dirty="0" err="1">
                <a:solidFill>
                  <a:srgbClr val="0D0D0D"/>
                </a:solidFill>
                <a:effectLst/>
                <a:cs typeface="Arial" panose="020B0604020202020204" pitchFamily="34" charset="0"/>
              </a:rPr>
              <a:t>Doğruluk</a:t>
            </a:r>
            <a:r>
              <a:rPr lang="en-US" dirty="0">
                <a:solidFill>
                  <a:srgbClr val="0D0D0D"/>
                </a:solidFill>
                <a:effectLst/>
                <a:cs typeface="Arial" panose="020B0604020202020204" pitchFamily="34" charset="0"/>
              </a:rPr>
              <a:t> = 1 - 0,91 = 0,09</a:t>
            </a:r>
          </a:p>
        </p:txBody>
      </p:sp>
      <p:pic>
        <p:nvPicPr>
          <p:cNvPr id="4" name="Resim 3">
            <a:extLst>
              <a:ext uri="{FF2B5EF4-FFF2-40B4-BE49-F238E27FC236}">
                <a16:creationId xmlns:a16="http://schemas.microsoft.com/office/drawing/2014/main" id="{0ECA2539-0E38-4EBA-19B2-8A6BBBA4B5F2}"/>
              </a:ext>
            </a:extLst>
          </p:cNvPr>
          <p:cNvPicPr>
            <a:picLocks noChangeAspect="1"/>
          </p:cNvPicPr>
          <p:nvPr/>
        </p:nvPicPr>
        <p:blipFill>
          <a:blip r:embed="rId2"/>
          <a:stretch>
            <a:fillRect/>
          </a:stretch>
        </p:blipFill>
        <p:spPr>
          <a:xfrm>
            <a:off x="6961164" y="1767396"/>
            <a:ext cx="4481193" cy="3100949"/>
          </a:xfrm>
          <a:prstGeom prst="rect">
            <a:avLst/>
          </a:prstGeom>
        </p:spPr>
      </p:pic>
    </p:spTree>
    <p:extLst>
      <p:ext uri="{BB962C8B-B14F-4D97-AF65-F5344CB8AC3E}">
        <p14:creationId xmlns:p14="http://schemas.microsoft.com/office/powerpoint/2010/main" val="1416704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E7479-955C-241C-9CA3-73B067F9D72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ACFC6B0-98FC-3A3E-538B-B92EA8B1FA94}"/>
              </a:ext>
            </a:extLst>
          </p:cNvPr>
          <p:cNvSpPr>
            <a:spLocks noGrp="1"/>
          </p:cNvSpPr>
          <p:nvPr>
            <p:ph type="title"/>
          </p:nvPr>
        </p:nvSpPr>
        <p:spPr/>
        <p:txBody>
          <a:bodyPr/>
          <a:lstStyle/>
          <a:p>
            <a:r>
              <a:rPr lang="tr-TR" dirty="0">
                <a:cs typeface="Arial" panose="020B0604020202020204" pitchFamily="34" charset="0"/>
              </a:rPr>
              <a:t>Makine Öğrenmesi Performans Metrikleri</a:t>
            </a:r>
            <a:endParaRPr lang="tr-TR" dirty="0"/>
          </a:p>
        </p:txBody>
      </p:sp>
      <p:sp>
        <p:nvSpPr>
          <p:cNvPr id="3" name="İçerik Yer Tutucusu 2">
            <a:extLst>
              <a:ext uri="{FF2B5EF4-FFF2-40B4-BE49-F238E27FC236}">
                <a16:creationId xmlns:a16="http://schemas.microsoft.com/office/drawing/2014/main" id="{EFA9F8DE-7214-4306-B397-104C55863498}"/>
              </a:ext>
            </a:extLst>
          </p:cNvPr>
          <p:cNvSpPr>
            <a:spLocks noGrp="1"/>
          </p:cNvSpPr>
          <p:nvPr>
            <p:ph idx="1"/>
          </p:nvPr>
        </p:nvSpPr>
        <p:spPr>
          <a:xfrm>
            <a:off x="555981" y="1767396"/>
            <a:ext cx="6241059" cy="3702647"/>
          </a:xfrm>
        </p:spPr>
        <p:txBody>
          <a:bodyPr>
            <a:normAutofit/>
          </a:bodyPr>
          <a:lstStyle/>
          <a:p>
            <a:r>
              <a:rPr lang="en-US" b="1" dirty="0" err="1"/>
              <a:t>Sensivit</a:t>
            </a:r>
            <a:r>
              <a:rPr lang="tr-TR" b="1" dirty="0"/>
              <a:t>y (Hassasiyet </a:t>
            </a:r>
            <a:r>
              <a:rPr lang="en-US" b="1" dirty="0"/>
              <a:t>) </a:t>
            </a:r>
            <a:r>
              <a:rPr lang="tr-TR" b="1" dirty="0"/>
              <a:t>: </a:t>
            </a:r>
            <a:r>
              <a:rPr lang="en-US" dirty="0"/>
              <a:t>Doğru </a:t>
            </a:r>
            <a:r>
              <a:rPr lang="en-US" dirty="0" err="1"/>
              <a:t>olarak</a:t>
            </a:r>
            <a:r>
              <a:rPr lang="en-US" dirty="0"/>
              <a:t> </a:t>
            </a:r>
            <a:r>
              <a:rPr lang="en-US" dirty="0" err="1"/>
              <a:t>tahmin</a:t>
            </a:r>
            <a:r>
              <a:rPr lang="en-US" dirty="0"/>
              <a:t> </a:t>
            </a:r>
            <a:r>
              <a:rPr lang="en-US" dirty="0" err="1"/>
              <a:t>edilen</a:t>
            </a:r>
            <a:r>
              <a:rPr lang="en-US" dirty="0"/>
              <a:t> </a:t>
            </a:r>
            <a:r>
              <a:rPr lang="en-US" dirty="0" err="1"/>
              <a:t>varların</a:t>
            </a:r>
            <a:r>
              <a:rPr lang="en-US" dirty="0"/>
              <a:t> (TP) </a:t>
            </a:r>
            <a:r>
              <a:rPr lang="en-US" dirty="0" err="1"/>
              <a:t>gerçek</a:t>
            </a:r>
            <a:r>
              <a:rPr lang="en-US" dirty="0"/>
              <a:t> </a:t>
            </a:r>
            <a:r>
              <a:rPr lang="en-US" dirty="0" err="1"/>
              <a:t>varlara</a:t>
            </a:r>
            <a:r>
              <a:rPr lang="en-US" dirty="0"/>
              <a:t> </a:t>
            </a:r>
            <a:r>
              <a:rPr lang="en-US" dirty="0" err="1"/>
              <a:t>oranı</a:t>
            </a:r>
            <a:r>
              <a:rPr lang="en-US" dirty="0"/>
              <a:t>. </a:t>
            </a:r>
            <a:endParaRPr lang="tr-TR" dirty="0"/>
          </a:p>
          <a:p>
            <a:r>
              <a:rPr lang="en-US" dirty="0" err="1"/>
              <a:t>Modelin</a:t>
            </a:r>
            <a:r>
              <a:rPr lang="en-US" dirty="0"/>
              <a:t> </a:t>
            </a:r>
            <a:r>
              <a:rPr lang="en-US" dirty="0" err="1"/>
              <a:t>doğruları</a:t>
            </a:r>
            <a:r>
              <a:rPr lang="en-US" dirty="0"/>
              <a:t> </a:t>
            </a:r>
            <a:r>
              <a:rPr lang="en-US" dirty="0" err="1"/>
              <a:t>bilme</a:t>
            </a:r>
            <a:r>
              <a:rPr lang="en-US" dirty="0"/>
              <a:t> </a:t>
            </a:r>
            <a:r>
              <a:rPr lang="en-US" dirty="0" err="1"/>
              <a:t>konusundaki</a:t>
            </a:r>
            <a:r>
              <a:rPr lang="en-US" dirty="0"/>
              <a:t> </a:t>
            </a:r>
            <a:r>
              <a:rPr lang="en-US" dirty="0" err="1"/>
              <a:t>etkinliği</a:t>
            </a:r>
            <a:r>
              <a:rPr lang="en-US" dirty="0"/>
              <a:t> de </a:t>
            </a:r>
            <a:r>
              <a:rPr lang="en-US" dirty="0" err="1"/>
              <a:t>denilebilir</a:t>
            </a:r>
            <a:r>
              <a:rPr lang="en-US" dirty="0"/>
              <a:t>.</a:t>
            </a:r>
          </a:p>
          <a:p>
            <a:r>
              <a:rPr lang="tr-TR" dirty="0"/>
              <a:t>Hassasiyet</a:t>
            </a:r>
            <a:r>
              <a:rPr lang="en-US" dirty="0"/>
              <a:t> = TP / </a:t>
            </a:r>
            <a:r>
              <a:rPr lang="en-US" dirty="0" err="1"/>
              <a:t>Gerçek</a:t>
            </a:r>
            <a:r>
              <a:rPr lang="en-US" dirty="0"/>
              <a:t> </a:t>
            </a:r>
            <a:r>
              <a:rPr lang="en-US" dirty="0" err="1"/>
              <a:t>Varlar</a:t>
            </a:r>
            <a:r>
              <a:rPr lang="en-US" dirty="0"/>
              <a:t> = 200 / (200+10) = 0,95</a:t>
            </a:r>
          </a:p>
        </p:txBody>
      </p:sp>
      <p:pic>
        <p:nvPicPr>
          <p:cNvPr id="4" name="Resim 3">
            <a:extLst>
              <a:ext uri="{FF2B5EF4-FFF2-40B4-BE49-F238E27FC236}">
                <a16:creationId xmlns:a16="http://schemas.microsoft.com/office/drawing/2014/main" id="{450DB983-671D-B5FB-D643-B9CC61571A81}"/>
              </a:ext>
            </a:extLst>
          </p:cNvPr>
          <p:cNvPicPr>
            <a:picLocks noChangeAspect="1"/>
          </p:cNvPicPr>
          <p:nvPr/>
        </p:nvPicPr>
        <p:blipFill>
          <a:blip r:embed="rId2"/>
          <a:stretch>
            <a:fillRect/>
          </a:stretch>
        </p:blipFill>
        <p:spPr>
          <a:xfrm>
            <a:off x="6961164" y="1767396"/>
            <a:ext cx="4481193" cy="3100949"/>
          </a:xfrm>
          <a:prstGeom prst="rect">
            <a:avLst/>
          </a:prstGeom>
        </p:spPr>
      </p:pic>
    </p:spTree>
    <p:extLst>
      <p:ext uri="{BB962C8B-B14F-4D97-AF65-F5344CB8AC3E}">
        <p14:creationId xmlns:p14="http://schemas.microsoft.com/office/powerpoint/2010/main" val="1143526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D8444-F1A4-E084-26C2-E05061AF8E0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9241F48-E20F-7581-0772-462F1DA1202F}"/>
              </a:ext>
            </a:extLst>
          </p:cNvPr>
          <p:cNvSpPr>
            <a:spLocks noGrp="1"/>
          </p:cNvSpPr>
          <p:nvPr>
            <p:ph type="title"/>
          </p:nvPr>
        </p:nvSpPr>
        <p:spPr/>
        <p:txBody>
          <a:bodyPr/>
          <a:lstStyle/>
          <a:p>
            <a:r>
              <a:rPr lang="tr-TR" dirty="0">
                <a:cs typeface="Arial" panose="020B0604020202020204" pitchFamily="34" charset="0"/>
              </a:rPr>
              <a:t>Makine Öğrenmesi Performans Metrikleri</a:t>
            </a:r>
            <a:endParaRPr lang="tr-TR" dirty="0"/>
          </a:p>
        </p:txBody>
      </p:sp>
      <p:sp>
        <p:nvSpPr>
          <p:cNvPr id="3" name="İçerik Yer Tutucusu 2">
            <a:extLst>
              <a:ext uri="{FF2B5EF4-FFF2-40B4-BE49-F238E27FC236}">
                <a16:creationId xmlns:a16="http://schemas.microsoft.com/office/drawing/2014/main" id="{9BC5A35E-B916-55FB-72A0-134DA577DB5F}"/>
              </a:ext>
            </a:extLst>
          </p:cNvPr>
          <p:cNvSpPr>
            <a:spLocks noGrp="1"/>
          </p:cNvSpPr>
          <p:nvPr>
            <p:ph idx="1"/>
          </p:nvPr>
        </p:nvSpPr>
        <p:spPr>
          <a:xfrm>
            <a:off x="555981" y="1767396"/>
            <a:ext cx="6241059" cy="3702647"/>
          </a:xfrm>
        </p:spPr>
        <p:txBody>
          <a:bodyPr>
            <a:normAutofit/>
          </a:bodyPr>
          <a:lstStyle/>
          <a:p>
            <a:r>
              <a:rPr lang="en-US" b="1" dirty="0"/>
              <a:t>Yanlış Pozitif Oranı (False Positive Rate): </a:t>
            </a:r>
            <a:r>
              <a:rPr lang="en-US" dirty="0" err="1"/>
              <a:t>Yok’a</a:t>
            </a:r>
            <a:r>
              <a:rPr lang="en-US" dirty="0"/>
              <a:t> var deme </a:t>
            </a:r>
            <a:r>
              <a:rPr lang="en-US" dirty="0" err="1"/>
              <a:t>oranı</a:t>
            </a:r>
            <a:r>
              <a:rPr lang="en-US" dirty="0"/>
              <a:t>. </a:t>
            </a:r>
            <a:r>
              <a:rPr lang="en-US" dirty="0" err="1"/>
              <a:t>Gerçekte</a:t>
            </a:r>
            <a:r>
              <a:rPr lang="en-US" dirty="0"/>
              <a:t> yok </a:t>
            </a:r>
            <a:r>
              <a:rPr lang="en-US" dirty="0" err="1"/>
              <a:t>olan</a:t>
            </a:r>
            <a:r>
              <a:rPr lang="en-US" dirty="0"/>
              <a:t> </a:t>
            </a:r>
            <a:r>
              <a:rPr lang="en-US" dirty="0" err="1"/>
              <a:t>ancak</a:t>
            </a:r>
            <a:r>
              <a:rPr lang="en-US" dirty="0"/>
              <a:t> var </a:t>
            </a:r>
            <a:r>
              <a:rPr lang="en-US" dirty="0" err="1"/>
              <a:t>diye</a:t>
            </a:r>
            <a:r>
              <a:rPr lang="en-US" dirty="0"/>
              <a:t> </a:t>
            </a:r>
            <a:r>
              <a:rPr lang="en-US" dirty="0" err="1"/>
              <a:t>tahmin</a:t>
            </a:r>
            <a:r>
              <a:rPr lang="en-US" dirty="0"/>
              <a:t> </a:t>
            </a:r>
            <a:r>
              <a:rPr lang="en-US" dirty="0" err="1"/>
              <a:t>edilen</a:t>
            </a:r>
            <a:r>
              <a:rPr lang="en-US" dirty="0"/>
              <a:t> </a:t>
            </a:r>
            <a:r>
              <a:rPr lang="en-US" dirty="0" err="1"/>
              <a:t>hastaların</a:t>
            </a:r>
            <a:r>
              <a:rPr lang="en-US" dirty="0"/>
              <a:t> </a:t>
            </a:r>
            <a:r>
              <a:rPr lang="en-US" dirty="0" err="1"/>
              <a:t>gerçekten</a:t>
            </a:r>
            <a:r>
              <a:rPr lang="en-US" dirty="0"/>
              <a:t> hasta </a:t>
            </a:r>
            <a:r>
              <a:rPr lang="en-US" dirty="0" err="1"/>
              <a:t>olmayanlara</a:t>
            </a:r>
            <a:r>
              <a:rPr lang="en-US" dirty="0"/>
              <a:t> </a:t>
            </a:r>
            <a:r>
              <a:rPr lang="en-US" dirty="0" err="1"/>
              <a:t>oranı</a:t>
            </a:r>
            <a:r>
              <a:rPr lang="en-US" dirty="0"/>
              <a:t>. FP / </a:t>
            </a:r>
            <a:r>
              <a:rPr lang="en-US" dirty="0" err="1"/>
              <a:t>Gerçek</a:t>
            </a:r>
            <a:r>
              <a:rPr lang="en-US" dirty="0"/>
              <a:t> Yok Toplamı.</a:t>
            </a:r>
          </a:p>
          <a:p>
            <a:endParaRPr lang="en-US" dirty="0"/>
          </a:p>
          <a:p>
            <a:r>
              <a:rPr lang="en-US" b="1" dirty="0"/>
              <a:t>Yanlış Pozitif </a:t>
            </a:r>
            <a:r>
              <a:rPr lang="en-US" b="1" dirty="0" err="1"/>
              <a:t>Oranı</a:t>
            </a:r>
            <a:r>
              <a:rPr lang="en-US" b="1" dirty="0"/>
              <a:t> = </a:t>
            </a:r>
            <a:r>
              <a:rPr lang="en-US" dirty="0"/>
              <a:t>FP / </a:t>
            </a:r>
            <a:r>
              <a:rPr lang="en-US" dirty="0" err="1"/>
              <a:t>Gerçek</a:t>
            </a:r>
            <a:r>
              <a:rPr lang="en-US" dirty="0"/>
              <a:t> </a:t>
            </a:r>
            <a:r>
              <a:rPr lang="en-US" dirty="0" err="1"/>
              <a:t>Yoklar</a:t>
            </a:r>
            <a:r>
              <a:rPr lang="en-US" dirty="0"/>
              <a:t> = 20 / (100+20) = 0,17</a:t>
            </a:r>
          </a:p>
        </p:txBody>
      </p:sp>
      <p:pic>
        <p:nvPicPr>
          <p:cNvPr id="4" name="Resim 3">
            <a:extLst>
              <a:ext uri="{FF2B5EF4-FFF2-40B4-BE49-F238E27FC236}">
                <a16:creationId xmlns:a16="http://schemas.microsoft.com/office/drawing/2014/main" id="{36EA526F-096D-8BF5-60F2-B10F5FEE6C71}"/>
              </a:ext>
            </a:extLst>
          </p:cNvPr>
          <p:cNvPicPr>
            <a:picLocks noChangeAspect="1"/>
          </p:cNvPicPr>
          <p:nvPr/>
        </p:nvPicPr>
        <p:blipFill>
          <a:blip r:embed="rId2"/>
          <a:stretch>
            <a:fillRect/>
          </a:stretch>
        </p:blipFill>
        <p:spPr>
          <a:xfrm>
            <a:off x="6961164" y="1767396"/>
            <a:ext cx="4481193" cy="3100949"/>
          </a:xfrm>
          <a:prstGeom prst="rect">
            <a:avLst/>
          </a:prstGeom>
        </p:spPr>
      </p:pic>
    </p:spTree>
    <p:extLst>
      <p:ext uri="{BB962C8B-B14F-4D97-AF65-F5344CB8AC3E}">
        <p14:creationId xmlns:p14="http://schemas.microsoft.com/office/powerpoint/2010/main" val="4031905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604D0-85B5-613A-0B6B-F0849A83AF8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3A764CD-ECD9-C257-EC5B-B109E8121809}"/>
              </a:ext>
            </a:extLst>
          </p:cNvPr>
          <p:cNvSpPr>
            <a:spLocks noGrp="1"/>
          </p:cNvSpPr>
          <p:nvPr>
            <p:ph type="title"/>
          </p:nvPr>
        </p:nvSpPr>
        <p:spPr/>
        <p:txBody>
          <a:bodyPr/>
          <a:lstStyle/>
          <a:p>
            <a:r>
              <a:rPr lang="tr-TR" dirty="0">
                <a:cs typeface="Arial" panose="020B0604020202020204" pitchFamily="34" charset="0"/>
              </a:rPr>
              <a:t>Makine Öğrenmesi Performans Metrikleri</a:t>
            </a:r>
            <a:endParaRPr lang="tr-TR" dirty="0"/>
          </a:p>
        </p:txBody>
      </p:sp>
      <p:sp>
        <p:nvSpPr>
          <p:cNvPr id="3" name="İçerik Yer Tutucusu 2">
            <a:extLst>
              <a:ext uri="{FF2B5EF4-FFF2-40B4-BE49-F238E27FC236}">
                <a16:creationId xmlns:a16="http://schemas.microsoft.com/office/drawing/2014/main" id="{9A8EDC3E-C562-E6D9-9834-1C9C0A557572}"/>
              </a:ext>
            </a:extLst>
          </p:cNvPr>
          <p:cNvSpPr>
            <a:spLocks noGrp="1"/>
          </p:cNvSpPr>
          <p:nvPr>
            <p:ph idx="1"/>
          </p:nvPr>
        </p:nvSpPr>
        <p:spPr>
          <a:xfrm>
            <a:off x="555981" y="1767396"/>
            <a:ext cx="6241059" cy="3702647"/>
          </a:xfrm>
        </p:spPr>
        <p:txBody>
          <a:bodyPr>
            <a:normAutofit/>
          </a:bodyPr>
          <a:lstStyle/>
          <a:p>
            <a:r>
              <a:rPr lang="en-US" b="1" dirty="0" err="1"/>
              <a:t>Specifity</a:t>
            </a:r>
            <a:r>
              <a:rPr lang="tr-TR" b="1" dirty="0"/>
              <a:t> (Seçicilik</a:t>
            </a:r>
            <a:r>
              <a:rPr lang="en-US" b="1" dirty="0"/>
              <a:t>): </a:t>
            </a:r>
            <a:r>
              <a:rPr lang="en-US" dirty="0" err="1"/>
              <a:t>Yok’u</a:t>
            </a:r>
            <a:r>
              <a:rPr lang="en-US" dirty="0"/>
              <a:t> </a:t>
            </a:r>
            <a:r>
              <a:rPr lang="en-US" dirty="0" err="1"/>
              <a:t>tahmin</a:t>
            </a:r>
            <a:r>
              <a:rPr lang="en-US" dirty="0"/>
              <a:t> </a:t>
            </a:r>
            <a:r>
              <a:rPr lang="en-US" dirty="0" err="1"/>
              <a:t>etme</a:t>
            </a:r>
            <a:r>
              <a:rPr lang="en-US" dirty="0"/>
              <a:t> </a:t>
            </a:r>
            <a:r>
              <a:rPr lang="en-US" dirty="0" err="1"/>
              <a:t>etkinliği</a:t>
            </a:r>
            <a:r>
              <a:rPr lang="en-US" dirty="0"/>
              <a:t>. </a:t>
            </a:r>
            <a:r>
              <a:rPr lang="en-US" dirty="0" err="1"/>
              <a:t>Yok’a</a:t>
            </a:r>
            <a:r>
              <a:rPr lang="en-US" dirty="0"/>
              <a:t> ne </a:t>
            </a:r>
            <a:r>
              <a:rPr lang="en-US" dirty="0" err="1"/>
              <a:t>derece</a:t>
            </a:r>
            <a:r>
              <a:rPr lang="en-US" dirty="0"/>
              <a:t> yok </a:t>
            </a:r>
            <a:r>
              <a:rPr lang="en-US" dirty="0" err="1"/>
              <a:t>diyebilmiş</a:t>
            </a:r>
            <a:r>
              <a:rPr lang="en-US" dirty="0"/>
              <a:t> </a:t>
            </a:r>
            <a:r>
              <a:rPr lang="en-US" dirty="0" err="1"/>
              <a:t>yani</a:t>
            </a:r>
            <a:r>
              <a:rPr lang="en-US" dirty="0"/>
              <a:t>.  </a:t>
            </a:r>
            <a:endParaRPr lang="tr-TR" dirty="0"/>
          </a:p>
          <a:p>
            <a:r>
              <a:rPr lang="en-US" dirty="0"/>
              <a:t>TN/ </a:t>
            </a:r>
            <a:r>
              <a:rPr lang="en-US" dirty="0" err="1"/>
              <a:t>Gerçek</a:t>
            </a:r>
            <a:r>
              <a:rPr lang="en-US" dirty="0"/>
              <a:t> Yok </a:t>
            </a:r>
            <a:r>
              <a:rPr lang="en-US" dirty="0" err="1"/>
              <a:t>toplamı</a:t>
            </a:r>
            <a:r>
              <a:rPr lang="en-US" dirty="0"/>
              <a:t>.</a:t>
            </a:r>
          </a:p>
          <a:p>
            <a:r>
              <a:rPr lang="en-US" dirty="0" err="1"/>
              <a:t>Seçicilik</a:t>
            </a:r>
            <a:r>
              <a:rPr lang="en-US" b="1" dirty="0"/>
              <a:t> = </a:t>
            </a:r>
            <a:r>
              <a:rPr lang="en-US" dirty="0"/>
              <a:t>TN / </a:t>
            </a:r>
            <a:r>
              <a:rPr lang="en-US" dirty="0" err="1"/>
              <a:t>Gerçek</a:t>
            </a:r>
            <a:r>
              <a:rPr lang="en-US" dirty="0"/>
              <a:t> </a:t>
            </a:r>
            <a:r>
              <a:rPr lang="en-US" dirty="0" err="1"/>
              <a:t>Yoklar</a:t>
            </a:r>
            <a:r>
              <a:rPr lang="en-US" dirty="0"/>
              <a:t> = 100 / (100+20) = 0,83</a:t>
            </a:r>
          </a:p>
        </p:txBody>
      </p:sp>
      <p:pic>
        <p:nvPicPr>
          <p:cNvPr id="4" name="Resim 3">
            <a:extLst>
              <a:ext uri="{FF2B5EF4-FFF2-40B4-BE49-F238E27FC236}">
                <a16:creationId xmlns:a16="http://schemas.microsoft.com/office/drawing/2014/main" id="{CBA9CFDE-B66E-028E-F422-D5BF6E0D3FE7}"/>
              </a:ext>
            </a:extLst>
          </p:cNvPr>
          <p:cNvPicPr>
            <a:picLocks noChangeAspect="1"/>
          </p:cNvPicPr>
          <p:nvPr/>
        </p:nvPicPr>
        <p:blipFill>
          <a:blip r:embed="rId2"/>
          <a:stretch>
            <a:fillRect/>
          </a:stretch>
        </p:blipFill>
        <p:spPr>
          <a:xfrm>
            <a:off x="6961164" y="1767396"/>
            <a:ext cx="4481193" cy="3100949"/>
          </a:xfrm>
          <a:prstGeom prst="rect">
            <a:avLst/>
          </a:prstGeom>
        </p:spPr>
      </p:pic>
    </p:spTree>
    <p:extLst>
      <p:ext uri="{BB962C8B-B14F-4D97-AF65-F5344CB8AC3E}">
        <p14:creationId xmlns:p14="http://schemas.microsoft.com/office/powerpoint/2010/main" val="3299755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FD9A2-AE5E-56C9-34B5-C1226C11CE7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5D2E677-1692-C24F-441D-989DEAEA53FB}"/>
              </a:ext>
            </a:extLst>
          </p:cNvPr>
          <p:cNvSpPr>
            <a:spLocks noGrp="1"/>
          </p:cNvSpPr>
          <p:nvPr>
            <p:ph type="title"/>
          </p:nvPr>
        </p:nvSpPr>
        <p:spPr/>
        <p:txBody>
          <a:bodyPr/>
          <a:lstStyle/>
          <a:p>
            <a:r>
              <a:rPr lang="tr-TR" dirty="0">
                <a:cs typeface="Arial" panose="020B0604020202020204" pitchFamily="34" charset="0"/>
              </a:rPr>
              <a:t>Makine Öğrenmesi Performans Metrikleri</a:t>
            </a:r>
            <a:endParaRPr lang="tr-TR" dirty="0"/>
          </a:p>
        </p:txBody>
      </p:sp>
      <p:sp>
        <p:nvSpPr>
          <p:cNvPr id="3" name="İçerik Yer Tutucusu 2">
            <a:extLst>
              <a:ext uri="{FF2B5EF4-FFF2-40B4-BE49-F238E27FC236}">
                <a16:creationId xmlns:a16="http://schemas.microsoft.com/office/drawing/2014/main" id="{D07A97AD-B432-076B-4265-4CEB43A92CFC}"/>
              </a:ext>
            </a:extLst>
          </p:cNvPr>
          <p:cNvSpPr>
            <a:spLocks noGrp="1"/>
          </p:cNvSpPr>
          <p:nvPr>
            <p:ph idx="1"/>
          </p:nvPr>
        </p:nvSpPr>
        <p:spPr>
          <a:xfrm>
            <a:off x="555981" y="1767396"/>
            <a:ext cx="6241059" cy="3702647"/>
          </a:xfrm>
        </p:spPr>
        <p:txBody>
          <a:bodyPr>
            <a:normAutofit/>
          </a:bodyPr>
          <a:lstStyle/>
          <a:p>
            <a:r>
              <a:rPr lang="en-US" b="1" dirty="0"/>
              <a:t>Precision</a:t>
            </a:r>
            <a:r>
              <a:rPr lang="tr-TR" b="1" dirty="0"/>
              <a:t> (Kesinlik) </a:t>
            </a:r>
            <a:r>
              <a:rPr lang="en-US" b="1" dirty="0"/>
              <a:t>: </a:t>
            </a:r>
            <a:r>
              <a:rPr lang="en-US" dirty="0"/>
              <a:t>Doğru var </a:t>
            </a:r>
            <a:r>
              <a:rPr lang="en-US" dirty="0" err="1"/>
              <a:t>olarak</a:t>
            </a:r>
            <a:r>
              <a:rPr lang="en-US" dirty="0"/>
              <a:t> </a:t>
            </a:r>
            <a:r>
              <a:rPr lang="en-US" dirty="0" err="1"/>
              <a:t>tahmin</a:t>
            </a:r>
            <a:r>
              <a:rPr lang="en-US" dirty="0"/>
              <a:t> </a:t>
            </a:r>
            <a:r>
              <a:rPr lang="en-US" dirty="0" err="1"/>
              <a:t>edilenlerin</a:t>
            </a:r>
            <a:r>
              <a:rPr lang="en-US" dirty="0"/>
              <a:t>, </a:t>
            </a:r>
            <a:r>
              <a:rPr lang="en-US" dirty="0" err="1"/>
              <a:t>toplam</a:t>
            </a:r>
            <a:r>
              <a:rPr lang="en-US" dirty="0"/>
              <a:t> var </a:t>
            </a:r>
            <a:r>
              <a:rPr lang="en-US" dirty="0" err="1"/>
              <a:t>tahminlere</a:t>
            </a:r>
            <a:r>
              <a:rPr lang="en-US" dirty="0"/>
              <a:t> </a:t>
            </a:r>
            <a:r>
              <a:rPr lang="en-US" dirty="0" err="1"/>
              <a:t>oranı</a:t>
            </a:r>
            <a:r>
              <a:rPr lang="en-US" dirty="0"/>
              <a:t>. TP / (FP+TP)</a:t>
            </a:r>
          </a:p>
          <a:p>
            <a:endParaRPr lang="en-US" dirty="0"/>
          </a:p>
          <a:p>
            <a:r>
              <a:rPr lang="tr-TR" dirty="0"/>
              <a:t>Kesinlik </a:t>
            </a:r>
            <a:r>
              <a:rPr lang="en-US" dirty="0"/>
              <a:t>= TP/(FP+TP) = 200/220 = 0.91</a:t>
            </a:r>
          </a:p>
        </p:txBody>
      </p:sp>
      <p:pic>
        <p:nvPicPr>
          <p:cNvPr id="4" name="Resim 3">
            <a:extLst>
              <a:ext uri="{FF2B5EF4-FFF2-40B4-BE49-F238E27FC236}">
                <a16:creationId xmlns:a16="http://schemas.microsoft.com/office/drawing/2014/main" id="{B320DE2A-3253-DD87-54C9-42DE99BFEB9C}"/>
              </a:ext>
            </a:extLst>
          </p:cNvPr>
          <p:cNvPicPr>
            <a:picLocks noChangeAspect="1"/>
          </p:cNvPicPr>
          <p:nvPr/>
        </p:nvPicPr>
        <p:blipFill>
          <a:blip r:embed="rId2"/>
          <a:stretch>
            <a:fillRect/>
          </a:stretch>
        </p:blipFill>
        <p:spPr>
          <a:xfrm>
            <a:off x="6961164" y="1767396"/>
            <a:ext cx="4481193" cy="3100949"/>
          </a:xfrm>
          <a:prstGeom prst="rect">
            <a:avLst/>
          </a:prstGeom>
        </p:spPr>
      </p:pic>
    </p:spTree>
    <p:extLst>
      <p:ext uri="{BB962C8B-B14F-4D97-AF65-F5344CB8AC3E}">
        <p14:creationId xmlns:p14="http://schemas.microsoft.com/office/powerpoint/2010/main" val="1124896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9C8BA-297C-0F63-F7F3-6688FDA14A7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9BC555D-42D3-4234-5CA2-DF0774213448}"/>
              </a:ext>
            </a:extLst>
          </p:cNvPr>
          <p:cNvSpPr>
            <a:spLocks noGrp="1"/>
          </p:cNvSpPr>
          <p:nvPr>
            <p:ph type="title"/>
          </p:nvPr>
        </p:nvSpPr>
        <p:spPr/>
        <p:txBody>
          <a:bodyPr/>
          <a:lstStyle/>
          <a:p>
            <a:r>
              <a:rPr lang="tr-TR" dirty="0">
                <a:cs typeface="Arial" panose="020B0604020202020204" pitchFamily="34" charset="0"/>
              </a:rPr>
              <a:t>Makine Öğrenmesi Performans Metrikleri</a:t>
            </a:r>
            <a:endParaRPr lang="tr-TR" dirty="0"/>
          </a:p>
        </p:txBody>
      </p:sp>
      <p:sp>
        <p:nvSpPr>
          <p:cNvPr id="3" name="İçerik Yer Tutucusu 2">
            <a:extLst>
              <a:ext uri="{FF2B5EF4-FFF2-40B4-BE49-F238E27FC236}">
                <a16:creationId xmlns:a16="http://schemas.microsoft.com/office/drawing/2014/main" id="{73905638-E2E5-9B57-39FF-59AAD31E3057}"/>
              </a:ext>
            </a:extLst>
          </p:cNvPr>
          <p:cNvSpPr>
            <a:spLocks noGrp="1"/>
          </p:cNvSpPr>
          <p:nvPr>
            <p:ph idx="1"/>
          </p:nvPr>
        </p:nvSpPr>
        <p:spPr>
          <a:xfrm>
            <a:off x="555981" y="1767396"/>
            <a:ext cx="6241059" cy="3702647"/>
          </a:xfrm>
        </p:spPr>
        <p:txBody>
          <a:bodyPr>
            <a:normAutofit/>
          </a:bodyPr>
          <a:lstStyle/>
          <a:p>
            <a:pPr algn="just"/>
            <a:r>
              <a:rPr lang="tr-TR" b="1" dirty="0"/>
              <a:t>ROC Eğrisi :</a:t>
            </a:r>
            <a:r>
              <a:rPr lang="tr-TR" dirty="0"/>
              <a:t>True </a:t>
            </a:r>
            <a:r>
              <a:rPr lang="tr-TR" dirty="0" err="1"/>
              <a:t>Positive</a:t>
            </a:r>
            <a:r>
              <a:rPr lang="tr-TR" dirty="0"/>
              <a:t> Rate ve </a:t>
            </a:r>
            <a:r>
              <a:rPr lang="tr-TR" dirty="0" err="1"/>
              <a:t>False</a:t>
            </a:r>
            <a:r>
              <a:rPr lang="tr-TR" dirty="0"/>
              <a:t> </a:t>
            </a:r>
            <a:r>
              <a:rPr lang="tr-TR" dirty="0" err="1"/>
              <a:t>Positive</a:t>
            </a:r>
            <a:r>
              <a:rPr lang="tr-TR" dirty="0"/>
              <a:t> Rate </a:t>
            </a:r>
            <a:r>
              <a:rPr lang="tr-TR" dirty="0" err="1"/>
              <a:t>Receiver</a:t>
            </a:r>
            <a:r>
              <a:rPr lang="tr-TR" dirty="0"/>
              <a:t> Operating </a:t>
            </a:r>
            <a:r>
              <a:rPr lang="tr-TR" dirty="0" err="1"/>
              <a:t>Characteristic</a:t>
            </a:r>
            <a:r>
              <a:rPr lang="tr-TR" dirty="0"/>
              <a:t> (ROC) grafiği çizimi ve </a:t>
            </a:r>
            <a:r>
              <a:rPr lang="tr-TR" dirty="0" err="1"/>
              <a:t>Area</a:t>
            </a:r>
            <a:r>
              <a:rPr lang="tr-TR" dirty="0"/>
              <a:t> Under </a:t>
            </a:r>
            <a:r>
              <a:rPr lang="tr-TR" dirty="0" err="1"/>
              <a:t>Curve</a:t>
            </a:r>
            <a:r>
              <a:rPr lang="tr-TR" dirty="0"/>
              <a:t> (AUC) hesaplamada kullanılır.</a:t>
            </a:r>
          </a:p>
          <a:p>
            <a:pPr algn="just"/>
            <a:r>
              <a:rPr lang="tr-TR" dirty="0">
                <a:solidFill>
                  <a:srgbClr val="040C28"/>
                </a:solidFill>
                <a:latin typeface="Google Sans"/>
              </a:rPr>
              <a:t>P</a:t>
            </a:r>
            <a:r>
              <a:rPr lang="en-US" dirty="0" err="1">
                <a:solidFill>
                  <a:srgbClr val="040C28"/>
                </a:solidFill>
                <a:latin typeface="Google Sans"/>
              </a:rPr>
              <a:t>erformans</a:t>
            </a:r>
            <a:r>
              <a:rPr lang="en-US" dirty="0">
                <a:solidFill>
                  <a:srgbClr val="040C28"/>
                </a:solidFill>
                <a:latin typeface="Google Sans"/>
              </a:rPr>
              <a:t> </a:t>
            </a:r>
            <a:r>
              <a:rPr lang="en-US" dirty="0" err="1">
                <a:solidFill>
                  <a:srgbClr val="040C28"/>
                </a:solidFill>
                <a:latin typeface="Google Sans"/>
              </a:rPr>
              <a:t>değerlendirmek</a:t>
            </a:r>
            <a:r>
              <a:rPr lang="en-US" dirty="0">
                <a:solidFill>
                  <a:srgbClr val="040C28"/>
                </a:solidFill>
                <a:latin typeface="Google Sans"/>
              </a:rPr>
              <a:t> </a:t>
            </a:r>
            <a:r>
              <a:rPr lang="en-US" dirty="0" err="1">
                <a:solidFill>
                  <a:srgbClr val="040C28"/>
                </a:solidFill>
                <a:latin typeface="Google Sans"/>
              </a:rPr>
              <a:t>için</a:t>
            </a:r>
            <a:r>
              <a:rPr lang="en-US" dirty="0">
                <a:solidFill>
                  <a:srgbClr val="040C28"/>
                </a:solidFill>
                <a:latin typeface="Google Sans"/>
              </a:rPr>
              <a:t> </a:t>
            </a:r>
            <a:r>
              <a:rPr lang="en-US" dirty="0" err="1">
                <a:solidFill>
                  <a:srgbClr val="040C28"/>
                </a:solidFill>
                <a:latin typeface="Google Sans"/>
              </a:rPr>
              <a:t>en</a:t>
            </a:r>
            <a:r>
              <a:rPr lang="en-US" dirty="0">
                <a:solidFill>
                  <a:srgbClr val="040C28"/>
                </a:solidFill>
                <a:latin typeface="Google Sans"/>
              </a:rPr>
              <a:t> </a:t>
            </a:r>
            <a:r>
              <a:rPr lang="en-US" dirty="0" err="1">
                <a:solidFill>
                  <a:srgbClr val="040C28"/>
                </a:solidFill>
                <a:latin typeface="Google Sans"/>
              </a:rPr>
              <a:t>yaygın</a:t>
            </a:r>
            <a:r>
              <a:rPr lang="en-US" dirty="0">
                <a:solidFill>
                  <a:srgbClr val="040C28"/>
                </a:solidFill>
                <a:latin typeface="Google Sans"/>
              </a:rPr>
              <a:t> </a:t>
            </a:r>
            <a:r>
              <a:rPr lang="en-US" dirty="0" err="1">
                <a:solidFill>
                  <a:srgbClr val="040C28"/>
                </a:solidFill>
                <a:latin typeface="Google Sans"/>
              </a:rPr>
              <a:t>kullanılan</a:t>
            </a:r>
            <a:r>
              <a:rPr lang="en-US" dirty="0">
                <a:solidFill>
                  <a:srgbClr val="040C28"/>
                </a:solidFill>
                <a:latin typeface="Google Sans"/>
              </a:rPr>
              <a:t> </a:t>
            </a:r>
            <a:r>
              <a:rPr lang="en-US" dirty="0" err="1">
                <a:solidFill>
                  <a:srgbClr val="040C28"/>
                </a:solidFill>
                <a:latin typeface="Google Sans"/>
              </a:rPr>
              <a:t>ölçümlerden</a:t>
            </a:r>
            <a:r>
              <a:rPr lang="en-US" dirty="0">
                <a:solidFill>
                  <a:srgbClr val="040C28"/>
                </a:solidFill>
                <a:latin typeface="Google Sans"/>
              </a:rPr>
              <a:t> </a:t>
            </a:r>
            <a:r>
              <a:rPr lang="en-US" dirty="0" err="1">
                <a:solidFill>
                  <a:srgbClr val="040C28"/>
                </a:solidFill>
                <a:latin typeface="Google Sans"/>
              </a:rPr>
              <a:t>biridir</a:t>
            </a:r>
            <a:r>
              <a:rPr lang="en-US" dirty="0">
                <a:solidFill>
                  <a:srgbClr val="202124"/>
                </a:solidFill>
                <a:latin typeface="Google Sans"/>
              </a:rPr>
              <a:t>. </a:t>
            </a:r>
            <a:endParaRPr lang="tr-TR" dirty="0">
              <a:solidFill>
                <a:srgbClr val="202124"/>
              </a:solidFill>
              <a:latin typeface="Google Sans"/>
            </a:endParaRPr>
          </a:p>
          <a:p>
            <a:pPr algn="just"/>
            <a:r>
              <a:rPr lang="en-US" dirty="0">
                <a:solidFill>
                  <a:srgbClr val="202124"/>
                </a:solidFill>
                <a:latin typeface="Google Sans"/>
              </a:rPr>
              <a:t>Ve </a:t>
            </a:r>
            <a:r>
              <a:rPr lang="en-US" dirty="0" err="1">
                <a:solidFill>
                  <a:srgbClr val="202124"/>
                </a:solidFill>
                <a:latin typeface="Google Sans"/>
              </a:rPr>
              <a:t>modelin</a:t>
            </a:r>
            <a:r>
              <a:rPr lang="en-US" dirty="0">
                <a:solidFill>
                  <a:srgbClr val="202124"/>
                </a:solidFill>
                <a:latin typeface="Google Sans"/>
              </a:rPr>
              <a:t> </a:t>
            </a:r>
            <a:r>
              <a:rPr lang="en-US" dirty="0" err="1">
                <a:solidFill>
                  <a:srgbClr val="202124"/>
                </a:solidFill>
                <a:latin typeface="Google Sans"/>
              </a:rPr>
              <a:t>tahmininde</a:t>
            </a:r>
            <a:r>
              <a:rPr lang="en-US" dirty="0">
                <a:solidFill>
                  <a:srgbClr val="202124"/>
                </a:solidFill>
                <a:latin typeface="Google Sans"/>
              </a:rPr>
              <a:t> ne </a:t>
            </a:r>
            <a:r>
              <a:rPr lang="en-US" dirty="0" err="1">
                <a:solidFill>
                  <a:srgbClr val="202124"/>
                </a:solidFill>
                <a:latin typeface="Google Sans"/>
              </a:rPr>
              <a:t>kadar</a:t>
            </a:r>
            <a:r>
              <a:rPr lang="en-US" dirty="0">
                <a:solidFill>
                  <a:srgbClr val="202124"/>
                </a:solidFill>
                <a:latin typeface="Google Sans"/>
              </a:rPr>
              <a:t> iyi </a:t>
            </a:r>
            <a:r>
              <a:rPr lang="en-US" dirty="0" err="1">
                <a:solidFill>
                  <a:srgbClr val="202124"/>
                </a:solidFill>
                <a:latin typeface="Google Sans"/>
              </a:rPr>
              <a:t>olduğunu</a:t>
            </a:r>
            <a:r>
              <a:rPr lang="en-US" dirty="0">
                <a:solidFill>
                  <a:srgbClr val="202124"/>
                </a:solidFill>
                <a:latin typeface="Google Sans"/>
              </a:rPr>
              <a:t> </a:t>
            </a:r>
            <a:r>
              <a:rPr lang="en-US" dirty="0" err="1">
                <a:solidFill>
                  <a:srgbClr val="202124"/>
                </a:solidFill>
                <a:latin typeface="Google Sans"/>
              </a:rPr>
              <a:t>açıklar</a:t>
            </a:r>
            <a:r>
              <a:rPr lang="en-US" dirty="0">
                <a:solidFill>
                  <a:srgbClr val="202124"/>
                </a:solidFill>
                <a:latin typeface="Google Sans"/>
              </a:rPr>
              <a:t>. </a:t>
            </a:r>
            <a:endParaRPr lang="tr-TR" dirty="0">
              <a:solidFill>
                <a:srgbClr val="202124"/>
              </a:solidFill>
              <a:latin typeface="Google Sans"/>
            </a:endParaRPr>
          </a:p>
          <a:p>
            <a:pPr algn="just"/>
            <a:r>
              <a:rPr lang="en-US" dirty="0">
                <a:solidFill>
                  <a:srgbClr val="202124"/>
                </a:solidFill>
                <a:latin typeface="Google Sans"/>
              </a:rPr>
              <a:t>ROC </a:t>
            </a:r>
            <a:r>
              <a:rPr lang="en-US" dirty="0" err="1">
                <a:solidFill>
                  <a:srgbClr val="202124"/>
                </a:solidFill>
                <a:latin typeface="Google Sans"/>
              </a:rPr>
              <a:t>farklı</a:t>
            </a:r>
            <a:r>
              <a:rPr lang="en-US" dirty="0">
                <a:solidFill>
                  <a:srgbClr val="202124"/>
                </a:solidFill>
                <a:latin typeface="Google Sans"/>
              </a:rPr>
              <a:t> </a:t>
            </a:r>
            <a:r>
              <a:rPr lang="en-US" dirty="0" err="1">
                <a:solidFill>
                  <a:srgbClr val="202124"/>
                </a:solidFill>
                <a:latin typeface="Google Sans"/>
              </a:rPr>
              <a:t>sınıflar</a:t>
            </a:r>
            <a:r>
              <a:rPr lang="en-US" dirty="0">
                <a:solidFill>
                  <a:srgbClr val="202124"/>
                </a:solidFill>
                <a:latin typeface="Google Sans"/>
              </a:rPr>
              <a:t> </a:t>
            </a:r>
            <a:r>
              <a:rPr lang="en-US" dirty="0" err="1">
                <a:solidFill>
                  <a:srgbClr val="202124"/>
                </a:solidFill>
                <a:latin typeface="Google Sans"/>
              </a:rPr>
              <a:t>için</a:t>
            </a:r>
            <a:r>
              <a:rPr lang="en-US" dirty="0">
                <a:solidFill>
                  <a:srgbClr val="202124"/>
                </a:solidFill>
                <a:latin typeface="Google Sans"/>
              </a:rPr>
              <a:t> </a:t>
            </a:r>
            <a:r>
              <a:rPr lang="en-US" dirty="0" err="1">
                <a:solidFill>
                  <a:srgbClr val="202124"/>
                </a:solidFill>
                <a:latin typeface="Google Sans"/>
              </a:rPr>
              <a:t>bir</a:t>
            </a:r>
            <a:r>
              <a:rPr lang="en-US" dirty="0">
                <a:solidFill>
                  <a:srgbClr val="202124"/>
                </a:solidFill>
                <a:latin typeface="Google Sans"/>
              </a:rPr>
              <a:t> </a:t>
            </a:r>
            <a:r>
              <a:rPr lang="en-US" dirty="0" err="1">
                <a:solidFill>
                  <a:srgbClr val="202124"/>
                </a:solidFill>
                <a:latin typeface="Google Sans"/>
              </a:rPr>
              <a:t>olasılık</a:t>
            </a:r>
            <a:r>
              <a:rPr lang="en-US" dirty="0">
                <a:solidFill>
                  <a:srgbClr val="202124"/>
                </a:solidFill>
                <a:latin typeface="Google Sans"/>
              </a:rPr>
              <a:t> </a:t>
            </a:r>
            <a:r>
              <a:rPr lang="en-US" dirty="0" err="1">
                <a:solidFill>
                  <a:srgbClr val="202124"/>
                </a:solidFill>
                <a:latin typeface="Google Sans"/>
              </a:rPr>
              <a:t>eğrisidir</a:t>
            </a:r>
            <a:r>
              <a:rPr lang="en-US" dirty="0">
                <a:solidFill>
                  <a:srgbClr val="202124"/>
                </a:solidFill>
                <a:latin typeface="Google Sans"/>
              </a:rPr>
              <a:t>.</a:t>
            </a:r>
            <a:endParaRPr lang="tr-TR" dirty="0"/>
          </a:p>
        </p:txBody>
      </p:sp>
      <p:pic>
        <p:nvPicPr>
          <p:cNvPr id="5" name="Resim 4">
            <a:extLst>
              <a:ext uri="{FF2B5EF4-FFF2-40B4-BE49-F238E27FC236}">
                <a16:creationId xmlns:a16="http://schemas.microsoft.com/office/drawing/2014/main" id="{361FCDBE-6FD4-C3FB-96FD-BF7E6054E1B9}"/>
              </a:ext>
            </a:extLst>
          </p:cNvPr>
          <p:cNvPicPr>
            <a:picLocks noChangeAspect="1"/>
          </p:cNvPicPr>
          <p:nvPr/>
        </p:nvPicPr>
        <p:blipFill>
          <a:blip r:embed="rId2"/>
          <a:stretch>
            <a:fillRect/>
          </a:stretch>
        </p:blipFill>
        <p:spPr>
          <a:xfrm>
            <a:off x="7635240" y="1767395"/>
            <a:ext cx="3291840" cy="4909101"/>
          </a:xfrm>
          <a:prstGeom prst="rect">
            <a:avLst/>
          </a:prstGeom>
        </p:spPr>
      </p:pic>
    </p:spTree>
    <p:extLst>
      <p:ext uri="{BB962C8B-B14F-4D97-AF65-F5344CB8AC3E}">
        <p14:creationId xmlns:p14="http://schemas.microsoft.com/office/powerpoint/2010/main" val="3631670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4C01E-A7C9-FBE6-043B-4DB4D372802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D221BE81-FD49-5F18-5658-7393403B0BE8}"/>
              </a:ext>
            </a:extLst>
          </p:cNvPr>
          <p:cNvSpPr>
            <a:spLocks noGrp="1"/>
          </p:cNvSpPr>
          <p:nvPr>
            <p:ph type="title"/>
          </p:nvPr>
        </p:nvSpPr>
        <p:spPr/>
        <p:txBody>
          <a:bodyPr/>
          <a:lstStyle/>
          <a:p>
            <a:r>
              <a:rPr lang="tr-TR" dirty="0">
                <a:cs typeface="Arial" panose="020B0604020202020204" pitchFamily="34" charset="0"/>
              </a:rPr>
              <a:t>Makine Öğrenmesi Performans Metrikleri</a:t>
            </a:r>
            <a:endParaRPr lang="tr-TR" dirty="0"/>
          </a:p>
        </p:txBody>
      </p:sp>
      <p:sp>
        <p:nvSpPr>
          <p:cNvPr id="3" name="İçerik Yer Tutucusu 2">
            <a:extLst>
              <a:ext uri="{FF2B5EF4-FFF2-40B4-BE49-F238E27FC236}">
                <a16:creationId xmlns:a16="http://schemas.microsoft.com/office/drawing/2014/main" id="{2DC88CCA-E674-EA03-672F-A55C110857EB}"/>
              </a:ext>
            </a:extLst>
          </p:cNvPr>
          <p:cNvSpPr>
            <a:spLocks noGrp="1"/>
          </p:cNvSpPr>
          <p:nvPr>
            <p:ph idx="1"/>
          </p:nvPr>
        </p:nvSpPr>
        <p:spPr>
          <a:xfrm>
            <a:off x="555981" y="1767396"/>
            <a:ext cx="6241059" cy="3702647"/>
          </a:xfrm>
        </p:spPr>
        <p:txBody>
          <a:bodyPr>
            <a:normAutofit/>
          </a:bodyPr>
          <a:lstStyle/>
          <a:p>
            <a:pPr algn="just"/>
            <a:r>
              <a:rPr lang="tr-TR" b="1" dirty="0" err="1"/>
              <a:t>Area</a:t>
            </a:r>
            <a:r>
              <a:rPr lang="tr-TR" b="1" dirty="0"/>
              <a:t> Under </a:t>
            </a:r>
            <a:r>
              <a:rPr lang="tr-TR" b="1" dirty="0" err="1"/>
              <a:t>Curve</a:t>
            </a:r>
            <a:r>
              <a:rPr lang="tr-TR" b="1" dirty="0"/>
              <a:t> (AUC) : </a:t>
            </a:r>
            <a:r>
              <a:rPr lang="tr-TR" dirty="0"/>
              <a:t>ROC eğrisinin altında kalan alandır. Alanın büyük olması modelin başarılı olduğu, küçük olması ise modelin başarısız olduğu anlamına gelir.</a:t>
            </a:r>
          </a:p>
          <a:p>
            <a:pPr algn="just"/>
            <a:r>
              <a:rPr lang="tr-TR" dirty="0"/>
              <a:t>Yani diğer bir ifadeyle buradaki sürekli çizgi ne kadar geniş bir alan kaplıyorsa modelin tahmin başarısı o kadar yüksek demektir.</a:t>
            </a:r>
          </a:p>
          <a:p>
            <a:pPr algn="just"/>
            <a:r>
              <a:rPr lang="tr-TR" dirty="0"/>
              <a:t>En kötü AUC 0,5 ve en iyi AUC 1,0'dır.</a:t>
            </a:r>
          </a:p>
        </p:txBody>
      </p:sp>
      <p:pic>
        <p:nvPicPr>
          <p:cNvPr id="4" name="Resim 3">
            <a:extLst>
              <a:ext uri="{FF2B5EF4-FFF2-40B4-BE49-F238E27FC236}">
                <a16:creationId xmlns:a16="http://schemas.microsoft.com/office/drawing/2014/main" id="{8A349266-9423-FB09-2BDD-D41788E48FF1}"/>
              </a:ext>
            </a:extLst>
          </p:cNvPr>
          <p:cNvPicPr>
            <a:picLocks noChangeAspect="1"/>
          </p:cNvPicPr>
          <p:nvPr/>
        </p:nvPicPr>
        <p:blipFill>
          <a:blip r:embed="rId2"/>
          <a:stretch>
            <a:fillRect/>
          </a:stretch>
        </p:blipFill>
        <p:spPr>
          <a:xfrm>
            <a:off x="7087939" y="1767396"/>
            <a:ext cx="4847159" cy="3695700"/>
          </a:xfrm>
          <a:prstGeom prst="rect">
            <a:avLst/>
          </a:prstGeom>
        </p:spPr>
      </p:pic>
    </p:spTree>
    <p:extLst>
      <p:ext uri="{BB962C8B-B14F-4D97-AF65-F5344CB8AC3E}">
        <p14:creationId xmlns:p14="http://schemas.microsoft.com/office/powerpoint/2010/main" val="3961960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A6BA7-EB61-876C-7847-2BAA04DC3E2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44A6B32-D29A-77CB-C948-6ADB5BDAA0ED}"/>
              </a:ext>
            </a:extLst>
          </p:cNvPr>
          <p:cNvSpPr>
            <a:spLocks noGrp="1"/>
          </p:cNvSpPr>
          <p:nvPr>
            <p:ph type="title"/>
          </p:nvPr>
        </p:nvSpPr>
        <p:spPr/>
        <p:txBody>
          <a:bodyPr/>
          <a:lstStyle/>
          <a:p>
            <a:r>
              <a:rPr lang="tr-TR" dirty="0">
                <a:cs typeface="Arial" panose="020B0604020202020204" pitchFamily="34" charset="0"/>
              </a:rPr>
              <a:t>Makine Öğrenmesi Performans Metrikleri</a:t>
            </a:r>
            <a:endParaRPr lang="tr-TR" dirty="0"/>
          </a:p>
        </p:txBody>
      </p:sp>
      <p:sp>
        <p:nvSpPr>
          <p:cNvPr id="3" name="İçerik Yer Tutucusu 2">
            <a:extLst>
              <a:ext uri="{FF2B5EF4-FFF2-40B4-BE49-F238E27FC236}">
                <a16:creationId xmlns:a16="http://schemas.microsoft.com/office/drawing/2014/main" id="{BC0BC255-A3D8-5D9B-EC9A-6DF171587931}"/>
              </a:ext>
            </a:extLst>
          </p:cNvPr>
          <p:cNvSpPr>
            <a:spLocks noGrp="1"/>
          </p:cNvSpPr>
          <p:nvPr>
            <p:ph idx="1"/>
          </p:nvPr>
        </p:nvSpPr>
        <p:spPr>
          <a:xfrm>
            <a:off x="555981" y="1767397"/>
            <a:ext cx="10886376" cy="1204404"/>
          </a:xfrm>
        </p:spPr>
        <p:txBody>
          <a:bodyPr>
            <a:normAutofit/>
          </a:bodyPr>
          <a:lstStyle/>
          <a:p>
            <a:pPr algn="just"/>
            <a:r>
              <a:rPr lang="tr-TR" b="1" dirty="0" err="1"/>
              <a:t>Area</a:t>
            </a:r>
            <a:r>
              <a:rPr lang="tr-TR" b="1" dirty="0"/>
              <a:t> Under </a:t>
            </a:r>
            <a:r>
              <a:rPr lang="tr-TR" b="1" dirty="0" err="1"/>
              <a:t>Curve</a:t>
            </a:r>
            <a:r>
              <a:rPr lang="tr-TR" b="1" dirty="0"/>
              <a:t> (AUC): </a:t>
            </a:r>
            <a:r>
              <a:rPr lang="tr-TR" dirty="0"/>
              <a:t>AUC, modelin ayırt ediciliğini temsil eder. AUC yüksek ise model daha iyi tahmin yapmış demektir.</a:t>
            </a:r>
          </a:p>
        </p:txBody>
      </p:sp>
      <p:pic>
        <p:nvPicPr>
          <p:cNvPr id="5" name="Resim 4">
            <a:extLst>
              <a:ext uri="{FF2B5EF4-FFF2-40B4-BE49-F238E27FC236}">
                <a16:creationId xmlns:a16="http://schemas.microsoft.com/office/drawing/2014/main" id="{08400641-E989-249F-57AF-BBFBCA2AF589}"/>
              </a:ext>
            </a:extLst>
          </p:cNvPr>
          <p:cNvPicPr>
            <a:picLocks noChangeAspect="1"/>
          </p:cNvPicPr>
          <p:nvPr/>
        </p:nvPicPr>
        <p:blipFill>
          <a:blip r:embed="rId2"/>
          <a:stretch>
            <a:fillRect/>
          </a:stretch>
        </p:blipFill>
        <p:spPr>
          <a:xfrm>
            <a:off x="2908748" y="2413171"/>
            <a:ext cx="7233713" cy="4368144"/>
          </a:xfrm>
          <a:prstGeom prst="rect">
            <a:avLst/>
          </a:prstGeom>
        </p:spPr>
      </p:pic>
    </p:spTree>
    <p:extLst>
      <p:ext uri="{BB962C8B-B14F-4D97-AF65-F5344CB8AC3E}">
        <p14:creationId xmlns:p14="http://schemas.microsoft.com/office/powerpoint/2010/main" val="2652019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08760-57AD-8382-BE1C-564EFE2C088F}"/>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554E28CE-C8A4-4DC0-7699-080F0F99DD00}"/>
              </a:ext>
            </a:extLst>
          </p:cNvPr>
          <p:cNvSpPr>
            <a:spLocks noGrp="1"/>
          </p:cNvSpPr>
          <p:nvPr>
            <p:ph type="title"/>
          </p:nvPr>
        </p:nvSpPr>
        <p:spPr/>
        <p:txBody>
          <a:bodyPr/>
          <a:lstStyle/>
          <a:p>
            <a:r>
              <a:rPr lang="tr-TR" dirty="0">
                <a:cs typeface="Arial" panose="020B0604020202020204" pitchFamily="34" charset="0"/>
              </a:rPr>
              <a:t>Makine Öğrenmesi Terimleri</a:t>
            </a:r>
          </a:p>
        </p:txBody>
      </p:sp>
      <p:sp>
        <p:nvSpPr>
          <p:cNvPr id="3" name="İçerik Yer Tutucusu 2">
            <a:extLst>
              <a:ext uri="{FF2B5EF4-FFF2-40B4-BE49-F238E27FC236}">
                <a16:creationId xmlns:a16="http://schemas.microsoft.com/office/drawing/2014/main" id="{CE704CD3-08FE-9FBE-50F8-605421789B88}"/>
              </a:ext>
            </a:extLst>
          </p:cNvPr>
          <p:cNvSpPr>
            <a:spLocks noGrp="1"/>
          </p:cNvSpPr>
          <p:nvPr>
            <p:ph idx="1"/>
          </p:nvPr>
        </p:nvSpPr>
        <p:spPr>
          <a:xfrm>
            <a:off x="677334" y="1577785"/>
            <a:ext cx="7592459" cy="3880773"/>
          </a:xfrm>
        </p:spPr>
        <p:txBody>
          <a:bodyPr>
            <a:normAutofit/>
          </a:bodyPr>
          <a:lstStyle/>
          <a:p>
            <a:pPr algn="just"/>
            <a:r>
              <a:rPr lang="en-US" b="1" i="0" dirty="0" err="1">
                <a:solidFill>
                  <a:srgbClr val="0D0D0D"/>
                </a:solidFill>
                <a:effectLst/>
                <a:cs typeface="Arial" panose="020B0604020202020204" pitchFamily="34" charset="0"/>
              </a:rPr>
              <a:t>Regresyon</a:t>
            </a:r>
            <a:r>
              <a:rPr lang="en-US" b="1" i="0" dirty="0">
                <a:solidFill>
                  <a:srgbClr val="0D0D0D"/>
                </a:solidFill>
                <a:effectLst/>
                <a:cs typeface="Arial" panose="020B0604020202020204" pitchFamily="34" charset="0"/>
              </a:rPr>
              <a:t> (Regression)</a:t>
            </a:r>
            <a:r>
              <a:rPr lang="en-US" b="0" i="0" dirty="0">
                <a:solidFill>
                  <a:srgbClr val="0D0D0D"/>
                </a:solidFill>
                <a:effectLst/>
                <a:cs typeface="Arial" panose="020B0604020202020204" pitchFamily="34" charset="0"/>
              </a:rPr>
              <a:t>:</a:t>
            </a:r>
            <a:r>
              <a:rPr lang="tr-TR"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Bağımlı</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bağımsız</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değişkenler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arasındaki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ilişkiyi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tanımlayan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sürekli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bir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çıktı</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tahmin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etmeye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yönelik</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bir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makine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öğrenmesi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tekniğidir</a:t>
            </a:r>
            <a:r>
              <a:rPr lang="en-US" b="0" i="0" dirty="0">
                <a:solidFill>
                  <a:srgbClr val="0D0D0D"/>
                </a:solidFill>
                <a:effectLst/>
                <a:cs typeface="Arial" panose="020B0604020202020204" pitchFamily="34" charset="0"/>
              </a:rPr>
              <a:t>.</a:t>
            </a:r>
            <a:endParaRPr lang="tr-TR" b="0" i="0" dirty="0">
              <a:solidFill>
                <a:srgbClr val="0D0D0D"/>
              </a:solidFill>
              <a:effectLst/>
              <a:cs typeface="Arial" panose="020B0604020202020204" pitchFamily="34" charset="0"/>
            </a:endParaRPr>
          </a:p>
          <a:p>
            <a:pPr marL="0" indent="0" algn="just">
              <a:buNone/>
            </a:pPr>
            <a:endParaRPr lang="en-US" sz="2800" b="0" i="0" dirty="0">
              <a:solidFill>
                <a:srgbClr val="0D0D0D"/>
              </a:solidFill>
              <a:effectLst/>
              <a:latin typeface="Arial" panose="020B0604020202020204" pitchFamily="34" charset="0"/>
              <a:cs typeface="Arial" panose="020B0604020202020204" pitchFamily="34" charset="0"/>
            </a:endParaRPr>
          </a:p>
        </p:txBody>
      </p:sp>
      <p:pic>
        <p:nvPicPr>
          <p:cNvPr id="5" name="Resim 4">
            <a:extLst>
              <a:ext uri="{FF2B5EF4-FFF2-40B4-BE49-F238E27FC236}">
                <a16:creationId xmlns:a16="http://schemas.microsoft.com/office/drawing/2014/main" id="{46547573-2670-6DAE-524F-E57B4331D9E3}"/>
              </a:ext>
            </a:extLst>
          </p:cNvPr>
          <p:cNvPicPr>
            <a:picLocks noChangeAspect="1"/>
          </p:cNvPicPr>
          <p:nvPr/>
        </p:nvPicPr>
        <p:blipFill>
          <a:blip r:embed="rId2"/>
          <a:stretch>
            <a:fillRect/>
          </a:stretch>
        </p:blipFill>
        <p:spPr>
          <a:xfrm>
            <a:off x="7477405" y="3253823"/>
            <a:ext cx="3078721" cy="3026804"/>
          </a:xfrm>
          <a:prstGeom prst="rect">
            <a:avLst/>
          </a:prstGeom>
        </p:spPr>
      </p:pic>
      <p:sp>
        <p:nvSpPr>
          <p:cNvPr id="12" name="Metin kutusu 11">
            <a:extLst>
              <a:ext uri="{FF2B5EF4-FFF2-40B4-BE49-F238E27FC236}">
                <a16:creationId xmlns:a16="http://schemas.microsoft.com/office/drawing/2014/main" id="{442F1FD2-6E82-B145-B61C-93136E261E74}"/>
              </a:ext>
            </a:extLst>
          </p:cNvPr>
          <p:cNvSpPr txBox="1"/>
          <p:nvPr/>
        </p:nvSpPr>
        <p:spPr>
          <a:xfrm>
            <a:off x="601042" y="3253823"/>
            <a:ext cx="7457736" cy="1323439"/>
          </a:xfrm>
          <a:prstGeom prst="rect">
            <a:avLst/>
          </a:prstGeom>
          <a:noFill/>
        </p:spPr>
        <p:txBody>
          <a:bodyPr wrap="square">
            <a:spAutoFit/>
          </a:bodyPr>
          <a:lstStyle/>
          <a:p>
            <a:pPr marL="342900" indent="-342900">
              <a:buFont typeface="Arial" panose="020B0604020202020204" pitchFamily="34" charset="0"/>
              <a:buChar char="•"/>
            </a:pPr>
            <a:r>
              <a:rPr lang="en-US" sz="2000" i="0" dirty="0" err="1">
                <a:solidFill>
                  <a:srgbClr val="242424"/>
                </a:solidFill>
                <a:effectLst/>
                <a:cs typeface="Arial" panose="020B0604020202020204" pitchFamily="34" charset="0"/>
              </a:rPr>
              <a:t>Eğer</a:t>
            </a:r>
            <a:r>
              <a:rPr lang="en-US" sz="2000" i="0" dirty="0">
                <a:solidFill>
                  <a:srgbClr val="242424"/>
                </a:solidFill>
                <a:effectLst/>
                <a:cs typeface="Arial" panose="020B0604020202020204" pitchFamily="34" charset="0"/>
              </a:rPr>
              <a:t> </a:t>
            </a:r>
            <a:r>
              <a:rPr lang="en-US" sz="2000" i="0" dirty="0" err="1">
                <a:solidFill>
                  <a:srgbClr val="242424"/>
                </a:solidFill>
                <a:effectLst/>
                <a:cs typeface="Arial" panose="020B0604020202020204" pitchFamily="34" charset="0"/>
              </a:rPr>
              <a:t>ilgilendiğimiz</a:t>
            </a:r>
            <a:r>
              <a:rPr lang="en-US" sz="2000" i="0" dirty="0">
                <a:solidFill>
                  <a:srgbClr val="242424"/>
                </a:solidFill>
                <a:effectLst/>
                <a:cs typeface="Arial" panose="020B0604020202020204" pitchFamily="34" charset="0"/>
              </a:rPr>
              <a:t> problem </a:t>
            </a:r>
            <a:r>
              <a:rPr lang="en-US" sz="2000" i="0" dirty="0" err="1">
                <a:solidFill>
                  <a:srgbClr val="242424"/>
                </a:solidFill>
                <a:effectLst/>
                <a:cs typeface="Arial" panose="020B0604020202020204" pitchFamily="34" charset="0"/>
              </a:rPr>
              <a:t>regresyon</a:t>
            </a:r>
            <a:r>
              <a:rPr lang="en-US" sz="2000" i="0" dirty="0">
                <a:solidFill>
                  <a:srgbClr val="242424"/>
                </a:solidFill>
                <a:effectLst/>
                <a:cs typeface="Arial" panose="020B0604020202020204" pitchFamily="34" charset="0"/>
              </a:rPr>
              <a:t> </a:t>
            </a:r>
            <a:r>
              <a:rPr lang="en-US" sz="2000" i="0" dirty="0" err="1">
                <a:solidFill>
                  <a:srgbClr val="242424"/>
                </a:solidFill>
                <a:effectLst/>
                <a:cs typeface="Arial" panose="020B0604020202020204" pitchFamily="34" charset="0"/>
              </a:rPr>
              <a:t>problemi</a:t>
            </a:r>
            <a:r>
              <a:rPr lang="en-US" sz="2000" i="0" dirty="0">
                <a:solidFill>
                  <a:srgbClr val="242424"/>
                </a:solidFill>
                <a:effectLst/>
                <a:cs typeface="Arial" panose="020B0604020202020204" pitchFamily="34" charset="0"/>
              </a:rPr>
              <a:t> </a:t>
            </a:r>
            <a:r>
              <a:rPr lang="en-US" sz="2000" i="0" dirty="0" err="1">
                <a:solidFill>
                  <a:srgbClr val="242424"/>
                </a:solidFill>
                <a:effectLst/>
                <a:cs typeface="Arial" panose="020B0604020202020204" pitchFamily="34" charset="0"/>
              </a:rPr>
              <a:t>ise</a:t>
            </a:r>
            <a:r>
              <a:rPr lang="en-US" sz="2000" i="0" dirty="0">
                <a:solidFill>
                  <a:srgbClr val="242424"/>
                </a:solidFill>
                <a:effectLst/>
                <a:cs typeface="Arial" panose="020B0604020202020204" pitchFamily="34" charset="0"/>
              </a:rPr>
              <a:t>;</a:t>
            </a:r>
            <a:br>
              <a:rPr lang="en-US" sz="2000" dirty="0">
                <a:cs typeface="Arial" panose="020B0604020202020204" pitchFamily="34" charset="0"/>
              </a:rPr>
            </a:br>
            <a:r>
              <a:rPr lang="en-US" sz="2000" i="0" dirty="0">
                <a:solidFill>
                  <a:srgbClr val="242424"/>
                </a:solidFill>
                <a:effectLst/>
                <a:cs typeface="Arial" panose="020B0604020202020204" pitchFamily="34" charset="0"/>
              </a:rPr>
              <a:t>- MSE (Mean Square Error)</a:t>
            </a:r>
            <a:br>
              <a:rPr lang="en-US" sz="2000" dirty="0">
                <a:cs typeface="Arial" panose="020B0604020202020204" pitchFamily="34" charset="0"/>
              </a:rPr>
            </a:br>
            <a:r>
              <a:rPr lang="en-US" sz="2000" i="0" dirty="0">
                <a:solidFill>
                  <a:srgbClr val="242424"/>
                </a:solidFill>
                <a:effectLst/>
                <a:cs typeface="Arial" panose="020B0604020202020204" pitchFamily="34" charset="0"/>
              </a:rPr>
              <a:t>- RMSE (Root Mean Square Error)</a:t>
            </a:r>
            <a:br>
              <a:rPr lang="en-US" sz="2000" dirty="0">
                <a:cs typeface="Arial" panose="020B0604020202020204" pitchFamily="34" charset="0"/>
              </a:rPr>
            </a:br>
            <a:r>
              <a:rPr lang="en-US" sz="2000" i="0" dirty="0">
                <a:solidFill>
                  <a:srgbClr val="242424"/>
                </a:solidFill>
                <a:effectLst/>
                <a:cs typeface="Arial" panose="020B0604020202020204" pitchFamily="34" charset="0"/>
              </a:rPr>
              <a:t>- MAE (Mean Absolute Error)</a:t>
            </a:r>
            <a:endParaRPr lang="en-US" sz="2000" dirty="0">
              <a:cs typeface="Arial" panose="020B0604020202020204" pitchFamily="34" charset="0"/>
            </a:endParaRPr>
          </a:p>
        </p:txBody>
      </p:sp>
    </p:spTree>
    <p:extLst>
      <p:ext uri="{BB962C8B-B14F-4D97-AF65-F5344CB8AC3E}">
        <p14:creationId xmlns:p14="http://schemas.microsoft.com/office/powerpoint/2010/main" val="2405973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D5BD2-4878-354B-C8E4-B987C45B5F51}"/>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664FD832-C952-28C9-1B69-5B16020CE310}"/>
              </a:ext>
            </a:extLst>
          </p:cNvPr>
          <p:cNvSpPr>
            <a:spLocks noGrp="1"/>
          </p:cNvSpPr>
          <p:nvPr>
            <p:ph type="title"/>
          </p:nvPr>
        </p:nvSpPr>
        <p:spPr/>
        <p:txBody>
          <a:bodyPr/>
          <a:lstStyle/>
          <a:p>
            <a:r>
              <a:rPr lang="tr-TR" dirty="0">
                <a:cs typeface="Arial" panose="020B0604020202020204" pitchFamily="34" charset="0"/>
              </a:rPr>
              <a:t>Makine Öğrenmesi Performans Metrikleri</a:t>
            </a:r>
            <a:endParaRPr lang="tr-TR"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9FFAB36A-ED67-2B1C-6FEA-4E80BFEA2186}"/>
              </a:ext>
            </a:extLst>
          </p:cNvPr>
          <p:cNvSpPr>
            <a:spLocks noGrp="1"/>
          </p:cNvSpPr>
          <p:nvPr>
            <p:ph idx="1"/>
          </p:nvPr>
        </p:nvSpPr>
        <p:spPr>
          <a:xfrm>
            <a:off x="406029" y="1597882"/>
            <a:ext cx="9571984" cy="3880773"/>
          </a:xfrm>
        </p:spPr>
        <p:txBody>
          <a:bodyPr>
            <a:normAutofit/>
          </a:bodyPr>
          <a:lstStyle/>
          <a:p>
            <a:pPr algn="just"/>
            <a:r>
              <a:rPr lang="en-US" b="1" i="0" dirty="0">
                <a:solidFill>
                  <a:srgbClr val="0D0D0D"/>
                </a:solidFill>
                <a:effectLst/>
                <a:cs typeface="Arial" panose="020B0604020202020204" pitchFamily="34" charset="0"/>
              </a:rPr>
              <a:t>MSE (Mean Squared Error)</a:t>
            </a:r>
            <a:r>
              <a:rPr lang="en-US" b="0" i="0" dirty="0">
                <a:solidFill>
                  <a:srgbClr val="0D0D0D"/>
                </a:solidFill>
                <a:effectLst/>
                <a:cs typeface="Arial" panose="020B0604020202020204" pitchFamily="34" charset="0"/>
              </a:rPr>
              <a:t>:</a:t>
            </a:r>
            <a:r>
              <a:rPr lang="en-US" b="0" i="0" dirty="0" err="1">
                <a:solidFill>
                  <a:srgbClr val="0D0D0D"/>
                </a:solidFill>
                <a:effectLst/>
                <a:cs typeface="Arial" panose="020B0604020202020204" pitchFamily="34" charset="0"/>
              </a:rPr>
              <a:t>Regresyon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problemlerinde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kullanılan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bir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hata</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ölçüsüdür</a:t>
            </a:r>
            <a:r>
              <a:rPr lang="en-US" b="0" i="0" dirty="0">
                <a:solidFill>
                  <a:srgbClr val="0D0D0D"/>
                </a:solidFill>
                <a:effectLst/>
                <a:cs typeface="Arial" panose="020B0604020202020204" pitchFamily="34" charset="0"/>
              </a:rPr>
              <a:t>. </a:t>
            </a:r>
            <a:endParaRPr lang="tr-TR" b="0" i="0" dirty="0">
              <a:solidFill>
                <a:srgbClr val="0D0D0D"/>
              </a:solidFill>
              <a:effectLst/>
              <a:cs typeface="Arial" panose="020B0604020202020204" pitchFamily="34" charset="0"/>
            </a:endParaRPr>
          </a:p>
          <a:p>
            <a:pPr marL="0" indent="0" algn="just">
              <a:buNone/>
            </a:pPr>
            <a:r>
              <a:rPr lang="en-US" b="0" i="0" dirty="0" err="1">
                <a:solidFill>
                  <a:srgbClr val="0D0D0D"/>
                </a:solidFill>
                <a:effectLst/>
                <a:cs typeface="Arial" panose="020B0604020202020204" pitchFamily="34" charset="0"/>
              </a:rPr>
              <a:t>Gerçek</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tahmin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edilen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değerler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arasındaki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farkların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karelerinin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ortalamasıdır</a:t>
            </a:r>
            <a:r>
              <a:rPr lang="en-US" b="0" i="0" dirty="0">
                <a:solidFill>
                  <a:srgbClr val="0D0D0D"/>
                </a:solidFill>
                <a:effectLst/>
                <a:cs typeface="Arial" panose="020B0604020202020204" pitchFamily="34" charset="0"/>
              </a:rPr>
              <a:t>.</a:t>
            </a:r>
          </a:p>
        </p:txBody>
      </p:sp>
      <p:pic>
        <p:nvPicPr>
          <p:cNvPr id="4" name="Resim 3">
            <a:extLst>
              <a:ext uri="{FF2B5EF4-FFF2-40B4-BE49-F238E27FC236}">
                <a16:creationId xmlns:a16="http://schemas.microsoft.com/office/drawing/2014/main" id="{F2B1E777-6967-9EB6-01A4-E93BDDF64299}"/>
              </a:ext>
            </a:extLst>
          </p:cNvPr>
          <p:cNvPicPr>
            <a:picLocks noChangeAspect="1"/>
          </p:cNvPicPr>
          <p:nvPr/>
        </p:nvPicPr>
        <p:blipFill>
          <a:blip r:embed="rId2"/>
          <a:stretch>
            <a:fillRect/>
          </a:stretch>
        </p:blipFill>
        <p:spPr>
          <a:xfrm>
            <a:off x="5525820" y="2708212"/>
            <a:ext cx="6205329" cy="3504936"/>
          </a:xfrm>
          <a:prstGeom prst="rect">
            <a:avLst/>
          </a:prstGeom>
        </p:spPr>
      </p:pic>
      <p:pic>
        <p:nvPicPr>
          <p:cNvPr id="5" name="Resim 4">
            <a:extLst>
              <a:ext uri="{FF2B5EF4-FFF2-40B4-BE49-F238E27FC236}">
                <a16:creationId xmlns:a16="http://schemas.microsoft.com/office/drawing/2014/main" id="{5D4A8D75-4335-994B-413C-597269C1EEC4}"/>
              </a:ext>
            </a:extLst>
          </p:cNvPr>
          <p:cNvPicPr>
            <a:picLocks noChangeAspect="1"/>
          </p:cNvPicPr>
          <p:nvPr/>
        </p:nvPicPr>
        <p:blipFill>
          <a:blip r:embed="rId3"/>
          <a:stretch>
            <a:fillRect/>
          </a:stretch>
        </p:blipFill>
        <p:spPr>
          <a:xfrm>
            <a:off x="555981" y="2937747"/>
            <a:ext cx="3950923" cy="1522933"/>
          </a:xfrm>
          <a:prstGeom prst="rect">
            <a:avLst/>
          </a:prstGeom>
        </p:spPr>
      </p:pic>
      <p:sp>
        <p:nvSpPr>
          <p:cNvPr id="7" name="Metin kutusu 6">
            <a:extLst>
              <a:ext uri="{FF2B5EF4-FFF2-40B4-BE49-F238E27FC236}">
                <a16:creationId xmlns:a16="http://schemas.microsoft.com/office/drawing/2014/main" id="{F71499E9-EC7A-A8EA-044E-B4FF7FFD3882}"/>
              </a:ext>
            </a:extLst>
          </p:cNvPr>
          <p:cNvSpPr txBox="1"/>
          <p:nvPr/>
        </p:nvSpPr>
        <p:spPr>
          <a:xfrm>
            <a:off x="555981" y="4739991"/>
            <a:ext cx="4969839" cy="1477328"/>
          </a:xfrm>
          <a:prstGeom prst="rect">
            <a:avLst/>
          </a:prstGeom>
          <a:noFill/>
        </p:spPr>
        <p:txBody>
          <a:bodyPr wrap="square">
            <a:spAutoFit/>
          </a:bodyPr>
          <a:lstStyle/>
          <a:p>
            <a:pPr algn="l"/>
            <a:r>
              <a:rPr lang="en-US" b="0" i="0" dirty="0" err="1">
                <a:solidFill>
                  <a:srgbClr val="242424"/>
                </a:solidFill>
                <a:effectLst/>
                <a:latin typeface="Arial" panose="020B0604020202020204" pitchFamily="34" charset="0"/>
                <a:cs typeface="Arial" panose="020B0604020202020204" pitchFamily="34" charset="0"/>
              </a:rPr>
              <a:t>Formülü</a:t>
            </a:r>
            <a:r>
              <a:rPr lang="en-US" b="0" i="0" dirty="0">
                <a:solidFill>
                  <a:srgbClr val="242424"/>
                </a:solidFill>
                <a:effectLst/>
                <a:latin typeface="Arial" panose="020B0604020202020204" pitchFamily="34" charset="0"/>
                <a:cs typeface="Arial" panose="020B0604020202020204" pitchFamily="34" charset="0"/>
              </a:rPr>
              <a:t> </a:t>
            </a:r>
            <a:r>
              <a:rPr lang="en-US" b="0" i="0" dirty="0" err="1">
                <a:solidFill>
                  <a:srgbClr val="242424"/>
                </a:solidFill>
                <a:effectLst/>
                <a:latin typeface="Arial" panose="020B0604020202020204" pitchFamily="34" charset="0"/>
                <a:cs typeface="Arial" panose="020B0604020202020204" pitchFamily="34" charset="0"/>
              </a:rPr>
              <a:t>incelediğimizde</a:t>
            </a:r>
            <a:r>
              <a:rPr lang="en-US" b="0" i="0" dirty="0">
                <a:solidFill>
                  <a:srgbClr val="242424"/>
                </a:solidFill>
                <a:effectLst/>
                <a:latin typeface="Arial" panose="020B0604020202020204" pitchFamily="34" charset="0"/>
                <a:cs typeface="Arial" panose="020B0604020202020204" pitchFamily="34" charset="0"/>
              </a:rPr>
              <a:t>;</a:t>
            </a:r>
          </a:p>
          <a:p>
            <a:pPr algn="l">
              <a:buFont typeface="Arial" panose="020B0604020202020204" pitchFamily="34" charset="0"/>
              <a:buChar char="•"/>
            </a:pPr>
            <a:r>
              <a:rPr lang="en-US" b="0" i="0" dirty="0">
                <a:solidFill>
                  <a:srgbClr val="242424"/>
                </a:solidFill>
                <a:effectLst/>
                <a:latin typeface="Arial" panose="020B0604020202020204" pitchFamily="34" charset="0"/>
                <a:cs typeface="Arial" panose="020B0604020202020204" pitchFamily="34" charset="0"/>
              </a:rPr>
              <a:t>n </a:t>
            </a:r>
            <a:r>
              <a:rPr lang="en-US" b="0" i="0" dirty="0" err="1">
                <a:solidFill>
                  <a:srgbClr val="242424"/>
                </a:solidFill>
                <a:effectLst/>
                <a:latin typeface="Arial" panose="020B0604020202020204" pitchFamily="34" charset="0"/>
                <a:cs typeface="Arial" panose="020B0604020202020204" pitchFamily="34" charset="0"/>
              </a:rPr>
              <a:t>gözlem</a:t>
            </a:r>
            <a:r>
              <a:rPr lang="en-US" b="0" i="0" dirty="0">
                <a:solidFill>
                  <a:srgbClr val="242424"/>
                </a:solidFill>
                <a:effectLst/>
                <a:latin typeface="Arial" panose="020B0604020202020204" pitchFamily="34" charset="0"/>
                <a:cs typeface="Arial" panose="020B0604020202020204" pitchFamily="34" charset="0"/>
              </a:rPr>
              <a:t> </a:t>
            </a:r>
            <a:r>
              <a:rPr lang="en-US" b="0" i="0" dirty="0" err="1">
                <a:solidFill>
                  <a:srgbClr val="242424"/>
                </a:solidFill>
                <a:effectLst/>
                <a:latin typeface="Arial" panose="020B0604020202020204" pitchFamily="34" charset="0"/>
                <a:cs typeface="Arial" panose="020B0604020202020204" pitchFamily="34" charset="0"/>
              </a:rPr>
              <a:t>sayısını</a:t>
            </a:r>
            <a:endParaRPr lang="en-US" b="0" i="0" dirty="0">
              <a:solidFill>
                <a:srgbClr val="242424"/>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b="0" i="0" dirty="0">
                <a:solidFill>
                  <a:srgbClr val="242424"/>
                </a:solidFill>
                <a:effectLst/>
                <a:latin typeface="Arial" panose="020B0604020202020204" pitchFamily="34" charset="0"/>
                <a:cs typeface="Arial" panose="020B0604020202020204" pitchFamily="34" charset="0"/>
              </a:rPr>
              <a:t>y </a:t>
            </a:r>
            <a:r>
              <a:rPr lang="en-US" b="0" i="0" dirty="0" err="1">
                <a:solidFill>
                  <a:srgbClr val="242424"/>
                </a:solidFill>
                <a:effectLst/>
                <a:latin typeface="Arial" panose="020B0604020202020204" pitchFamily="34" charset="0"/>
                <a:cs typeface="Arial" panose="020B0604020202020204" pitchFamily="34" charset="0"/>
              </a:rPr>
              <a:t>gerçek</a:t>
            </a:r>
            <a:r>
              <a:rPr lang="en-US" b="0" i="0" dirty="0">
                <a:solidFill>
                  <a:srgbClr val="242424"/>
                </a:solidFill>
                <a:effectLst/>
                <a:latin typeface="Arial" panose="020B0604020202020204" pitchFamily="34" charset="0"/>
                <a:cs typeface="Arial" panose="020B0604020202020204" pitchFamily="34" charset="0"/>
              </a:rPr>
              <a:t> </a:t>
            </a:r>
            <a:r>
              <a:rPr lang="en-US" b="0" i="0" dirty="0" err="1">
                <a:solidFill>
                  <a:srgbClr val="242424"/>
                </a:solidFill>
                <a:effectLst/>
                <a:latin typeface="Arial" panose="020B0604020202020204" pitchFamily="34" charset="0"/>
                <a:cs typeface="Arial" panose="020B0604020202020204" pitchFamily="34" charset="0"/>
              </a:rPr>
              <a:t>değerler</a:t>
            </a:r>
            <a:endParaRPr lang="en-US" b="0" i="0" dirty="0">
              <a:solidFill>
                <a:srgbClr val="242424"/>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b="0" i="0" dirty="0">
                <a:solidFill>
                  <a:srgbClr val="242424"/>
                </a:solidFill>
                <a:effectLst/>
                <a:latin typeface="Arial" panose="020B0604020202020204" pitchFamily="34" charset="0"/>
                <a:cs typeface="Arial" panose="020B0604020202020204" pitchFamily="34" charset="0"/>
              </a:rPr>
              <a:t>ŷ </a:t>
            </a:r>
            <a:r>
              <a:rPr lang="en-US" b="0" i="0" dirty="0" err="1">
                <a:solidFill>
                  <a:srgbClr val="242424"/>
                </a:solidFill>
                <a:effectLst/>
                <a:latin typeface="Arial" panose="020B0604020202020204" pitchFamily="34" charset="0"/>
                <a:cs typeface="Arial" panose="020B0604020202020204" pitchFamily="34" charset="0"/>
              </a:rPr>
              <a:t>ise</a:t>
            </a:r>
            <a:r>
              <a:rPr lang="en-US" b="0" i="0" dirty="0">
                <a:solidFill>
                  <a:srgbClr val="242424"/>
                </a:solidFill>
                <a:effectLst/>
                <a:latin typeface="Arial" panose="020B0604020202020204" pitchFamily="34" charset="0"/>
                <a:cs typeface="Arial" panose="020B0604020202020204" pitchFamily="34" charset="0"/>
              </a:rPr>
              <a:t> </a:t>
            </a:r>
            <a:r>
              <a:rPr lang="en-US" b="0" i="0" dirty="0" err="1">
                <a:solidFill>
                  <a:srgbClr val="242424"/>
                </a:solidFill>
                <a:effectLst/>
                <a:latin typeface="Arial" panose="020B0604020202020204" pitchFamily="34" charset="0"/>
                <a:cs typeface="Arial" panose="020B0604020202020204" pitchFamily="34" charset="0"/>
              </a:rPr>
              <a:t>tahmin</a:t>
            </a:r>
            <a:r>
              <a:rPr lang="en-US" b="0" i="0" dirty="0">
                <a:solidFill>
                  <a:srgbClr val="242424"/>
                </a:solidFill>
                <a:effectLst/>
                <a:latin typeface="Arial" panose="020B0604020202020204" pitchFamily="34" charset="0"/>
                <a:cs typeface="Arial" panose="020B0604020202020204" pitchFamily="34" charset="0"/>
              </a:rPr>
              <a:t> </a:t>
            </a:r>
            <a:r>
              <a:rPr lang="en-US" b="0" i="0" dirty="0" err="1">
                <a:solidFill>
                  <a:srgbClr val="242424"/>
                </a:solidFill>
                <a:effectLst/>
                <a:latin typeface="Arial" panose="020B0604020202020204" pitchFamily="34" charset="0"/>
                <a:cs typeface="Arial" panose="020B0604020202020204" pitchFamily="34" charset="0"/>
              </a:rPr>
              <a:t>edilen</a:t>
            </a:r>
            <a:r>
              <a:rPr lang="en-US" b="0" i="0" dirty="0">
                <a:solidFill>
                  <a:srgbClr val="242424"/>
                </a:solidFill>
                <a:effectLst/>
                <a:latin typeface="Arial" panose="020B0604020202020204" pitchFamily="34" charset="0"/>
                <a:cs typeface="Arial" panose="020B0604020202020204" pitchFamily="34" charset="0"/>
              </a:rPr>
              <a:t> </a:t>
            </a:r>
            <a:r>
              <a:rPr lang="en-US" b="0" i="0" dirty="0" err="1">
                <a:solidFill>
                  <a:srgbClr val="242424"/>
                </a:solidFill>
                <a:effectLst/>
                <a:latin typeface="Arial" panose="020B0604020202020204" pitchFamily="34" charset="0"/>
                <a:cs typeface="Arial" panose="020B0604020202020204" pitchFamily="34" charset="0"/>
              </a:rPr>
              <a:t>değerleri</a:t>
            </a:r>
            <a:r>
              <a:rPr lang="en-US" b="0" i="0" dirty="0">
                <a:solidFill>
                  <a:srgbClr val="242424"/>
                </a:solidFill>
                <a:effectLst/>
                <a:latin typeface="Arial" panose="020B0604020202020204" pitchFamily="34" charset="0"/>
                <a:cs typeface="Arial" panose="020B0604020202020204" pitchFamily="34" charset="0"/>
              </a:rPr>
              <a:t> </a:t>
            </a:r>
            <a:r>
              <a:rPr lang="en-US" b="0" i="0" dirty="0" err="1">
                <a:solidFill>
                  <a:srgbClr val="242424"/>
                </a:solidFill>
                <a:effectLst/>
                <a:latin typeface="Arial" panose="020B0604020202020204" pitchFamily="34" charset="0"/>
                <a:cs typeface="Arial" panose="020B0604020202020204" pitchFamily="34" charset="0"/>
              </a:rPr>
              <a:t>ifade</a:t>
            </a:r>
            <a:r>
              <a:rPr lang="en-US" b="0" i="0" dirty="0">
                <a:solidFill>
                  <a:srgbClr val="242424"/>
                </a:solidFill>
                <a:effectLst/>
                <a:latin typeface="Arial" panose="020B0604020202020204" pitchFamily="34" charset="0"/>
                <a:cs typeface="Arial" panose="020B0604020202020204" pitchFamily="34" charset="0"/>
              </a:rPr>
              <a:t> </a:t>
            </a:r>
            <a:r>
              <a:rPr lang="en-US" b="0" i="0" dirty="0" err="1">
                <a:solidFill>
                  <a:srgbClr val="242424"/>
                </a:solidFill>
                <a:effectLst/>
                <a:latin typeface="Arial" panose="020B0604020202020204" pitchFamily="34" charset="0"/>
                <a:cs typeface="Arial" panose="020B0604020202020204" pitchFamily="34" charset="0"/>
              </a:rPr>
              <a:t>etmektedir</a:t>
            </a:r>
            <a:r>
              <a:rPr lang="en-US" b="0" i="0" dirty="0">
                <a:solidFill>
                  <a:srgbClr val="242424"/>
                </a:solidFill>
                <a:effectLst/>
                <a:latin typeface="Arial" panose="020B0604020202020204" pitchFamily="34" charset="0"/>
                <a:cs typeface="Arial" panose="020B0604020202020204" pitchFamily="34" charset="0"/>
              </a:rPr>
              <a:t>.</a:t>
            </a:r>
          </a:p>
          <a:p>
            <a:pPr algn="l">
              <a:buFont typeface="Arial" panose="020B0604020202020204" pitchFamily="34" charset="0"/>
              <a:buChar char="•"/>
            </a:pPr>
            <a:r>
              <a:rPr lang="en-US" b="0" i="0" dirty="0">
                <a:solidFill>
                  <a:srgbClr val="242424"/>
                </a:solidFill>
                <a:effectLst/>
                <a:latin typeface="Arial" panose="020B0604020202020204" pitchFamily="34" charset="0"/>
                <a:cs typeface="Arial" panose="020B0604020202020204" pitchFamily="34" charset="0"/>
              </a:rPr>
              <a:t>(y- ŷ) : </a:t>
            </a:r>
            <a:r>
              <a:rPr lang="en-US" b="0" i="0" dirty="0" err="1">
                <a:solidFill>
                  <a:srgbClr val="242424"/>
                </a:solidFill>
                <a:effectLst/>
                <a:latin typeface="Arial" panose="020B0604020202020204" pitchFamily="34" charset="0"/>
                <a:cs typeface="Arial" panose="020B0604020202020204" pitchFamily="34" charset="0"/>
              </a:rPr>
              <a:t>hatayı</a:t>
            </a:r>
            <a:r>
              <a:rPr lang="en-US" b="0" i="0" dirty="0">
                <a:solidFill>
                  <a:srgbClr val="242424"/>
                </a:solidFill>
                <a:effectLst/>
                <a:latin typeface="Arial" panose="020B0604020202020204" pitchFamily="34" charset="0"/>
                <a:cs typeface="Arial" panose="020B0604020202020204" pitchFamily="34" charset="0"/>
              </a:rPr>
              <a:t> </a:t>
            </a:r>
            <a:r>
              <a:rPr lang="en-US" b="0" i="0" dirty="0" err="1">
                <a:solidFill>
                  <a:srgbClr val="242424"/>
                </a:solidFill>
                <a:effectLst/>
                <a:latin typeface="Arial" panose="020B0604020202020204" pitchFamily="34" charset="0"/>
                <a:cs typeface="Arial" panose="020B0604020202020204" pitchFamily="34" charset="0"/>
              </a:rPr>
              <a:t>verir</a:t>
            </a:r>
            <a:r>
              <a:rPr lang="en-US" b="0" i="0" dirty="0">
                <a:solidFill>
                  <a:srgbClr val="242424"/>
                </a:solidFill>
                <a:effectLst/>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841746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387B9-3E90-5860-ECDE-B80A2E992473}"/>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880B0A73-666F-A91A-1488-D6BE72CDB7FB}"/>
              </a:ext>
            </a:extLst>
          </p:cNvPr>
          <p:cNvSpPr>
            <a:spLocks noGrp="1"/>
          </p:cNvSpPr>
          <p:nvPr>
            <p:ph type="title"/>
          </p:nvPr>
        </p:nvSpPr>
        <p:spPr/>
        <p:txBody>
          <a:bodyPr/>
          <a:lstStyle/>
          <a:p>
            <a:r>
              <a:rPr lang="tr-TR" dirty="0">
                <a:cs typeface="Arial" panose="020B0604020202020204" pitchFamily="34" charset="0"/>
              </a:rPr>
              <a:t>Makine Öğrenmesi Performans Metrikleri</a:t>
            </a:r>
            <a:endParaRPr lang="tr-TR"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85232B2A-88DC-3E23-3C5C-58BEB897F7E0}"/>
              </a:ext>
            </a:extLst>
          </p:cNvPr>
          <p:cNvSpPr>
            <a:spLocks noGrp="1"/>
          </p:cNvSpPr>
          <p:nvPr>
            <p:ph idx="1"/>
          </p:nvPr>
        </p:nvSpPr>
        <p:spPr>
          <a:xfrm>
            <a:off x="406029" y="1760846"/>
            <a:ext cx="6501816" cy="3516842"/>
          </a:xfrm>
        </p:spPr>
        <p:txBody>
          <a:bodyPr>
            <a:normAutofit/>
          </a:bodyPr>
          <a:lstStyle/>
          <a:p>
            <a:pPr algn="l"/>
            <a:r>
              <a:rPr lang="en-US" b="1" i="0" dirty="0">
                <a:solidFill>
                  <a:srgbClr val="242424"/>
                </a:solidFill>
                <a:effectLst/>
                <a:cs typeface="Arial" panose="020B0604020202020204" pitchFamily="34" charset="0"/>
              </a:rPr>
              <a:t>RMSE (Root Mean Square Error)</a:t>
            </a:r>
            <a:r>
              <a:rPr lang="tr-TR" b="1" i="0" dirty="0">
                <a:solidFill>
                  <a:srgbClr val="242424"/>
                </a:solidFill>
                <a:effectLst/>
                <a:cs typeface="Arial" panose="020B0604020202020204" pitchFamily="34" charset="0"/>
              </a:rPr>
              <a:t> :</a:t>
            </a:r>
            <a:r>
              <a:rPr lang="en-US" b="0" i="0" dirty="0">
                <a:solidFill>
                  <a:srgbClr val="242424"/>
                </a:solidFill>
                <a:effectLst/>
                <a:cs typeface="Arial" panose="020B0604020202020204" pitchFamily="34" charset="0"/>
              </a:rPr>
              <a:t>MSE ‘</a:t>
            </a:r>
            <a:r>
              <a:rPr lang="en-US" b="0" i="0" dirty="0" err="1">
                <a:solidFill>
                  <a:srgbClr val="242424"/>
                </a:solidFill>
                <a:effectLst/>
                <a:cs typeface="Arial" panose="020B0604020202020204" pitchFamily="34" charset="0"/>
              </a:rPr>
              <a:t>nin</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karekökünün</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alınmış</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halidir</a:t>
            </a:r>
            <a:r>
              <a:rPr lang="en-US" b="0" i="0" dirty="0">
                <a:solidFill>
                  <a:srgbClr val="242424"/>
                </a:solidFill>
                <a:effectLst/>
                <a:cs typeface="Arial" panose="020B0604020202020204" pitchFamily="34" charset="0"/>
              </a:rPr>
              <a:t>.</a:t>
            </a:r>
          </a:p>
          <a:p>
            <a:pPr algn="l">
              <a:buFont typeface="Arial" panose="020B0604020202020204" pitchFamily="34" charset="0"/>
              <a:buChar char="•"/>
            </a:pPr>
            <a:r>
              <a:rPr lang="en-US" b="0" i="0" dirty="0">
                <a:solidFill>
                  <a:srgbClr val="242424"/>
                </a:solidFill>
                <a:effectLst/>
                <a:cs typeface="Arial" panose="020B0604020202020204" pitchFamily="34" charset="0"/>
              </a:rPr>
              <a:t>MSE </a:t>
            </a:r>
            <a:r>
              <a:rPr lang="en-US" b="0" i="0" dirty="0" err="1">
                <a:solidFill>
                  <a:srgbClr val="242424"/>
                </a:solidFill>
                <a:effectLst/>
                <a:cs typeface="Arial" panose="020B0604020202020204" pitchFamily="34" charset="0"/>
              </a:rPr>
              <a:t>hesabında</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gerçek</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değer</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ile</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tahmin</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edilen</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değer</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arasındaki</a:t>
            </a:r>
            <a:r>
              <a:rPr lang="en-US" b="0" i="0" dirty="0">
                <a:solidFill>
                  <a:srgbClr val="242424"/>
                </a:solidFill>
                <a:effectLst/>
                <a:cs typeface="Arial" panose="020B0604020202020204" pitchFamily="34" charset="0"/>
              </a:rPr>
              <a:t> fark </a:t>
            </a:r>
            <a:r>
              <a:rPr lang="en-US" b="0" i="0" dirty="0" err="1">
                <a:solidFill>
                  <a:srgbClr val="242424"/>
                </a:solidFill>
                <a:effectLst/>
                <a:cs typeface="Arial" panose="020B0604020202020204" pitchFamily="34" charset="0"/>
              </a:rPr>
              <a:t>sonucu</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negatiflik</a:t>
            </a:r>
            <a:r>
              <a:rPr lang="en-US" b="0" i="0" dirty="0">
                <a:solidFill>
                  <a:srgbClr val="242424"/>
                </a:solidFill>
                <a:effectLst/>
                <a:cs typeface="Arial" panose="020B0604020202020204" pitchFamily="34" charset="0"/>
              </a:rPr>
              <a:t> / </a:t>
            </a:r>
            <a:r>
              <a:rPr lang="en-US" b="0" i="0" dirty="0" err="1">
                <a:solidFill>
                  <a:srgbClr val="242424"/>
                </a:solidFill>
                <a:effectLst/>
                <a:cs typeface="Arial" panose="020B0604020202020204" pitchFamily="34" charset="0"/>
              </a:rPr>
              <a:t>pozitiflik</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bir</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ölçüm</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problemi</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ortaya</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çıkmaktadır</a:t>
            </a:r>
            <a:r>
              <a:rPr lang="en-US" b="0" i="0" dirty="0">
                <a:solidFill>
                  <a:srgbClr val="242424"/>
                </a:solidFill>
                <a:effectLst/>
                <a:cs typeface="Arial" panose="020B0604020202020204" pitchFamily="34" charset="0"/>
              </a:rPr>
              <a:t>.</a:t>
            </a:r>
          </a:p>
          <a:p>
            <a:pPr algn="l">
              <a:buFont typeface="Arial" panose="020B0604020202020204" pitchFamily="34" charset="0"/>
              <a:buChar char="•"/>
            </a:pPr>
            <a:r>
              <a:rPr lang="en-US" b="0" i="0" dirty="0" err="1">
                <a:solidFill>
                  <a:srgbClr val="242424"/>
                </a:solidFill>
                <a:effectLst/>
                <a:cs typeface="Arial" panose="020B0604020202020204" pitchFamily="34" charset="0"/>
              </a:rPr>
              <a:t>Bunu</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ortadan</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kaldırmak</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için</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hatanın</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kareleri</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alınır</a:t>
            </a:r>
            <a:r>
              <a:rPr lang="en-US" b="0" i="0" dirty="0">
                <a:solidFill>
                  <a:srgbClr val="242424"/>
                </a:solidFill>
                <a:effectLst/>
                <a:cs typeface="Arial" panose="020B0604020202020204" pitchFamily="34" charset="0"/>
              </a:rPr>
              <a:t>.</a:t>
            </a:r>
          </a:p>
          <a:p>
            <a:pPr algn="l">
              <a:buFont typeface="Arial" panose="020B0604020202020204" pitchFamily="34" charset="0"/>
              <a:buChar char="•"/>
            </a:pPr>
            <a:r>
              <a:rPr lang="en-US" b="0" i="0" dirty="0">
                <a:solidFill>
                  <a:srgbClr val="242424"/>
                </a:solidFill>
                <a:effectLst/>
                <a:cs typeface="Arial" panose="020B0604020202020204" pitchFamily="34" charset="0"/>
              </a:rPr>
              <a:t>Kare </a:t>
            </a:r>
            <a:r>
              <a:rPr lang="en-US" b="0" i="0" dirty="0" err="1">
                <a:solidFill>
                  <a:srgbClr val="242424"/>
                </a:solidFill>
                <a:effectLst/>
                <a:cs typeface="Arial" panose="020B0604020202020204" pitchFamily="34" charset="0"/>
              </a:rPr>
              <a:t>alındığı</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için</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bu</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sefer</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ölçümler</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yüksek</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değer</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çıkmaktadır</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geri</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dönüşümün</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sağlanması</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için</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karekök</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işlemi</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yapılmalıdır</a:t>
            </a:r>
            <a:r>
              <a:rPr lang="en-US" b="0" i="0" dirty="0">
                <a:solidFill>
                  <a:srgbClr val="242424"/>
                </a:solidFill>
                <a:effectLst/>
                <a:cs typeface="Arial" panose="020B0604020202020204" pitchFamily="34" charset="0"/>
              </a:rPr>
              <a:t>. Bu </a:t>
            </a:r>
            <a:r>
              <a:rPr lang="en-US" b="0" i="0" dirty="0" err="1">
                <a:solidFill>
                  <a:srgbClr val="242424"/>
                </a:solidFill>
                <a:effectLst/>
                <a:cs typeface="Arial" panose="020B0604020202020204" pitchFamily="34" charset="0"/>
              </a:rPr>
              <a:t>işleme</a:t>
            </a:r>
            <a:r>
              <a:rPr lang="en-US" b="0" i="0" dirty="0">
                <a:solidFill>
                  <a:srgbClr val="242424"/>
                </a:solidFill>
                <a:effectLst/>
                <a:cs typeface="Arial" panose="020B0604020202020204" pitchFamily="34" charset="0"/>
              </a:rPr>
              <a:t> de RMSE </a:t>
            </a:r>
            <a:r>
              <a:rPr lang="en-US" b="0" i="0" dirty="0" err="1">
                <a:solidFill>
                  <a:srgbClr val="242424"/>
                </a:solidFill>
                <a:effectLst/>
                <a:cs typeface="Arial" panose="020B0604020202020204" pitchFamily="34" charset="0"/>
              </a:rPr>
              <a:t>denilir</a:t>
            </a:r>
            <a:r>
              <a:rPr lang="en-US" b="0" i="0" dirty="0">
                <a:solidFill>
                  <a:srgbClr val="242424"/>
                </a:solidFill>
                <a:effectLst/>
                <a:cs typeface="Arial" panose="020B0604020202020204" pitchFamily="34" charset="0"/>
              </a:rPr>
              <a:t>.</a:t>
            </a:r>
          </a:p>
          <a:p>
            <a:pPr marL="0" indent="0" algn="just">
              <a:buNone/>
            </a:pPr>
            <a:endParaRPr lang="en-US" sz="2800" b="0" i="0" dirty="0">
              <a:solidFill>
                <a:srgbClr val="0D0D0D"/>
              </a:solidFill>
              <a:effectLst/>
              <a:latin typeface="Arial" panose="020B0604020202020204" pitchFamily="34" charset="0"/>
              <a:cs typeface="Arial" panose="020B0604020202020204" pitchFamily="34" charset="0"/>
            </a:endParaRPr>
          </a:p>
        </p:txBody>
      </p:sp>
      <p:pic>
        <p:nvPicPr>
          <p:cNvPr id="4" name="Resim 3">
            <a:extLst>
              <a:ext uri="{FF2B5EF4-FFF2-40B4-BE49-F238E27FC236}">
                <a16:creationId xmlns:a16="http://schemas.microsoft.com/office/drawing/2014/main" id="{5ED6C8F6-CF09-EBAB-D6C3-ECCB8CD728A4}"/>
              </a:ext>
            </a:extLst>
          </p:cNvPr>
          <p:cNvPicPr>
            <a:picLocks noChangeAspect="1"/>
          </p:cNvPicPr>
          <p:nvPr/>
        </p:nvPicPr>
        <p:blipFill>
          <a:blip r:embed="rId3"/>
          <a:stretch>
            <a:fillRect/>
          </a:stretch>
        </p:blipFill>
        <p:spPr>
          <a:xfrm>
            <a:off x="6907845" y="1640703"/>
            <a:ext cx="5000046" cy="2965844"/>
          </a:xfrm>
          <a:prstGeom prst="rect">
            <a:avLst/>
          </a:prstGeom>
        </p:spPr>
      </p:pic>
      <p:pic>
        <p:nvPicPr>
          <p:cNvPr id="5" name="Resim 4">
            <a:extLst>
              <a:ext uri="{FF2B5EF4-FFF2-40B4-BE49-F238E27FC236}">
                <a16:creationId xmlns:a16="http://schemas.microsoft.com/office/drawing/2014/main" id="{B0FE3C22-AE39-AC66-1689-07CD92C827F9}"/>
              </a:ext>
            </a:extLst>
          </p:cNvPr>
          <p:cNvPicPr>
            <a:picLocks noChangeAspect="1"/>
          </p:cNvPicPr>
          <p:nvPr/>
        </p:nvPicPr>
        <p:blipFill>
          <a:blip r:embed="rId4"/>
          <a:stretch>
            <a:fillRect/>
          </a:stretch>
        </p:blipFill>
        <p:spPr>
          <a:xfrm>
            <a:off x="707814" y="4868554"/>
            <a:ext cx="5164106" cy="1509605"/>
          </a:xfrm>
          <a:prstGeom prst="rect">
            <a:avLst/>
          </a:prstGeom>
        </p:spPr>
      </p:pic>
    </p:spTree>
    <p:extLst>
      <p:ext uri="{BB962C8B-B14F-4D97-AF65-F5344CB8AC3E}">
        <p14:creationId xmlns:p14="http://schemas.microsoft.com/office/powerpoint/2010/main" val="1668008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E5873-BB89-9DAC-2509-59312779EA51}"/>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0E697002-E2AE-9FC3-9DBE-7BE126B051E7}"/>
              </a:ext>
            </a:extLst>
          </p:cNvPr>
          <p:cNvSpPr>
            <a:spLocks noGrp="1"/>
          </p:cNvSpPr>
          <p:nvPr>
            <p:ph type="title"/>
          </p:nvPr>
        </p:nvSpPr>
        <p:spPr/>
        <p:txBody>
          <a:bodyPr/>
          <a:lstStyle/>
          <a:p>
            <a:r>
              <a:rPr lang="tr-TR" dirty="0">
                <a:cs typeface="Arial" panose="020B0604020202020204" pitchFamily="34" charset="0"/>
              </a:rPr>
              <a:t>Makine Öğrenmesi Performans Metrikleri</a:t>
            </a:r>
            <a:endParaRPr lang="tr-TR"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5CA238D8-35F5-D787-B46F-B8892D3D83A2}"/>
              </a:ext>
            </a:extLst>
          </p:cNvPr>
          <p:cNvSpPr>
            <a:spLocks noGrp="1"/>
          </p:cNvSpPr>
          <p:nvPr>
            <p:ph idx="1"/>
          </p:nvPr>
        </p:nvSpPr>
        <p:spPr>
          <a:xfrm>
            <a:off x="406028" y="1597882"/>
            <a:ext cx="11260107" cy="3880773"/>
          </a:xfrm>
        </p:spPr>
        <p:txBody>
          <a:bodyPr>
            <a:normAutofit/>
          </a:bodyPr>
          <a:lstStyle/>
          <a:p>
            <a:r>
              <a:rPr lang="es-ES" b="1" i="0" dirty="0">
                <a:solidFill>
                  <a:srgbClr val="242424"/>
                </a:solidFill>
                <a:effectLst/>
                <a:cs typeface="Arial" panose="020B0604020202020204" pitchFamily="34" charset="0"/>
              </a:rPr>
              <a:t>MAE (Mean Absolute Error- Ortalama Mutlak Hata) :</a:t>
            </a:r>
            <a:r>
              <a:rPr lang="es-ES" i="0" dirty="0">
                <a:solidFill>
                  <a:srgbClr val="242424"/>
                </a:solidFill>
                <a:effectLst/>
                <a:cs typeface="Arial" panose="020B0604020202020204" pitchFamily="34" charset="0"/>
              </a:rPr>
              <a:t>Bir diğer yöntem ise ortalama mutlak hatayı ifade eder. Bütün gözlem birimleri gezilerek, gerçek değer(y) ile model aracılığıyla tahmin edilen(ŷ) arasındaki farkın mutlak değerinin ortalamasının alınması işlemidir.</a:t>
            </a:r>
          </a:p>
        </p:txBody>
      </p:sp>
      <p:pic>
        <p:nvPicPr>
          <p:cNvPr id="4" name="Resim 3">
            <a:extLst>
              <a:ext uri="{FF2B5EF4-FFF2-40B4-BE49-F238E27FC236}">
                <a16:creationId xmlns:a16="http://schemas.microsoft.com/office/drawing/2014/main" id="{0E4021BD-FB3E-3A6B-1FEE-7A2206962216}"/>
              </a:ext>
            </a:extLst>
          </p:cNvPr>
          <p:cNvPicPr>
            <a:picLocks noChangeAspect="1"/>
          </p:cNvPicPr>
          <p:nvPr/>
        </p:nvPicPr>
        <p:blipFill>
          <a:blip r:embed="rId2"/>
          <a:stretch>
            <a:fillRect/>
          </a:stretch>
        </p:blipFill>
        <p:spPr>
          <a:xfrm>
            <a:off x="2944784" y="2737043"/>
            <a:ext cx="6108770" cy="3450397"/>
          </a:xfrm>
          <a:prstGeom prst="rect">
            <a:avLst/>
          </a:prstGeom>
        </p:spPr>
      </p:pic>
    </p:spTree>
    <p:extLst>
      <p:ext uri="{BB962C8B-B14F-4D97-AF65-F5344CB8AC3E}">
        <p14:creationId xmlns:p14="http://schemas.microsoft.com/office/powerpoint/2010/main" val="1055996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D0EA5-2514-9B8B-FF48-E7A9209A7881}"/>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4D8ED008-E944-3BC4-96C9-A4F94F35EA04}"/>
              </a:ext>
            </a:extLst>
          </p:cNvPr>
          <p:cNvSpPr>
            <a:spLocks noGrp="1"/>
          </p:cNvSpPr>
          <p:nvPr>
            <p:ph type="title"/>
          </p:nvPr>
        </p:nvSpPr>
        <p:spPr/>
        <p:txBody>
          <a:bodyPr/>
          <a:lstStyle/>
          <a:p>
            <a:r>
              <a:rPr lang="tr-TR" dirty="0">
                <a:cs typeface="Arial" panose="020B0604020202020204" pitchFamily="34" charset="0"/>
              </a:rPr>
              <a:t>Makine Öğrenmesi Performans Metrikleri</a:t>
            </a:r>
            <a:endParaRPr lang="tr-TR"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83D508AC-6584-DDFB-F017-78BC24CDCBFA}"/>
              </a:ext>
            </a:extLst>
          </p:cNvPr>
          <p:cNvSpPr>
            <a:spLocks noGrp="1"/>
          </p:cNvSpPr>
          <p:nvPr>
            <p:ph idx="1"/>
          </p:nvPr>
        </p:nvSpPr>
        <p:spPr>
          <a:xfrm>
            <a:off x="406028" y="1597882"/>
            <a:ext cx="11260107" cy="3880773"/>
          </a:xfrm>
        </p:spPr>
        <p:txBody>
          <a:bodyPr>
            <a:normAutofit/>
          </a:bodyPr>
          <a:lstStyle/>
          <a:p>
            <a:r>
              <a:rPr lang="en-US" b="1" dirty="0"/>
              <a:t>R-Kare (R² - Coefficient of Determination)</a:t>
            </a:r>
            <a:r>
              <a:rPr lang="tr-TR" b="1" dirty="0"/>
              <a:t> : </a:t>
            </a:r>
            <a:r>
              <a:rPr lang="tr-TR" dirty="0"/>
              <a:t>Bağımsız değişkenlerin hedef değişken üzerindeki açıklama oranını temsil eder. 1'e yaklaşan bir R-Kare değeri, modelin bağımsız değişkenlerle hedef değişken arasındaki ilişkiyi ne kadar iyi açıkladığını gösterir.</a:t>
            </a:r>
            <a:endParaRPr lang="es-ES" i="0" dirty="0">
              <a:solidFill>
                <a:srgbClr val="242424"/>
              </a:solidFill>
              <a:effectLst/>
              <a:cs typeface="Arial" panose="020B0604020202020204" pitchFamily="34" charset="0"/>
            </a:endParaRPr>
          </a:p>
        </p:txBody>
      </p:sp>
    </p:spTree>
    <p:extLst>
      <p:ext uri="{BB962C8B-B14F-4D97-AF65-F5344CB8AC3E}">
        <p14:creationId xmlns:p14="http://schemas.microsoft.com/office/powerpoint/2010/main" val="882695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44ADE-9861-EA00-0D4B-ACC713F62246}"/>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267FB5FB-1A51-02BE-38D9-1CA5508AEE89}"/>
              </a:ext>
            </a:extLst>
          </p:cNvPr>
          <p:cNvSpPr>
            <a:spLocks noGrp="1"/>
          </p:cNvSpPr>
          <p:nvPr>
            <p:ph type="title"/>
          </p:nvPr>
        </p:nvSpPr>
        <p:spPr/>
        <p:txBody>
          <a:bodyPr/>
          <a:lstStyle/>
          <a:p>
            <a:r>
              <a:rPr lang="tr-TR" dirty="0">
                <a:cs typeface="Arial" panose="020B0604020202020204" pitchFamily="34" charset="0"/>
              </a:rPr>
              <a:t>Makine Öğrenmesi Terimleri</a:t>
            </a:r>
          </a:p>
        </p:txBody>
      </p:sp>
      <p:sp>
        <p:nvSpPr>
          <p:cNvPr id="3" name="İçerik Yer Tutucusu 2">
            <a:extLst>
              <a:ext uri="{FF2B5EF4-FFF2-40B4-BE49-F238E27FC236}">
                <a16:creationId xmlns:a16="http://schemas.microsoft.com/office/drawing/2014/main" id="{93C82C47-27DF-870D-18A5-6100148D8F60}"/>
              </a:ext>
            </a:extLst>
          </p:cNvPr>
          <p:cNvSpPr>
            <a:spLocks noGrp="1"/>
          </p:cNvSpPr>
          <p:nvPr>
            <p:ph idx="1"/>
          </p:nvPr>
        </p:nvSpPr>
        <p:spPr>
          <a:xfrm>
            <a:off x="406029" y="1597882"/>
            <a:ext cx="11036328" cy="3880773"/>
          </a:xfrm>
        </p:spPr>
        <p:txBody>
          <a:bodyPr>
            <a:normAutofit/>
          </a:bodyPr>
          <a:lstStyle/>
          <a:p>
            <a:pPr algn="just"/>
            <a:r>
              <a:rPr lang="en-US" b="1" i="0" dirty="0" err="1">
                <a:solidFill>
                  <a:srgbClr val="0D0D0D"/>
                </a:solidFill>
                <a:effectLst/>
                <a:cs typeface="Arial" panose="020B0604020202020204" pitchFamily="34" charset="0"/>
              </a:rPr>
              <a:t>Denetimsiz</a:t>
            </a:r>
            <a:r>
              <a:rPr lang="en-US" b="1" i="0" dirty="0">
                <a:solidFill>
                  <a:srgbClr val="0D0D0D"/>
                </a:solidFill>
                <a:effectLst/>
                <a:cs typeface="Arial" panose="020B0604020202020204" pitchFamily="34" charset="0"/>
              </a:rPr>
              <a:t> </a:t>
            </a:r>
            <a:r>
              <a:rPr lang="en-US" b="1" i="0" dirty="0" err="1">
                <a:solidFill>
                  <a:srgbClr val="0D0D0D"/>
                </a:solidFill>
                <a:effectLst/>
                <a:cs typeface="Arial" panose="020B0604020202020204" pitchFamily="34" charset="0"/>
              </a:rPr>
              <a:t>Öğrenme</a:t>
            </a:r>
            <a:r>
              <a:rPr lang="en-US" b="1" i="0" dirty="0">
                <a:solidFill>
                  <a:srgbClr val="0D0D0D"/>
                </a:solidFill>
                <a:effectLst/>
                <a:cs typeface="Arial" panose="020B0604020202020204" pitchFamily="34" charset="0"/>
              </a:rPr>
              <a:t> (Unsupervised Learning)</a:t>
            </a:r>
            <a:r>
              <a:rPr lang="en-US" b="0" i="0" dirty="0">
                <a:solidFill>
                  <a:srgbClr val="0D0D0D"/>
                </a:solidFill>
                <a:effectLst/>
                <a:cs typeface="Arial" panose="020B0604020202020204" pitchFamily="34" charset="0"/>
              </a:rPr>
              <a:t>:</a:t>
            </a:r>
            <a:r>
              <a:rPr lang="tr-TR"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Etiketlenmemiş</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veri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kümesine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dayalı</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olarak</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modelin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eğitildiği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bir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öğrenme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türüdür</a:t>
            </a:r>
            <a:r>
              <a:rPr lang="en-US" b="0" i="0" dirty="0">
                <a:solidFill>
                  <a:srgbClr val="0D0D0D"/>
                </a:solidFill>
                <a:effectLst/>
                <a:cs typeface="Arial" panose="020B0604020202020204" pitchFamily="34" charset="0"/>
              </a:rPr>
              <a:t>. Model, </a:t>
            </a:r>
            <a:r>
              <a:rPr lang="en-US" b="0" i="0" dirty="0" err="1">
                <a:solidFill>
                  <a:srgbClr val="0D0D0D"/>
                </a:solidFill>
                <a:effectLst/>
                <a:cs typeface="Arial" panose="020B0604020202020204" pitchFamily="34" charset="0"/>
              </a:rPr>
              <a:t>veri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setindeki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yapıları</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desenleri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öğrenir</a:t>
            </a:r>
            <a:r>
              <a:rPr lang="en-US" b="0" i="0" dirty="0">
                <a:solidFill>
                  <a:srgbClr val="0D0D0D"/>
                </a:solidFill>
                <a:effectLst/>
                <a:cs typeface="Arial" panose="020B0604020202020204" pitchFamily="34" charset="0"/>
              </a:rPr>
              <a:t>.</a:t>
            </a:r>
            <a:r>
              <a:rPr lang="tr-TR" b="0" i="0" dirty="0">
                <a:solidFill>
                  <a:srgbClr val="0D0D0D"/>
                </a:solidFill>
                <a:effectLst/>
                <a:cs typeface="Arial" panose="020B0604020202020204" pitchFamily="34" charset="0"/>
              </a:rPr>
              <a:t>(Kümeleme, ilişkilendirme)</a:t>
            </a:r>
            <a:endParaRPr lang="en-US" b="0" i="0" dirty="0">
              <a:solidFill>
                <a:srgbClr val="0D0D0D"/>
              </a:solidFill>
              <a:effectLst/>
              <a:cs typeface="Arial" panose="020B0604020202020204" pitchFamily="34" charset="0"/>
            </a:endParaRPr>
          </a:p>
        </p:txBody>
      </p:sp>
      <p:pic>
        <p:nvPicPr>
          <p:cNvPr id="4" name="Resim 3">
            <a:extLst>
              <a:ext uri="{FF2B5EF4-FFF2-40B4-BE49-F238E27FC236}">
                <a16:creationId xmlns:a16="http://schemas.microsoft.com/office/drawing/2014/main" id="{DD73AD1E-6A25-691A-8407-D9C37F632579}"/>
              </a:ext>
            </a:extLst>
          </p:cNvPr>
          <p:cNvPicPr>
            <a:picLocks noChangeAspect="1"/>
          </p:cNvPicPr>
          <p:nvPr/>
        </p:nvPicPr>
        <p:blipFill>
          <a:blip r:embed="rId3"/>
          <a:stretch>
            <a:fillRect/>
          </a:stretch>
        </p:blipFill>
        <p:spPr>
          <a:xfrm>
            <a:off x="1911423" y="2937902"/>
            <a:ext cx="8826353" cy="2676212"/>
          </a:xfrm>
          <a:prstGeom prst="rect">
            <a:avLst/>
          </a:prstGeom>
        </p:spPr>
      </p:pic>
    </p:spTree>
    <p:extLst>
      <p:ext uri="{BB962C8B-B14F-4D97-AF65-F5344CB8AC3E}">
        <p14:creationId xmlns:p14="http://schemas.microsoft.com/office/powerpoint/2010/main" val="1049210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186D2-0A20-F2D6-30AA-A51935DE0938}"/>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152768C7-2307-7C74-657A-EB8288481407}"/>
              </a:ext>
            </a:extLst>
          </p:cNvPr>
          <p:cNvSpPr>
            <a:spLocks noGrp="1"/>
          </p:cNvSpPr>
          <p:nvPr>
            <p:ph type="title"/>
          </p:nvPr>
        </p:nvSpPr>
        <p:spPr/>
        <p:txBody>
          <a:bodyPr/>
          <a:lstStyle/>
          <a:p>
            <a:r>
              <a:rPr lang="tr-TR" dirty="0">
                <a:cs typeface="Arial" panose="020B0604020202020204" pitchFamily="34" charset="0"/>
              </a:rPr>
              <a:t>Makine Öğrenmesi Terimleri</a:t>
            </a:r>
          </a:p>
        </p:txBody>
      </p:sp>
      <p:sp>
        <p:nvSpPr>
          <p:cNvPr id="3" name="İçerik Yer Tutucusu 2">
            <a:extLst>
              <a:ext uri="{FF2B5EF4-FFF2-40B4-BE49-F238E27FC236}">
                <a16:creationId xmlns:a16="http://schemas.microsoft.com/office/drawing/2014/main" id="{05E7D0A1-AE1A-02B9-2B77-E30EC269ED64}"/>
              </a:ext>
            </a:extLst>
          </p:cNvPr>
          <p:cNvSpPr>
            <a:spLocks noGrp="1"/>
          </p:cNvSpPr>
          <p:nvPr>
            <p:ph idx="1"/>
          </p:nvPr>
        </p:nvSpPr>
        <p:spPr>
          <a:xfrm>
            <a:off x="406029" y="1597882"/>
            <a:ext cx="7200574" cy="5013933"/>
          </a:xfrm>
        </p:spPr>
        <p:txBody>
          <a:bodyPr>
            <a:normAutofit/>
          </a:bodyPr>
          <a:lstStyle/>
          <a:p>
            <a:pPr algn="just"/>
            <a:r>
              <a:rPr lang="tr-TR" b="1" i="0" dirty="0">
                <a:solidFill>
                  <a:srgbClr val="0D0D0D"/>
                </a:solidFill>
                <a:effectLst/>
                <a:cs typeface="Arial" panose="020B0604020202020204" pitchFamily="34" charset="0"/>
              </a:rPr>
              <a:t>İlişkilendirme : </a:t>
            </a:r>
            <a:r>
              <a:rPr lang="tr-TR" i="0" dirty="0">
                <a:solidFill>
                  <a:srgbClr val="242424"/>
                </a:solidFill>
                <a:cs typeface="Arial" panose="020B0604020202020204" pitchFamily="34" charset="0"/>
              </a:rPr>
              <a:t>V</a:t>
            </a:r>
            <a:r>
              <a:rPr lang="en-US" b="0" dirty="0" err="1">
                <a:solidFill>
                  <a:srgbClr val="242424"/>
                </a:solidFill>
                <a:effectLst/>
                <a:cs typeface="Arial" panose="020B0604020202020204" pitchFamily="34" charset="0"/>
              </a:rPr>
              <a:t>erileriniz</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arasındaki</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birlikteliği</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ortaya</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çıkarır</a:t>
            </a:r>
            <a:r>
              <a:rPr lang="en-US" b="0" dirty="0">
                <a:solidFill>
                  <a:srgbClr val="242424"/>
                </a:solidFill>
                <a:effectLst/>
                <a:cs typeface="Arial" panose="020B0604020202020204" pitchFamily="34" charset="0"/>
              </a:rPr>
              <a:t>. Bu </a:t>
            </a:r>
            <a:r>
              <a:rPr lang="en-US" b="0" dirty="0" err="1">
                <a:solidFill>
                  <a:srgbClr val="242424"/>
                </a:solidFill>
                <a:effectLst/>
                <a:cs typeface="Arial" panose="020B0604020202020204" pitchFamily="34" charset="0"/>
              </a:rPr>
              <a:t>algoritma</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genelde</a:t>
            </a:r>
            <a:r>
              <a:rPr lang="en-US" b="0" dirty="0">
                <a:solidFill>
                  <a:srgbClr val="242424"/>
                </a:solidFill>
                <a:effectLst/>
                <a:cs typeface="Arial" panose="020B0604020202020204" pitchFamily="34" charset="0"/>
              </a:rPr>
              <a:t> </a:t>
            </a:r>
            <a:r>
              <a:rPr lang="en-US" b="1" dirty="0" err="1">
                <a:solidFill>
                  <a:srgbClr val="242424"/>
                </a:solidFill>
                <a:effectLst/>
                <a:cs typeface="Arial" panose="020B0604020202020204" pitchFamily="34" charset="0"/>
              </a:rPr>
              <a:t>Birliktelik</a:t>
            </a:r>
            <a:r>
              <a:rPr lang="en-US" b="1" dirty="0">
                <a:solidFill>
                  <a:srgbClr val="242424"/>
                </a:solidFill>
                <a:effectLst/>
                <a:cs typeface="Arial" panose="020B0604020202020204" pitchFamily="34" charset="0"/>
              </a:rPr>
              <a:t> </a:t>
            </a:r>
            <a:r>
              <a:rPr lang="en-US" b="1" dirty="0" err="1">
                <a:solidFill>
                  <a:srgbClr val="242424"/>
                </a:solidFill>
                <a:effectLst/>
                <a:cs typeface="Arial" panose="020B0604020202020204" pitchFamily="34" charset="0"/>
              </a:rPr>
              <a:t>Kuralı</a:t>
            </a:r>
            <a:r>
              <a:rPr lang="en-US" b="1" dirty="0">
                <a:solidFill>
                  <a:srgbClr val="242424"/>
                </a:solidFill>
                <a:effectLst/>
                <a:cs typeface="Arial" panose="020B0604020202020204" pitchFamily="34" charset="0"/>
              </a:rPr>
              <a:t> </a:t>
            </a:r>
            <a:r>
              <a:rPr lang="en-US" b="1" dirty="0" err="1">
                <a:solidFill>
                  <a:srgbClr val="242424"/>
                </a:solidFill>
                <a:effectLst/>
                <a:cs typeface="Arial" panose="020B0604020202020204" pitchFamily="34" charset="0"/>
              </a:rPr>
              <a:t>Madenciliği</a:t>
            </a:r>
            <a:r>
              <a:rPr lang="en-US" b="1" dirty="0">
                <a:solidFill>
                  <a:srgbClr val="242424"/>
                </a:solidFill>
                <a:effectLst/>
                <a:cs typeface="Arial" panose="020B0604020202020204" pitchFamily="34" charset="0"/>
              </a:rPr>
              <a:t> (Association Rule Mining)</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olarak</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bilinir</a:t>
            </a:r>
            <a:r>
              <a:rPr lang="en-US" b="0" dirty="0">
                <a:solidFill>
                  <a:srgbClr val="242424"/>
                </a:solidFill>
                <a:effectLst/>
                <a:cs typeface="Arial" panose="020B0604020202020204" pitchFamily="34" charset="0"/>
              </a:rPr>
              <a:t>.</a:t>
            </a:r>
            <a:endParaRPr lang="tr-TR" b="0" dirty="0">
              <a:solidFill>
                <a:srgbClr val="242424"/>
              </a:solidFill>
              <a:effectLst/>
              <a:cs typeface="Arial" panose="020B0604020202020204" pitchFamily="34" charset="0"/>
            </a:endParaRPr>
          </a:p>
          <a:p>
            <a:pPr marL="0" indent="0" algn="just">
              <a:buNone/>
            </a:pPr>
            <a:endParaRPr lang="tr-TR" dirty="0">
              <a:solidFill>
                <a:srgbClr val="242424"/>
              </a:solidFill>
              <a:cs typeface="Arial" panose="020B0604020202020204" pitchFamily="34" charset="0"/>
            </a:endParaRPr>
          </a:p>
          <a:p>
            <a:pPr algn="just"/>
            <a:r>
              <a:rPr lang="en-US" b="0" dirty="0" err="1">
                <a:solidFill>
                  <a:srgbClr val="242424"/>
                </a:solidFill>
                <a:effectLst/>
                <a:cs typeface="Arial" panose="020B0604020202020204" pitchFamily="34" charset="0"/>
              </a:rPr>
              <a:t>Genellikle</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pazar</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sepeti</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analizi</a:t>
            </a:r>
            <a:r>
              <a:rPr lang="en-US" b="0" dirty="0">
                <a:solidFill>
                  <a:srgbClr val="242424"/>
                </a:solidFill>
                <a:effectLst/>
                <a:cs typeface="Arial" panose="020B0604020202020204" pitchFamily="34" charset="0"/>
              </a:rPr>
              <a:t> (market basket analysis) </a:t>
            </a:r>
            <a:r>
              <a:rPr lang="en-US" b="0" dirty="0" err="1">
                <a:solidFill>
                  <a:srgbClr val="242424"/>
                </a:solidFill>
                <a:effectLst/>
                <a:cs typeface="Arial" panose="020B0604020202020204" pitchFamily="34" charset="0"/>
              </a:rPr>
              <a:t>için</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yani</a:t>
            </a:r>
            <a:r>
              <a:rPr lang="en-US" b="0" dirty="0">
                <a:solidFill>
                  <a:srgbClr val="242424"/>
                </a:solidFill>
                <a:effectLst/>
                <a:cs typeface="Arial" panose="020B0604020202020204" pitchFamily="34" charset="0"/>
              </a:rPr>
              <a:t> hangi </a:t>
            </a:r>
            <a:r>
              <a:rPr lang="en-US" b="0" dirty="0" err="1">
                <a:solidFill>
                  <a:srgbClr val="242424"/>
                </a:solidFill>
                <a:effectLst/>
                <a:cs typeface="Arial" panose="020B0604020202020204" pitchFamily="34" charset="0"/>
              </a:rPr>
              <a:t>ürünler</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birlikte</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satın</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alınır</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insanların</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birlikte</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ziyaret</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etme</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eğiliminde</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olduğu</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mağazalar</a:t>
            </a:r>
            <a:r>
              <a:rPr lang="en-US" b="0" dirty="0">
                <a:solidFill>
                  <a:srgbClr val="242424"/>
                </a:solidFill>
                <a:effectLst/>
                <a:cs typeface="Arial" panose="020B0604020202020204" pitchFamily="34" charset="0"/>
              </a:rPr>
              <a:t>/</a:t>
            </a:r>
            <a:r>
              <a:rPr lang="en-US" b="0" dirty="0" err="1">
                <a:solidFill>
                  <a:srgbClr val="242424"/>
                </a:solidFill>
                <a:effectLst/>
                <a:cs typeface="Arial" panose="020B0604020202020204" pitchFamily="34" charset="0"/>
              </a:rPr>
              <a:t>siteler</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ürün</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çeşitliliği</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kararları</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çapraz</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satış</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gibi</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alanlarda</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kullanıldığından</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alışveriş</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siteleri</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mağazalar</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gibi</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satış</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yapılan</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alanlarda</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sıklıkla</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kullanılır</a:t>
            </a:r>
            <a:r>
              <a:rPr lang="en-US" b="0" dirty="0">
                <a:solidFill>
                  <a:srgbClr val="242424"/>
                </a:solidFill>
                <a:effectLst/>
                <a:cs typeface="Arial" panose="020B0604020202020204" pitchFamily="34" charset="0"/>
              </a:rPr>
              <a:t>.</a:t>
            </a:r>
            <a:endParaRPr lang="tr-TR" b="0" dirty="0">
              <a:solidFill>
                <a:srgbClr val="242424"/>
              </a:solidFill>
              <a:effectLst/>
              <a:cs typeface="Arial" panose="020B0604020202020204" pitchFamily="34" charset="0"/>
            </a:endParaRPr>
          </a:p>
        </p:txBody>
      </p:sp>
      <p:pic>
        <p:nvPicPr>
          <p:cNvPr id="5" name="Resim 4">
            <a:extLst>
              <a:ext uri="{FF2B5EF4-FFF2-40B4-BE49-F238E27FC236}">
                <a16:creationId xmlns:a16="http://schemas.microsoft.com/office/drawing/2014/main" id="{0710C9A3-67D4-2E89-9448-9375FFF16C48}"/>
              </a:ext>
            </a:extLst>
          </p:cNvPr>
          <p:cNvPicPr>
            <a:picLocks noChangeAspect="1"/>
          </p:cNvPicPr>
          <p:nvPr/>
        </p:nvPicPr>
        <p:blipFill>
          <a:blip r:embed="rId2"/>
          <a:stretch>
            <a:fillRect/>
          </a:stretch>
        </p:blipFill>
        <p:spPr>
          <a:xfrm>
            <a:off x="7968342" y="1597882"/>
            <a:ext cx="4024505" cy="3880773"/>
          </a:xfrm>
          <a:prstGeom prst="rect">
            <a:avLst/>
          </a:prstGeom>
        </p:spPr>
      </p:pic>
    </p:spTree>
    <p:extLst>
      <p:ext uri="{BB962C8B-B14F-4D97-AF65-F5344CB8AC3E}">
        <p14:creationId xmlns:p14="http://schemas.microsoft.com/office/powerpoint/2010/main" val="2103526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3D57E-8DF4-FC09-4FC5-763AE6902075}"/>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0F69540C-2E89-74A3-16A2-09D94D41A12A}"/>
              </a:ext>
            </a:extLst>
          </p:cNvPr>
          <p:cNvSpPr>
            <a:spLocks noGrp="1"/>
          </p:cNvSpPr>
          <p:nvPr>
            <p:ph type="title"/>
          </p:nvPr>
        </p:nvSpPr>
        <p:spPr/>
        <p:txBody>
          <a:bodyPr/>
          <a:lstStyle/>
          <a:p>
            <a:r>
              <a:rPr lang="tr-TR" dirty="0">
                <a:cs typeface="Arial" panose="020B0604020202020204" pitchFamily="34" charset="0"/>
              </a:rPr>
              <a:t>Makine Öğrenmesi Terimleri</a:t>
            </a:r>
          </a:p>
        </p:txBody>
      </p:sp>
      <p:sp>
        <p:nvSpPr>
          <p:cNvPr id="3" name="İçerik Yer Tutucusu 2">
            <a:extLst>
              <a:ext uri="{FF2B5EF4-FFF2-40B4-BE49-F238E27FC236}">
                <a16:creationId xmlns:a16="http://schemas.microsoft.com/office/drawing/2014/main" id="{F8115832-869A-3BCF-1092-4F575D53B63B}"/>
              </a:ext>
            </a:extLst>
          </p:cNvPr>
          <p:cNvSpPr>
            <a:spLocks noGrp="1"/>
          </p:cNvSpPr>
          <p:nvPr>
            <p:ph idx="1"/>
          </p:nvPr>
        </p:nvSpPr>
        <p:spPr>
          <a:xfrm>
            <a:off x="406029" y="1597882"/>
            <a:ext cx="7200574" cy="5013933"/>
          </a:xfrm>
        </p:spPr>
        <p:txBody>
          <a:bodyPr>
            <a:normAutofit/>
          </a:bodyPr>
          <a:lstStyle/>
          <a:p>
            <a:pPr algn="just"/>
            <a:r>
              <a:rPr lang="tr-TR" b="1" i="0" dirty="0">
                <a:solidFill>
                  <a:srgbClr val="0D0D0D"/>
                </a:solidFill>
                <a:effectLst/>
                <a:cs typeface="Arial" panose="020B0604020202020204" pitchFamily="34" charset="0"/>
              </a:rPr>
              <a:t>Kümeleme : </a:t>
            </a:r>
            <a:r>
              <a:rPr lang="en-US" b="0" dirty="0" err="1">
                <a:solidFill>
                  <a:srgbClr val="242424"/>
                </a:solidFill>
                <a:effectLst/>
                <a:cs typeface="Arial" panose="020B0604020202020204" pitchFamily="34" charset="0"/>
              </a:rPr>
              <a:t>Temel</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olarak</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verileri</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aralarındaki</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benzerlik</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ve</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farklılık</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temelinde</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analiz</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ederek</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gruplara</a:t>
            </a:r>
            <a:r>
              <a:rPr lang="en-US" b="0" dirty="0">
                <a:solidFill>
                  <a:srgbClr val="242424"/>
                </a:solidFill>
                <a:effectLst/>
                <a:cs typeface="Arial" panose="020B0604020202020204" pitchFamily="34" charset="0"/>
              </a:rPr>
              <a:t> </a:t>
            </a:r>
            <a:r>
              <a:rPr lang="en-US" b="0" dirty="0" err="1">
                <a:solidFill>
                  <a:srgbClr val="242424"/>
                </a:solidFill>
                <a:effectLst/>
                <a:cs typeface="Arial" panose="020B0604020202020204" pitchFamily="34" charset="0"/>
              </a:rPr>
              <a:t>ayırır</a:t>
            </a:r>
            <a:r>
              <a:rPr lang="en-US" b="0" dirty="0">
                <a:solidFill>
                  <a:srgbClr val="242424"/>
                </a:solidFill>
                <a:effectLst/>
                <a:cs typeface="Arial" panose="020B0604020202020204" pitchFamily="34" charset="0"/>
              </a:rPr>
              <a:t>.</a:t>
            </a:r>
            <a:endParaRPr lang="tr-TR" b="0" dirty="0">
              <a:solidFill>
                <a:srgbClr val="242424"/>
              </a:solidFill>
              <a:effectLst/>
              <a:cs typeface="Arial" panose="020B0604020202020204" pitchFamily="34" charset="0"/>
            </a:endParaRPr>
          </a:p>
          <a:p>
            <a:pPr algn="just"/>
            <a:r>
              <a:rPr lang="en-US" b="0" i="0" dirty="0" err="1">
                <a:solidFill>
                  <a:srgbClr val="242424"/>
                </a:solidFill>
                <a:effectLst/>
                <a:cs typeface="Arial" panose="020B0604020202020204" pitchFamily="34" charset="0"/>
              </a:rPr>
              <a:t>Kümeleme</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algoritmaları</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verilerinizi</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işler</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ve</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verilerde</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varsa</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doğal</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kümeleri</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grupları</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bulur</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Ayrıca</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algoritmalarınızın</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kaç</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kümeyi</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tanımlaması</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gerektiğini</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ayarlayabilirsiniz</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böylece</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grupların</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ayrıntı</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düzeyini</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ayarlamış</a:t>
            </a:r>
            <a:r>
              <a:rPr lang="en-US" b="0" i="0" dirty="0">
                <a:solidFill>
                  <a:srgbClr val="242424"/>
                </a:solidFill>
                <a:effectLst/>
                <a:cs typeface="Arial" panose="020B0604020202020204" pitchFamily="34" charset="0"/>
              </a:rPr>
              <a:t> </a:t>
            </a:r>
            <a:r>
              <a:rPr lang="en-US" b="0" i="0" dirty="0" err="1">
                <a:solidFill>
                  <a:srgbClr val="242424"/>
                </a:solidFill>
                <a:effectLst/>
                <a:cs typeface="Arial" panose="020B0604020202020204" pitchFamily="34" charset="0"/>
              </a:rPr>
              <a:t>olursunuz</a:t>
            </a:r>
            <a:r>
              <a:rPr lang="en-US" b="0" i="0" dirty="0">
                <a:solidFill>
                  <a:srgbClr val="242424"/>
                </a:solidFill>
                <a:effectLst/>
                <a:cs typeface="Arial" panose="020B0604020202020204" pitchFamily="34" charset="0"/>
              </a:rPr>
              <a:t>.</a:t>
            </a:r>
            <a:endParaRPr lang="tr-TR" b="0" i="0" dirty="0">
              <a:solidFill>
                <a:srgbClr val="242424"/>
              </a:solidFill>
              <a:effectLst/>
              <a:cs typeface="Arial" panose="020B0604020202020204" pitchFamily="34" charset="0"/>
            </a:endParaRPr>
          </a:p>
          <a:p>
            <a:pPr algn="just"/>
            <a:r>
              <a:rPr lang="tr-TR" b="1" dirty="0" err="1">
                <a:solidFill>
                  <a:srgbClr val="242424"/>
                </a:solidFill>
                <a:cs typeface="Arial" panose="020B0604020202020204" pitchFamily="34" charset="0"/>
              </a:rPr>
              <a:t>Örn</a:t>
            </a:r>
            <a:r>
              <a:rPr lang="tr-TR" b="1" dirty="0">
                <a:solidFill>
                  <a:srgbClr val="242424"/>
                </a:solidFill>
                <a:cs typeface="Arial" panose="020B0604020202020204" pitchFamily="34" charset="0"/>
              </a:rPr>
              <a:t> : </a:t>
            </a:r>
            <a:r>
              <a:rPr lang="tr-TR" dirty="0">
                <a:solidFill>
                  <a:srgbClr val="242424"/>
                </a:solidFill>
                <a:cs typeface="Arial" panose="020B0604020202020204" pitchFamily="34" charset="0"/>
              </a:rPr>
              <a:t>K-</a:t>
            </a:r>
            <a:r>
              <a:rPr lang="tr-TR" dirty="0" err="1">
                <a:solidFill>
                  <a:srgbClr val="242424"/>
                </a:solidFill>
                <a:cs typeface="Arial" panose="020B0604020202020204" pitchFamily="34" charset="0"/>
              </a:rPr>
              <a:t>means</a:t>
            </a:r>
            <a:r>
              <a:rPr lang="tr-TR" dirty="0">
                <a:solidFill>
                  <a:srgbClr val="242424"/>
                </a:solidFill>
                <a:cs typeface="Arial" panose="020B0604020202020204" pitchFamily="34" charset="0"/>
              </a:rPr>
              <a:t> Kümeleme, Hiyerarşik Kümeleme</a:t>
            </a:r>
            <a:endParaRPr lang="en-US" dirty="0">
              <a:solidFill>
                <a:srgbClr val="0D0D0D"/>
              </a:solidFill>
              <a:effectLst/>
              <a:cs typeface="Arial" panose="020B0604020202020204" pitchFamily="34" charset="0"/>
            </a:endParaRPr>
          </a:p>
        </p:txBody>
      </p:sp>
      <p:pic>
        <p:nvPicPr>
          <p:cNvPr id="4" name="Resim 3">
            <a:extLst>
              <a:ext uri="{FF2B5EF4-FFF2-40B4-BE49-F238E27FC236}">
                <a16:creationId xmlns:a16="http://schemas.microsoft.com/office/drawing/2014/main" id="{352AEBFD-AA83-CBAE-E035-DB3ADE16D771}"/>
              </a:ext>
            </a:extLst>
          </p:cNvPr>
          <p:cNvPicPr>
            <a:picLocks noChangeAspect="1"/>
          </p:cNvPicPr>
          <p:nvPr/>
        </p:nvPicPr>
        <p:blipFill>
          <a:blip r:embed="rId2"/>
          <a:stretch>
            <a:fillRect/>
          </a:stretch>
        </p:blipFill>
        <p:spPr>
          <a:xfrm>
            <a:off x="7735085" y="1597882"/>
            <a:ext cx="4319589" cy="1604963"/>
          </a:xfrm>
          <a:prstGeom prst="rect">
            <a:avLst/>
          </a:prstGeom>
        </p:spPr>
      </p:pic>
      <p:pic>
        <p:nvPicPr>
          <p:cNvPr id="6" name="Resim 5">
            <a:extLst>
              <a:ext uri="{FF2B5EF4-FFF2-40B4-BE49-F238E27FC236}">
                <a16:creationId xmlns:a16="http://schemas.microsoft.com/office/drawing/2014/main" id="{6A91EDA2-FF3D-EBA4-A4B2-88F9A37BDF6E}"/>
              </a:ext>
            </a:extLst>
          </p:cNvPr>
          <p:cNvPicPr>
            <a:picLocks noChangeAspect="1"/>
          </p:cNvPicPr>
          <p:nvPr/>
        </p:nvPicPr>
        <p:blipFill>
          <a:blip r:embed="rId3"/>
          <a:stretch>
            <a:fillRect/>
          </a:stretch>
        </p:blipFill>
        <p:spPr>
          <a:xfrm>
            <a:off x="8006391" y="3518822"/>
            <a:ext cx="3430440" cy="2510189"/>
          </a:xfrm>
          <a:prstGeom prst="rect">
            <a:avLst/>
          </a:prstGeom>
        </p:spPr>
      </p:pic>
    </p:spTree>
    <p:extLst>
      <p:ext uri="{BB962C8B-B14F-4D97-AF65-F5344CB8AC3E}">
        <p14:creationId xmlns:p14="http://schemas.microsoft.com/office/powerpoint/2010/main" val="915607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4CD1D-D229-B857-C290-34638CD40E20}"/>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D1842293-1B31-F11E-BCD4-6316DD443F0E}"/>
              </a:ext>
            </a:extLst>
          </p:cNvPr>
          <p:cNvSpPr>
            <a:spLocks noGrp="1"/>
          </p:cNvSpPr>
          <p:nvPr>
            <p:ph type="title"/>
          </p:nvPr>
        </p:nvSpPr>
        <p:spPr/>
        <p:txBody>
          <a:bodyPr/>
          <a:lstStyle/>
          <a:p>
            <a:r>
              <a:rPr lang="tr-TR" dirty="0">
                <a:cs typeface="Arial" panose="020B0604020202020204" pitchFamily="34" charset="0"/>
              </a:rPr>
              <a:t>Makine Öğrenmesi Performans Metrikleri</a:t>
            </a:r>
          </a:p>
        </p:txBody>
      </p:sp>
      <p:sp>
        <p:nvSpPr>
          <p:cNvPr id="3" name="İçerik Yer Tutucusu 2">
            <a:extLst>
              <a:ext uri="{FF2B5EF4-FFF2-40B4-BE49-F238E27FC236}">
                <a16:creationId xmlns:a16="http://schemas.microsoft.com/office/drawing/2014/main" id="{E7907F20-CEC8-8407-9B35-92F34A911F62}"/>
              </a:ext>
            </a:extLst>
          </p:cNvPr>
          <p:cNvSpPr>
            <a:spLocks noGrp="1"/>
          </p:cNvSpPr>
          <p:nvPr>
            <p:ph idx="1"/>
          </p:nvPr>
        </p:nvSpPr>
        <p:spPr>
          <a:xfrm>
            <a:off x="406029" y="1597882"/>
            <a:ext cx="11036328" cy="5013933"/>
          </a:xfrm>
        </p:spPr>
        <p:txBody>
          <a:bodyPr>
            <a:normAutofit/>
          </a:bodyPr>
          <a:lstStyle/>
          <a:p>
            <a:pPr algn="just"/>
            <a:r>
              <a:rPr lang="tr-TR" b="1" dirty="0" err="1"/>
              <a:t>Silhouette</a:t>
            </a:r>
            <a:r>
              <a:rPr lang="tr-TR" b="1" dirty="0"/>
              <a:t> Skoru (Siluet Katsayısı) : </a:t>
            </a:r>
            <a:r>
              <a:rPr lang="tr-TR" dirty="0"/>
              <a:t>Bu metrik, her bir veri noktasının bulunduğu yere ne kadar yakıştığına odaklanır.</a:t>
            </a:r>
          </a:p>
          <a:p>
            <a:pPr algn="just"/>
            <a:r>
              <a:rPr lang="tr-TR" dirty="0"/>
              <a:t>Bir nesnenin diğer kümelere kıyasla kendi kümesine ne kadar benzer olduğunu ölçer. Siluet -1 ile 1 arasında değişir; burada yüksek bir değer, nesnenin kendi kümesiyle iyi eşleştiğini, komşu kümelerle ise kötü eşleştiğini gösterir.</a:t>
            </a:r>
          </a:p>
          <a:p>
            <a:pPr algn="just"/>
            <a:r>
              <a:rPr lang="tr-TR" b="1" dirty="0" err="1"/>
              <a:t>Davies-Bouldin</a:t>
            </a:r>
            <a:r>
              <a:rPr lang="tr-TR" b="1" dirty="0"/>
              <a:t> Index (</a:t>
            </a:r>
            <a:r>
              <a:rPr lang="tr-TR" b="1" dirty="0" err="1"/>
              <a:t>Davies-Bouldin</a:t>
            </a:r>
            <a:r>
              <a:rPr lang="tr-TR" b="1" dirty="0"/>
              <a:t> Endeksi): </a:t>
            </a:r>
            <a:r>
              <a:rPr lang="tr-TR" dirty="0"/>
              <a:t>Küme merkezlerinin birbirlerine olan uzaklığını küme içi benzerlikle karşılaştıran ölçümdür. Düşük değerler, homojen ve birbirinden farklı kümelemeleri temsil eder.</a:t>
            </a:r>
            <a:endParaRPr lang="en-US" dirty="0">
              <a:solidFill>
                <a:srgbClr val="0D0D0D"/>
              </a:solidFill>
              <a:effectLst/>
              <a:cs typeface="Arial" panose="020B0604020202020204" pitchFamily="34" charset="0"/>
            </a:endParaRPr>
          </a:p>
        </p:txBody>
      </p:sp>
    </p:spTree>
    <p:extLst>
      <p:ext uri="{BB962C8B-B14F-4D97-AF65-F5344CB8AC3E}">
        <p14:creationId xmlns:p14="http://schemas.microsoft.com/office/powerpoint/2010/main" val="33389059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8A0325F-135C-AF2B-44DE-75A47C7DEE29}"/>
              </a:ext>
            </a:extLst>
          </p:cNvPr>
          <p:cNvSpPr>
            <a:spLocks noGrp="1"/>
          </p:cNvSpPr>
          <p:nvPr>
            <p:ph type="title"/>
          </p:nvPr>
        </p:nvSpPr>
        <p:spPr/>
        <p:txBody>
          <a:bodyPr/>
          <a:lstStyle/>
          <a:p>
            <a:r>
              <a:rPr lang="tr-TR" dirty="0"/>
              <a:t>Makine Öğrenmesi Terimleri</a:t>
            </a:r>
            <a:endParaRPr lang="en-US" dirty="0"/>
          </a:p>
        </p:txBody>
      </p:sp>
      <p:pic>
        <p:nvPicPr>
          <p:cNvPr id="4" name="İçerik Yer Tutucusu 3">
            <a:extLst>
              <a:ext uri="{FF2B5EF4-FFF2-40B4-BE49-F238E27FC236}">
                <a16:creationId xmlns:a16="http://schemas.microsoft.com/office/drawing/2014/main" id="{6A22FB63-1387-5AE2-2BD5-5338097B97E7}"/>
              </a:ext>
            </a:extLst>
          </p:cNvPr>
          <p:cNvPicPr>
            <a:picLocks noGrp="1" noChangeAspect="1"/>
          </p:cNvPicPr>
          <p:nvPr>
            <p:ph idx="1"/>
          </p:nvPr>
        </p:nvPicPr>
        <p:blipFill>
          <a:blip r:embed="rId2"/>
          <a:stretch>
            <a:fillRect/>
          </a:stretch>
        </p:blipFill>
        <p:spPr>
          <a:xfrm>
            <a:off x="1422858" y="2182317"/>
            <a:ext cx="9346284" cy="2910455"/>
          </a:xfrm>
          <a:prstGeom prst="rect">
            <a:avLst/>
          </a:prstGeom>
        </p:spPr>
      </p:pic>
      <p:sp>
        <p:nvSpPr>
          <p:cNvPr id="5" name="İçerik Yer Tutucusu 2">
            <a:extLst>
              <a:ext uri="{FF2B5EF4-FFF2-40B4-BE49-F238E27FC236}">
                <a16:creationId xmlns:a16="http://schemas.microsoft.com/office/drawing/2014/main" id="{8B0ECC89-9131-1CBB-57E5-C16946DC4534}"/>
              </a:ext>
            </a:extLst>
          </p:cNvPr>
          <p:cNvSpPr txBox="1">
            <a:spLocks/>
          </p:cNvSpPr>
          <p:nvPr/>
        </p:nvSpPr>
        <p:spPr>
          <a:xfrm>
            <a:off x="365835" y="1414708"/>
            <a:ext cx="9571984"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Font typeface="Wingdings 3" charset="2"/>
              <a:buNone/>
            </a:pPr>
            <a:r>
              <a:rPr lang="tr-TR" sz="2000" b="1" dirty="0">
                <a:solidFill>
                  <a:srgbClr val="0D0D0D"/>
                </a:solidFill>
                <a:cs typeface="Arial" panose="020B0604020202020204" pitchFamily="34" charset="0"/>
              </a:rPr>
              <a:t>Denetimli – Denetimsiz Öğrenme Farkları</a:t>
            </a:r>
            <a:endParaRPr lang="en-US" sz="2000" dirty="0">
              <a:solidFill>
                <a:srgbClr val="0D0D0D"/>
              </a:solidFill>
              <a:cs typeface="Arial" panose="020B0604020202020204" pitchFamily="34" charset="0"/>
            </a:endParaRPr>
          </a:p>
        </p:txBody>
      </p:sp>
    </p:spTree>
    <p:extLst>
      <p:ext uri="{BB962C8B-B14F-4D97-AF65-F5344CB8AC3E}">
        <p14:creationId xmlns:p14="http://schemas.microsoft.com/office/powerpoint/2010/main" val="20906558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1">
            <a:extLst>
              <a:ext uri="{FF2B5EF4-FFF2-40B4-BE49-F238E27FC236}">
                <a16:creationId xmlns:a16="http://schemas.microsoft.com/office/drawing/2014/main" id="{72E73455-0624-9112-8CBD-171DD035B135}"/>
              </a:ext>
            </a:extLst>
          </p:cNvPr>
          <p:cNvSpPr>
            <a:spLocks noGrp="1"/>
          </p:cNvSpPr>
          <p:nvPr>
            <p:ph type="title"/>
          </p:nvPr>
        </p:nvSpPr>
        <p:spPr/>
        <p:txBody>
          <a:bodyPr/>
          <a:lstStyle/>
          <a:p>
            <a:r>
              <a:rPr lang="tr-TR" dirty="0"/>
              <a:t>Makine Öğrenmesi Terimleri</a:t>
            </a:r>
            <a:endParaRPr lang="en-US" dirty="0"/>
          </a:p>
        </p:txBody>
      </p:sp>
      <p:sp>
        <p:nvSpPr>
          <p:cNvPr id="3" name="İçerik Yer Tutucusu 2">
            <a:extLst>
              <a:ext uri="{FF2B5EF4-FFF2-40B4-BE49-F238E27FC236}">
                <a16:creationId xmlns:a16="http://schemas.microsoft.com/office/drawing/2014/main" id="{3BAEF1E4-3ADD-06BC-366B-DFEA7CA10567}"/>
              </a:ext>
            </a:extLst>
          </p:cNvPr>
          <p:cNvSpPr>
            <a:spLocks noGrp="1"/>
          </p:cNvSpPr>
          <p:nvPr>
            <p:ph idx="1"/>
          </p:nvPr>
        </p:nvSpPr>
        <p:spPr>
          <a:xfrm>
            <a:off x="543990" y="1686642"/>
            <a:ext cx="10898367" cy="3880773"/>
          </a:xfrm>
        </p:spPr>
        <p:txBody>
          <a:bodyPr>
            <a:normAutofit/>
          </a:bodyPr>
          <a:lstStyle/>
          <a:p>
            <a:r>
              <a:rPr lang="tr-TR" b="1" dirty="0" err="1">
                <a:cs typeface="Arial" panose="020B0604020202020204" pitchFamily="34" charset="0"/>
              </a:rPr>
              <a:t>Reinforcement</a:t>
            </a:r>
            <a:r>
              <a:rPr lang="tr-TR" b="1" dirty="0">
                <a:cs typeface="Arial" panose="020B0604020202020204" pitchFamily="34" charset="0"/>
              </a:rPr>
              <a:t> (Pekiştirmeli/Takviyeli) Öğrenme :</a:t>
            </a:r>
            <a:r>
              <a:rPr lang="tr-TR" dirty="0">
                <a:cs typeface="Arial" panose="020B0604020202020204" pitchFamily="34" charset="0"/>
              </a:rPr>
              <a:t>Bir ajanın kendi eylemlerinden ve deneyimlerinden aldığı geri bildirimleri kullanarak deneme yanılma yoluyla maksimum ödüle ulaşmayı hedefleyen makine öğrenmesi tekniğidir. </a:t>
            </a:r>
            <a:endParaRPr lang="en-US" dirty="0">
              <a:cs typeface="Arial" panose="020B0604020202020204" pitchFamily="34" charset="0"/>
            </a:endParaRPr>
          </a:p>
        </p:txBody>
      </p:sp>
      <p:pic>
        <p:nvPicPr>
          <p:cNvPr id="5" name="Resim 4">
            <a:extLst>
              <a:ext uri="{FF2B5EF4-FFF2-40B4-BE49-F238E27FC236}">
                <a16:creationId xmlns:a16="http://schemas.microsoft.com/office/drawing/2014/main" id="{105469F1-B9F4-67E7-CBAE-574CCF294211}"/>
              </a:ext>
            </a:extLst>
          </p:cNvPr>
          <p:cNvPicPr>
            <a:picLocks noChangeAspect="1"/>
          </p:cNvPicPr>
          <p:nvPr/>
        </p:nvPicPr>
        <p:blipFill>
          <a:blip r:embed="rId2"/>
          <a:stretch>
            <a:fillRect/>
          </a:stretch>
        </p:blipFill>
        <p:spPr>
          <a:xfrm>
            <a:off x="7394585" y="3342662"/>
            <a:ext cx="4047772" cy="3235569"/>
          </a:xfrm>
          <a:prstGeom prst="rect">
            <a:avLst/>
          </a:prstGeom>
        </p:spPr>
      </p:pic>
      <p:pic>
        <p:nvPicPr>
          <p:cNvPr id="6" name="Resim 5">
            <a:extLst>
              <a:ext uri="{FF2B5EF4-FFF2-40B4-BE49-F238E27FC236}">
                <a16:creationId xmlns:a16="http://schemas.microsoft.com/office/drawing/2014/main" id="{059BCE55-1337-E464-D18A-C4C40E1A86E5}"/>
              </a:ext>
            </a:extLst>
          </p:cNvPr>
          <p:cNvPicPr>
            <a:picLocks noChangeAspect="1"/>
          </p:cNvPicPr>
          <p:nvPr/>
        </p:nvPicPr>
        <p:blipFill>
          <a:blip r:embed="rId3"/>
          <a:stretch>
            <a:fillRect/>
          </a:stretch>
        </p:blipFill>
        <p:spPr>
          <a:xfrm>
            <a:off x="970913" y="3342662"/>
            <a:ext cx="5662024" cy="2753772"/>
          </a:xfrm>
          <a:prstGeom prst="rect">
            <a:avLst/>
          </a:prstGeom>
        </p:spPr>
      </p:pic>
    </p:spTree>
    <p:extLst>
      <p:ext uri="{BB962C8B-B14F-4D97-AF65-F5344CB8AC3E}">
        <p14:creationId xmlns:p14="http://schemas.microsoft.com/office/powerpoint/2010/main" val="8709337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942A7E6-F82D-52C4-0B27-7141BC8B0A30}"/>
              </a:ext>
            </a:extLst>
          </p:cNvPr>
          <p:cNvSpPr>
            <a:spLocks noGrp="1"/>
          </p:cNvSpPr>
          <p:nvPr>
            <p:ph type="title"/>
          </p:nvPr>
        </p:nvSpPr>
        <p:spPr/>
        <p:txBody>
          <a:bodyPr/>
          <a:lstStyle/>
          <a:p>
            <a:r>
              <a:rPr lang="tr-TR" dirty="0"/>
              <a:t>Makine Öğrenmesi Terimleri</a:t>
            </a:r>
            <a:endParaRPr lang="en-US" dirty="0"/>
          </a:p>
        </p:txBody>
      </p:sp>
      <p:sp>
        <p:nvSpPr>
          <p:cNvPr id="3" name="İçerik Yer Tutucusu 2">
            <a:extLst>
              <a:ext uri="{FF2B5EF4-FFF2-40B4-BE49-F238E27FC236}">
                <a16:creationId xmlns:a16="http://schemas.microsoft.com/office/drawing/2014/main" id="{CF1BF548-18EE-E9CB-6F9C-AE5C0E0835EF}"/>
              </a:ext>
            </a:extLst>
          </p:cNvPr>
          <p:cNvSpPr>
            <a:spLocks noGrp="1"/>
          </p:cNvSpPr>
          <p:nvPr>
            <p:ph idx="1"/>
          </p:nvPr>
        </p:nvSpPr>
        <p:spPr>
          <a:xfrm>
            <a:off x="416076" y="1488613"/>
            <a:ext cx="10837332" cy="3880773"/>
          </a:xfrm>
        </p:spPr>
        <p:txBody>
          <a:bodyPr>
            <a:noAutofit/>
          </a:bodyPr>
          <a:lstStyle/>
          <a:p>
            <a:pPr algn="just"/>
            <a:r>
              <a:rPr lang="tr-TR" b="1" i="0" u="none" strike="noStrike" baseline="0" dirty="0" err="1">
                <a:cs typeface="Arial" panose="020B0604020202020204" pitchFamily="34" charset="0"/>
              </a:rPr>
              <a:t>Reinforcement</a:t>
            </a:r>
            <a:r>
              <a:rPr lang="tr-TR" b="1" dirty="0">
                <a:cs typeface="Arial" panose="020B0604020202020204" pitchFamily="34" charset="0"/>
              </a:rPr>
              <a:t> (Takviyeli Öğrenme) : </a:t>
            </a:r>
            <a:r>
              <a:rPr lang="en-US" b="0" i="0" u="none" strike="noStrike" baseline="0" dirty="0" err="1">
                <a:cs typeface="Arial" panose="020B0604020202020204" pitchFamily="34" charset="0"/>
              </a:rPr>
              <a:t>Bazen</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öğretici</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sisteme</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beklenen</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sonucu</a:t>
            </a:r>
            <a:r>
              <a:rPr lang="en-US" b="0" i="0" u="none" strike="noStrike" baseline="0" dirty="0">
                <a:cs typeface="Arial" panose="020B0604020202020204" pitchFamily="34" charset="0"/>
              </a:rPr>
              <a:t> tam</a:t>
            </a:r>
            <a:r>
              <a:rPr lang="tr-TR" b="0" i="0" u="none" strike="noStrike" baseline="0" dirty="0">
                <a:cs typeface="Arial" panose="020B0604020202020204" pitchFamily="34" charset="0"/>
              </a:rPr>
              <a:t> </a:t>
            </a:r>
            <a:r>
              <a:rPr lang="en-US" b="0" i="0" u="none" strike="noStrike" baseline="0" dirty="0" err="1">
                <a:cs typeface="Arial" panose="020B0604020202020204" pitchFamily="34" charset="0"/>
              </a:rPr>
              <a:t>söyleyemez</a:t>
            </a:r>
            <a:r>
              <a:rPr lang="en-US" b="0" i="0" u="none" strike="noStrike" baseline="0" dirty="0">
                <a:cs typeface="Arial" panose="020B0604020202020204" pitchFamily="34" charset="0"/>
              </a:rPr>
              <a:t>. Ama </a:t>
            </a:r>
            <a:r>
              <a:rPr lang="en-US" b="0" i="0" u="none" strike="noStrike" baseline="0" dirty="0" err="1">
                <a:cs typeface="Arial" panose="020B0604020202020204" pitchFamily="34" charset="0"/>
              </a:rPr>
              <a:t>sistemin</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ürettiği</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sonuç</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için</a:t>
            </a:r>
            <a:r>
              <a:rPr lang="tr-TR" dirty="0">
                <a:cs typeface="Arial" panose="020B0604020202020204" pitchFamily="34" charset="0"/>
              </a:rPr>
              <a:t> </a:t>
            </a:r>
            <a:r>
              <a:rPr lang="en-US" b="0" i="0" u="none" strike="noStrike" baseline="0" dirty="0">
                <a:cs typeface="Arial" panose="020B0604020202020204" pitchFamily="34" charset="0"/>
              </a:rPr>
              <a:t>“</a:t>
            </a:r>
            <a:r>
              <a:rPr lang="en-US" b="0" i="0" u="none" strike="noStrike" baseline="0" dirty="0" err="1">
                <a:cs typeface="Arial" panose="020B0604020202020204" pitchFamily="34" charset="0"/>
              </a:rPr>
              <a:t>doğru</a:t>
            </a:r>
            <a:r>
              <a:rPr lang="en-US" b="0" i="0" u="none" strike="noStrike" baseline="0" dirty="0">
                <a:cs typeface="Arial" panose="020B0604020202020204" pitchFamily="34" charset="0"/>
              </a:rPr>
              <a:t>/</a:t>
            </a:r>
            <a:r>
              <a:rPr lang="en-US" b="0" i="0" u="none" strike="noStrike" baseline="0" dirty="0" err="1">
                <a:cs typeface="Arial" panose="020B0604020202020204" pitchFamily="34" charset="0"/>
              </a:rPr>
              <a:t>yanlı</a:t>
            </a:r>
            <a:r>
              <a:rPr lang="tr-TR" b="0" i="0" u="none" strike="noStrike" baseline="0" dirty="0">
                <a:cs typeface="Arial" panose="020B0604020202020204" pitchFamily="34" charset="0"/>
              </a:rPr>
              <a:t>ş</a:t>
            </a:r>
            <a:r>
              <a:rPr lang="en-US" b="0" i="0" u="none" strike="noStrike" baseline="0" dirty="0">
                <a:cs typeface="Arial" panose="020B0604020202020204" pitchFamily="34" charset="0"/>
              </a:rPr>
              <a:t>” </a:t>
            </a:r>
            <a:r>
              <a:rPr lang="tr-TR" dirty="0">
                <a:cs typeface="Arial" panose="020B0604020202020204" pitchFamily="34" charset="0"/>
              </a:rPr>
              <a:t>ş</a:t>
            </a:r>
            <a:r>
              <a:rPr lang="en-US" b="0" i="0" u="none" strike="noStrike" baseline="0" dirty="0" err="1">
                <a:cs typeface="Arial" panose="020B0604020202020204" pitchFamily="34" charset="0"/>
              </a:rPr>
              <a:t>eklinde</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fikir</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belirtir</a:t>
            </a:r>
            <a:r>
              <a:rPr lang="en-US" b="0" i="0" u="none" strike="noStrike" baseline="0" dirty="0">
                <a:cs typeface="Arial" panose="020B0604020202020204" pitchFamily="34" charset="0"/>
              </a:rPr>
              <a:t>. </a:t>
            </a:r>
            <a:endParaRPr lang="tr-TR" b="0" i="0" u="none" strike="noStrike" baseline="0" dirty="0">
              <a:cs typeface="Arial" panose="020B0604020202020204" pitchFamily="34" charset="0"/>
            </a:endParaRPr>
          </a:p>
          <a:p>
            <a:pPr algn="just"/>
            <a:r>
              <a:rPr lang="en-US" dirty="0">
                <a:cs typeface="Arial" panose="020B0604020202020204" pitchFamily="34" charset="0"/>
              </a:rPr>
              <a:t>Boltzmann </a:t>
            </a:r>
            <a:r>
              <a:rPr lang="en-US" dirty="0" err="1">
                <a:cs typeface="Arial" panose="020B0604020202020204" pitchFamily="34" charset="0"/>
              </a:rPr>
              <a:t>makinesi</a:t>
            </a:r>
            <a:r>
              <a:rPr lang="en-US" dirty="0">
                <a:cs typeface="Arial" panose="020B0604020202020204" pitchFamily="34" charset="0"/>
              </a:rPr>
              <a:t>, </a:t>
            </a:r>
            <a:r>
              <a:rPr lang="tr-TR" dirty="0">
                <a:cs typeface="Arial" panose="020B0604020202020204" pitchFamily="34" charset="0"/>
              </a:rPr>
              <a:t>(</a:t>
            </a:r>
            <a:r>
              <a:rPr lang="en-US" dirty="0" err="1">
                <a:cs typeface="Arial" panose="020B0604020202020204" pitchFamily="34" charset="0"/>
              </a:rPr>
              <a:t>giriş</a:t>
            </a:r>
            <a:r>
              <a:rPr lang="en-US" dirty="0">
                <a:cs typeface="Arial" panose="020B0604020202020204" pitchFamily="34" charset="0"/>
              </a:rPr>
              <a:t> </a:t>
            </a:r>
            <a:r>
              <a:rPr lang="en-US" dirty="0" err="1">
                <a:cs typeface="Arial" panose="020B0604020202020204" pitchFamily="34" charset="0"/>
              </a:rPr>
              <a:t>veri</a:t>
            </a:r>
            <a:r>
              <a:rPr lang="en-US" dirty="0">
                <a:cs typeface="Arial" panose="020B0604020202020204" pitchFamily="34" charset="0"/>
              </a:rPr>
              <a:t> </a:t>
            </a:r>
            <a:r>
              <a:rPr lang="en-US" dirty="0" err="1">
                <a:cs typeface="Arial" panose="020B0604020202020204" pitchFamily="34" charset="0"/>
              </a:rPr>
              <a:t>seti</a:t>
            </a:r>
            <a:r>
              <a:rPr lang="en-US" dirty="0">
                <a:cs typeface="Arial" panose="020B0604020202020204" pitchFamily="34" charset="0"/>
              </a:rPr>
              <a:t> </a:t>
            </a:r>
            <a:r>
              <a:rPr lang="en-US" dirty="0" err="1">
                <a:cs typeface="Arial" panose="020B0604020202020204" pitchFamily="34" charset="0"/>
              </a:rPr>
              <a:t>üzerinde</a:t>
            </a:r>
            <a:r>
              <a:rPr lang="en-US" dirty="0">
                <a:cs typeface="Arial" panose="020B0604020202020204" pitchFamily="34" charset="0"/>
              </a:rPr>
              <a:t> olasılıksal </a:t>
            </a:r>
            <a:r>
              <a:rPr lang="en-US" dirty="0" err="1">
                <a:cs typeface="Arial" panose="020B0604020202020204" pitchFamily="34" charset="0"/>
              </a:rPr>
              <a:t>dağılımları</a:t>
            </a:r>
            <a:r>
              <a:rPr lang="en-US" dirty="0">
                <a:cs typeface="Arial" panose="020B0604020202020204" pitchFamily="34" charset="0"/>
              </a:rPr>
              <a:t> </a:t>
            </a:r>
            <a:r>
              <a:rPr lang="en-US" dirty="0" err="1">
                <a:cs typeface="Arial" panose="020B0604020202020204" pitchFamily="34" charset="0"/>
              </a:rPr>
              <a:t>öğrenebilen</a:t>
            </a:r>
            <a:r>
              <a:rPr lang="en-US" dirty="0">
                <a:cs typeface="Arial" panose="020B0604020202020204" pitchFamily="34" charset="0"/>
              </a:rPr>
              <a:t> </a:t>
            </a:r>
            <a:r>
              <a:rPr lang="en-US" dirty="0" err="1">
                <a:cs typeface="Arial" panose="020B0604020202020204" pitchFamily="34" charset="0"/>
              </a:rPr>
              <a:t>stokastik</a:t>
            </a:r>
            <a:r>
              <a:rPr lang="en-US" dirty="0">
                <a:cs typeface="Arial" panose="020B0604020202020204" pitchFamily="34" charset="0"/>
              </a:rPr>
              <a:t> </a:t>
            </a:r>
            <a:r>
              <a:rPr lang="en-US" dirty="0" err="1">
                <a:cs typeface="Arial" panose="020B0604020202020204" pitchFamily="34" charset="0"/>
              </a:rPr>
              <a:t>tekrarlayan</a:t>
            </a:r>
            <a:r>
              <a:rPr lang="en-US" dirty="0">
                <a:cs typeface="Arial" panose="020B0604020202020204" pitchFamily="34" charset="0"/>
              </a:rPr>
              <a:t> </a:t>
            </a:r>
            <a:r>
              <a:rPr lang="en-US" dirty="0" err="1">
                <a:cs typeface="Arial" panose="020B0604020202020204" pitchFamily="34" charset="0"/>
              </a:rPr>
              <a:t>bir</a:t>
            </a:r>
            <a:r>
              <a:rPr lang="en-US" dirty="0">
                <a:cs typeface="Arial" panose="020B0604020202020204" pitchFamily="34" charset="0"/>
              </a:rPr>
              <a:t> </a:t>
            </a:r>
            <a:r>
              <a:rPr lang="en-US" dirty="0" err="1">
                <a:cs typeface="Arial" panose="020B0604020202020204" pitchFamily="34" charset="0"/>
              </a:rPr>
              <a:t>sinir</a:t>
            </a:r>
            <a:r>
              <a:rPr lang="en-US" dirty="0">
                <a:cs typeface="Arial" panose="020B0604020202020204" pitchFamily="34" charset="0"/>
              </a:rPr>
              <a:t> </a:t>
            </a:r>
            <a:r>
              <a:rPr lang="en-US" dirty="0" err="1">
                <a:cs typeface="Arial" panose="020B0604020202020204" pitchFamily="34" charset="0"/>
              </a:rPr>
              <a:t>ağıdır</a:t>
            </a:r>
            <a:r>
              <a:rPr lang="tr-TR" dirty="0">
                <a:cs typeface="Arial" panose="020B0604020202020204" pitchFamily="34" charset="0"/>
              </a:rPr>
              <a:t>)</a:t>
            </a:r>
          </a:p>
          <a:p>
            <a:pPr algn="just"/>
            <a:r>
              <a:rPr lang="en-US" dirty="0">
                <a:cs typeface="Arial" panose="020B0604020202020204" pitchFamily="34" charset="0"/>
              </a:rPr>
              <a:t>LVQ</a:t>
            </a:r>
            <a:r>
              <a:rPr lang="tr-TR" dirty="0">
                <a:cs typeface="Arial" panose="020B0604020202020204" pitchFamily="34" charset="0"/>
              </a:rPr>
              <a:t> (Learning </a:t>
            </a:r>
            <a:r>
              <a:rPr lang="tr-TR" dirty="0" err="1">
                <a:cs typeface="Arial" panose="020B0604020202020204" pitchFamily="34" charset="0"/>
              </a:rPr>
              <a:t>vector</a:t>
            </a:r>
            <a:r>
              <a:rPr lang="tr-TR" dirty="0">
                <a:cs typeface="Arial" panose="020B0604020202020204" pitchFamily="34" charset="0"/>
              </a:rPr>
              <a:t> </a:t>
            </a:r>
            <a:r>
              <a:rPr lang="tr-TR" dirty="0" err="1">
                <a:cs typeface="Arial" panose="020B0604020202020204" pitchFamily="34" charset="0"/>
              </a:rPr>
              <a:t>quantization</a:t>
            </a:r>
            <a:r>
              <a:rPr lang="tr-TR" dirty="0">
                <a:cs typeface="Arial" panose="020B0604020202020204" pitchFamily="34" charset="0"/>
              </a:rPr>
              <a:t>)</a:t>
            </a:r>
            <a:r>
              <a:rPr lang="en-US" dirty="0">
                <a:cs typeface="Arial" panose="020B0604020202020204" pitchFamily="34" charset="0"/>
              </a:rPr>
              <a:t> </a:t>
            </a:r>
            <a:r>
              <a:rPr lang="tr-TR" dirty="0">
                <a:cs typeface="Arial" panose="020B0604020202020204" pitchFamily="34" charset="0"/>
              </a:rPr>
              <a:t>(</a:t>
            </a:r>
            <a:r>
              <a:rPr lang="en-US" dirty="0">
                <a:cs typeface="Arial" panose="020B0604020202020204" pitchFamily="34" charset="0"/>
              </a:rPr>
              <a:t>n </a:t>
            </a:r>
            <a:r>
              <a:rPr lang="en-US" dirty="0" err="1">
                <a:cs typeface="Arial" panose="020B0604020202020204" pitchFamily="34" charset="0"/>
              </a:rPr>
              <a:t>boyutlu</a:t>
            </a:r>
            <a:r>
              <a:rPr lang="en-US" dirty="0">
                <a:cs typeface="Arial" panose="020B0604020202020204" pitchFamily="34" charset="0"/>
              </a:rPr>
              <a:t> </a:t>
            </a:r>
            <a:r>
              <a:rPr lang="en-US" dirty="0" err="1">
                <a:cs typeface="Arial" panose="020B0604020202020204" pitchFamily="34" charset="0"/>
              </a:rPr>
              <a:t>bir</a:t>
            </a:r>
            <a:r>
              <a:rPr lang="en-US" dirty="0">
                <a:cs typeface="Arial" panose="020B0604020202020204" pitchFamily="34" charset="0"/>
              </a:rPr>
              <a:t> </a:t>
            </a:r>
            <a:r>
              <a:rPr lang="en-US" dirty="0" err="1">
                <a:cs typeface="Arial" panose="020B0604020202020204" pitchFamily="34" charset="0"/>
              </a:rPr>
              <a:t>vektörü</a:t>
            </a:r>
            <a:r>
              <a:rPr lang="en-US" dirty="0">
                <a:cs typeface="Arial" panose="020B0604020202020204" pitchFamily="34" charset="0"/>
              </a:rPr>
              <a:t> </a:t>
            </a:r>
            <a:r>
              <a:rPr lang="en-US" dirty="0" err="1">
                <a:cs typeface="Arial" panose="020B0604020202020204" pitchFamily="34" charset="0"/>
              </a:rPr>
              <a:t>bir</a:t>
            </a:r>
            <a:r>
              <a:rPr lang="en-US" dirty="0">
                <a:cs typeface="Arial" panose="020B0604020202020204" pitchFamily="34" charset="0"/>
              </a:rPr>
              <a:t> </a:t>
            </a:r>
            <a:r>
              <a:rPr lang="en-US" dirty="0" err="1">
                <a:cs typeface="Arial" panose="020B0604020202020204" pitchFamily="34" charset="0"/>
              </a:rPr>
              <a:t>vektörler</a:t>
            </a:r>
            <a:r>
              <a:rPr lang="en-US" dirty="0">
                <a:cs typeface="Arial" panose="020B0604020202020204" pitchFamily="34" charset="0"/>
              </a:rPr>
              <a:t> </a:t>
            </a:r>
            <a:r>
              <a:rPr lang="en-US" dirty="0" err="1">
                <a:cs typeface="Arial" panose="020B0604020202020204" pitchFamily="34" charset="0"/>
              </a:rPr>
              <a:t>setine</a:t>
            </a:r>
            <a:r>
              <a:rPr lang="en-US" dirty="0">
                <a:cs typeface="Arial" panose="020B0604020202020204" pitchFamily="34" charset="0"/>
              </a:rPr>
              <a:t> </a:t>
            </a:r>
            <a:r>
              <a:rPr lang="en-US" dirty="0" err="1">
                <a:cs typeface="Arial" panose="020B0604020202020204" pitchFamily="34" charset="0"/>
              </a:rPr>
              <a:t>haritalamak</a:t>
            </a:r>
            <a:r>
              <a:rPr lang="tr-TR" dirty="0">
                <a:cs typeface="Arial" panose="020B0604020202020204" pitchFamily="34" charset="0"/>
              </a:rPr>
              <a:t>ta</a:t>
            </a:r>
            <a:r>
              <a:rPr lang="en-US" dirty="0" err="1">
                <a:cs typeface="Arial" panose="020B0604020202020204" pitchFamily="34" charset="0"/>
              </a:rPr>
              <a:t>tır</a:t>
            </a:r>
            <a:r>
              <a:rPr lang="en-US" dirty="0">
                <a:cs typeface="Arial" panose="020B0604020202020204" pitchFamily="34" charset="0"/>
              </a:rPr>
              <a:t> (</a:t>
            </a:r>
            <a:r>
              <a:rPr lang="en-US" dirty="0" err="1">
                <a:cs typeface="Arial" panose="020B0604020202020204" pitchFamily="34" charset="0"/>
              </a:rPr>
              <a:t>uydurmaktır</a:t>
            </a:r>
            <a:r>
              <a:rPr lang="en-US" dirty="0">
                <a:cs typeface="Arial" panose="020B0604020202020204" pitchFamily="34" charset="0"/>
              </a:rPr>
              <a:t>)</a:t>
            </a:r>
            <a:r>
              <a:rPr lang="tr-TR" dirty="0">
                <a:cs typeface="Arial" panose="020B0604020202020204" pitchFamily="34" charset="0"/>
              </a:rPr>
              <a:t>)</a:t>
            </a:r>
          </a:p>
          <a:p>
            <a:pPr algn="just"/>
            <a:r>
              <a:rPr lang="tr-TR" dirty="0">
                <a:cs typeface="Arial" panose="020B0604020202020204" pitchFamily="34" charset="0"/>
              </a:rPr>
              <a:t>G</a:t>
            </a:r>
            <a:r>
              <a:rPr lang="en-US" b="0" i="0" u="none" strike="noStrike" baseline="0" dirty="0" err="1">
                <a:cs typeface="Arial" panose="020B0604020202020204" pitchFamily="34" charset="0"/>
              </a:rPr>
              <a:t>enetik</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algoritma</a:t>
            </a:r>
            <a:r>
              <a:rPr lang="tr-TR" b="0" i="0" u="none" strike="noStrike" baseline="0" dirty="0">
                <a:cs typeface="Arial" panose="020B0604020202020204" pitchFamily="34" charset="0"/>
              </a:rPr>
              <a:t> </a:t>
            </a:r>
            <a:r>
              <a:rPr lang="tr-TR" dirty="0">
                <a:cs typeface="Arial" panose="020B0604020202020204" pitchFamily="34" charset="0"/>
              </a:rPr>
              <a:t>(doğada gözlemlenen evrimsel mekanizmalara benzer mekanizmalar kullanarak çalışan en iyileştirme yöntemidir)</a:t>
            </a:r>
            <a:endParaRPr lang="tr-TR" b="0" i="0" u="none" strike="noStrike" baseline="0" dirty="0">
              <a:cs typeface="Arial" panose="020B0604020202020204" pitchFamily="34" charset="0"/>
            </a:endParaRPr>
          </a:p>
          <a:p>
            <a:pPr marL="0" indent="0" algn="just">
              <a:buNone/>
            </a:pPr>
            <a:r>
              <a:rPr lang="en-US" b="0" i="0" u="none" strike="noStrike" baseline="0" dirty="0" err="1">
                <a:cs typeface="Arial" panose="020B0604020202020204" pitchFamily="34" charset="0"/>
              </a:rPr>
              <a:t>örnek</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olarak</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sayılabilir</a:t>
            </a:r>
            <a:r>
              <a:rPr lang="en-US" b="0" i="0" u="none" strike="noStrike" baseline="0" dirty="0">
                <a:cs typeface="Arial" panose="020B0604020202020204" pitchFamily="34" charset="0"/>
              </a:rPr>
              <a:t>.</a:t>
            </a:r>
            <a:endParaRPr lang="en-US" dirty="0">
              <a:cs typeface="Arial" panose="020B0604020202020204" pitchFamily="34" charset="0"/>
            </a:endParaRPr>
          </a:p>
        </p:txBody>
      </p:sp>
    </p:spTree>
    <p:extLst>
      <p:ext uri="{BB962C8B-B14F-4D97-AF65-F5344CB8AC3E}">
        <p14:creationId xmlns:p14="http://schemas.microsoft.com/office/powerpoint/2010/main" val="9767000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D6B4A-E383-FAC4-9455-FE52649C1206}"/>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DE76F362-54DE-67A0-FCC7-76B3533441D6}"/>
              </a:ext>
            </a:extLst>
          </p:cNvPr>
          <p:cNvSpPr>
            <a:spLocks noGrp="1"/>
          </p:cNvSpPr>
          <p:nvPr>
            <p:ph type="title"/>
          </p:nvPr>
        </p:nvSpPr>
        <p:spPr/>
        <p:txBody>
          <a:bodyPr/>
          <a:lstStyle/>
          <a:p>
            <a:r>
              <a:rPr lang="tr-TR" dirty="0">
                <a:cs typeface="Arial" panose="020B0604020202020204" pitchFamily="34" charset="0"/>
              </a:rPr>
              <a:t>Makine Öğrenmesi Terimleri</a:t>
            </a:r>
          </a:p>
        </p:txBody>
      </p:sp>
      <p:sp>
        <p:nvSpPr>
          <p:cNvPr id="3" name="İçerik Yer Tutucusu 2">
            <a:extLst>
              <a:ext uri="{FF2B5EF4-FFF2-40B4-BE49-F238E27FC236}">
                <a16:creationId xmlns:a16="http://schemas.microsoft.com/office/drawing/2014/main" id="{1290D889-9EB4-151B-F278-9A4D2C5578EA}"/>
              </a:ext>
            </a:extLst>
          </p:cNvPr>
          <p:cNvSpPr>
            <a:spLocks noGrp="1"/>
          </p:cNvSpPr>
          <p:nvPr>
            <p:ph idx="1"/>
          </p:nvPr>
        </p:nvSpPr>
        <p:spPr>
          <a:xfrm>
            <a:off x="406029" y="1597882"/>
            <a:ext cx="9571984" cy="3880773"/>
          </a:xfrm>
        </p:spPr>
        <p:txBody>
          <a:bodyPr>
            <a:normAutofit/>
          </a:bodyPr>
          <a:lstStyle/>
          <a:p>
            <a:pPr algn="just"/>
            <a:r>
              <a:rPr lang="en-US" b="1" i="0" dirty="0" err="1">
                <a:solidFill>
                  <a:srgbClr val="0D0D0D"/>
                </a:solidFill>
                <a:effectLst/>
                <a:cs typeface="Arial" panose="020B0604020202020204" pitchFamily="34" charset="0"/>
              </a:rPr>
              <a:t>Aşırı</a:t>
            </a:r>
            <a:r>
              <a:rPr lang="en-US" b="1" i="0" dirty="0">
                <a:solidFill>
                  <a:srgbClr val="0D0D0D"/>
                </a:solidFill>
                <a:effectLst/>
                <a:cs typeface="Arial" panose="020B0604020202020204" pitchFamily="34" charset="0"/>
              </a:rPr>
              <a:t> </a:t>
            </a:r>
            <a:r>
              <a:rPr lang="en-US" b="1" i="0" dirty="0" err="1">
                <a:solidFill>
                  <a:srgbClr val="0D0D0D"/>
                </a:solidFill>
                <a:effectLst/>
                <a:cs typeface="Arial" panose="020B0604020202020204" pitchFamily="34" charset="0"/>
              </a:rPr>
              <a:t>Öğrenme</a:t>
            </a:r>
            <a:r>
              <a:rPr lang="en-US" b="1" i="0" dirty="0">
                <a:solidFill>
                  <a:srgbClr val="0D0D0D"/>
                </a:solidFill>
                <a:effectLst/>
                <a:cs typeface="Arial" panose="020B0604020202020204" pitchFamily="34" charset="0"/>
              </a:rPr>
              <a:t> (Overfitting)</a:t>
            </a:r>
            <a:r>
              <a:rPr lang="en-US" b="0" i="0" dirty="0">
                <a:solidFill>
                  <a:srgbClr val="0D0D0D"/>
                </a:solidFill>
                <a:effectLst/>
                <a:cs typeface="Arial" panose="020B0604020202020204" pitchFamily="34" charset="0"/>
              </a:rPr>
              <a:t>:</a:t>
            </a:r>
            <a:r>
              <a:rPr lang="tr-TR"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Modelin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eğitim</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veri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setine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çok</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fazla</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uyum</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sağladığı</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durumdur</a:t>
            </a:r>
            <a:r>
              <a:rPr lang="en-US" b="0" i="0" dirty="0">
                <a:solidFill>
                  <a:srgbClr val="0D0D0D"/>
                </a:solidFill>
                <a:effectLst/>
                <a:cs typeface="Arial" panose="020B0604020202020204" pitchFamily="34" charset="0"/>
              </a:rPr>
              <a:t>.</a:t>
            </a:r>
            <a:r>
              <a:rPr lang="tr-TR" b="0" i="0" dirty="0">
                <a:solidFill>
                  <a:srgbClr val="0D0D0D"/>
                </a:solidFill>
                <a:effectLst/>
                <a:cs typeface="Arial" panose="020B0604020202020204" pitchFamily="34" charset="0"/>
              </a:rPr>
              <a:t> </a:t>
            </a:r>
            <a:r>
              <a:rPr lang="en-US" b="0" i="0" dirty="0">
                <a:solidFill>
                  <a:srgbClr val="0D0D0D"/>
                </a:solidFill>
                <a:effectLst/>
                <a:cs typeface="Arial" panose="020B0604020202020204" pitchFamily="34" charset="0"/>
              </a:rPr>
              <a:t>Bu durum, </a:t>
            </a:r>
            <a:r>
              <a:rPr lang="en-US" b="0" i="0" dirty="0" err="1">
                <a:solidFill>
                  <a:srgbClr val="0D0D0D"/>
                </a:solidFill>
                <a:effectLst/>
                <a:cs typeface="Arial" panose="020B0604020202020204" pitchFamily="34" charset="0"/>
              </a:rPr>
              <a:t>modelin</a:t>
            </a:r>
            <a:r>
              <a:rPr lang="en-US" b="0" i="0" dirty="0">
                <a:solidFill>
                  <a:srgbClr val="0D0D0D"/>
                </a:solidFill>
                <a:effectLst/>
                <a:cs typeface="Arial" panose="020B0604020202020204" pitchFamily="34" charset="0"/>
              </a:rPr>
              <a:t> yeni </a:t>
            </a:r>
            <a:r>
              <a:rPr lang="en-US" b="0" i="0" dirty="0" err="1">
                <a:solidFill>
                  <a:srgbClr val="0D0D0D"/>
                </a:solidFill>
                <a:effectLst/>
                <a:cs typeface="Arial" panose="020B0604020202020204" pitchFamily="34" charset="0"/>
              </a:rPr>
              <a:t>verilere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genelleme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yapma</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yeteneğini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azaltabilir</a:t>
            </a:r>
            <a:r>
              <a:rPr lang="en-US" b="0" i="0" dirty="0">
                <a:solidFill>
                  <a:srgbClr val="0D0D0D"/>
                </a:solidFill>
                <a:effectLst/>
                <a:cs typeface="Arial" panose="020B0604020202020204" pitchFamily="34" charset="0"/>
              </a:rPr>
              <a:t>.</a:t>
            </a:r>
          </a:p>
        </p:txBody>
      </p:sp>
      <p:pic>
        <p:nvPicPr>
          <p:cNvPr id="5" name="Resim 4">
            <a:extLst>
              <a:ext uri="{FF2B5EF4-FFF2-40B4-BE49-F238E27FC236}">
                <a16:creationId xmlns:a16="http://schemas.microsoft.com/office/drawing/2014/main" id="{DC504326-17BE-B9F2-71DE-90DE5A3F53F7}"/>
              </a:ext>
            </a:extLst>
          </p:cNvPr>
          <p:cNvPicPr>
            <a:picLocks noChangeAspect="1"/>
          </p:cNvPicPr>
          <p:nvPr/>
        </p:nvPicPr>
        <p:blipFill>
          <a:blip r:embed="rId3"/>
          <a:stretch>
            <a:fillRect/>
          </a:stretch>
        </p:blipFill>
        <p:spPr>
          <a:xfrm>
            <a:off x="1509712" y="2676525"/>
            <a:ext cx="9172575" cy="2962275"/>
          </a:xfrm>
          <a:prstGeom prst="rect">
            <a:avLst/>
          </a:prstGeom>
        </p:spPr>
      </p:pic>
    </p:spTree>
    <p:extLst>
      <p:ext uri="{BB962C8B-B14F-4D97-AF65-F5344CB8AC3E}">
        <p14:creationId xmlns:p14="http://schemas.microsoft.com/office/powerpoint/2010/main" val="42769679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942A7E6-F82D-52C4-0B27-7141BC8B0A30}"/>
              </a:ext>
            </a:extLst>
          </p:cNvPr>
          <p:cNvSpPr>
            <a:spLocks noGrp="1"/>
          </p:cNvSpPr>
          <p:nvPr>
            <p:ph type="title"/>
          </p:nvPr>
        </p:nvSpPr>
        <p:spPr/>
        <p:txBody>
          <a:bodyPr/>
          <a:lstStyle/>
          <a:p>
            <a:r>
              <a:rPr lang="en-US" dirty="0"/>
              <a:t>Veri Keşfi </a:t>
            </a:r>
            <a:r>
              <a:rPr lang="en-US" dirty="0" err="1"/>
              <a:t>ve</a:t>
            </a:r>
            <a:r>
              <a:rPr lang="en-US" dirty="0"/>
              <a:t> </a:t>
            </a:r>
            <a:r>
              <a:rPr lang="en-US" dirty="0" err="1"/>
              <a:t>Analizi</a:t>
            </a:r>
            <a:r>
              <a:rPr lang="en-US" dirty="0"/>
              <a:t> (Exploratory Data Analysis - EDA)</a:t>
            </a:r>
          </a:p>
        </p:txBody>
      </p:sp>
      <p:sp>
        <p:nvSpPr>
          <p:cNvPr id="3" name="İçerik Yer Tutucusu 2">
            <a:extLst>
              <a:ext uri="{FF2B5EF4-FFF2-40B4-BE49-F238E27FC236}">
                <a16:creationId xmlns:a16="http://schemas.microsoft.com/office/drawing/2014/main" id="{CF1BF548-18EE-E9CB-6F9C-AE5C0E0835EF}"/>
              </a:ext>
            </a:extLst>
          </p:cNvPr>
          <p:cNvSpPr>
            <a:spLocks noGrp="1"/>
          </p:cNvSpPr>
          <p:nvPr>
            <p:ph idx="1"/>
          </p:nvPr>
        </p:nvSpPr>
        <p:spPr>
          <a:xfrm>
            <a:off x="677333" y="1473799"/>
            <a:ext cx="9413339" cy="4567564"/>
          </a:xfrm>
        </p:spPr>
        <p:txBody>
          <a:bodyPr>
            <a:normAutofit/>
          </a:bodyPr>
          <a:lstStyle/>
          <a:p>
            <a:pPr algn="just"/>
            <a:r>
              <a:rPr lang="en-US" sz="2200" dirty="0" err="1"/>
              <a:t>Makine</a:t>
            </a:r>
            <a:r>
              <a:rPr lang="en-US" sz="2200" dirty="0"/>
              <a:t> </a:t>
            </a:r>
            <a:r>
              <a:rPr lang="en-US" sz="2200" dirty="0" err="1"/>
              <a:t>öğrenmesi</a:t>
            </a:r>
            <a:r>
              <a:rPr lang="en-US" sz="2200" dirty="0"/>
              <a:t> </a:t>
            </a:r>
            <a:r>
              <a:rPr lang="en-US" sz="2200" dirty="0" err="1"/>
              <a:t>projelerinde</a:t>
            </a:r>
            <a:r>
              <a:rPr lang="en-US" sz="2200" dirty="0"/>
              <a:t> </a:t>
            </a:r>
            <a:r>
              <a:rPr lang="en-US" sz="2200" dirty="0" err="1"/>
              <a:t>veri</a:t>
            </a:r>
            <a:r>
              <a:rPr lang="en-US" sz="2200" dirty="0"/>
              <a:t> </a:t>
            </a:r>
            <a:r>
              <a:rPr lang="en-US" sz="2200" dirty="0" err="1"/>
              <a:t>kalitesi</a:t>
            </a:r>
            <a:r>
              <a:rPr lang="en-US" sz="2200" dirty="0"/>
              <a:t>, </a:t>
            </a:r>
            <a:r>
              <a:rPr lang="en-US" sz="2200" dirty="0" err="1"/>
              <a:t>modelin</a:t>
            </a:r>
            <a:r>
              <a:rPr lang="en-US" sz="2200" dirty="0"/>
              <a:t> </a:t>
            </a:r>
            <a:r>
              <a:rPr lang="en-US" sz="2200" dirty="0" err="1"/>
              <a:t>başarısını</a:t>
            </a:r>
            <a:r>
              <a:rPr lang="en-US" sz="2200" dirty="0"/>
              <a:t> </a:t>
            </a:r>
            <a:r>
              <a:rPr lang="en-US" sz="2200" dirty="0" err="1"/>
              <a:t>doğrudan</a:t>
            </a:r>
            <a:r>
              <a:rPr lang="en-US" sz="2200" dirty="0"/>
              <a:t> </a:t>
            </a:r>
            <a:r>
              <a:rPr lang="en-US" sz="2200" dirty="0" err="1"/>
              <a:t>etkiler</a:t>
            </a:r>
            <a:r>
              <a:rPr lang="en-US" sz="2200" dirty="0"/>
              <a:t>. </a:t>
            </a:r>
            <a:r>
              <a:rPr lang="en-US" sz="2200" dirty="0" err="1"/>
              <a:t>Veriyi</a:t>
            </a:r>
            <a:r>
              <a:rPr lang="en-US" sz="2200" dirty="0"/>
              <a:t> </a:t>
            </a:r>
            <a:r>
              <a:rPr lang="en-US" sz="2200" dirty="0" err="1"/>
              <a:t>doğru</a:t>
            </a:r>
            <a:r>
              <a:rPr lang="en-US" sz="2200" dirty="0"/>
              <a:t> </a:t>
            </a:r>
            <a:r>
              <a:rPr lang="en-US" sz="2200" dirty="0" err="1"/>
              <a:t>şekilde</a:t>
            </a:r>
            <a:r>
              <a:rPr lang="en-US" sz="2200" dirty="0"/>
              <a:t> </a:t>
            </a:r>
            <a:r>
              <a:rPr lang="en-US" sz="2200" dirty="0" err="1"/>
              <a:t>hazırlamak</a:t>
            </a:r>
            <a:r>
              <a:rPr lang="en-US" sz="2200" dirty="0"/>
              <a:t>, </a:t>
            </a:r>
            <a:r>
              <a:rPr lang="en-US" sz="2200" dirty="0" err="1"/>
              <a:t>doğruluk</a:t>
            </a:r>
            <a:r>
              <a:rPr lang="en-US" sz="2200" dirty="0"/>
              <a:t>, </a:t>
            </a:r>
            <a:r>
              <a:rPr lang="en-US" sz="2200" dirty="0" err="1"/>
              <a:t>genelleme</a:t>
            </a:r>
            <a:r>
              <a:rPr lang="en-US" sz="2200" dirty="0"/>
              <a:t> </a:t>
            </a:r>
            <a:r>
              <a:rPr lang="en-US" sz="2200" dirty="0" err="1"/>
              <a:t>yeteneği</a:t>
            </a:r>
            <a:r>
              <a:rPr lang="en-US" sz="2200" dirty="0"/>
              <a:t> </a:t>
            </a:r>
            <a:r>
              <a:rPr lang="en-US" sz="2200" dirty="0" err="1"/>
              <a:t>ve</a:t>
            </a:r>
            <a:r>
              <a:rPr lang="en-US" sz="2200" dirty="0"/>
              <a:t> model </a:t>
            </a:r>
            <a:r>
              <a:rPr lang="en-US" sz="2200" dirty="0" err="1"/>
              <a:t>performansını</a:t>
            </a:r>
            <a:r>
              <a:rPr lang="en-US" sz="2200" dirty="0"/>
              <a:t> </a:t>
            </a:r>
            <a:r>
              <a:rPr lang="en-US" sz="2200" dirty="0" err="1"/>
              <a:t>artırır</a:t>
            </a:r>
            <a:r>
              <a:rPr lang="en-US" sz="2200" dirty="0"/>
              <a:t>. </a:t>
            </a:r>
            <a:r>
              <a:rPr lang="tr-TR" sz="2200" dirty="0"/>
              <a:t>V</a:t>
            </a:r>
            <a:r>
              <a:rPr lang="en-US" sz="2200" dirty="0" err="1"/>
              <a:t>eri</a:t>
            </a:r>
            <a:r>
              <a:rPr lang="en-US" sz="2200" dirty="0"/>
              <a:t> </a:t>
            </a:r>
            <a:r>
              <a:rPr lang="en-US" sz="2200" dirty="0" err="1"/>
              <a:t>hazırlama</a:t>
            </a:r>
            <a:r>
              <a:rPr lang="en-US" sz="2200" dirty="0"/>
              <a:t> </a:t>
            </a:r>
            <a:r>
              <a:rPr lang="en-US" sz="2200" dirty="0" err="1"/>
              <a:t>sürecinin</a:t>
            </a:r>
            <a:r>
              <a:rPr lang="en-US" sz="2200" dirty="0"/>
              <a:t> </a:t>
            </a:r>
            <a:r>
              <a:rPr lang="en-US" sz="2200" dirty="0" err="1"/>
              <a:t>temel</a:t>
            </a:r>
            <a:r>
              <a:rPr lang="en-US" sz="2200" dirty="0"/>
              <a:t> </a:t>
            </a:r>
            <a:r>
              <a:rPr lang="en-US" sz="2200" dirty="0" err="1"/>
              <a:t>adımları</a:t>
            </a:r>
            <a:r>
              <a:rPr lang="en-US" sz="2200" dirty="0"/>
              <a:t>:</a:t>
            </a:r>
            <a:endParaRPr lang="tr-TR" sz="2200" dirty="0"/>
          </a:p>
          <a:p>
            <a:pPr algn="just"/>
            <a:endParaRPr lang="tr-TR" sz="2800" dirty="0"/>
          </a:p>
          <a:p>
            <a:pPr algn="just"/>
            <a:r>
              <a:rPr lang="tr-TR" dirty="0"/>
              <a:t>1. Veri Toplama</a:t>
            </a:r>
          </a:p>
          <a:p>
            <a:pPr algn="just"/>
            <a:r>
              <a:rPr lang="tr-TR" dirty="0"/>
              <a:t>2. Veri Analizi</a:t>
            </a:r>
          </a:p>
          <a:p>
            <a:pPr algn="just"/>
            <a:r>
              <a:rPr lang="tr-TR" dirty="0"/>
              <a:t>3.Veri Temizleme</a:t>
            </a:r>
          </a:p>
          <a:p>
            <a:pPr algn="just"/>
            <a:r>
              <a:rPr lang="tr-TR" dirty="0"/>
              <a:t>4.Veri Dönüştürme</a:t>
            </a:r>
          </a:p>
          <a:p>
            <a:pPr algn="just"/>
            <a:r>
              <a:rPr lang="tr-TR" dirty="0"/>
              <a:t>5.Özellik seçimi ve Veri Mühendisliği</a:t>
            </a:r>
          </a:p>
          <a:p>
            <a:pPr algn="just"/>
            <a:r>
              <a:rPr lang="tr-TR" dirty="0"/>
              <a:t>6.Veri Setini Eğitim ve Test olarak Bölme</a:t>
            </a:r>
            <a:endParaRPr lang="en-US" dirty="0"/>
          </a:p>
        </p:txBody>
      </p:sp>
    </p:spTree>
    <p:extLst>
      <p:ext uri="{BB962C8B-B14F-4D97-AF65-F5344CB8AC3E}">
        <p14:creationId xmlns:p14="http://schemas.microsoft.com/office/powerpoint/2010/main" val="37683369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7F9EF92-A1A2-80A7-77F5-0C0F88BFD422}"/>
              </a:ext>
            </a:extLst>
          </p:cNvPr>
          <p:cNvSpPr>
            <a:spLocks noGrp="1"/>
          </p:cNvSpPr>
          <p:nvPr>
            <p:ph type="title"/>
          </p:nvPr>
        </p:nvSpPr>
        <p:spPr/>
        <p:txBody>
          <a:bodyPr/>
          <a:lstStyle/>
          <a:p>
            <a:r>
              <a:rPr lang="en-US" dirty="0"/>
              <a:t>Veri Keşfi </a:t>
            </a:r>
            <a:r>
              <a:rPr lang="en-US" dirty="0" err="1"/>
              <a:t>ve</a:t>
            </a:r>
            <a:r>
              <a:rPr lang="en-US" dirty="0"/>
              <a:t> </a:t>
            </a:r>
            <a:r>
              <a:rPr lang="en-US" dirty="0" err="1"/>
              <a:t>Analizi</a:t>
            </a:r>
            <a:r>
              <a:rPr lang="en-US" dirty="0"/>
              <a:t> (Exploratory Data Analysis - EDA)</a:t>
            </a:r>
          </a:p>
        </p:txBody>
      </p:sp>
      <p:sp>
        <p:nvSpPr>
          <p:cNvPr id="3" name="İçerik Yer Tutucusu 2">
            <a:extLst>
              <a:ext uri="{FF2B5EF4-FFF2-40B4-BE49-F238E27FC236}">
                <a16:creationId xmlns:a16="http://schemas.microsoft.com/office/drawing/2014/main" id="{FABB29D5-ABC3-0EFA-6CC7-237F9F1450BB}"/>
              </a:ext>
            </a:extLst>
          </p:cNvPr>
          <p:cNvSpPr>
            <a:spLocks noGrp="1"/>
          </p:cNvSpPr>
          <p:nvPr>
            <p:ph idx="1"/>
          </p:nvPr>
        </p:nvSpPr>
        <p:spPr>
          <a:xfrm>
            <a:off x="513465" y="1488613"/>
            <a:ext cx="10886376" cy="3880773"/>
          </a:xfrm>
        </p:spPr>
        <p:txBody>
          <a:bodyPr/>
          <a:lstStyle/>
          <a:p>
            <a:pPr algn="just">
              <a:buFont typeface="Arial" panose="020B0604020202020204" pitchFamily="34" charset="0"/>
              <a:buChar char="•"/>
            </a:pPr>
            <a:r>
              <a:rPr lang="tr-TR" b="1" i="0" dirty="0">
                <a:solidFill>
                  <a:srgbClr val="0D0D0D"/>
                </a:solidFill>
                <a:effectLst/>
                <a:cs typeface="Arial" panose="020B0604020202020204" pitchFamily="34" charset="0"/>
              </a:rPr>
              <a:t>Eksik Veri Kontrolü </a:t>
            </a:r>
          </a:p>
          <a:p>
            <a:pPr algn="just">
              <a:buFont typeface="Arial" panose="020B0604020202020204" pitchFamily="34" charset="0"/>
              <a:buChar char="•"/>
            </a:pPr>
            <a:r>
              <a:rPr lang="en-US" b="0" i="0" dirty="0" err="1">
                <a:solidFill>
                  <a:srgbClr val="0D0D0D"/>
                </a:solidFill>
                <a:effectLst/>
                <a:cs typeface="Arial" panose="020B0604020202020204" pitchFamily="34" charset="0"/>
              </a:rPr>
              <a:t>Eksik</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veya</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bozuk</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verilerin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belirlenmesi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bunların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düzeltilmesi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veya</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çıkarılması</a:t>
            </a:r>
            <a:r>
              <a:rPr lang="en-US" b="0" i="0" dirty="0">
                <a:solidFill>
                  <a:srgbClr val="0D0D0D"/>
                </a:solidFill>
                <a:effectLst/>
                <a:cs typeface="Arial" panose="020B0604020202020204" pitchFamily="34" charset="0"/>
              </a:rPr>
              <a:t>. </a:t>
            </a:r>
            <a:endParaRPr lang="tr-TR" b="0" i="0" dirty="0">
              <a:solidFill>
                <a:srgbClr val="0D0D0D"/>
              </a:solidFill>
              <a:effectLst/>
              <a:cs typeface="Arial" panose="020B0604020202020204" pitchFamily="34" charset="0"/>
            </a:endParaRPr>
          </a:p>
          <a:p>
            <a:pPr algn="just">
              <a:buFont typeface="Arial" panose="020B0604020202020204" pitchFamily="34" charset="0"/>
              <a:buChar char="•"/>
            </a:pPr>
            <a:r>
              <a:rPr lang="en-US" b="0" i="0" dirty="0">
                <a:solidFill>
                  <a:srgbClr val="0D0D0D"/>
                </a:solidFill>
                <a:effectLst/>
                <a:cs typeface="Arial" panose="020B0604020202020204" pitchFamily="34" charset="0"/>
              </a:rPr>
              <a:t>Bu </a:t>
            </a:r>
            <a:r>
              <a:rPr lang="en-US" b="0" i="0" dirty="0" err="1">
                <a:solidFill>
                  <a:srgbClr val="0D0D0D"/>
                </a:solidFill>
                <a:effectLst/>
                <a:cs typeface="Arial" panose="020B0604020202020204" pitchFamily="34" charset="0"/>
              </a:rPr>
              <a:t>eksik</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veriler</a:t>
            </a:r>
            <a:r>
              <a:rPr lang="en-US" b="0" i="0" dirty="0">
                <a:solidFill>
                  <a:srgbClr val="0D0D0D"/>
                </a:solidFill>
                <a:effectLst/>
                <a:cs typeface="Arial" panose="020B0604020202020204" pitchFamily="34" charset="0"/>
              </a:rPr>
              <a:t>, </a:t>
            </a:r>
            <a:r>
              <a:rPr lang="en-US" b="1" i="0" dirty="0" err="1">
                <a:solidFill>
                  <a:srgbClr val="0D0D0D"/>
                </a:solidFill>
                <a:effectLst/>
                <a:cs typeface="Arial" panose="020B0604020202020204" pitchFamily="34" charset="0"/>
              </a:rPr>
              <a:t>NaN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değerler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boş</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hücreler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veya</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anlamsız</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değerler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olabilir</a:t>
            </a:r>
            <a:r>
              <a:rPr lang="en-US" b="0" i="0" dirty="0">
                <a:solidFill>
                  <a:srgbClr val="0D0D0D"/>
                </a:solidFill>
                <a:effectLst/>
                <a:cs typeface="Arial" panose="020B0604020202020204" pitchFamily="34" charset="0"/>
              </a:rPr>
              <a:t>.</a:t>
            </a:r>
            <a:endParaRPr lang="tr-TR" dirty="0">
              <a:solidFill>
                <a:srgbClr val="0D0D0D"/>
              </a:solidFill>
              <a:cs typeface="Arial" panose="020B0604020202020204" pitchFamily="34" charset="0"/>
            </a:endParaRPr>
          </a:p>
          <a:p>
            <a:pPr algn="just">
              <a:buFont typeface="Arial" panose="020B0604020202020204" pitchFamily="34" charset="0"/>
              <a:buChar char="•"/>
            </a:pPr>
            <a:r>
              <a:rPr lang="en-US" b="0" i="0" dirty="0">
                <a:solidFill>
                  <a:srgbClr val="0D0D0D"/>
                </a:solidFill>
                <a:effectLst/>
                <a:cs typeface="Arial" panose="020B0604020202020204" pitchFamily="34" charset="0"/>
              </a:rPr>
              <a:t>Pandas </a:t>
            </a:r>
            <a:r>
              <a:rPr lang="en-US" b="0" i="0" dirty="0" err="1">
                <a:solidFill>
                  <a:srgbClr val="0D0D0D"/>
                </a:solidFill>
                <a:effectLst/>
                <a:cs typeface="Arial" panose="020B0604020202020204" pitchFamily="34" charset="0"/>
              </a:rPr>
              <a:t>kütüphanesi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bu</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tür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işlemleri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yapmak</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için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oldukça</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kullanışlıdır</a:t>
            </a:r>
            <a:r>
              <a:rPr lang="en-US" b="0" i="0" dirty="0">
                <a:solidFill>
                  <a:srgbClr val="0D0D0D"/>
                </a:solidFill>
                <a:effectLst/>
                <a:cs typeface="Arial" panose="020B0604020202020204" pitchFamily="34" charset="0"/>
              </a:rPr>
              <a:t>.</a:t>
            </a:r>
            <a:endParaRPr lang="tr-TR" b="0" i="0" dirty="0">
              <a:solidFill>
                <a:srgbClr val="0D0D0D"/>
              </a:solidFill>
              <a:effectLst/>
              <a:cs typeface="Arial" panose="020B0604020202020204" pitchFamily="34" charset="0"/>
            </a:endParaRPr>
          </a:p>
          <a:p>
            <a:pPr algn="just">
              <a:buFont typeface="Arial" panose="020B0604020202020204" pitchFamily="34" charset="0"/>
              <a:buChar char="•"/>
            </a:pPr>
            <a:r>
              <a:rPr lang="en-US" b="1" i="0" dirty="0">
                <a:solidFill>
                  <a:srgbClr val="0D0D0D"/>
                </a:solidFill>
                <a:effectLst/>
                <a:cs typeface="Arial" panose="020B0604020202020204" pitchFamily="34" charset="0"/>
              </a:rPr>
              <a:t>Aykırı Değerlerin İşlenmesi (Outlier Handling):</a:t>
            </a:r>
          </a:p>
          <a:p>
            <a:pPr algn="just">
              <a:buFont typeface="Arial" panose="020B0604020202020204" pitchFamily="34" charset="0"/>
              <a:buChar char="•"/>
            </a:pPr>
            <a:r>
              <a:rPr lang="en-US" b="0" i="0" dirty="0">
                <a:solidFill>
                  <a:srgbClr val="0D0D0D"/>
                </a:solidFill>
                <a:effectLst/>
                <a:cs typeface="Arial" panose="020B0604020202020204" pitchFamily="34" charset="0"/>
              </a:rPr>
              <a:t>Aykırı </a:t>
            </a:r>
            <a:r>
              <a:rPr lang="en-US" b="0" i="0" dirty="0" err="1">
                <a:solidFill>
                  <a:srgbClr val="0D0D0D"/>
                </a:solidFill>
                <a:effectLst/>
                <a:cs typeface="Arial" panose="020B0604020202020204" pitchFamily="34" charset="0"/>
              </a:rPr>
              <a:t>değerler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genellikle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istatistiksel</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analizler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sınıflandırma</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modelleri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için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yanıltıcı</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olabilir</a:t>
            </a:r>
            <a:r>
              <a:rPr lang="en-US" b="0" i="0" dirty="0">
                <a:solidFill>
                  <a:srgbClr val="0D0D0D"/>
                </a:solidFill>
                <a:effectLst/>
                <a:cs typeface="Arial" panose="020B0604020202020204" pitchFamily="34" charset="0"/>
              </a:rPr>
              <a:t>. Bu </a:t>
            </a:r>
            <a:r>
              <a:rPr lang="en-US" b="0" i="0" dirty="0" err="1">
                <a:solidFill>
                  <a:srgbClr val="0D0D0D"/>
                </a:solidFill>
                <a:effectLst/>
                <a:cs typeface="Arial" panose="020B0604020202020204" pitchFamily="34" charset="0"/>
              </a:rPr>
              <a:t>nedenle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bu</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aykırı</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değerlerin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tanımlanması</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düzeltilmesi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veya</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çıkarılması</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önemlidir</a:t>
            </a:r>
            <a:r>
              <a:rPr lang="en-US" b="0" i="0" dirty="0">
                <a:solidFill>
                  <a:srgbClr val="0D0D0D"/>
                </a:solidFill>
                <a:effectLst/>
                <a:cs typeface="Arial" panose="020B0604020202020204" pitchFamily="34" charset="0"/>
              </a:rPr>
              <a:t>. </a:t>
            </a:r>
          </a:p>
          <a:p>
            <a:pPr algn="just">
              <a:buFont typeface="Arial" panose="020B0604020202020204" pitchFamily="34" charset="0"/>
              <a:buChar char="•"/>
            </a:pPr>
            <a:r>
              <a:rPr lang="en-US" b="0" i="0" dirty="0" err="1">
                <a:solidFill>
                  <a:srgbClr val="0D0D0D"/>
                </a:solidFill>
                <a:effectLst/>
                <a:cs typeface="Arial" panose="020B0604020202020204" pitchFamily="34" charset="0"/>
              </a:rPr>
              <a:t>Aykırı</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değerleri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tespit</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etmek</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için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istatistiksel</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yöntemler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veya</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görselleştirme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teknikleri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kullanılabilir</a:t>
            </a:r>
            <a:r>
              <a:rPr lang="en-US" b="0" i="0" dirty="0">
                <a:solidFill>
                  <a:srgbClr val="0D0D0D"/>
                </a:solidFill>
                <a:effectLst/>
                <a:cs typeface="Arial" panose="020B0604020202020204" pitchFamily="34" charset="0"/>
              </a:rPr>
              <a:t>.</a:t>
            </a:r>
          </a:p>
          <a:p>
            <a:pPr algn="just">
              <a:buFont typeface="Arial" panose="020B0604020202020204" pitchFamily="34" charset="0"/>
              <a:buChar char="•"/>
            </a:pPr>
            <a:r>
              <a:rPr lang="en-US" b="0" i="0" dirty="0" err="1">
                <a:solidFill>
                  <a:srgbClr val="0D0D0D"/>
                </a:solidFill>
                <a:effectLst/>
                <a:cs typeface="Arial" panose="020B0604020202020204" pitchFamily="34" charset="0"/>
              </a:rPr>
              <a:t>Ardından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aykırı</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değerler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işlenebilir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veya</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değiştirilebilir</a:t>
            </a:r>
            <a:r>
              <a:rPr lang="en-US" b="0" i="0" dirty="0">
                <a:solidFill>
                  <a:srgbClr val="0D0D0D"/>
                </a:solidFill>
                <a:effectLst/>
                <a:cs typeface="Arial" panose="020B0604020202020204" pitchFamily="34" charset="0"/>
              </a:rPr>
              <a:t>.</a:t>
            </a:r>
          </a:p>
          <a:p>
            <a:pPr algn="just">
              <a:buFont typeface="Arial" panose="020B0604020202020204" pitchFamily="34" charset="0"/>
              <a:buChar char="•"/>
            </a:pPr>
            <a:endParaRPr lang="en-US" b="0" i="0" dirty="0">
              <a:solidFill>
                <a:srgbClr val="0D0D0D"/>
              </a:solidFill>
              <a:effectLst/>
              <a:cs typeface="Arial" panose="020B0604020202020204" pitchFamily="34" charset="0"/>
            </a:endParaRPr>
          </a:p>
          <a:p>
            <a:endParaRPr lang="en-US" dirty="0"/>
          </a:p>
        </p:txBody>
      </p:sp>
    </p:spTree>
    <p:extLst>
      <p:ext uri="{BB962C8B-B14F-4D97-AF65-F5344CB8AC3E}">
        <p14:creationId xmlns:p14="http://schemas.microsoft.com/office/powerpoint/2010/main" val="3915616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92CE609-760A-30B0-4699-4E3F992111A1}"/>
              </a:ext>
            </a:extLst>
          </p:cNvPr>
          <p:cNvSpPr>
            <a:spLocks noGrp="1"/>
          </p:cNvSpPr>
          <p:nvPr>
            <p:ph type="title"/>
          </p:nvPr>
        </p:nvSpPr>
        <p:spPr>
          <a:xfrm>
            <a:off x="272144" y="199098"/>
            <a:ext cx="11531236" cy="944880"/>
          </a:xfrm>
        </p:spPr>
        <p:txBody>
          <a:bodyPr/>
          <a:lstStyle/>
          <a:p>
            <a:r>
              <a:rPr lang="en-US" dirty="0"/>
              <a:t>Veri Keşfi </a:t>
            </a:r>
            <a:r>
              <a:rPr lang="en-US" dirty="0" err="1"/>
              <a:t>ve</a:t>
            </a:r>
            <a:r>
              <a:rPr lang="en-US" dirty="0"/>
              <a:t> </a:t>
            </a:r>
            <a:r>
              <a:rPr lang="en-US" dirty="0" err="1"/>
              <a:t>Analizi</a:t>
            </a:r>
            <a:r>
              <a:rPr lang="en-US" dirty="0"/>
              <a:t> (Exploratory Data Analysis - EDA)</a:t>
            </a:r>
            <a:endParaRPr lang="en-US"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244625C5-4B3C-49B8-8677-3EAA426E0B04}"/>
              </a:ext>
            </a:extLst>
          </p:cNvPr>
          <p:cNvSpPr>
            <a:spLocks noGrp="1"/>
          </p:cNvSpPr>
          <p:nvPr>
            <p:ph idx="1"/>
          </p:nvPr>
        </p:nvSpPr>
        <p:spPr>
          <a:xfrm>
            <a:off x="272144" y="1757049"/>
            <a:ext cx="11531236" cy="3880773"/>
          </a:xfrm>
        </p:spPr>
        <p:txBody>
          <a:bodyPr/>
          <a:lstStyle/>
          <a:p>
            <a:r>
              <a:rPr lang="en-US" dirty="0" err="1">
                <a:cs typeface="Arial" panose="020B0604020202020204" pitchFamily="34" charset="0"/>
              </a:rPr>
              <a:t>Kategorik</a:t>
            </a:r>
            <a:r>
              <a:rPr lang="en-US" dirty="0">
                <a:cs typeface="Arial" panose="020B0604020202020204" pitchFamily="34" charset="0"/>
              </a:rPr>
              <a:t> </a:t>
            </a:r>
            <a:r>
              <a:rPr lang="en-US" dirty="0" err="1">
                <a:cs typeface="Arial" panose="020B0604020202020204" pitchFamily="34" charset="0"/>
              </a:rPr>
              <a:t>verilerin</a:t>
            </a:r>
            <a:r>
              <a:rPr lang="en-US" dirty="0">
                <a:cs typeface="Arial" panose="020B0604020202020204" pitchFamily="34" charset="0"/>
              </a:rPr>
              <a:t> </a:t>
            </a:r>
            <a:r>
              <a:rPr lang="en-US" dirty="0" err="1">
                <a:cs typeface="Arial" panose="020B0604020202020204" pitchFamily="34" charset="0"/>
              </a:rPr>
              <a:t>sayısal</a:t>
            </a:r>
            <a:r>
              <a:rPr lang="en-US" dirty="0">
                <a:cs typeface="Arial" panose="020B0604020202020204" pitchFamily="34" charset="0"/>
              </a:rPr>
              <a:t> </a:t>
            </a:r>
            <a:r>
              <a:rPr lang="en-US" dirty="0" err="1">
                <a:cs typeface="Arial" panose="020B0604020202020204" pitchFamily="34" charset="0"/>
              </a:rPr>
              <a:t>değerlere</a:t>
            </a:r>
            <a:r>
              <a:rPr lang="en-US" dirty="0">
                <a:cs typeface="Arial" panose="020B0604020202020204" pitchFamily="34" charset="0"/>
              </a:rPr>
              <a:t> </a:t>
            </a:r>
            <a:r>
              <a:rPr lang="en-US" dirty="0" err="1">
                <a:cs typeface="Arial" panose="020B0604020202020204" pitchFamily="34" charset="0"/>
              </a:rPr>
              <a:t>dönüştürülmesi</a:t>
            </a:r>
            <a:r>
              <a:rPr lang="en-US" dirty="0">
                <a:cs typeface="Arial" panose="020B0604020202020204" pitchFamily="34" charset="0"/>
              </a:rPr>
              <a:t>. </a:t>
            </a:r>
            <a:endParaRPr lang="tr-TR" dirty="0">
              <a:cs typeface="Arial" panose="020B0604020202020204" pitchFamily="34" charset="0"/>
            </a:endParaRPr>
          </a:p>
          <a:p>
            <a:r>
              <a:rPr lang="en-US" dirty="0">
                <a:cs typeface="Arial" panose="020B0604020202020204" pitchFamily="34" charset="0"/>
              </a:rPr>
              <a:t>One-hot encoding </a:t>
            </a:r>
            <a:r>
              <a:rPr lang="en-US" dirty="0" err="1">
                <a:cs typeface="Arial" panose="020B0604020202020204" pitchFamily="34" charset="0"/>
              </a:rPr>
              <a:t>veya</a:t>
            </a:r>
            <a:r>
              <a:rPr lang="en-US" dirty="0">
                <a:cs typeface="Arial" panose="020B0604020202020204" pitchFamily="34" charset="0"/>
              </a:rPr>
              <a:t> label encoding </a:t>
            </a:r>
            <a:r>
              <a:rPr lang="en-US" dirty="0" err="1">
                <a:cs typeface="Arial" panose="020B0604020202020204" pitchFamily="34" charset="0"/>
              </a:rPr>
              <a:t>gibi</a:t>
            </a:r>
            <a:r>
              <a:rPr lang="en-US" dirty="0">
                <a:cs typeface="Arial" panose="020B0604020202020204" pitchFamily="34" charset="0"/>
              </a:rPr>
              <a:t> </a:t>
            </a:r>
            <a:r>
              <a:rPr lang="en-US" dirty="0" err="1">
                <a:cs typeface="Arial" panose="020B0604020202020204" pitchFamily="34" charset="0"/>
              </a:rPr>
              <a:t>teknikler</a:t>
            </a:r>
            <a:r>
              <a:rPr lang="en-US" dirty="0">
                <a:cs typeface="Arial" panose="020B0604020202020204" pitchFamily="34" charset="0"/>
              </a:rPr>
              <a:t> </a:t>
            </a:r>
            <a:r>
              <a:rPr lang="en-US" dirty="0" err="1">
                <a:cs typeface="Arial" panose="020B0604020202020204" pitchFamily="34" charset="0"/>
              </a:rPr>
              <a:t>kullanılabilir</a:t>
            </a:r>
            <a:r>
              <a:rPr lang="en-US" dirty="0">
                <a:cs typeface="Arial" panose="020B0604020202020204" pitchFamily="34" charset="0"/>
              </a:rPr>
              <a:t>. </a:t>
            </a:r>
            <a:endParaRPr lang="tr-TR" dirty="0">
              <a:cs typeface="Arial" panose="020B0604020202020204" pitchFamily="34" charset="0"/>
            </a:endParaRPr>
          </a:p>
          <a:p>
            <a:endParaRPr lang="en-US" dirty="0">
              <a:cs typeface="Arial" panose="020B0604020202020204" pitchFamily="34" charset="0"/>
            </a:endParaRPr>
          </a:p>
        </p:txBody>
      </p:sp>
    </p:spTree>
    <p:extLst>
      <p:ext uri="{BB962C8B-B14F-4D97-AF65-F5344CB8AC3E}">
        <p14:creationId xmlns:p14="http://schemas.microsoft.com/office/powerpoint/2010/main" val="13125295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FD335-3F95-74E4-DE59-AD0173323D9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5486DAF-8CF5-A15A-9EFA-C94B98B58B9E}"/>
              </a:ext>
            </a:extLst>
          </p:cNvPr>
          <p:cNvSpPr>
            <a:spLocks noGrp="1"/>
          </p:cNvSpPr>
          <p:nvPr>
            <p:ph type="title"/>
          </p:nvPr>
        </p:nvSpPr>
        <p:spPr/>
        <p:txBody>
          <a:bodyPr/>
          <a:lstStyle/>
          <a:p>
            <a:r>
              <a:rPr lang="en-US" dirty="0"/>
              <a:t>Veri Keşfi </a:t>
            </a:r>
            <a:r>
              <a:rPr lang="en-US" dirty="0" err="1"/>
              <a:t>ve</a:t>
            </a:r>
            <a:r>
              <a:rPr lang="en-US" dirty="0"/>
              <a:t> </a:t>
            </a:r>
            <a:r>
              <a:rPr lang="en-US" dirty="0" err="1"/>
              <a:t>Analizi</a:t>
            </a:r>
            <a:r>
              <a:rPr lang="en-US" dirty="0"/>
              <a:t> (Exploratory Data Analysis - EDA)</a:t>
            </a:r>
            <a:endParaRPr lang="en-US" b="1" dirty="0">
              <a:latin typeface="Arial" panose="020B0604020202020204" pitchFamily="34" charset="0"/>
              <a:cs typeface="Arial" panose="020B0604020202020204" pitchFamily="34" charset="0"/>
            </a:endParaRPr>
          </a:p>
        </p:txBody>
      </p:sp>
      <p:sp>
        <p:nvSpPr>
          <p:cNvPr id="3" name="İçerik Yer Tutucusu 2">
            <a:extLst>
              <a:ext uri="{FF2B5EF4-FFF2-40B4-BE49-F238E27FC236}">
                <a16:creationId xmlns:a16="http://schemas.microsoft.com/office/drawing/2014/main" id="{E1A167E4-09B3-F3F9-EB5B-011387FC01A1}"/>
              </a:ext>
            </a:extLst>
          </p:cNvPr>
          <p:cNvSpPr>
            <a:spLocks noGrp="1"/>
          </p:cNvSpPr>
          <p:nvPr>
            <p:ph idx="1"/>
          </p:nvPr>
        </p:nvSpPr>
        <p:spPr>
          <a:xfrm>
            <a:off x="555981" y="1817582"/>
            <a:ext cx="10886376" cy="3880773"/>
          </a:xfrm>
        </p:spPr>
        <p:txBody>
          <a:bodyPr>
            <a:normAutofit/>
          </a:bodyPr>
          <a:lstStyle/>
          <a:p>
            <a:r>
              <a:rPr lang="en-US" dirty="0" err="1">
                <a:cs typeface="Arial" panose="020B0604020202020204" pitchFamily="34" charset="0"/>
              </a:rPr>
              <a:t>Verilerin</a:t>
            </a:r>
            <a:r>
              <a:rPr lang="en-US" dirty="0">
                <a:cs typeface="Arial" panose="020B0604020202020204" pitchFamily="34" charset="0"/>
              </a:rPr>
              <a:t> </a:t>
            </a:r>
            <a:r>
              <a:rPr lang="en-US" dirty="0" err="1">
                <a:cs typeface="Arial" panose="020B0604020202020204" pitchFamily="34" charset="0"/>
              </a:rPr>
              <a:t>ölçeklerini</a:t>
            </a:r>
            <a:r>
              <a:rPr lang="en-US" dirty="0">
                <a:cs typeface="Arial" panose="020B0604020202020204" pitchFamily="34" charset="0"/>
              </a:rPr>
              <a:t> </a:t>
            </a:r>
            <a:r>
              <a:rPr lang="en-US" dirty="0" err="1">
                <a:cs typeface="Arial" panose="020B0604020202020204" pitchFamily="34" charset="0"/>
              </a:rPr>
              <a:t>dengede</a:t>
            </a:r>
            <a:r>
              <a:rPr lang="en-US" dirty="0">
                <a:cs typeface="Arial" panose="020B0604020202020204" pitchFamily="34" charset="0"/>
              </a:rPr>
              <a:t> </a:t>
            </a:r>
            <a:r>
              <a:rPr lang="en-US" dirty="0" err="1">
                <a:cs typeface="Arial" panose="020B0604020202020204" pitchFamily="34" charset="0"/>
              </a:rPr>
              <a:t>tutmak</a:t>
            </a:r>
            <a:r>
              <a:rPr lang="en-US" dirty="0">
                <a:cs typeface="Arial" panose="020B0604020202020204" pitchFamily="34" charset="0"/>
              </a:rPr>
              <a:t> </a:t>
            </a:r>
            <a:r>
              <a:rPr lang="en-US" dirty="0" err="1">
                <a:cs typeface="Arial" panose="020B0604020202020204" pitchFamily="34" charset="0"/>
              </a:rPr>
              <a:t>için</a:t>
            </a:r>
            <a:r>
              <a:rPr lang="en-US" dirty="0">
                <a:cs typeface="Arial" panose="020B0604020202020204" pitchFamily="34" charset="0"/>
              </a:rPr>
              <a:t> </a:t>
            </a:r>
            <a:r>
              <a:rPr lang="en-US" dirty="0" err="1">
                <a:cs typeface="Arial" panose="020B0604020202020204" pitchFamily="34" charset="0"/>
              </a:rPr>
              <a:t>normalizasyon</a:t>
            </a:r>
            <a:r>
              <a:rPr lang="en-US" dirty="0">
                <a:cs typeface="Arial" panose="020B0604020202020204" pitchFamily="34" charset="0"/>
              </a:rPr>
              <a:t> </a:t>
            </a:r>
            <a:r>
              <a:rPr lang="en-US" dirty="0" err="1">
                <a:cs typeface="Arial" panose="020B0604020202020204" pitchFamily="34" charset="0"/>
              </a:rPr>
              <a:t>veya</a:t>
            </a:r>
            <a:r>
              <a:rPr lang="en-US" dirty="0">
                <a:cs typeface="Arial" panose="020B0604020202020204" pitchFamily="34" charset="0"/>
              </a:rPr>
              <a:t> </a:t>
            </a:r>
            <a:r>
              <a:rPr lang="en-US" dirty="0" err="1">
                <a:cs typeface="Arial" panose="020B0604020202020204" pitchFamily="34" charset="0"/>
              </a:rPr>
              <a:t>standardizasyon</a:t>
            </a:r>
            <a:r>
              <a:rPr lang="en-US" dirty="0">
                <a:cs typeface="Arial" panose="020B0604020202020204" pitchFamily="34" charset="0"/>
              </a:rPr>
              <a:t> </a:t>
            </a:r>
            <a:r>
              <a:rPr lang="en-US" dirty="0" err="1">
                <a:cs typeface="Arial" panose="020B0604020202020204" pitchFamily="34" charset="0"/>
              </a:rPr>
              <a:t>yapılabilir</a:t>
            </a:r>
            <a:r>
              <a:rPr lang="en-US" dirty="0">
                <a:cs typeface="Arial" panose="020B0604020202020204" pitchFamily="34" charset="0"/>
              </a:rPr>
              <a:t>. </a:t>
            </a:r>
            <a:endParaRPr lang="tr-TR" dirty="0">
              <a:cs typeface="Arial" panose="020B0604020202020204" pitchFamily="34" charset="0"/>
            </a:endParaRPr>
          </a:p>
          <a:p>
            <a:r>
              <a:rPr lang="tr-TR" dirty="0">
                <a:cs typeface="Arial" panose="020B0604020202020204" pitchFamily="34" charset="0"/>
              </a:rPr>
              <a:t>Ö</a:t>
            </a:r>
            <a:r>
              <a:rPr lang="en-US" dirty="0" err="1">
                <a:cs typeface="Arial" panose="020B0604020202020204" pitchFamily="34" charset="0"/>
              </a:rPr>
              <a:t>zelliklerin</a:t>
            </a:r>
            <a:r>
              <a:rPr lang="en-US" dirty="0">
                <a:cs typeface="Arial" panose="020B0604020202020204" pitchFamily="34" charset="0"/>
              </a:rPr>
              <a:t> </a:t>
            </a:r>
            <a:r>
              <a:rPr lang="en-US" dirty="0" err="1">
                <a:cs typeface="Arial" panose="020B0604020202020204" pitchFamily="34" charset="0"/>
              </a:rPr>
              <a:t>aynı</a:t>
            </a:r>
            <a:r>
              <a:rPr lang="en-US" dirty="0">
                <a:cs typeface="Arial" panose="020B0604020202020204" pitchFamily="34" charset="0"/>
              </a:rPr>
              <a:t> </a:t>
            </a:r>
            <a:r>
              <a:rPr lang="en-US" dirty="0" err="1">
                <a:cs typeface="Arial" panose="020B0604020202020204" pitchFamily="34" charset="0"/>
              </a:rPr>
              <a:t>ölçekte</a:t>
            </a:r>
            <a:r>
              <a:rPr lang="en-US" dirty="0">
                <a:cs typeface="Arial" panose="020B0604020202020204" pitchFamily="34" charset="0"/>
              </a:rPr>
              <a:t> </a:t>
            </a:r>
            <a:r>
              <a:rPr lang="en-US" dirty="0" err="1">
                <a:cs typeface="Arial" panose="020B0604020202020204" pitchFamily="34" charset="0"/>
              </a:rPr>
              <a:t>olmasını</a:t>
            </a:r>
            <a:r>
              <a:rPr lang="en-US" dirty="0">
                <a:cs typeface="Arial" panose="020B0604020202020204" pitchFamily="34" charset="0"/>
              </a:rPr>
              <a:t> </a:t>
            </a:r>
            <a:r>
              <a:rPr lang="en-US" dirty="0" err="1">
                <a:cs typeface="Arial" panose="020B0604020202020204" pitchFamily="34" charset="0"/>
              </a:rPr>
              <a:t>sağlar</a:t>
            </a:r>
            <a:r>
              <a:rPr lang="en-US" dirty="0">
                <a:cs typeface="Arial" panose="020B0604020202020204" pitchFamily="34" charset="0"/>
              </a:rPr>
              <a:t> </a:t>
            </a:r>
            <a:r>
              <a:rPr lang="en-US" dirty="0" err="1">
                <a:cs typeface="Arial" panose="020B0604020202020204" pitchFamily="34" charset="0"/>
              </a:rPr>
              <a:t>ve</a:t>
            </a:r>
            <a:r>
              <a:rPr lang="en-US" dirty="0">
                <a:cs typeface="Arial" panose="020B0604020202020204" pitchFamily="34" charset="0"/>
              </a:rPr>
              <a:t> </a:t>
            </a:r>
            <a:r>
              <a:rPr lang="en-US" dirty="0" err="1">
                <a:cs typeface="Arial" panose="020B0604020202020204" pitchFamily="34" charset="0"/>
              </a:rPr>
              <a:t>modelin</a:t>
            </a:r>
            <a:r>
              <a:rPr lang="en-US" dirty="0">
                <a:cs typeface="Arial" panose="020B0604020202020204" pitchFamily="34" charset="0"/>
              </a:rPr>
              <a:t> </a:t>
            </a:r>
            <a:r>
              <a:rPr lang="en-US" dirty="0" err="1">
                <a:cs typeface="Arial" panose="020B0604020202020204" pitchFamily="34" charset="0"/>
              </a:rPr>
              <a:t>daha</a:t>
            </a:r>
            <a:r>
              <a:rPr lang="en-US" dirty="0">
                <a:cs typeface="Arial" panose="020B0604020202020204" pitchFamily="34" charset="0"/>
              </a:rPr>
              <a:t> iyi </a:t>
            </a:r>
            <a:r>
              <a:rPr lang="en-US" dirty="0" err="1">
                <a:cs typeface="Arial" panose="020B0604020202020204" pitchFamily="34" charset="0"/>
              </a:rPr>
              <a:t>performans</a:t>
            </a:r>
            <a:r>
              <a:rPr lang="en-US" dirty="0">
                <a:cs typeface="Arial" panose="020B0604020202020204" pitchFamily="34" charset="0"/>
              </a:rPr>
              <a:t> </a:t>
            </a:r>
            <a:r>
              <a:rPr lang="en-US" dirty="0" err="1">
                <a:cs typeface="Arial" panose="020B0604020202020204" pitchFamily="34" charset="0"/>
              </a:rPr>
              <a:t>göstermesine</a:t>
            </a:r>
            <a:r>
              <a:rPr lang="en-US" dirty="0">
                <a:cs typeface="Arial" panose="020B0604020202020204" pitchFamily="34" charset="0"/>
              </a:rPr>
              <a:t> </a:t>
            </a:r>
            <a:r>
              <a:rPr lang="en-US" dirty="0" err="1">
                <a:cs typeface="Arial" panose="020B0604020202020204" pitchFamily="34" charset="0"/>
              </a:rPr>
              <a:t>yardımcı</a:t>
            </a:r>
            <a:r>
              <a:rPr lang="en-US" dirty="0">
                <a:cs typeface="Arial" panose="020B0604020202020204" pitchFamily="34" charset="0"/>
              </a:rPr>
              <a:t> </a:t>
            </a:r>
            <a:r>
              <a:rPr lang="en-US" dirty="0" err="1">
                <a:cs typeface="Arial" panose="020B0604020202020204" pitchFamily="34" charset="0"/>
              </a:rPr>
              <a:t>olabilir</a:t>
            </a:r>
            <a:r>
              <a:rPr lang="en-US" dirty="0">
                <a:cs typeface="Arial" panose="020B0604020202020204" pitchFamily="34" charset="0"/>
              </a:rPr>
              <a:t>.</a:t>
            </a:r>
            <a:endParaRPr lang="tr-TR" dirty="0">
              <a:cs typeface="Arial" panose="020B0604020202020204" pitchFamily="34" charset="0"/>
            </a:endParaRPr>
          </a:p>
          <a:p>
            <a:r>
              <a:rPr lang="tr-TR" dirty="0">
                <a:cs typeface="Arial" panose="020B0604020202020204" pitchFamily="34" charset="0"/>
              </a:rPr>
              <a:t>Normalizasyon : 0-1 arasında verileri yeniden ölçeklendirir.</a:t>
            </a:r>
          </a:p>
          <a:p>
            <a:r>
              <a:rPr lang="en-US" dirty="0" err="1">
                <a:solidFill>
                  <a:srgbClr val="0D0D0D"/>
                </a:solidFill>
                <a:cs typeface="Arial" panose="020B0604020202020204" pitchFamily="34" charset="0"/>
              </a:rPr>
              <a:t>Standartlaştırma</a:t>
            </a:r>
            <a:r>
              <a:rPr lang="en-US" dirty="0">
                <a:solidFill>
                  <a:srgbClr val="0D0D0D"/>
                </a:solidFill>
                <a:cs typeface="Arial" panose="020B0604020202020204" pitchFamily="34" charset="0"/>
              </a:rPr>
              <a:t>, </a:t>
            </a:r>
            <a:r>
              <a:rPr lang="en-US" dirty="0" err="1">
                <a:solidFill>
                  <a:srgbClr val="0D0D0D"/>
                </a:solidFill>
                <a:cs typeface="Arial" panose="020B0604020202020204" pitchFamily="34" charset="0"/>
              </a:rPr>
              <a:t>verilerin</a:t>
            </a:r>
            <a:r>
              <a:rPr lang="en-US" dirty="0">
                <a:solidFill>
                  <a:srgbClr val="0D0D0D"/>
                </a:solidFill>
                <a:cs typeface="Arial" panose="020B0604020202020204" pitchFamily="34" charset="0"/>
              </a:rPr>
              <a:t> </a:t>
            </a:r>
            <a:r>
              <a:rPr lang="en-US" dirty="0" err="1">
                <a:solidFill>
                  <a:srgbClr val="0D0D0D"/>
                </a:solidFill>
                <a:cs typeface="Arial" panose="020B0604020202020204" pitchFamily="34" charset="0"/>
              </a:rPr>
              <a:t>ortalamasını</a:t>
            </a:r>
            <a:r>
              <a:rPr lang="en-US" dirty="0">
                <a:solidFill>
                  <a:srgbClr val="0D0D0D"/>
                </a:solidFill>
                <a:cs typeface="Arial" panose="020B0604020202020204" pitchFamily="34" charset="0"/>
              </a:rPr>
              <a:t> 0 </a:t>
            </a:r>
            <a:r>
              <a:rPr lang="en-US" dirty="0" err="1">
                <a:solidFill>
                  <a:srgbClr val="0D0D0D"/>
                </a:solidFill>
                <a:cs typeface="Arial" panose="020B0604020202020204" pitchFamily="34" charset="0"/>
              </a:rPr>
              <a:t>ve</a:t>
            </a:r>
            <a:r>
              <a:rPr lang="en-US" dirty="0">
                <a:solidFill>
                  <a:srgbClr val="0D0D0D"/>
                </a:solidFill>
                <a:cs typeface="Arial" panose="020B0604020202020204" pitchFamily="34" charset="0"/>
              </a:rPr>
              <a:t> </a:t>
            </a:r>
            <a:r>
              <a:rPr lang="en-US" dirty="0" err="1">
                <a:solidFill>
                  <a:srgbClr val="0D0D0D"/>
                </a:solidFill>
                <a:cs typeface="Arial" panose="020B0604020202020204" pitchFamily="34" charset="0"/>
              </a:rPr>
              <a:t>standart</a:t>
            </a:r>
            <a:r>
              <a:rPr lang="en-US" dirty="0">
                <a:solidFill>
                  <a:srgbClr val="0D0D0D"/>
                </a:solidFill>
                <a:cs typeface="Arial" panose="020B0604020202020204" pitchFamily="34" charset="0"/>
              </a:rPr>
              <a:t> </a:t>
            </a:r>
            <a:r>
              <a:rPr lang="en-US" dirty="0" err="1">
                <a:solidFill>
                  <a:srgbClr val="0D0D0D"/>
                </a:solidFill>
                <a:cs typeface="Arial" panose="020B0604020202020204" pitchFamily="34" charset="0"/>
              </a:rPr>
              <a:t>sapmasını</a:t>
            </a:r>
            <a:r>
              <a:rPr lang="en-US" dirty="0">
                <a:solidFill>
                  <a:srgbClr val="0D0D0D"/>
                </a:solidFill>
                <a:cs typeface="Arial" panose="020B0604020202020204" pitchFamily="34" charset="0"/>
              </a:rPr>
              <a:t> 1 </a:t>
            </a:r>
            <a:r>
              <a:rPr lang="en-US" dirty="0" err="1">
                <a:solidFill>
                  <a:srgbClr val="0D0D0D"/>
                </a:solidFill>
                <a:cs typeface="Arial" panose="020B0604020202020204" pitchFamily="34" charset="0"/>
              </a:rPr>
              <a:t>yaparak</a:t>
            </a:r>
            <a:r>
              <a:rPr lang="en-US" dirty="0">
                <a:solidFill>
                  <a:srgbClr val="0D0D0D"/>
                </a:solidFill>
                <a:cs typeface="Arial" panose="020B0604020202020204" pitchFamily="34" charset="0"/>
              </a:rPr>
              <a:t> </a:t>
            </a:r>
            <a:r>
              <a:rPr lang="en-US" dirty="0" err="1">
                <a:solidFill>
                  <a:srgbClr val="0D0D0D"/>
                </a:solidFill>
                <a:cs typeface="Arial" panose="020B0604020202020204" pitchFamily="34" charset="0"/>
              </a:rPr>
              <a:t>bir</a:t>
            </a:r>
            <a:r>
              <a:rPr lang="en-US" dirty="0">
                <a:solidFill>
                  <a:srgbClr val="0D0D0D"/>
                </a:solidFill>
                <a:cs typeface="Arial" panose="020B0604020202020204" pitchFamily="34" charset="0"/>
              </a:rPr>
              <a:t> </a:t>
            </a:r>
            <a:r>
              <a:rPr lang="en-US" dirty="0" err="1">
                <a:solidFill>
                  <a:srgbClr val="0D0D0D"/>
                </a:solidFill>
                <a:cs typeface="Arial" panose="020B0604020202020204" pitchFamily="34" charset="0"/>
              </a:rPr>
              <a:t>standart</a:t>
            </a:r>
            <a:r>
              <a:rPr lang="en-US" dirty="0">
                <a:solidFill>
                  <a:srgbClr val="0D0D0D"/>
                </a:solidFill>
                <a:cs typeface="Arial" panose="020B0604020202020204" pitchFamily="34" charset="0"/>
              </a:rPr>
              <a:t> normal </a:t>
            </a:r>
            <a:r>
              <a:rPr lang="en-US" dirty="0" err="1">
                <a:solidFill>
                  <a:srgbClr val="0D0D0D"/>
                </a:solidFill>
                <a:cs typeface="Arial" panose="020B0604020202020204" pitchFamily="34" charset="0"/>
              </a:rPr>
              <a:t>dağılıma</a:t>
            </a:r>
            <a:r>
              <a:rPr lang="en-US" dirty="0">
                <a:solidFill>
                  <a:srgbClr val="0D0D0D"/>
                </a:solidFill>
                <a:cs typeface="Arial" panose="020B0604020202020204" pitchFamily="34" charset="0"/>
              </a:rPr>
              <a:t> </a:t>
            </a:r>
            <a:r>
              <a:rPr lang="en-US" dirty="0" err="1">
                <a:solidFill>
                  <a:srgbClr val="0D0D0D"/>
                </a:solidFill>
                <a:cs typeface="Arial" panose="020B0604020202020204" pitchFamily="34" charset="0"/>
              </a:rPr>
              <a:t>dönüştürür</a:t>
            </a:r>
            <a:r>
              <a:rPr lang="en-US" dirty="0">
                <a:solidFill>
                  <a:srgbClr val="0D0D0D"/>
                </a:solidFill>
                <a:cs typeface="Arial" panose="020B0604020202020204" pitchFamily="34" charset="0"/>
              </a:rPr>
              <a:t>.</a:t>
            </a:r>
            <a:endParaRPr lang="en-US" dirty="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tr-T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21003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040B0-B1A1-EEFD-77CC-5718BAE41AEE}"/>
            </a:ext>
          </a:extLst>
        </p:cNvPr>
        <p:cNvGrpSpPr/>
        <p:nvPr/>
      </p:nvGrpSpPr>
      <p:grpSpPr>
        <a:xfrm>
          <a:off x="0" y="0"/>
          <a:ext cx="0" cy="0"/>
          <a:chOff x="0" y="0"/>
          <a:chExt cx="0" cy="0"/>
        </a:xfrm>
      </p:grpSpPr>
      <p:sp>
        <p:nvSpPr>
          <p:cNvPr id="2" name="Unvan 1">
            <a:extLst>
              <a:ext uri="{FF2B5EF4-FFF2-40B4-BE49-F238E27FC236}">
                <a16:creationId xmlns:a16="http://schemas.microsoft.com/office/drawing/2014/main" id="{278CB297-097C-6322-9E87-561107AD7B36}"/>
              </a:ext>
            </a:extLst>
          </p:cNvPr>
          <p:cNvSpPr>
            <a:spLocks noGrp="1"/>
          </p:cNvSpPr>
          <p:nvPr>
            <p:ph type="title"/>
          </p:nvPr>
        </p:nvSpPr>
        <p:spPr/>
        <p:txBody>
          <a:bodyPr/>
          <a:lstStyle/>
          <a:p>
            <a:r>
              <a:rPr lang="tr-TR" dirty="0">
                <a:cs typeface="Arial" panose="020B0604020202020204" pitchFamily="34" charset="0"/>
              </a:rPr>
              <a:t>Makine Öğrenmesi Terimleri</a:t>
            </a:r>
          </a:p>
        </p:txBody>
      </p:sp>
      <p:sp>
        <p:nvSpPr>
          <p:cNvPr id="3" name="İçerik Yer Tutucusu 2">
            <a:extLst>
              <a:ext uri="{FF2B5EF4-FFF2-40B4-BE49-F238E27FC236}">
                <a16:creationId xmlns:a16="http://schemas.microsoft.com/office/drawing/2014/main" id="{6501758D-C361-BBF7-A1E2-12AD3FE29168}"/>
              </a:ext>
            </a:extLst>
          </p:cNvPr>
          <p:cNvSpPr>
            <a:spLocks noGrp="1"/>
          </p:cNvSpPr>
          <p:nvPr>
            <p:ph idx="1"/>
          </p:nvPr>
        </p:nvSpPr>
        <p:spPr>
          <a:xfrm>
            <a:off x="406029" y="1597882"/>
            <a:ext cx="10596916" cy="3880773"/>
          </a:xfrm>
        </p:spPr>
        <p:txBody>
          <a:bodyPr>
            <a:normAutofit/>
          </a:bodyPr>
          <a:lstStyle/>
          <a:p>
            <a:pPr algn="just"/>
            <a:r>
              <a:rPr lang="en-US" b="1" i="0" dirty="0" err="1">
                <a:solidFill>
                  <a:srgbClr val="0D0D0D"/>
                </a:solidFill>
                <a:effectLst/>
                <a:cs typeface="Arial" panose="020B0604020202020204" pitchFamily="34" charset="0"/>
              </a:rPr>
              <a:t>Doğrulama</a:t>
            </a:r>
            <a:r>
              <a:rPr lang="en-US" b="1" i="0" dirty="0">
                <a:solidFill>
                  <a:srgbClr val="0D0D0D"/>
                </a:solidFill>
                <a:effectLst/>
                <a:cs typeface="Arial" panose="020B0604020202020204" pitchFamily="34" charset="0"/>
              </a:rPr>
              <a:t> (Validation)</a:t>
            </a:r>
            <a:r>
              <a:rPr lang="en-US" b="0" i="0" dirty="0">
                <a:solidFill>
                  <a:srgbClr val="0D0D0D"/>
                </a:solidFill>
                <a:effectLst/>
                <a:cs typeface="Arial" panose="020B0604020202020204" pitchFamily="34" charset="0"/>
              </a:rPr>
              <a:t>:</a:t>
            </a:r>
            <a:r>
              <a:rPr lang="tr-TR" b="0" i="0" dirty="0">
                <a:solidFill>
                  <a:srgbClr val="0D0D0D"/>
                </a:solidFill>
                <a:effectLst/>
                <a:cs typeface="Arial" panose="020B0604020202020204" pitchFamily="34" charset="0"/>
              </a:rPr>
              <a:t> </a:t>
            </a:r>
            <a:r>
              <a:rPr lang="en-US" b="0" i="0" dirty="0">
                <a:solidFill>
                  <a:srgbClr val="0D0D0D"/>
                </a:solidFill>
                <a:effectLst/>
                <a:cs typeface="Arial" panose="020B0604020202020204" pitchFamily="34" charset="0"/>
              </a:rPr>
              <a:t>Bir </a:t>
            </a:r>
            <a:r>
              <a:rPr lang="en-US" b="0" i="0" dirty="0" err="1">
                <a:solidFill>
                  <a:srgbClr val="0D0D0D"/>
                </a:solidFill>
                <a:effectLst/>
                <a:cs typeface="Arial" panose="020B0604020202020204" pitchFamily="34" charset="0"/>
              </a:rPr>
              <a:t>modelin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genelleme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performansını</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değerlendirmek</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için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kullanılan</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bir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süreçtir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Genellikle</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ayrı</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bir</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doğrulama</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veri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seti</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kullanılarak</a:t>
            </a:r>
            <a:r>
              <a:rPr lang="en-US" b="0" i="0" dirty="0">
                <a:solidFill>
                  <a:srgbClr val="0D0D0D"/>
                </a:solidFill>
                <a:effectLst/>
                <a:cs typeface="Arial" panose="020B0604020202020204" pitchFamily="34" charset="0"/>
              </a:rPr>
              <a:t> </a:t>
            </a:r>
            <a:r>
              <a:rPr lang="en-US" b="0" i="0" dirty="0" err="1">
                <a:solidFill>
                  <a:srgbClr val="0D0D0D"/>
                </a:solidFill>
                <a:effectLst/>
                <a:cs typeface="Arial" panose="020B0604020202020204" pitchFamily="34" charset="0"/>
              </a:rPr>
              <a:t>gerçekleştirilir</a:t>
            </a:r>
            <a:r>
              <a:rPr lang="en-US" b="0" i="0" dirty="0">
                <a:solidFill>
                  <a:srgbClr val="0D0D0D"/>
                </a:solidFill>
                <a:effectLst/>
                <a:cs typeface="Arial" panose="020B0604020202020204" pitchFamily="34" charset="0"/>
              </a:rPr>
              <a:t>.</a:t>
            </a:r>
          </a:p>
        </p:txBody>
      </p:sp>
      <p:pic>
        <p:nvPicPr>
          <p:cNvPr id="4" name="Resim 3">
            <a:extLst>
              <a:ext uri="{FF2B5EF4-FFF2-40B4-BE49-F238E27FC236}">
                <a16:creationId xmlns:a16="http://schemas.microsoft.com/office/drawing/2014/main" id="{F151177F-FFE5-7AD9-BAA1-9AAD6733555C}"/>
              </a:ext>
            </a:extLst>
          </p:cNvPr>
          <p:cNvPicPr>
            <a:picLocks noChangeAspect="1"/>
          </p:cNvPicPr>
          <p:nvPr/>
        </p:nvPicPr>
        <p:blipFill>
          <a:blip r:embed="rId2"/>
          <a:stretch>
            <a:fillRect/>
          </a:stretch>
        </p:blipFill>
        <p:spPr>
          <a:xfrm>
            <a:off x="406029" y="2613274"/>
            <a:ext cx="5859265" cy="1849987"/>
          </a:xfrm>
          <a:prstGeom prst="rect">
            <a:avLst/>
          </a:prstGeom>
        </p:spPr>
      </p:pic>
      <p:pic>
        <p:nvPicPr>
          <p:cNvPr id="5" name="Resim 4">
            <a:extLst>
              <a:ext uri="{FF2B5EF4-FFF2-40B4-BE49-F238E27FC236}">
                <a16:creationId xmlns:a16="http://schemas.microsoft.com/office/drawing/2014/main" id="{F302A45A-EA6B-39FB-D476-8D2479E27186}"/>
              </a:ext>
            </a:extLst>
          </p:cNvPr>
          <p:cNvPicPr>
            <a:picLocks noChangeAspect="1"/>
          </p:cNvPicPr>
          <p:nvPr/>
        </p:nvPicPr>
        <p:blipFill>
          <a:blip r:embed="rId3"/>
          <a:stretch>
            <a:fillRect/>
          </a:stretch>
        </p:blipFill>
        <p:spPr>
          <a:xfrm>
            <a:off x="6445673" y="2613274"/>
            <a:ext cx="5144770" cy="3304818"/>
          </a:xfrm>
          <a:prstGeom prst="rect">
            <a:avLst/>
          </a:prstGeom>
        </p:spPr>
      </p:pic>
    </p:spTree>
    <p:extLst>
      <p:ext uri="{BB962C8B-B14F-4D97-AF65-F5344CB8AC3E}">
        <p14:creationId xmlns:p14="http://schemas.microsoft.com/office/powerpoint/2010/main" val="30448786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942A7E6-F82D-52C4-0B27-7141BC8B0A30}"/>
              </a:ext>
            </a:extLst>
          </p:cNvPr>
          <p:cNvSpPr>
            <a:spLocks noGrp="1"/>
          </p:cNvSpPr>
          <p:nvPr>
            <p:ph type="title"/>
          </p:nvPr>
        </p:nvSpPr>
        <p:spPr/>
        <p:txBody>
          <a:bodyPr/>
          <a:lstStyle/>
          <a:p>
            <a:r>
              <a:rPr lang="en-US" dirty="0" err="1">
                <a:latin typeface="+mn-lt"/>
                <a:cs typeface="Arial" panose="020B0604020202020204" pitchFamily="34" charset="0"/>
              </a:rPr>
              <a:t>Çapraz</a:t>
            </a:r>
            <a:r>
              <a:rPr lang="en-US" dirty="0">
                <a:latin typeface="+mn-lt"/>
                <a:cs typeface="Arial" panose="020B0604020202020204" pitchFamily="34" charset="0"/>
              </a:rPr>
              <a:t> </a:t>
            </a:r>
            <a:r>
              <a:rPr lang="en-US" dirty="0" err="1">
                <a:latin typeface="+mn-lt"/>
                <a:cs typeface="Arial" panose="020B0604020202020204" pitchFamily="34" charset="0"/>
              </a:rPr>
              <a:t>Geçerlik</a:t>
            </a:r>
            <a:r>
              <a:rPr lang="tr-TR" dirty="0">
                <a:latin typeface="+mn-lt"/>
                <a:cs typeface="Arial" panose="020B0604020202020204" pitchFamily="34" charset="0"/>
              </a:rPr>
              <a:t> </a:t>
            </a:r>
            <a:r>
              <a:rPr lang="en-US" dirty="0">
                <a:latin typeface="+mn-lt"/>
                <a:cs typeface="Arial" panose="020B0604020202020204" pitchFamily="34" charset="0"/>
              </a:rPr>
              <a:t>(Cross Validation)</a:t>
            </a:r>
          </a:p>
        </p:txBody>
      </p:sp>
      <p:sp>
        <p:nvSpPr>
          <p:cNvPr id="3" name="İçerik Yer Tutucusu 2">
            <a:extLst>
              <a:ext uri="{FF2B5EF4-FFF2-40B4-BE49-F238E27FC236}">
                <a16:creationId xmlns:a16="http://schemas.microsoft.com/office/drawing/2014/main" id="{CF1BF548-18EE-E9CB-6F9C-AE5C0E0835EF}"/>
              </a:ext>
            </a:extLst>
          </p:cNvPr>
          <p:cNvSpPr>
            <a:spLocks noGrp="1"/>
          </p:cNvSpPr>
          <p:nvPr>
            <p:ph idx="1"/>
          </p:nvPr>
        </p:nvSpPr>
        <p:spPr/>
        <p:txBody>
          <a:bodyPr>
            <a:normAutofit/>
          </a:bodyPr>
          <a:lstStyle/>
          <a:p>
            <a:pPr algn="just"/>
            <a:r>
              <a:rPr lang="en-US" dirty="0">
                <a:cs typeface="Arial" panose="020B0604020202020204" pitchFamily="34" charset="0"/>
              </a:rPr>
              <a:t>Bu </a:t>
            </a:r>
            <a:r>
              <a:rPr lang="en-US" dirty="0" err="1">
                <a:cs typeface="Arial" panose="020B0604020202020204" pitchFamily="34" charset="0"/>
              </a:rPr>
              <a:t>temel</a:t>
            </a:r>
            <a:r>
              <a:rPr lang="en-US" dirty="0">
                <a:cs typeface="Arial" panose="020B0604020202020204" pitchFamily="34" charset="0"/>
              </a:rPr>
              <a:t> </a:t>
            </a:r>
            <a:r>
              <a:rPr lang="en-US" dirty="0" err="1">
                <a:cs typeface="Arial" panose="020B0604020202020204" pitchFamily="34" charset="0"/>
              </a:rPr>
              <a:t>prensibe</a:t>
            </a:r>
            <a:r>
              <a:rPr lang="en-US" dirty="0">
                <a:cs typeface="Arial" panose="020B0604020202020204" pitchFamily="34" charset="0"/>
              </a:rPr>
              <a:t> </a:t>
            </a:r>
            <a:r>
              <a:rPr lang="en-US" dirty="0" err="1">
                <a:cs typeface="Arial" panose="020B0604020202020204" pitchFamily="34" charset="0"/>
              </a:rPr>
              <a:t>dayanarak</a:t>
            </a:r>
            <a:r>
              <a:rPr lang="en-US" dirty="0">
                <a:cs typeface="Arial" panose="020B0604020202020204" pitchFamily="34" charset="0"/>
              </a:rPr>
              <a:t> </a:t>
            </a:r>
            <a:r>
              <a:rPr lang="en-US" dirty="0" err="1">
                <a:cs typeface="Arial" panose="020B0604020202020204" pitchFamily="34" charset="0"/>
              </a:rPr>
              <a:t>önerilmi</a:t>
            </a:r>
            <a:r>
              <a:rPr lang="tr-TR" dirty="0">
                <a:cs typeface="Arial" panose="020B0604020202020204" pitchFamily="34" charset="0"/>
              </a:rPr>
              <a:t>ş</a:t>
            </a:r>
            <a:r>
              <a:rPr lang="en-US" dirty="0">
                <a:cs typeface="Arial" panose="020B0604020202020204" pitchFamily="34" charset="0"/>
              </a:rPr>
              <a:t> </a:t>
            </a:r>
            <a:r>
              <a:rPr lang="en-US" dirty="0" err="1">
                <a:cs typeface="Arial" panose="020B0604020202020204" pitchFamily="34" charset="0"/>
              </a:rPr>
              <a:t>birkaç</a:t>
            </a:r>
            <a:r>
              <a:rPr lang="tr-TR" dirty="0">
                <a:cs typeface="Arial" panose="020B0604020202020204" pitchFamily="34" charset="0"/>
              </a:rPr>
              <a:t> </a:t>
            </a:r>
            <a:r>
              <a:rPr lang="en-US" dirty="0" err="1">
                <a:cs typeface="Arial" panose="020B0604020202020204" pitchFamily="34" charset="0"/>
              </a:rPr>
              <a:t>geçerlik</a:t>
            </a:r>
            <a:r>
              <a:rPr lang="en-US" dirty="0">
                <a:cs typeface="Arial" panose="020B0604020202020204" pitchFamily="34" charset="0"/>
              </a:rPr>
              <a:t> </a:t>
            </a:r>
            <a:r>
              <a:rPr lang="en-US" dirty="0" err="1">
                <a:cs typeface="Arial" panose="020B0604020202020204" pitchFamily="34" charset="0"/>
              </a:rPr>
              <a:t>yöntemi</a:t>
            </a:r>
            <a:r>
              <a:rPr lang="en-US" dirty="0">
                <a:cs typeface="Arial" panose="020B0604020202020204" pitchFamily="34" charset="0"/>
              </a:rPr>
              <a:t> </a:t>
            </a:r>
            <a:r>
              <a:rPr lang="en-US" dirty="0" err="1">
                <a:cs typeface="Arial" panose="020B0604020202020204" pitchFamily="34" charset="0"/>
              </a:rPr>
              <a:t>vardır</a:t>
            </a:r>
            <a:r>
              <a:rPr lang="en-US" dirty="0">
                <a:cs typeface="Arial" panose="020B0604020202020204" pitchFamily="34" charset="0"/>
              </a:rPr>
              <a:t>. Ama </a:t>
            </a:r>
            <a:r>
              <a:rPr lang="en-US" dirty="0" err="1">
                <a:cs typeface="Arial" panose="020B0604020202020204" pitchFamily="34" charset="0"/>
              </a:rPr>
              <a:t>hepsinde</a:t>
            </a:r>
            <a:r>
              <a:rPr lang="en-US" dirty="0">
                <a:cs typeface="Arial" panose="020B0604020202020204" pitchFamily="34" charset="0"/>
              </a:rPr>
              <a:t> </a:t>
            </a:r>
            <a:r>
              <a:rPr lang="en-US" dirty="0" err="1">
                <a:cs typeface="Arial" panose="020B0604020202020204" pitchFamily="34" charset="0"/>
              </a:rPr>
              <a:t>temel</a:t>
            </a:r>
            <a:r>
              <a:rPr lang="tr-TR" dirty="0">
                <a:cs typeface="Arial" panose="020B0604020202020204" pitchFamily="34" charset="0"/>
              </a:rPr>
              <a:t> </a:t>
            </a:r>
            <a:r>
              <a:rPr lang="en-US" dirty="0" err="1">
                <a:cs typeface="Arial" panose="020B0604020202020204" pitchFamily="34" charset="0"/>
              </a:rPr>
              <a:t>mantık</a:t>
            </a:r>
            <a:r>
              <a:rPr lang="en-US" dirty="0">
                <a:cs typeface="Arial" panose="020B0604020202020204" pitchFamily="34" charset="0"/>
              </a:rPr>
              <a:t> </a:t>
            </a:r>
            <a:r>
              <a:rPr lang="en-US" dirty="0" err="1">
                <a:cs typeface="Arial" panose="020B0604020202020204" pitchFamily="34" charset="0"/>
              </a:rPr>
              <a:t>aynıdır</a:t>
            </a:r>
            <a:r>
              <a:rPr lang="en-US" dirty="0">
                <a:cs typeface="Arial" panose="020B0604020202020204" pitchFamily="34" charset="0"/>
              </a:rPr>
              <a:t>. </a:t>
            </a:r>
            <a:endParaRPr lang="tr-TR" dirty="0">
              <a:cs typeface="Arial" panose="020B0604020202020204" pitchFamily="34" charset="0"/>
            </a:endParaRPr>
          </a:p>
          <a:p>
            <a:pPr algn="just"/>
            <a:r>
              <a:rPr lang="en-US" dirty="0" err="1">
                <a:cs typeface="Arial" panose="020B0604020202020204" pitchFamily="34" charset="0"/>
              </a:rPr>
              <a:t>Sistemin</a:t>
            </a:r>
            <a:r>
              <a:rPr lang="en-US" dirty="0">
                <a:cs typeface="Arial" panose="020B0604020202020204" pitchFamily="34" charset="0"/>
              </a:rPr>
              <a:t> </a:t>
            </a:r>
            <a:r>
              <a:rPr lang="en-US" dirty="0" err="1">
                <a:cs typeface="Arial" panose="020B0604020202020204" pitchFamily="34" charset="0"/>
              </a:rPr>
              <a:t>ba</a:t>
            </a:r>
            <a:r>
              <a:rPr lang="tr-TR" dirty="0">
                <a:cs typeface="Arial" panose="020B0604020202020204" pitchFamily="34" charset="0"/>
              </a:rPr>
              <a:t>ş</a:t>
            </a:r>
            <a:r>
              <a:rPr lang="en-US" dirty="0" err="1">
                <a:cs typeface="Arial" panose="020B0604020202020204" pitchFamily="34" charset="0"/>
              </a:rPr>
              <a:t>arısını</a:t>
            </a:r>
            <a:r>
              <a:rPr lang="en-US" dirty="0">
                <a:cs typeface="Arial" panose="020B0604020202020204" pitchFamily="34" charset="0"/>
              </a:rPr>
              <a:t> </a:t>
            </a:r>
            <a:r>
              <a:rPr lang="en-US" dirty="0" err="1">
                <a:cs typeface="Arial" panose="020B0604020202020204" pitchFamily="34" charset="0"/>
              </a:rPr>
              <a:t>ölçebilmek</a:t>
            </a:r>
            <a:r>
              <a:rPr lang="tr-TR" dirty="0">
                <a:cs typeface="Arial" panose="020B0604020202020204" pitchFamily="34" charset="0"/>
              </a:rPr>
              <a:t> </a:t>
            </a:r>
            <a:r>
              <a:rPr lang="en-US" dirty="0" err="1">
                <a:cs typeface="Arial" panose="020B0604020202020204" pitchFamily="34" charset="0"/>
              </a:rPr>
              <a:t>için</a:t>
            </a:r>
            <a:r>
              <a:rPr lang="en-US" dirty="0">
                <a:cs typeface="Arial" panose="020B0604020202020204" pitchFamily="34" charset="0"/>
              </a:rPr>
              <a:t> </a:t>
            </a:r>
            <a:r>
              <a:rPr lang="en-US" dirty="0" err="1">
                <a:cs typeface="Arial" panose="020B0604020202020204" pitchFamily="34" charset="0"/>
              </a:rPr>
              <a:t>mevcut</a:t>
            </a:r>
            <a:r>
              <a:rPr lang="en-US" dirty="0">
                <a:cs typeface="Arial" panose="020B0604020202020204" pitchFamily="34" charset="0"/>
              </a:rPr>
              <a:t> </a:t>
            </a:r>
            <a:r>
              <a:rPr lang="en-US" dirty="0" err="1">
                <a:cs typeface="Arial" panose="020B0604020202020204" pitchFamily="34" charset="0"/>
              </a:rPr>
              <a:t>veri</a:t>
            </a:r>
            <a:r>
              <a:rPr lang="en-US" dirty="0">
                <a:cs typeface="Arial" panose="020B0604020202020204" pitchFamily="34" charset="0"/>
              </a:rPr>
              <a:t> </a:t>
            </a:r>
            <a:r>
              <a:rPr lang="en-US" dirty="0" err="1">
                <a:cs typeface="Arial" panose="020B0604020202020204" pitchFamily="34" charset="0"/>
              </a:rPr>
              <a:t>kümesi</a:t>
            </a:r>
            <a:r>
              <a:rPr lang="en-US" dirty="0">
                <a:cs typeface="Arial" panose="020B0604020202020204" pitchFamily="34" charset="0"/>
              </a:rPr>
              <a:t> </a:t>
            </a:r>
            <a:r>
              <a:rPr lang="en-US" dirty="0" err="1">
                <a:cs typeface="Arial" panose="020B0604020202020204" pitchFamily="34" charset="0"/>
              </a:rPr>
              <a:t>ikiye</a:t>
            </a:r>
            <a:r>
              <a:rPr lang="en-US" dirty="0">
                <a:cs typeface="Arial" panose="020B0604020202020204" pitchFamily="34" charset="0"/>
              </a:rPr>
              <a:t> </a:t>
            </a:r>
            <a:r>
              <a:rPr lang="en-US" dirty="0" err="1">
                <a:cs typeface="Arial" panose="020B0604020202020204" pitchFamily="34" charset="0"/>
              </a:rPr>
              <a:t>bölünür</a:t>
            </a:r>
            <a:r>
              <a:rPr lang="en-US" dirty="0">
                <a:cs typeface="Arial" panose="020B0604020202020204" pitchFamily="34" charset="0"/>
              </a:rPr>
              <a:t>. </a:t>
            </a:r>
            <a:endParaRPr lang="tr-TR" dirty="0">
              <a:cs typeface="Arial" panose="020B0604020202020204" pitchFamily="34" charset="0"/>
            </a:endParaRPr>
          </a:p>
          <a:p>
            <a:pPr algn="just"/>
            <a:r>
              <a:rPr lang="en-US" dirty="0" err="1">
                <a:cs typeface="Arial" panose="020B0604020202020204" pitchFamily="34" charset="0"/>
              </a:rPr>
              <a:t>Birisi</a:t>
            </a:r>
            <a:r>
              <a:rPr lang="tr-TR" dirty="0">
                <a:cs typeface="Arial" panose="020B0604020202020204" pitchFamily="34" charset="0"/>
              </a:rPr>
              <a:t> </a:t>
            </a:r>
            <a:r>
              <a:rPr lang="en-US" dirty="0" err="1">
                <a:cs typeface="Arial" panose="020B0604020202020204" pitchFamily="34" charset="0"/>
              </a:rPr>
              <a:t>eğitim</a:t>
            </a:r>
            <a:r>
              <a:rPr lang="en-US" dirty="0">
                <a:cs typeface="Arial" panose="020B0604020202020204" pitchFamily="34" charset="0"/>
              </a:rPr>
              <a:t> </a:t>
            </a:r>
            <a:r>
              <a:rPr lang="en-US" dirty="0" err="1">
                <a:cs typeface="Arial" panose="020B0604020202020204" pitchFamily="34" charset="0"/>
              </a:rPr>
              <a:t>için</a:t>
            </a:r>
            <a:r>
              <a:rPr lang="en-US" dirty="0">
                <a:cs typeface="Arial" panose="020B0604020202020204" pitchFamily="34" charset="0"/>
              </a:rPr>
              <a:t> (train set) </a:t>
            </a:r>
            <a:r>
              <a:rPr lang="en-US" dirty="0" err="1">
                <a:cs typeface="Arial" panose="020B0604020202020204" pitchFamily="34" charset="0"/>
              </a:rPr>
              <a:t>diğeri</a:t>
            </a:r>
            <a:r>
              <a:rPr lang="en-US" dirty="0">
                <a:cs typeface="Arial" panose="020B0604020202020204" pitchFamily="34" charset="0"/>
              </a:rPr>
              <a:t> de </a:t>
            </a:r>
            <a:r>
              <a:rPr lang="en-US" dirty="0" err="1">
                <a:cs typeface="Arial" panose="020B0604020202020204" pitchFamily="34" charset="0"/>
              </a:rPr>
              <a:t>sistemin</a:t>
            </a:r>
            <a:r>
              <a:rPr lang="en-US" dirty="0">
                <a:cs typeface="Arial" panose="020B0604020202020204" pitchFamily="34" charset="0"/>
              </a:rPr>
              <a:t> </a:t>
            </a:r>
            <a:r>
              <a:rPr lang="en-US" dirty="0" err="1">
                <a:cs typeface="Arial" panose="020B0604020202020204" pitchFamily="34" charset="0"/>
              </a:rPr>
              <a:t>hiç</a:t>
            </a:r>
            <a:r>
              <a:rPr lang="tr-TR" dirty="0">
                <a:cs typeface="Arial" panose="020B0604020202020204" pitchFamily="34" charset="0"/>
              </a:rPr>
              <a:t> </a:t>
            </a:r>
            <a:r>
              <a:rPr lang="en-US" dirty="0" err="1">
                <a:cs typeface="Arial" panose="020B0604020202020204" pitchFamily="34" charset="0"/>
              </a:rPr>
              <a:t>görmediği</a:t>
            </a:r>
            <a:r>
              <a:rPr lang="en-US" dirty="0">
                <a:cs typeface="Arial" panose="020B0604020202020204" pitchFamily="34" charset="0"/>
              </a:rPr>
              <a:t> </a:t>
            </a:r>
            <a:r>
              <a:rPr lang="en-US" dirty="0" err="1">
                <a:cs typeface="Arial" panose="020B0604020202020204" pitchFamily="34" charset="0"/>
              </a:rPr>
              <a:t>olası</a:t>
            </a:r>
            <a:r>
              <a:rPr lang="en-US" dirty="0">
                <a:cs typeface="Arial" panose="020B0604020202020204" pitchFamily="34" charset="0"/>
              </a:rPr>
              <a:t> </a:t>
            </a:r>
            <a:r>
              <a:rPr lang="en-US" dirty="0" err="1">
                <a:cs typeface="Arial" panose="020B0604020202020204" pitchFamily="34" charset="0"/>
              </a:rPr>
              <a:t>örnekleri</a:t>
            </a:r>
            <a:r>
              <a:rPr lang="en-US" dirty="0">
                <a:cs typeface="Arial" panose="020B0604020202020204" pitchFamily="34" charset="0"/>
              </a:rPr>
              <a:t> </a:t>
            </a:r>
            <a:r>
              <a:rPr lang="en-US" dirty="0" err="1">
                <a:cs typeface="Arial" panose="020B0604020202020204" pitchFamily="34" charset="0"/>
              </a:rPr>
              <a:t>temsilen</a:t>
            </a:r>
            <a:r>
              <a:rPr lang="en-US" dirty="0">
                <a:cs typeface="Arial" panose="020B0604020202020204" pitchFamily="34" charset="0"/>
              </a:rPr>
              <a:t> (test set)</a:t>
            </a:r>
            <a:r>
              <a:rPr lang="tr-TR" dirty="0">
                <a:cs typeface="Arial" panose="020B0604020202020204" pitchFamily="34" charset="0"/>
              </a:rPr>
              <a:t> </a:t>
            </a:r>
            <a:r>
              <a:rPr lang="en-US" dirty="0" err="1">
                <a:cs typeface="Arial" panose="020B0604020202020204" pitchFamily="34" charset="0"/>
              </a:rPr>
              <a:t>kullanılır</a:t>
            </a:r>
            <a:r>
              <a:rPr lang="en-US" dirty="0">
                <a:cs typeface="Arial" panose="020B0604020202020204" pitchFamily="34" charset="0"/>
              </a:rPr>
              <a:t>.</a:t>
            </a:r>
            <a:endParaRPr lang="tr-TR" dirty="0">
              <a:cs typeface="Arial" panose="020B0604020202020204" pitchFamily="34" charset="0"/>
            </a:endParaRPr>
          </a:p>
          <a:p>
            <a:pPr algn="just"/>
            <a:r>
              <a:rPr lang="en-US" dirty="0" err="1">
                <a:cs typeface="Arial" panose="020B0604020202020204" pitchFamily="34" charset="0"/>
              </a:rPr>
              <a:t>Sistem</a:t>
            </a:r>
            <a:r>
              <a:rPr lang="en-US" dirty="0">
                <a:cs typeface="Arial" panose="020B0604020202020204" pitchFamily="34" charset="0"/>
              </a:rPr>
              <a:t>, </a:t>
            </a:r>
            <a:r>
              <a:rPr lang="en-US" dirty="0" err="1">
                <a:cs typeface="Arial" panose="020B0604020202020204" pitchFamily="34" charset="0"/>
              </a:rPr>
              <a:t>seçilen</a:t>
            </a:r>
            <a:r>
              <a:rPr lang="en-US" dirty="0">
                <a:cs typeface="Arial" panose="020B0604020202020204" pitchFamily="34" charset="0"/>
              </a:rPr>
              <a:t> </a:t>
            </a:r>
            <a:r>
              <a:rPr lang="en-US" dirty="0" err="1">
                <a:cs typeface="Arial" panose="020B0604020202020204" pitchFamily="34" charset="0"/>
              </a:rPr>
              <a:t>eğitim</a:t>
            </a:r>
            <a:r>
              <a:rPr lang="en-US" dirty="0">
                <a:cs typeface="Arial" panose="020B0604020202020204" pitchFamily="34" charset="0"/>
              </a:rPr>
              <a:t> </a:t>
            </a:r>
            <a:r>
              <a:rPr lang="en-US" dirty="0" err="1">
                <a:cs typeface="Arial" panose="020B0604020202020204" pitchFamily="34" charset="0"/>
              </a:rPr>
              <a:t>algoritması</a:t>
            </a:r>
            <a:r>
              <a:rPr lang="en-US" dirty="0">
                <a:cs typeface="Arial" panose="020B0604020202020204" pitchFamily="34" charset="0"/>
              </a:rPr>
              <a:t> </a:t>
            </a:r>
            <a:r>
              <a:rPr lang="en-US" dirty="0" err="1">
                <a:cs typeface="Arial" panose="020B0604020202020204" pitchFamily="34" charset="0"/>
              </a:rPr>
              <a:t>ile</a:t>
            </a:r>
            <a:r>
              <a:rPr lang="tr-TR" dirty="0">
                <a:cs typeface="Arial" panose="020B0604020202020204" pitchFamily="34" charset="0"/>
              </a:rPr>
              <a:t> </a:t>
            </a:r>
            <a:r>
              <a:rPr lang="en-US" dirty="0" err="1">
                <a:cs typeface="Arial" panose="020B0604020202020204" pitchFamily="34" charset="0"/>
              </a:rPr>
              <a:t>eğitim</a:t>
            </a:r>
            <a:r>
              <a:rPr lang="en-US" dirty="0">
                <a:cs typeface="Arial" panose="020B0604020202020204" pitchFamily="34" charset="0"/>
              </a:rPr>
              <a:t> </a:t>
            </a:r>
            <a:r>
              <a:rPr lang="en-US" dirty="0" err="1">
                <a:cs typeface="Arial" panose="020B0604020202020204" pitchFamily="34" charset="0"/>
              </a:rPr>
              <a:t>kümesini</a:t>
            </a:r>
            <a:r>
              <a:rPr lang="en-US" dirty="0">
                <a:cs typeface="Arial" panose="020B0604020202020204" pitchFamily="34" charset="0"/>
              </a:rPr>
              <a:t> </a:t>
            </a:r>
            <a:r>
              <a:rPr lang="en-US" dirty="0" err="1">
                <a:cs typeface="Arial" panose="020B0604020202020204" pitchFamily="34" charset="0"/>
              </a:rPr>
              <a:t>öğrenir</a:t>
            </a:r>
            <a:r>
              <a:rPr lang="en-US" dirty="0">
                <a:cs typeface="Arial" panose="020B0604020202020204" pitchFamily="34" charset="0"/>
              </a:rPr>
              <a:t>. </a:t>
            </a:r>
            <a:r>
              <a:rPr lang="en-US" dirty="0" err="1">
                <a:cs typeface="Arial" panose="020B0604020202020204" pitchFamily="34" charset="0"/>
              </a:rPr>
              <a:t>Eğitilen</a:t>
            </a:r>
            <a:r>
              <a:rPr lang="en-US" dirty="0">
                <a:cs typeface="Arial" panose="020B0604020202020204" pitchFamily="34" charset="0"/>
              </a:rPr>
              <a:t> s</a:t>
            </a:r>
            <a:r>
              <a:rPr lang="tr-TR" dirty="0">
                <a:cs typeface="Arial" panose="020B0604020202020204" pitchFamily="34" charset="0"/>
              </a:rPr>
              <a:t>i</a:t>
            </a:r>
            <a:r>
              <a:rPr lang="en-US" dirty="0" err="1">
                <a:cs typeface="Arial" panose="020B0604020202020204" pitchFamily="34" charset="0"/>
              </a:rPr>
              <a:t>stemin</a:t>
            </a:r>
            <a:r>
              <a:rPr lang="tr-TR" dirty="0">
                <a:cs typeface="Arial" panose="020B0604020202020204" pitchFamily="34" charset="0"/>
              </a:rPr>
              <a:t> </a:t>
            </a:r>
            <a:r>
              <a:rPr lang="en-US" dirty="0" err="1">
                <a:cs typeface="Arial" panose="020B0604020202020204" pitchFamily="34" charset="0"/>
              </a:rPr>
              <a:t>ba</a:t>
            </a:r>
            <a:r>
              <a:rPr lang="tr-TR" dirty="0">
                <a:cs typeface="Arial" panose="020B0604020202020204" pitchFamily="34" charset="0"/>
              </a:rPr>
              <a:t>ş</a:t>
            </a:r>
            <a:r>
              <a:rPr lang="en-US" dirty="0" err="1">
                <a:cs typeface="Arial" panose="020B0604020202020204" pitchFamily="34" charset="0"/>
              </a:rPr>
              <a:t>arısı</a:t>
            </a:r>
            <a:r>
              <a:rPr lang="en-US" dirty="0">
                <a:cs typeface="Arial" panose="020B0604020202020204" pitchFamily="34" charset="0"/>
              </a:rPr>
              <a:t> </a:t>
            </a:r>
            <a:r>
              <a:rPr lang="en-US" dirty="0" err="1">
                <a:cs typeface="Arial" panose="020B0604020202020204" pitchFamily="34" charset="0"/>
              </a:rPr>
              <a:t>daha</a:t>
            </a:r>
            <a:r>
              <a:rPr lang="en-US" dirty="0">
                <a:cs typeface="Arial" panose="020B0604020202020204" pitchFamily="34" charset="0"/>
              </a:rPr>
              <a:t> </a:t>
            </a:r>
            <a:r>
              <a:rPr lang="en-US" dirty="0" err="1">
                <a:cs typeface="Arial" panose="020B0604020202020204" pitchFamily="34" charset="0"/>
              </a:rPr>
              <a:t>sonra</a:t>
            </a:r>
            <a:r>
              <a:rPr lang="en-US" dirty="0">
                <a:cs typeface="Arial" panose="020B0604020202020204" pitchFamily="34" charset="0"/>
              </a:rPr>
              <a:t> test </a:t>
            </a:r>
            <a:r>
              <a:rPr lang="en-US" dirty="0" err="1">
                <a:cs typeface="Arial" panose="020B0604020202020204" pitchFamily="34" charset="0"/>
              </a:rPr>
              <a:t>kümesi</a:t>
            </a:r>
            <a:r>
              <a:rPr lang="en-US" dirty="0">
                <a:cs typeface="Arial" panose="020B0604020202020204" pitchFamily="34" charset="0"/>
              </a:rPr>
              <a:t> </a:t>
            </a:r>
            <a:r>
              <a:rPr lang="en-US" dirty="0" err="1">
                <a:cs typeface="Arial" panose="020B0604020202020204" pitchFamily="34" charset="0"/>
              </a:rPr>
              <a:t>üzerinde</a:t>
            </a:r>
            <a:r>
              <a:rPr lang="tr-TR" dirty="0">
                <a:cs typeface="Arial" panose="020B0604020202020204" pitchFamily="34" charset="0"/>
              </a:rPr>
              <a:t> </a:t>
            </a:r>
            <a:r>
              <a:rPr lang="en-US" dirty="0" err="1">
                <a:cs typeface="Arial" panose="020B0604020202020204" pitchFamily="34" charset="0"/>
              </a:rPr>
              <a:t>hesaplanır</a:t>
            </a:r>
            <a:r>
              <a:rPr lang="en-US" dirty="0">
                <a:cs typeface="Arial" panose="020B0604020202020204" pitchFamily="34" charset="0"/>
              </a:rPr>
              <a:t>.</a:t>
            </a:r>
          </a:p>
        </p:txBody>
      </p:sp>
    </p:spTree>
    <p:extLst>
      <p:ext uri="{BB962C8B-B14F-4D97-AF65-F5344CB8AC3E}">
        <p14:creationId xmlns:p14="http://schemas.microsoft.com/office/powerpoint/2010/main" val="25201843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30FA4E-BF17-4669-7225-A8E12AF96730}"/>
              </a:ext>
            </a:extLst>
          </p:cNvPr>
          <p:cNvSpPr>
            <a:spLocks noGrp="1"/>
          </p:cNvSpPr>
          <p:nvPr>
            <p:ph type="title"/>
          </p:nvPr>
        </p:nvSpPr>
        <p:spPr/>
        <p:txBody>
          <a:bodyPr/>
          <a:lstStyle/>
          <a:p>
            <a:r>
              <a:rPr lang="en-US" dirty="0"/>
              <a:t>K </a:t>
            </a:r>
            <a:r>
              <a:rPr lang="en-US" dirty="0" err="1"/>
              <a:t>Parçalı</a:t>
            </a:r>
            <a:r>
              <a:rPr lang="tr-TR" dirty="0"/>
              <a:t> (K-</a:t>
            </a:r>
            <a:r>
              <a:rPr lang="tr-TR" dirty="0" err="1"/>
              <a:t>fold</a:t>
            </a:r>
            <a:r>
              <a:rPr lang="tr-TR" dirty="0"/>
              <a:t>) Çapraz Doğrulama</a:t>
            </a:r>
            <a:endParaRPr lang="en-US" dirty="0"/>
          </a:p>
        </p:txBody>
      </p:sp>
      <p:sp>
        <p:nvSpPr>
          <p:cNvPr id="3" name="İçerik Yer Tutucusu 2">
            <a:extLst>
              <a:ext uri="{FF2B5EF4-FFF2-40B4-BE49-F238E27FC236}">
                <a16:creationId xmlns:a16="http://schemas.microsoft.com/office/drawing/2014/main" id="{3C331CCD-46E6-F2B3-3AFB-3F8F699BB27C}"/>
              </a:ext>
            </a:extLst>
          </p:cNvPr>
          <p:cNvSpPr>
            <a:spLocks noGrp="1"/>
          </p:cNvSpPr>
          <p:nvPr>
            <p:ph idx="1"/>
          </p:nvPr>
        </p:nvSpPr>
        <p:spPr>
          <a:xfrm>
            <a:off x="696771" y="1930400"/>
            <a:ext cx="10745585" cy="3777622"/>
          </a:xfrm>
        </p:spPr>
        <p:txBody>
          <a:bodyPr>
            <a:noAutofit/>
          </a:bodyPr>
          <a:lstStyle/>
          <a:p>
            <a:pPr algn="just"/>
            <a:r>
              <a:rPr lang="en-US" b="0" i="0" u="none" strike="noStrike" baseline="0" dirty="0">
                <a:cs typeface="Arial" panose="020B0604020202020204" pitchFamily="34" charset="0"/>
              </a:rPr>
              <a:t>K </a:t>
            </a:r>
            <a:r>
              <a:rPr lang="en-US" b="0" i="0" u="none" strike="noStrike" baseline="0" dirty="0" err="1">
                <a:cs typeface="Arial" panose="020B0604020202020204" pitchFamily="34" charset="0"/>
              </a:rPr>
              <a:t>parçalıda</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veri</a:t>
            </a:r>
            <a:r>
              <a:rPr lang="en-US" b="0" i="0" u="none" strike="noStrike" baseline="0" dirty="0">
                <a:cs typeface="Arial" panose="020B0604020202020204" pitchFamily="34" charset="0"/>
              </a:rPr>
              <a:t>, K</a:t>
            </a:r>
            <a:r>
              <a:rPr lang="tr-TR" b="0" i="0" u="none" strike="noStrike" baseline="0" dirty="0">
                <a:cs typeface="Arial" panose="020B0604020202020204" pitchFamily="34" charset="0"/>
              </a:rPr>
              <a:t> </a:t>
            </a:r>
            <a:r>
              <a:rPr lang="en-US" b="0" i="0" u="none" strike="noStrike" baseline="0" dirty="0" err="1">
                <a:cs typeface="Arial" panose="020B0604020202020204" pitchFamily="34" charset="0"/>
              </a:rPr>
              <a:t>adet</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kümeye</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ayrılır</a:t>
            </a:r>
            <a:r>
              <a:rPr lang="en-US" b="0" i="0" u="none" strike="noStrike" baseline="0" dirty="0">
                <a:cs typeface="Arial" panose="020B0604020202020204" pitchFamily="34" charset="0"/>
              </a:rPr>
              <a:t>.</a:t>
            </a:r>
            <a:r>
              <a:rPr lang="tr-TR" b="0" i="0" u="none" strike="noStrike" baseline="0" dirty="0">
                <a:cs typeface="Arial" panose="020B0604020202020204" pitchFamily="34" charset="0"/>
              </a:rPr>
              <a:t> </a:t>
            </a:r>
            <a:r>
              <a:rPr lang="en-US" b="0" i="0" u="none" strike="noStrike" baseline="0" dirty="0" err="1">
                <a:cs typeface="Arial" panose="020B0604020202020204" pitchFamily="34" charset="0"/>
              </a:rPr>
              <a:t>Birisi</a:t>
            </a:r>
            <a:r>
              <a:rPr lang="en-US" b="0" i="0" u="none" strike="noStrike" baseline="0" dirty="0">
                <a:cs typeface="Arial" panose="020B0604020202020204" pitchFamily="34" charset="0"/>
              </a:rPr>
              <a:t> test </a:t>
            </a:r>
            <a:r>
              <a:rPr lang="en-US" b="0" i="0" u="none" strike="noStrike" baseline="0" dirty="0" err="1">
                <a:cs typeface="Arial" panose="020B0604020202020204" pitchFamily="34" charset="0"/>
              </a:rPr>
              <a:t>kümesi</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için</a:t>
            </a:r>
            <a:r>
              <a:rPr lang="tr-TR" b="0" i="0" u="none" strike="noStrike" baseline="0" dirty="0">
                <a:cs typeface="Arial" panose="020B0604020202020204" pitchFamily="34" charset="0"/>
              </a:rPr>
              <a:t> </a:t>
            </a:r>
            <a:r>
              <a:rPr lang="en-US" b="0" i="0" u="none" strike="noStrike" baseline="0" dirty="0" err="1">
                <a:cs typeface="Arial" panose="020B0604020202020204" pitchFamily="34" charset="0"/>
              </a:rPr>
              <a:t>ve</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diğer</a:t>
            </a:r>
            <a:r>
              <a:rPr lang="en-US" b="0" i="0" u="none" strike="noStrike" baseline="0" dirty="0">
                <a:cs typeface="Arial" panose="020B0604020202020204" pitchFamily="34" charset="0"/>
              </a:rPr>
              <a:t> K-1 </a:t>
            </a:r>
            <a:r>
              <a:rPr lang="en-US" b="0" i="0" u="none" strike="noStrike" baseline="0" dirty="0" err="1">
                <a:cs typeface="Arial" panose="020B0604020202020204" pitchFamily="34" charset="0"/>
              </a:rPr>
              <a:t>küme</a:t>
            </a:r>
            <a:r>
              <a:rPr lang="tr-TR" b="0" i="0" u="none" strike="noStrike" baseline="0" dirty="0">
                <a:cs typeface="Arial" panose="020B0604020202020204" pitchFamily="34" charset="0"/>
              </a:rPr>
              <a:t> </a:t>
            </a:r>
            <a:r>
              <a:rPr lang="en-US" b="0" i="0" u="none" strike="noStrike" baseline="0" dirty="0" err="1">
                <a:cs typeface="Arial" panose="020B0604020202020204" pitchFamily="34" charset="0"/>
              </a:rPr>
              <a:t>birlestirilip</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eğitim</a:t>
            </a:r>
            <a:r>
              <a:rPr lang="tr-TR" dirty="0">
                <a:cs typeface="Arial" panose="020B0604020202020204" pitchFamily="34" charset="0"/>
              </a:rPr>
              <a:t> </a:t>
            </a:r>
            <a:r>
              <a:rPr lang="en-US" b="0" i="0" u="none" strike="noStrike" baseline="0" dirty="0" err="1">
                <a:cs typeface="Arial" panose="020B0604020202020204" pitchFamily="34" charset="0"/>
              </a:rPr>
              <a:t>kümesi</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için</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seçilir</a:t>
            </a:r>
            <a:r>
              <a:rPr lang="en-US" b="0" i="0" u="none" strike="noStrike" baseline="0" dirty="0">
                <a:cs typeface="Arial" panose="020B0604020202020204" pitchFamily="34" charset="0"/>
              </a:rPr>
              <a:t>. </a:t>
            </a:r>
            <a:endParaRPr lang="tr-TR" b="0" i="0" u="none" strike="noStrike" baseline="0" dirty="0">
              <a:cs typeface="Arial" panose="020B0604020202020204" pitchFamily="34" charset="0"/>
            </a:endParaRPr>
          </a:p>
          <a:p>
            <a:pPr algn="just"/>
            <a:r>
              <a:rPr lang="en-US" b="0" i="0" u="none" strike="noStrike" baseline="0" dirty="0">
                <a:cs typeface="Arial" panose="020B0604020202020204" pitchFamily="34" charset="0"/>
              </a:rPr>
              <a:t>Bu</a:t>
            </a:r>
            <a:r>
              <a:rPr lang="tr-TR" b="0" i="0" u="none" strike="noStrike" baseline="0" dirty="0">
                <a:cs typeface="Arial" panose="020B0604020202020204" pitchFamily="34" charset="0"/>
              </a:rPr>
              <a:t> </a:t>
            </a:r>
            <a:r>
              <a:rPr lang="en-US" b="0" i="0" u="none" strike="noStrike" baseline="0" dirty="0" err="1">
                <a:cs typeface="Arial" panose="020B0604020202020204" pitchFamily="34" charset="0"/>
              </a:rPr>
              <a:t>i</a:t>
            </a:r>
            <a:r>
              <a:rPr lang="tr-TR" b="0" i="0" u="none" strike="noStrike" baseline="0" dirty="0">
                <a:cs typeface="Arial" panose="020B0604020202020204" pitchFamily="34" charset="0"/>
              </a:rPr>
              <a:t>ş</a:t>
            </a:r>
            <a:r>
              <a:rPr lang="en-US" b="0" i="0" u="none" strike="noStrike" baseline="0" dirty="0" err="1">
                <a:cs typeface="Arial" panose="020B0604020202020204" pitchFamily="34" charset="0"/>
              </a:rPr>
              <a:t>lem</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kümeler</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deği</a:t>
            </a:r>
            <a:r>
              <a:rPr lang="tr-TR" b="0" i="0" u="none" strike="noStrike" baseline="0" dirty="0">
                <a:cs typeface="Arial" panose="020B0604020202020204" pitchFamily="34" charset="0"/>
              </a:rPr>
              <a:t>ş</a:t>
            </a:r>
            <a:r>
              <a:rPr lang="en-US" b="0" i="0" u="none" strike="noStrike" baseline="0" dirty="0" err="1">
                <a:cs typeface="Arial" panose="020B0604020202020204" pitchFamily="34" charset="0"/>
              </a:rPr>
              <a:t>tirilerek</a:t>
            </a:r>
            <a:r>
              <a:rPr lang="tr-TR" dirty="0">
                <a:cs typeface="Arial" panose="020B0604020202020204" pitchFamily="34" charset="0"/>
              </a:rPr>
              <a:t> </a:t>
            </a:r>
            <a:r>
              <a:rPr lang="en-US" b="0" i="0" u="none" strike="noStrike" baseline="0" dirty="0">
                <a:cs typeface="Arial" panose="020B0604020202020204" pitchFamily="34" charset="0"/>
              </a:rPr>
              <a:t>K </a:t>
            </a:r>
            <a:r>
              <a:rPr lang="en-US" b="0" i="0" u="none" strike="noStrike" baseline="0" dirty="0" err="1">
                <a:cs typeface="Arial" panose="020B0604020202020204" pitchFamily="34" charset="0"/>
              </a:rPr>
              <a:t>kez</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tekrarlanır</a:t>
            </a:r>
            <a:r>
              <a:rPr lang="en-US" b="0" i="0" u="none" strike="noStrike" baseline="0" dirty="0">
                <a:cs typeface="Arial" panose="020B0604020202020204" pitchFamily="34" charset="0"/>
              </a:rPr>
              <a:t>.</a:t>
            </a:r>
            <a:r>
              <a:rPr lang="tr-TR" b="0" i="0" u="none" strike="noStrike" baseline="0" dirty="0">
                <a:cs typeface="Arial" panose="020B0604020202020204" pitchFamily="34" charset="0"/>
              </a:rPr>
              <a:t> </a:t>
            </a:r>
            <a:r>
              <a:rPr lang="en-US" b="0" i="0" u="none" strike="noStrike" baseline="0" dirty="0" err="1">
                <a:cs typeface="Arial" panose="020B0604020202020204" pitchFamily="34" charset="0"/>
              </a:rPr>
              <a:t>Genel</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basarı</a:t>
            </a:r>
            <a:r>
              <a:rPr lang="tr-TR" dirty="0">
                <a:cs typeface="Arial" panose="020B0604020202020204" pitchFamily="34" charset="0"/>
              </a:rPr>
              <a:t> </a:t>
            </a:r>
            <a:r>
              <a:rPr lang="en-US" b="0" i="0" u="none" strike="noStrike" baseline="0" dirty="0" err="1">
                <a:cs typeface="Arial" panose="020B0604020202020204" pitchFamily="34" charset="0"/>
              </a:rPr>
              <a:t>için</a:t>
            </a:r>
            <a:r>
              <a:rPr lang="en-US" b="0" i="0" u="none" strike="noStrike" baseline="0" dirty="0">
                <a:cs typeface="Arial" panose="020B0604020202020204" pitchFamily="34" charset="0"/>
              </a:rPr>
              <a:t> K </a:t>
            </a:r>
            <a:r>
              <a:rPr lang="en-US" b="0" i="0" u="none" strike="noStrike" baseline="0" dirty="0" err="1">
                <a:cs typeface="Arial" panose="020B0604020202020204" pitchFamily="34" charset="0"/>
              </a:rPr>
              <a:t>adet</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ba</a:t>
            </a:r>
            <a:r>
              <a:rPr lang="tr-TR" b="0" i="0" u="none" strike="noStrike" baseline="0" dirty="0">
                <a:cs typeface="Arial" panose="020B0604020202020204" pitchFamily="34" charset="0"/>
              </a:rPr>
              <a:t>ş</a:t>
            </a:r>
            <a:r>
              <a:rPr lang="en-US" b="0" i="0" u="none" strike="noStrike" baseline="0" dirty="0" err="1">
                <a:cs typeface="Arial" panose="020B0604020202020204" pitchFamily="34" charset="0"/>
              </a:rPr>
              <a:t>arı</a:t>
            </a:r>
            <a:r>
              <a:rPr lang="en-US" b="0" i="0" u="none" strike="noStrike" baseline="0" dirty="0">
                <a:cs typeface="Arial" panose="020B0604020202020204" pitchFamily="34" charset="0"/>
              </a:rPr>
              <a:t> </a:t>
            </a:r>
            <a:r>
              <a:rPr lang="en-US" b="0" i="0" u="none" strike="noStrike" baseline="0" dirty="0" err="1">
                <a:cs typeface="Arial" panose="020B0604020202020204" pitchFamily="34" charset="0"/>
              </a:rPr>
              <a:t>değerinin</a:t>
            </a:r>
            <a:r>
              <a:rPr lang="tr-TR" dirty="0">
                <a:cs typeface="Arial" panose="020B0604020202020204" pitchFamily="34" charset="0"/>
              </a:rPr>
              <a:t> </a:t>
            </a:r>
            <a:r>
              <a:rPr lang="en-US" b="0" i="0" u="none" strike="noStrike" baseline="0" dirty="0" err="1">
                <a:cs typeface="Arial" panose="020B0604020202020204" pitchFamily="34" charset="0"/>
              </a:rPr>
              <a:t>ortalaması</a:t>
            </a:r>
            <a:r>
              <a:rPr lang="tr-TR" dirty="0">
                <a:cs typeface="Arial" panose="020B0604020202020204" pitchFamily="34" charset="0"/>
              </a:rPr>
              <a:t> </a:t>
            </a:r>
            <a:r>
              <a:rPr lang="en-US" b="0" i="0" u="none" strike="noStrike" baseline="0" dirty="0" err="1">
                <a:cs typeface="Arial" panose="020B0604020202020204" pitchFamily="34" charset="0"/>
              </a:rPr>
              <a:t>alınır</a:t>
            </a:r>
            <a:r>
              <a:rPr lang="en-US" b="0" i="0" u="none" strike="noStrike" baseline="0" dirty="0">
                <a:cs typeface="Arial" panose="020B0604020202020204" pitchFamily="34" charset="0"/>
              </a:rPr>
              <a:t>.</a:t>
            </a:r>
            <a:endParaRPr lang="en-US" dirty="0">
              <a:cs typeface="Arial" panose="020B0604020202020204" pitchFamily="34" charset="0"/>
            </a:endParaRPr>
          </a:p>
        </p:txBody>
      </p:sp>
      <p:pic>
        <p:nvPicPr>
          <p:cNvPr id="6" name="Resim 5">
            <a:extLst>
              <a:ext uri="{FF2B5EF4-FFF2-40B4-BE49-F238E27FC236}">
                <a16:creationId xmlns:a16="http://schemas.microsoft.com/office/drawing/2014/main" id="{17503835-9F47-63D1-7CDD-92A02E4FA564}"/>
              </a:ext>
            </a:extLst>
          </p:cNvPr>
          <p:cNvPicPr>
            <a:picLocks noChangeAspect="1"/>
          </p:cNvPicPr>
          <p:nvPr/>
        </p:nvPicPr>
        <p:blipFill>
          <a:blip r:embed="rId3"/>
          <a:stretch>
            <a:fillRect/>
          </a:stretch>
        </p:blipFill>
        <p:spPr>
          <a:xfrm>
            <a:off x="2479754" y="3112496"/>
            <a:ext cx="7964011" cy="3257824"/>
          </a:xfrm>
          <a:prstGeom prst="rect">
            <a:avLst/>
          </a:prstGeom>
        </p:spPr>
      </p:pic>
    </p:spTree>
    <p:extLst>
      <p:ext uri="{BB962C8B-B14F-4D97-AF65-F5344CB8AC3E}">
        <p14:creationId xmlns:p14="http://schemas.microsoft.com/office/powerpoint/2010/main" val="19284882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BC625-86CF-AA22-274D-12A567943BB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1365790-9BBA-8A9A-481A-C89B402A818A}"/>
              </a:ext>
            </a:extLst>
          </p:cNvPr>
          <p:cNvSpPr>
            <a:spLocks noGrp="1"/>
          </p:cNvSpPr>
          <p:nvPr>
            <p:ph type="title"/>
          </p:nvPr>
        </p:nvSpPr>
        <p:spPr/>
        <p:txBody>
          <a:bodyPr/>
          <a:lstStyle/>
          <a:p>
            <a:r>
              <a:rPr lang="tr-TR" dirty="0">
                <a:cs typeface="Arial" panose="020B0604020202020204" pitchFamily="34" charset="0"/>
              </a:rPr>
              <a:t>Denetimli Öğrenme Algoritmaları - Regresyon</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08B49D51-F15E-279E-2CAE-BD1396AB7603}"/>
              </a:ext>
            </a:extLst>
          </p:cNvPr>
          <p:cNvSpPr>
            <a:spLocks noGrp="1"/>
          </p:cNvSpPr>
          <p:nvPr>
            <p:ph idx="1"/>
          </p:nvPr>
        </p:nvSpPr>
        <p:spPr/>
        <p:txBody>
          <a:bodyPr>
            <a:normAutofit lnSpcReduction="10000"/>
          </a:bodyPr>
          <a:lstStyle/>
          <a:p>
            <a:pPr algn="just"/>
            <a:r>
              <a:rPr lang="tr-TR" b="1" dirty="0">
                <a:cs typeface="Arial" panose="020B0604020202020204" pitchFamily="34" charset="0"/>
              </a:rPr>
              <a:t>Doğrusal Regresyon: </a:t>
            </a:r>
          </a:p>
          <a:p>
            <a:pPr algn="just"/>
            <a:r>
              <a:rPr lang="tr-TR" dirty="0">
                <a:cs typeface="Arial" panose="020B0604020202020204" pitchFamily="34" charset="0"/>
              </a:rPr>
              <a:t>Bağımlı ve bağımsız değişkenler arasındaki ilişkiyi doğrusal olarak modeller.</a:t>
            </a:r>
          </a:p>
          <a:p>
            <a:pPr algn="just"/>
            <a:endParaRPr lang="tr-TR" dirty="0">
              <a:cs typeface="Arial" panose="020B0604020202020204" pitchFamily="34" charset="0"/>
            </a:endParaRPr>
          </a:p>
          <a:p>
            <a:pPr algn="just"/>
            <a:endParaRPr lang="tr-TR" dirty="0">
              <a:cs typeface="Arial" panose="020B0604020202020204" pitchFamily="34" charset="0"/>
            </a:endParaRPr>
          </a:p>
          <a:p>
            <a:pPr algn="just"/>
            <a:endParaRPr lang="tr-TR" dirty="0">
              <a:cs typeface="Arial" panose="020B0604020202020204" pitchFamily="34" charset="0"/>
            </a:endParaRPr>
          </a:p>
          <a:p>
            <a:pPr algn="just"/>
            <a:endParaRPr lang="tr-TR" dirty="0">
              <a:cs typeface="Arial" panose="020B0604020202020204" pitchFamily="34" charset="0"/>
            </a:endParaRPr>
          </a:p>
          <a:p>
            <a:pPr algn="just"/>
            <a:endParaRPr lang="tr-TR" dirty="0">
              <a:cs typeface="Arial" panose="020B0604020202020204" pitchFamily="34" charset="0"/>
            </a:endParaRPr>
          </a:p>
          <a:p>
            <a:pPr algn="just"/>
            <a:r>
              <a:rPr lang="tr-TR" dirty="0"/>
              <a:t>Bu kapsamda yᶦ değerleri bağımlı değişkeni, xᵢ değişkenleri bağımsız değişkenleri wᵢ ifadeleri ise ağırlıkları temsil eder. Bir doğrusal regresyon modelinin öğrenme olarak ifade ettiği kavramlar b sabiti ve wᵢ ağırlıklarıdır.</a:t>
            </a:r>
            <a:r>
              <a:rPr lang="tr-TR" dirty="0">
                <a:cs typeface="Arial" panose="020B0604020202020204" pitchFamily="34" charset="0"/>
              </a:rPr>
              <a:t> </a:t>
            </a:r>
          </a:p>
          <a:p>
            <a:pPr algn="just"/>
            <a:endParaRPr lang="en-US" dirty="0">
              <a:cs typeface="Arial" panose="020B0604020202020204" pitchFamily="34" charset="0"/>
            </a:endParaRPr>
          </a:p>
        </p:txBody>
      </p:sp>
      <p:pic>
        <p:nvPicPr>
          <p:cNvPr id="1026" name="Picture 2">
            <a:extLst>
              <a:ext uri="{FF2B5EF4-FFF2-40B4-BE49-F238E27FC236}">
                <a16:creationId xmlns:a16="http://schemas.microsoft.com/office/drawing/2014/main" id="{CC890E4A-DACF-C74F-3698-B159DEF032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7605" y="2801991"/>
            <a:ext cx="4796790" cy="1254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28364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FCAAF-7CF8-1DB9-CF13-810B70ACA7A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982F432-C146-D829-01F9-B7EF6F2D8BD9}"/>
              </a:ext>
            </a:extLst>
          </p:cNvPr>
          <p:cNvSpPr>
            <a:spLocks noGrp="1"/>
          </p:cNvSpPr>
          <p:nvPr>
            <p:ph type="title"/>
          </p:nvPr>
        </p:nvSpPr>
        <p:spPr/>
        <p:txBody>
          <a:bodyPr/>
          <a:lstStyle/>
          <a:p>
            <a:r>
              <a:rPr lang="tr-TR" dirty="0">
                <a:cs typeface="Arial" panose="020B0604020202020204" pitchFamily="34" charset="0"/>
              </a:rPr>
              <a:t>Denetimli Öğrenme Algoritmaları - Regresyon</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4922EE6B-D7D8-3D3B-C17D-3BDA281F7FFB}"/>
              </a:ext>
            </a:extLst>
          </p:cNvPr>
          <p:cNvSpPr>
            <a:spLocks noGrp="1"/>
          </p:cNvSpPr>
          <p:nvPr>
            <p:ph idx="1"/>
          </p:nvPr>
        </p:nvSpPr>
        <p:spPr/>
        <p:txBody>
          <a:bodyPr>
            <a:normAutofit/>
          </a:bodyPr>
          <a:lstStyle/>
          <a:p>
            <a:pPr algn="just"/>
            <a:r>
              <a:rPr lang="tr-TR" b="1" dirty="0">
                <a:cs typeface="Arial" panose="020B0604020202020204" pitchFamily="34" charset="0"/>
              </a:rPr>
              <a:t>Doğrusal Regresyon: </a:t>
            </a:r>
          </a:p>
          <a:p>
            <a:r>
              <a:rPr lang="tr-TR" dirty="0"/>
              <a:t>b sabiti literatürde, ß (beta), </a:t>
            </a:r>
            <a:r>
              <a:rPr lang="tr-TR" dirty="0" err="1"/>
              <a:t>intercept</a:t>
            </a:r>
            <a:r>
              <a:rPr lang="tr-TR" dirty="0"/>
              <a:t>, </a:t>
            </a:r>
            <a:r>
              <a:rPr lang="tr-TR" dirty="0" err="1"/>
              <a:t>bias</a:t>
            </a:r>
            <a:r>
              <a:rPr lang="tr-TR" dirty="0"/>
              <a:t> olarak da ifade edilir.</a:t>
            </a:r>
          </a:p>
          <a:p>
            <a:pPr algn="just"/>
            <a:r>
              <a:rPr lang="tr-TR" dirty="0"/>
              <a:t>wᵢ ifadesi kat sayı yani ağırlıktır. Bazı kaynaklarda </a:t>
            </a:r>
            <a:r>
              <a:rPr lang="tr-TR" dirty="0" err="1"/>
              <a:t>coefficient</a:t>
            </a:r>
            <a:r>
              <a:rPr lang="tr-TR" dirty="0"/>
              <a:t> olarak da ifade edilir. Kat sayısı olduğu değişkeni ifade etmek ve etkilerini belirlemek için kullanılır.</a:t>
            </a:r>
            <a:endParaRPr lang="tr-TR" dirty="0">
              <a:cs typeface="Arial" panose="020B0604020202020204" pitchFamily="34" charset="0"/>
            </a:endParaRPr>
          </a:p>
          <a:p>
            <a:pPr algn="just"/>
            <a:r>
              <a:rPr lang="tr-TR" dirty="0"/>
              <a:t>b sabiti ve wᵢ ağırlıkları, gerçek değerler ile tahmin edilen değerler arasındaki farkların karelerinin toplamını/ortalamasını minimum yapabilecek şekilde kullanılır.</a:t>
            </a:r>
          </a:p>
        </p:txBody>
      </p:sp>
    </p:spTree>
    <p:extLst>
      <p:ext uri="{BB962C8B-B14F-4D97-AF65-F5344CB8AC3E}">
        <p14:creationId xmlns:p14="http://schemas.microsoft.com/office/powerpoint/2010/main" val="26540241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CB8C1-8588-450A-E3A0-32A1FC10C3D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8348EB7-7657-BBBF-9560-28ED43A2EDA7}"/>
              </a:ext>
            </a:extLst>
          </p:cNvPr>
          <p:cNvSpPr>
            <a:spLocks noGrp="1"/>
          </p:cNvSpPr>
          <p:nvPr>
            <p:ph type="title"/>
          </p:nvPr>
        </p:nvSpPr>
        <p:spPr/>
        <p:txBody>
          <a:bodyPr/>
          <a:lstStyle/>
          <a:p>
            <a:r>
              <a:rPr lang="tr-TR" dirty="0">
                <a:cs typeface="Arial" panose="020B0604020202020204" pitchFamily="34" charset="0"/>
              </a:rPr>
              <a:t>Denetimli Öğrenme Algoritmaları - Regresyon</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77F01B16-995C-905E-1628-465E301AD826}"/>
              </a:ext>
            </a:extLst>
          </p:cNvPr>
          <p:cNvSpPr>
            <a:spLocks noGrp="1"/>
          </p:cNvSpPr>
          <p:nvPr>
            <p:ph idx="1"/>
          </p:nvPr>
        </p:nvSpPr>
        <p:spPr/>
        <p:txBody>
          <a:bodyPr>
            <a:normAutofit/>
          </a:bodyPr>
          <a:lstStyle/>
          <a:p>
            <a:pPr algn="just"/>
            <a:r>
              <a:rPr lang="tr-TR" b="1" dirty="0">
                <a:cs typeface="Arial" panose="020B0604020202020204" pitchFamily="34" charset="0"/>
              </a:rPr>
              <a:t>K En Yakın Komşuluk</a:t>
            </a:r>
          </a:p>
          <a:p>
            <a:pPr algn="just"/>
            <a:r>
              <a:rPr lang="tr-TR" b="1" dirty="0">
                <a:cs typeface="Arial" panose="020B0604020202020204" pitchFamily="34" charset="0"/>
              </a:rPr>
              <a:t>Karar Ağaçları</a:t>
            </a:r>
          </a:p>
          <a:p>
            <a:pPr marL="0" indent="0" algn="just">
              <a:buNone/>
            </a:pPr>
            <a:endParaRPr lang="en-US" b="1" dirty="0">
              <a:cs typeface="Arial" panose="020B0604020202020204" pitchFamily="34" charset="0"/>
            </a:endParaRPr>
          </a:p>
        </p:txBody>
      </p:sp>
    </p:spTree>
    <p:extLst>
      <p:ext uri="{BB962C8B-B14F-4D97-AF65-F5344CB8AC3E}">
        <p14:creationId xmlns:p14="http://schemas.microsoft.com/office/powerpoint/2010/main" val="11753272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695E3-D375-B67C-EEEE-4A2E7C351E6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EC346C4-FB46-4244-D3DB-2BDCDF5A08FB}"/>
              </a:ext>
            </a:extLst>
          </p:cNvPr>
          <p:cNvSpPr>
            <a:spLocks noGrp="1"/>
          </p:cNvSpPr>
          <p:nvPr>
            <p:ph type="title"/>
          </p:nvPr>
        </p:nvSpPr>
        <p:spPr/>
        <p:txBody>
          <a:bodyPr/>
          <a:lstStyle/>
          <a:p>
            <a:r>
              <a:rPr lang="tr-TR" dirty="0">
                <a:cs typeface="Arial" panose="020B0604020202020204" pitchFamily="34" charset="0"/>
              </a:rPr>
              <a:t>Denetimli Öğrenme Algoritmaları - Sınıflandırma</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64FFA9F3-75EB-2971-5FE1-11B03C346078}"/>
              </a:ext>
            </a:extLst>
          </p:cNvPr>
          <p:cNvSpPr>
            <a:spLocks noGrp="1"/>
          </p:cNvSpPr>
          <p:nvPr>
            <p:ph idx="1"/>
          </p:nvPr>
        </p:nvSpPr>
        <p:spPr/>
        <p:txBody>
          <a:bodyPr>
            <a:normAutofit/>
          </a:bodyPr>
          <a:lstStyle/>
          <a:p>
            <a:pPr algn="just"/>
            <a:r>
              <a:rPr lang="tr-TR" b="1" dirty="0">
                <a:cs typeface="Arial" panose="020B0604020202020204" pitchFamily="34" charset="0"/>
              </a:rPr>
              <a:t>Lojistik Regresyon:</a:t>
            </a:r>
          </a:p>
          <a:p>
            <a:pPr algn="just"/>
            <a:r>
              <a:rPr lang="tr-TR" dirty="0"/>
              <a:t>Lojistik regresyon, isminde “</a:t>
            </a:r>
            <a:r>
              <a:rPr lang="tr-TR" b="1" dirty="0"/>
              <a:t>regresyon</a:t>
            </a:r>
            <a:r>
              <a:rPr lang="tr-TR" dirty="0"/>
              <a:t>” geçmesine rağmen bir </a:t>
            </a:r>
            <a:r>
              <a:rPr lang="tr-TR" b="1" dirty="0"/>
              <a:t>sınıflandırma</a:t>
            </a:r>
            <a:r>
              <a:rPr lang="tr-TR" dirty="0"/>
              <a:t> algoritmasıdır. </a:t>
            </a:r>
          </a:p>
          <a:p>
            <a:pPr algn="just"/>
            <a:r>
              <a:rPr lang="tr-TR" dirty="0"/>
              <a:t>Lojistik regresyon, sınıflandırma yapmak için </a:t>
            </a:r>
            <a:r>
              <a:rPr lang="tr-TR" b="1" i="1" dirty="0"/>
              <a:t>Sigmoid </a:t>
            </a:r>
            <a:r>
              <a:rPr lang="tr-TR" dirty="0"/>
              <a:t>(Lojistik) Fonksiyonu kullanır. Sigmoid fonksiyonu “</a:t>
            </a:r>
            <a:r>
              <a:rPr lang="tr-TR" b="1" i="1" dirty="0"/>
              <a:t>S</a:t>
            </a:r>
            <a:r>
              <a:rPr lang="tr-TR" dirty="0"/>
              <a:t>” şeklinde bir eğridir.</a:t>
            </a:r>
          </a:p>
          <a:p>
            <a:pPr algn="just"/>
            <a:r>
              <a:rPr lang="tr-TR" dirty="0"/>
              <a:t>Sigmoid fonksiyonu basitçe, verilerimizi 0 ve 1 arasına sıkıştırmak için kullanılan fonksiyondur. Bu fonksiyon sayesinde sınıflandırma yapabiliriz.</a:t>
            </a:r>
            <a:r>
              <a:rPr lang="tr-TR" b="1" dirty="0">
                <a:cs typeface="Arial" panose="020B0604020202020204" pitchFamily="34" charset="0"/>
              </a:rPr>
              <a:t> </a:t>
            </a:r>
            <a:endParaRPr lang="en-US" b="1" dirty="0">
              <a:cs typeface="Arial" panose="020B0604020202020204" pitchFamily="34" charset="0"/>
            </a:endParaRPr>
          </a:p>
        </p:txBody>
      </p:sp>
    </p:spTree>
    <p:extLst>
      <p:ext uri="{BB962C8B-B14F-4D97-AF65-F5344CB8AC3E}">
        <p14:creationId xmlns:p14="http://schemas.microsoft.com/office/powerpoint/2010/main" val="17707797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6B79-6BAD-1F1A-E564-3BA6E04163E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362BF7A-3DF6-3649-A407-4936BB1A0EC6}"/>
              </a:ext>
            </a:extLst>
          </p:cNvPr>
          <p:cNvSpPr>
            <a:spLocks noGrp="1"/>
          </p:cNvSpPr>
          <p:nvPr>
            <p:ph type="title"/>
          </p:nvPr>
        </p:nvSpPr>
        <p:spPr/>
        <p:txBody>
          <a:bodyPr/>
          <a:lstStyle/>
          <a:p>
            <a:r>
              <a:rPr lang="tr-TR" dirty="0">
                <a:cs typeface="Arial" panose="020B0604020202020204" pitchFamily="34" charset="0"/>
              </a:rPr>
              <a:t>Denetimli Öğrenme Algoritmaları - Sınıflandırma</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BB957DAE-8AFE-D55F-4AB2-9EA40D6BC9E9}"/>
              </a:ext>
            </a:extLst>
          </p:cNvPr>
          <p:cNvSpPr>
            <a:spLocks noGrp="1"/>
          </p:cNvSpPr>
          <p:nvPr>
            <p:ph idx="1"/>
          </p:nvPr>
        </p:nvSpPr>
        <p:spPr/>
        <p:txBody>
          <a:bodyPr>
            <a:normAutofit/>
          </a:bodyPr>
          <a:lstStyle/>
          <a:p>
            <a:pPr algn="just"/>
            <a:r>
              <a:rPr lang="tr-TR" b="1" dirty="0">
                <a:cs typeface="Arial" panose="020B0604020202020204" pitchFamily="34" charset="0"/>
              </a:rPr>
              <a:t>Karar Ağaçları: </a:t>
            </a:r>
          </a:p>
          <a:p>
            <a:pPr algn="just"/>
            <a:r>
              <a:rPr lang="tr-TR" b="1" dirty="0">
                <a:cs typeface="Arial" panose="020B0604020202020204" pitchFamily="34" charset="0"/>
              </a:rPr>
              <a:t>Destek Vektör Makineleri: </a:t>
            </a:r>
          </a:p>
          <a:p>
            <a:pPr algn="just"/>
            <a:r>
              <a:rPr lang="tr-TR" b="1" dirty="0">
                <a:cs typeface="Arial" panose="020B0604020202020204" pitchFamily="34" charset="0"/>
              </a:rPr>
              <a:t>K En Yakın Komşuluk: </a:t>
            </a:r>
            <a:endParaRPr lang="en-US" b="1" dirty="0">
              <a:cs typeface="Arial" panose="020B0604020202020204" pitchFamily="34" charset="0"/>
            </a:endParaRPr>
          </a:p>
          <a:p>
            <a:pPr algn="just"/>
            <a:endParaRPr lang="en-US" dirty="0">
              <a:cs typeface="Arial" panose="020B0604020202020204" pitchFamily="34" charset="0"/>
            </a:endParaRPr>
          </a:p>
          <a:p>
            <a:pPr algn="just"/>
            <a:endParaRPr lang="en-US" dirty="0">
              <a:cs typeface="Arial" panose="020B0604020202020204" pitchFamily="34" charset="0"/>
            </a:endParaRPr>
          </a:p>
        </p:txBody>
      </p:sp>
    </p:spTree>
    <p:extLst>
      <p:ext uri="{BB962C8B-B14F-4D97-AF65-F5344CB8AC3E}">
        <p14:creationId xmlns:p14="http://schemas.microsoft.com/office/powerpoint/2010/main" val="42645862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D1382-FFA6-8191-7F7C-04D564DDE08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01D2A48-9587-6541-9AED-F13FCFB06413}"/>
              </a:ext>
            </a:extLst>
          </p:cNvPr>
          <p:cNvSpPr>
            <a:spLocks noGrp="1"/>
          </p:cNvSpPr>
          <p:nvPr>
            <p:ph type="title"/>
          </p:nvPr>
        </p:nvSpPr>
        <p:spPr/>
        <p:txBody>
          <a:bodyPr/>
          <a:lstStyle/>
          <a:p>
            <a:r>
              <a:rPr lang="tr-TR" dirty="0">
                <a:cs typeface="Arial" panose="020B0604020202020204" pitchFamily="34" charset="0"/>
              </a:rPr>
              <a:t>Denetimsiz Öğrenme Algoritmaları  - Kümeleme </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5A9D590E-3837-600C-2508-FCFC29F1B266}"/>
              </a:ext>
            </a:extLst>
          </p:cNvPr>
          <p:cNvSpPr>
            <a:spLocks noGrp="1"/>
          </p:cNvSpPr>
          <p:nvPr>
            <p:ph idx="1"/>
          </p:nvPr>
        </p:nvSpPr>
        <p:spPr>
          <a:xfrm>
            <a:off x="555981" y="1767396"/>
            <a:ext cx="10886376" cy="4785804"/>
          </a:xfrm>
        </p:spPr>
        <p:txBody>
          <a:bodyPr>
            <a:normAutofit/>
          </a:bodyPr>
          <a:lstStyle/>
          <a:p>
            <a:pPr algn="just"/>
            <a:r>
              <a:rPr lang="tr-TR" b="1" dirty="0">
                <a:cs typeface="Arial" panose="020B0604020202020204" pitchFamily="34" charset="0"/>
              </a:rPr>
              <a:t>K </a:t>
            </a:r>
            <a:r>
              <a:rPr lang="tr-TR" b="1" dirty="0" err="1">
                <a:cs typeface="Arial" panose="020B0604020202020204" pitchFamily="34" charset="0"/>
              </a:rPr>
              <a:t>Means</a:t>
            </a:r>
            <a:r>
              <a:rPr lang="tr-TR" b="1" dirty="0">
                <a:cs typeface="Arial" panose="020B0604020202020204" pitchFamily="34" charset="0"/>
              </a:rPr>
              <a:t> Kümeleme:</a:t>
            </a:r>
            <a:r>
              <a:rPr lang="tr-TR" dirty="0"/>
              <a:t> K-</a:t>
            </a:r>
            <a:r>
              <a:rPr lang="tr-TR" dirty="0" err="1"/>
              <a:t>Means</a:t>
            </a:r>
            <a:r>
              <a:rPr lang="tr-TR" dirty="0"/>
              <a:t>, denetimsiz öğrenmenin en bilinen algoritmalarından biridir.</a:t>
            </a:r>
            <a:br>
              <a:rPr lang="tr-TR" dirty="0"/>
            </a:br>
            <a:r>
              <a:rPr lang="tr-TR" dirty="0"/>
              <a:t>Amaç, verileri benzerliklerine göre K adet kümeye ayırmaktır. </a:t>
            </a:r>
          </a:p>
          <a:p>
            <a:pPr algn="just"/>
            <a:endParaRPr lang="tr-TR" dirty="0">
              <a:cs typeface="Arial" panose="020B0604020202020204" pitchFamily="34" charset="0"/>
            </a:endParaRPr>
          </a:p>
          <a:p>
            <a:pPr algn="just"/>
            <a:endParaRPr lang="en-US" dirty="0">
              <a:cs typeface="Arial" panose="020B0604020202020204" pitchFamily="34" charset="0"/>
            </a:endParaRPr>
          </a:p>
        </p:txBody>
      </p:sp>
      <p:pic>
        <p:nvPicPr>
          <p:cNvPr id="5" name="Resim 4">
            <a:extLst>
              <a:ext uri="{FF2B5EF4-FFF2-40B4-BE49-F238E27FC236}">
                <a16:creationId xmlns:a16="http://schemas.microsoft.com/office/drawing/2014/main" id="{57C4E42B-F3AA-0328-8D47-9AD39AFE82BC}"/>
              </a:ext>
            </a:extLst>
          </p:cNvPr>
          <p:cNvPicPr>
            <a:picLocks noChangeAspect="1"/>
          </p:cNvPicPr>
          <p:nvPr/>
        </p:nvPicPr>
        <p:blipFill>
          <a:blip r:embed="rId2"/>
          <a:stretch>
            <a:fillRect/>
          </a:stretch>
        </p:blipFill>
        <p:spPr>
          <a:xfrm>
            <a:off x="3373360" y="2869454"/>
            <a:ext cx="5658640" cy="3134162"/>
          </a:xfrm>
          <a:prstGeom prst="rect">
            <a:avLst/>
          </a:prstGeom>
        </p:spPr>
      </p:pic>
    </p:spTree>
    <p:extLst>
      <p:ext uri="{BB962C8B-B14F-4D97-AF65-F5344CB8AC3E}">
        <p14:creationId xmlns:p14="http://schemas.microsoft.com/office/powerpoint/2010/main" val="41386038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79FED-902E-46DE-FEC8-9AA3F07E9E8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78F2BCC-59A8-F7DC-0049-D83C2FAE13C1}"/>
              </a:ext>
            </a:extLst>
          </p:cNvPr>
          <p:cNvSpPr>
            <a:spLocks noGrp="1"/>
          </p:cNvSpPr>
          <p:nvPr>
            <p:ph type="title"/>
          </p:nvPr>
        </p:nvSpPr>
        <p:spPr/>
        <p:txBody>
          <a:bodyPr/>
          <a:lstStyle/>
          <a:p>
            <a:r>
              <a:rPr lang="tr-TR" dirty="0">
                <a:cs typeface="Arial" panose="020B0604020202020204" pitchFamily="34" charset="0"/>
              </a:rPr>
              <a:t>Denetimsiz Öğrenme Algoritmaları  - Kümeleme </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C1894B80-82A4-5CB3-76E7-0CD0AF6557B7}"/>
              </a:ext>
            </a:extLst>
          </p:cNvPr>
          <p:cNvSpPr>
            <a:spLocks noGrp="1"/>
          </p:cNvSpPr>
          <p:nvPr>
            <p:ph idx="1"/>
          </p:nvPr>
        </p:nvSpPr>
        <p:spPr>
          <a:xfrm>
            <a:off x="555981" y="1767396"/>
            <a:ext cx="10886376" cy="4785804"/>
          </a:xfrm>
        </p:spPr>
        <p:txBody>
          <a:bodyPr>
            <a:normAutofit/>
          </a:bodyPr>
          <a:lstStyle/>
          <a:p>
            <a:pPr algn="just"/>
            <a:r>
              <a:rPr lang="tr-TR" b="1" dirty="0">
                <a:cs typeface="Arial" panose="020B0604020202020204" pitchFamily="34" charset="0"/>
              </a:rPr>
              <a:t>K </a:t>
            </a:r>
            <a:r>
              <a:rPr lang="tr-TR" b="1" dirty="0" err="1">
                <a:cs typeface="Arial" panose="020B0604020202020204" pitchFamily="34" charset="0"/>
              </a:rPr>
              <a:t>Means</a:t>
            </a:r>
            <a:r>
              <a:rPr lang="tr-TR" b="1" dirty="0">
                <a:cs typeface="Arial" panose="020B0604020202020204" pitchFamily="34" charset="0"/>
              </a:rPr>
              <a:t> Kümeleme:</a:t>
            </a:r>
            <a:r>
              <a:rPr lang="tr-TR" dirty="0"/>
              <a:t> K-</a:t>
            </a:r>
            <a:r>
              <a:rPr lang="tr-TR" dirty="0" err="1"/>
              <a:t>Means</a:t>
            </a:r>
            <a:r>
              <a:rPr lang="tr-TR" dirty="0"/>
              <a:t>, denetimsiz öğrenmenin en bilinen algoritmalarından biridir.</a:t>
            </a:r>
            <a:br>
              <a:rPr lang="tr-TR" dirty="0"/>
            </a:br>
            <a:r>
              <a:rPr lang="tr-TR" dirty="0"/>
              <a:t>Amaç, verileri benzerliklerine göre K adet kümeye ayırmaktır. </a:t>
            </a:r>
          </a:p>
          <a:p>
            <a:pPr algn="just"/>
            <a:endParaRPr lang="tr-TR" dirty="0">
              <a:cs typeface="Arial" panose="020B0604020202020204" pitchFamily="34" charset="0"/>
            </a:endParaRPr>
          </a:p>
          <a:p>
            <a:r>
              <a:rPr lang="tr-TR" dirty="0"/>
              <a:t>Algoritma genel olarak:</a:t>
            </a:r>
          </a:p>
          <a:p>
            <a:r>
              <a:rPr lang="tr-TR" dirty="0"/>
              <a:t>1. Küme sayısı belirlenir.</a:t>
            </a:r>
          </a:p>
          <a:p>
            <a:r>
              <a:rPr lang="tr-TR" dirty="0"/>
              <a:t>2. Rastgele k adet merkez seçilir.</a:t>
            </a:r>
          </a:p>
          <a:p>
            <a:r>
              <a:rPr lang="tr-TR" dirty="0"/>
              <a:t>3. Her bir gözlemin k merkezlerine olan uzaklıkları hesaplanır.</a:t>
            </a:r>
          </a:p>
          <a:p>
            <a:r>
              <a:rPr lang="tr-TR" dirty="0"/>
              <a:t>4. Her gözlem en yakın olduğu merkeze (yani kümeye) atanır.</a:t>
            </a:r>
          </a:p>
          <a:p>
            <a:r>
              <a:rPr lang="tr-TR" dirty="0"/>
              <a:t>5. Atama işlemlerinden sonra oluşan kümeler için </a:t>
            </a:r>
            <a:r>
              <a:rPr lang="tr-TR" b="1" dirty="0"/>
              <a:t>tekrar merkez</a:t>
            </a:r>
            <a:r>
              <a:rPr lang="tr-TR" dirty="0"/>
              <a:t> hesaplamaları yapılır.</a:t>
            </a:r>
          </a:p>
          <a:p>
            <a:r>
              <a:rPr lang="tr-TR" dirty="0"/>
              <a:t>. Bu adımlar belirli bir iterasyon adedince tekrar edilir ve küme içi hata kareler toplamlarının toplamının (Total </a:t>
            </a:r>
            <a:r>
              <a:rPr lang="tr-TR" dirty="0" err="1"/>
              <a:t>within-cluster</a:t>
            </a:r>
            <a:r>
              <a:rPr lang="tr-TR" dirty="0"/>
              <a:t> </a:t>
            </a:r>
            <a:r>
              <a:rPr lang="tr-TR" dirty="0" err="1"/>
              <a:t>variation</a:t>
            </a:r>
            <a:r>
              <a:rPr lang="tr-TR" dirty="0"/>
              <a:t>) minimum olduğu durumda erişilen gözlemlerin kümelenme yapısı, nihai kümelenme olarak seçilir.</a:t>
            </a:r>
          </a:p>
          <a:p>
            <a:pPr algn="just"/>
            <a:endParaRPr lang="en-US" dirty="0">
              <a:cs typeface="Arial" panose="020B0604020202020204" pitchFamily="34" charset="0"/>
            </a:endParaRPr>
          </a:p>
        </p:txBody>
      </p:sp>
    </p:spTree>
    <p:extLst>
      <p:ext uri="{BB962C8B-B14F-4D97-AF65-F5344CB8AC3E}">
        <p14:creationId xmlns:p14="http://schemas.microsoft.com/office/powerpoint/2010/main" val="34257707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4B842-EDA7-C054-D138-76DF3BC372A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01DDFCA-9CF4-A119-2B64-1DE685170338}"/>
              </a:ext>
            </a:extLst>
          </p:cNvPr>
          <p:cNvSpPr>
            <a:spLocks noGrp="1"/>
          </p:cNvSpPr>
          <p:nvPr>
            <p:ph type="title"/>
          </p:nvPr>
        </p:nvSpPr>
        <p:spPr/>
        <p:txBody>
          <a:bodyPr/>
          <a:lstStyle/>
          <a:p>
            <a:r>
              <a:rPr lang="tr-TR" dirty="0">
                <a:cs typeface="Arial" panose="020B0604020202020204" pitchFamily="34" charset="0"/>
              </a:rPr>
              <a:t>Denetimsiz Öğrenme Algoritmaları  - Kümeleme </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AB779D7F-C264-90CE-4589-0BF575D9AFD6}"/>
              </a:ext>
            </a:extLst>
          </p:cNvPr>
          <p:cNvSpPr>
            <a:spLocks noGrp="1"/>
          </p:cNvSpPr>
          <p:nvPr>
            <p:ph idx="1"/>
          </p:nvPr>
        </p:nvSpPr>
        <p:spPr/>
        <p:txBody>
          <a:bodyPr>
            <a:normAutofit/>
          </a:bodyPr>
          <a:lstStyle/>
          <a:p>
            <a:pPr algn="just"/>
            <a:r>
              <a:rPr lang="tr-TR" b="1" dirty="0">
                <a:cs typeface="Arial" panose="020B0604020202020204" pitchFamily="34" charset="0"/>
              </a:rPr>
              <a:t>K </a:t>
            </a:r>
            <a:r>
              <a:rPr lang="tr-TR" b="1" dirty="0" err="1">
                <a:cs typeface="Arial" panose="020B0604020202020204" pitchFamily="34" charset="0"/>
              </a:rPr>
              <a:t>Means</a:t>
            </a:r>
            <a:r>
              <a:rPr lang="tr-TR" b="1" dirty="0">
                <a:cs typeface="Arial" panose="020B0604020202020204" pitchFamily="34" charset="0"/>
              </a:rPr>
              <a:t> Kümeleme:</a:t>
            </a:r>
          </a:p>
          <a:p>
            <a:r>
              <a:rPr lang="tr-TR" dirty="0"/>
              <a:t>Hızlıdır</a:t>
            </a:r>
          </a:p>
          <a:p>
            <a:r>
              <a:rPr lang="tr-TR" dirty="0"/>
              <a:t>Basit yapıya sahiptir</a:t>
            </a:r>
          </a:p>
          <a:p>
            <a:r>
              <a:rPr lang="tr-TR" dirty="0"/>
              <a:t>Büyük veri setlerinde etkilidir.</a:t>
            </a:r>
          </a:p>
          <a:p>
            <a:endParaRPr lang="tr-TR" dirty="0"/>
          </a:p>
          <a:p>
            <a:r>
              <a:rPr lang="tr-TR" dirty="0"/>
              <a:t>Temel amaç, gözlem birimlerini kümelere ayırmaktır. Sınıflandırmadan farkı ise; Sınıflar çalışmanın başında belliydi ama K-</a:t>
            </a:r>
            <a:r>
              <a:rPr lang="tr-TR" dirty="0" err="1"/>
              <a:t>Means</a:t>
            </a:r>
            <a:r>
              <a:rPr lang="tr-TR" dirty="0"/>
              <a:t> yönteminde sınıf bilgisi yoktur.</a:t>
            </a:r>
          </a:p>
          <a:p>
            <a:pPr algn="just"/>
            <a:endParaRPr lang="en-US" dirty="0">
              <a:cs typeface="Arial" panose="020B0604020202020204" pitchFamily="34" charset="0"/>
            </a:endParaRPr>
          </a:p>
        </p:txBody>
      </p:sp>
    </p:spTree>
    <p:extLst>
      <p:ext uri="{BB962C8B-B14F-4D97-AF65-F5344CB8AC3E}">
        <p14:creationId xmlns:p14="http://schemas.microsoft.com/office/powerpoint/2010/main" val="30529360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0C129-534A-98EA-A31D-73F730A62C3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D25CBBC-C12B-5913-9136-36A4A50D54AE}"/>
              </a:ext>
            </a:extLst>
          </p:cNvPr>
          <p:cNvSpPr>
            <a:spLocks noGrp="1"/>
          </p:cNvSpPr>
          <p:nvPr>
            <p:ph type="title"/>
          </p:nvPr>
        </p:nvSpPr>
        <p:spPr/>
        <p:txBody>
          <a:bodyPr/>
          <a:lstStyle/>
          <a:p>
            <a:r>
              <a:rPr lang="tr-TR" dirty="0">
                <a:cs typeface="Arial" panose="020B0604020202020204" pitchFamily="34" charset="0"/>
              </a:rPr>
              <a:t>Denetimsiz Öğrenme Algoritmaları  - Kümeleme </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ACE13DD4-EFBE-CD70-1A5B-DA84C6233261}"/>
              </a:ext>
            </a:extLst>
          </p:cNvPr>
          <p:cNvSpPr>
            <a:spLocks noGrp="1"/>
          </p:cNvSpPr>
          <p:nvPr>
            <p:ph idx="1"/>
          </p:nvPr>
        </p:nvSpPr>
        <p:spPr/>
        <p:txBody>
          <a:bodyPr>
            <a:normAutofit/>
          </a:bodyPr>
          <a:lstStyle/>
          <a:p>
            <a:pPr algn="just"/>
            <a:r>
              <a:rPr lang="tr-TR" b="1" dirty="0">
                <a:cs typeface="Arial" panose="020B0604020202020204" pitchFamily="34" charset="0"/>
              </a:rPr>
              <a:t>K </a:t>
            </a:r>
            <a:r>
              <a:rPr lang="tr-TR" b="1" dirty="0" err="1">
                <a:cs typeface="Arial" panose="020B0604020202020204" pitchFamily="34" charset="0"/>
              </a:rPr>
              <a:t>Means</a:t>
            </a:r>
            <a:r>
              <a:rPr lang="tr-TR" b="1" dirty="0">
                <a:cs typeface="Arial" panose="020B0604020202020204" pitchFamily="34" charset="0"/>
              </a:rPr>
              <a:t> Kümeleme:</a:t>
            </a:r>
          </a:p>
          <a:p>
            <a:r>
              <a:rPr lang="tr-TR" dirty="0"/>
              <a:t>Kümeleme algoritması çıktısını genelde dairesel olarak hayal edebiliriz fakat kümelerin şekli dairesel olmak gibi bir zorunluluğu yoktur. Zaten düşününce de böylesi mükemmel bir veri seti bulmak gerçek hayatta pek de mümkün değildir. </a:t>
            </a:r>
            <a:endParaRPr lang="en-US" dirty="0">
              <a:cs typeface="Arial" panose="020B0604020202020204" pitchFamily="34" charset="0"/>
            </a:endParaRPr>
          </a:p>
        </p:txBody>
      </p:sp>
      <p:pic>
        <p:nvPicPr>
          <p:cNvPr id="5" name="Resim 4">
            <a:extLst>
              <a:ext uri="{FF2B5EF4-FFF2-40B4-BE49-F238E27FC236}">
                <a16:creationId xmlns:a16="http://schemas.microsoft.com/office/drawing/2014/main" id="{AD6CDED4-8FEF-D8FD-C73C-7BF95EC6997C}"/>
              </a:ext>
            </a:extLst>
          </p:cNvPr>
          <p:cNvPicPr>
            <a:picLocks noChangeAspect="1"/>
          </p:cNvPicPr>
          <p:nvPr/>
        </p:nvPicPr>
        <p:blipFill>
          <a:blip r:embed="rId2"/>
          <a:srcRect t="10331"/>
          <a:stretch>
            <a:fillRect/>
          </a:stretch>
        </p:blipFill>
        <p:spPr>
          <a:xfrm>
            <a:off x="4063650" y="3191427"/>
            <a:ext cx="4064699" cy="3086967"/>
          </a:xfrm>
          <a:prstGeom prst="rect">
            <a:avLst/>
          </a:prstGeom>
        </p:spPr>
      </p:pic>
    </p:spTree>
    <p:extLst>
      <p:ext uri="{BB962C8B-B14F-4D97-AF65-F5344CB8AC3E}">
        <p14:creationId xmlns:p14="http://schemas.microsoft.com/office/powerpoint/2010/main" val="31919751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964DF-8AA5-73E7-EC3C-68B4680335A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CC8AFFB-B3A5-2AE6-38B7-717DD2C5FC01}"/>
              </a:ext>
            </a:extLst>
          </p:cNvPr>
          <p:cNvSpPr>
            <a:spLocks noGrp="1"/>
          </p:cNvSpPr>
          <p:nvPr>
            <p:ph type="title"/>
          </p:nvPr>
        </p:nvSpPr>
        <p:spPr/>
        <p:txBody>
          <a:bodyPr/>
          <a:lstStyle/>
          <a:p>
            <a:r>
              <a:rPr lang="tr-TR" dirty="0">
                <a:cs typeface="Arial" panose="020B0604020202020204" pitchFamily="34" charset="0"/>
              </a:rPr>
              <a:t>Denetimsiz Öğrenme Algoritmaları  - Kümeleme </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B7FF0B86-86EA-0E33-34FA-9F9AD479B203}"/>
              </a:ext>
            </a:extLst>
          </p:cNvPr>
          <p:cNvSpPr>
            <a:spLocks noGrp="1"/>
          </p:cNvSpPr>
          <p:nvPr>
            <p:ph idx="1"/>
          </p:nvPr>
        </p:nvSpPr>
        <p:spPr>
          <a:xfrm>
            <a:off x="555981" y="1767396"/>
            <a:ext cx="6759219" cy="3702647"/>
          </a:xfrm>
        </p:spPr>
        <p:txBody>
          <a:bodyPr>
            <a:normAutofit/>
          </a:bodyPr>
          <a:lstStyle/>
          <a:p>
            <a:pPr algn="just"/>
            <a:r>
              <a:rPr lang="tr-TR" b="1" dirty="0">
                <a:cs typeface="Arial" panose="020B0604020202020204" pitchFamily="34" charset="0"/>
              </a:rPr>
              <a:t>K </a:t>
            </a:r>
            <a:r>
              <a:rPr lang="tr-TR" b="1" dirty="0" err="1">
                <a:cs typeface="Arial" panose="020B0604020202020204" pitchFamily="34" charset="0"/>
              </a:rPr>
              <a:t>Means</a:t>
            </a:r>
            <a:r>
              <a:rPr lang="tr-TR" b="1" dirty="0">
                <a:cs typeface="Arial" panose="020B0604020202020204" pitchFamily="34" charset="0"/>
              </a:rPr>
              <a:t> Kümeleme:</a:t>
            </a:r>
          </a:p>
          <a:p>
            <a:r>
              <a:rPr lang="tr-TR" dirty="0"/>
              <a:t>Bu yöntemde K sayısını belirleme önemli bir problemdir. Uygun K sayısını seçmek için çeşitli metotlar bulunmaktadır. Kısaca metotları açıklamak gerekirse;</a:t>
            </a:r>
          </a:p>
          <a:p>
            <a:r>
              <a:rPr lang="tr-TR" dirty="0">
                <a:cs typeface="Arial" panose="020B0604020202020204" pitchFamily="34" charset="0"/>
              </a:rPr>
              <a:t>1.E</a:t>
            </a:r>
            <a:r>
              <a:rPr lang="tr-TR" dirty="0"/>
              <a:t>lbow metodu; noktaların her K değerine göre küme merkezine uzaklıklarının karesi toplamı hesaplanmaktadır. Bu değerlere göre her K değeri için grafik çizilmektedir. Grafik üzerinde toplamlar arasındaki farkın azalmaya başladığı dirsek noktası en uygun K değeri olarak belirlenmektedir </a:t>
            </a:r>
            <a:endParaRPr lang="en-US" dirty="0">
              <a:cs typeface="Arial" panose="020B0604020202020204" pitchFamily="34" charset="0"/>
            </a:endParaRPr>
          </a:p>
        </p:txBody>
      </p:sp>
      <p:pic>
        <p:nvPicPr>
          <p:cNvPr id="6" name="Resim 5">
            <a:extLst>
              <a:ext uri="{FF2B5EF4-FFF2-40B4-BE49-F238E27FC236}">
                <a16:creationId xmlns:a16="http://schemas.microsoft.com/office/drawing/2014/main" id="{938AA1C4-9172-973C-BB55-2EB1139C0D5C}"/>
              </a:ext>
            </a:extLst>
          </p:cNvPr>
          <p:cNvPicPr>
            <a:picLocks noChangeAspect="1"/>
          </p:cNvPicPr>
          <p:nvPr/>
        </p:nvPicPr>
        <p:blipFill>
          <a:blip r:embed="rId2"/>
          <a:stretch>
            <a:fillRect/>
          </a:stretch>
        </p:blipFill>
        <p:spPr>
          <a:xfrm>
            <a:off x="7465390" y="1767396"/>
            <a:ext cx="4363059" cy="3953427"/>
          </a:xfrm>
          <a:prstGeom prst="rect">
            <a:avLst/>
          </a:prstGeom>
        </p:spPr>
      </p:pic>
    </p:spTree>
    <p:extLst>
      <p:ext uri="{BB962C8B-B14F-4D97-AF65-F5344CB8AC3E}">
        <p14:creationId xmlns:p14="http://schemas.microsoft.com/office/powerpoint/2010/main" val="24236631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BCDD0-5E15-346A-2FBA-C07BF6F11A2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7F79BF7-C68A-F1DE-D8F2-A0310850A751}"/>
              </a:ext>
            </a:extLst>
          </p:cNvPr>
          <p:cNvSpPr>
            <a:spLocks noGrp="1"/>
          </p:cNvSpPr>
          <p:nvPr>
            <p:ph type="title"/>
          </p:nvPr>
        </p:nvSpPr>
        <p:spPr/>
        <p:txBody>
          <a:bodyPr/>
          <a:lstStyle/>
          <a:p>
            <a:r>
              <a:rPr lang="tr-TR" dirty="0">
                <a:cs typeface="Arial" panose="020B0604020202020204" pitchFamily="34" charset="0"/>
              </a:rPr>
              <a:t>Denetimsiz Öğrenme Algoritmaları  - Kümeleme </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2773DED2-951B-FDEF-57F5-200C8887B197}"/>
              </a:ext>
            </a:extLst>
          </p:cNvPr>
          <p:cNvSpPr>
            <a:spLocks noGrp="1"/>
          </p:cNvSpPr>
          <p:nvPr>
            <p:ph idx="1"/>
          </p:nvPr>
        </p:nvSpPr>
        <p:spPr>
          <a:xfrm>
            <a:off x="555981" y="1767396"/>
            <a:ext cx="6759219" cy="3702647"/>
          </a:xfrm>
        </p:spPr>
        <p:txBody>
          <a:bodyPr>
            <a:normAutofit/>
          </a:bodyPr>
          <a:lstStyle/>
          <a:p>
            <a:pPr algn="just"/>
            <a:r>
              <a:rPr lang="tr-TR" b="1" dirty="0">
                <a:cs typeface="Arial" panose="020B0604020202020204" pitchFamily="34" charset="0"/>
              </a:rPr>
              <a:t>K </a:t>
            </a:r>
            <a:r>
              <a:rPr lang="tr-TR" b="1" dirty="0" err="1">
                <a:cs typeface="Arial" panose="020B0604020202020204" pitchFamily="34" charset="0"/>
              </a:rPr>
              <a:t>Means</a:t>
            </a:r>
            <a:r>
              <a:rPr lang="tr-TR" b="1" dirty="0">
                <a:cs typeface="Arial" panose="020B0604020202020204" pitchFamily="34" charset="0"/>
              </a:rPr>
              <a:t> Kümeleme:</a:t>
            </a:r>
          </a:p>
          <a:p>
            <a:r>
              <a:rPr lang="tr-TR" dirty="0">
                <a:cs typeface="Arial" panose="020B0604020202020204" pitchFamily="34" charset="0"/>
              </a:rPr>
              <a:t>2. </a:t>
            </a:r>
            <a:r>
              <a:rPr lang="tr-TR" dirty="0" err="1">
                <a:cs typeface="Arial" panose="020B0604020202020204" pitchFamily="34" charset="0"/>
              </a:rPr>
              <a:t>S</a:t>
            </a:r>
            <a:r>
              <a:rPr lang="tr-TR" dirty="0" err="1"/>
              <a:t>ilhoutte</a:t>
            </a:r>
            <a:r>
              <a:rPr lang="tr-TR" dirty="0"/>
              <a:t> metodu; her K değeri için kümelerin farklılığına bakmaktadır. Oluşan kümeler için -1 ve 1 arasında değerler üretmektedir. 1'e en yakın K değeri en uygun olarak belirlenmektedir </a:t>
            </a:r>
            <a:endParaRPr lang="en-US" dirty="0">
              <a:cs typeface="Arial" panose="020B0604020202020204" pitchFamily="34" charset="0"/>
            </a:endParaRPr>
          </a:p>
        </p:txBody>
      </p:sp>
      <p:pic>
        <p:nvPicPr>
          <p:cNvPr id="5" name="Resim 4">
            <a:extLst>
              <a:ext uri="{FF2B5EF4-FFF2-40B4-BE49-F238E27FC236}">
                <a16:creationId xmlns:a16="http://schemas.microsoft.com/office/drawing/2014/main" id="{74E084E4-8981-1B28-563B-0A643E56D954}"/>
              </a:ext>
            </a:extLst>
          </p:cNvPr>
          <p:cNvPicPr>
            <a:picLocks noChangeAspect="1"/>
          </p:cNvPicPr>
          <p:nvPr/>
        </p:nvPicPr>
        <p:blipFill>
          <a:blip r:embed="rId2"/>
          <a:stretch>
            <a:fillRect/>
          </a:stretch>
        </p:blipFill>
        <p:spPr>
          <a:xfrm>
            <a:off x="7315199" y="1767395"/>
            <a:ext cx="4500823" cy="3702647"/>
          </a:xfrm>
          <a:prstGeom prst="rect">
            <a:avLst/>
          </a:prstGeom>
        </p:spPr>
      </p:pic>
    </p:spTree>
    <p:extLst>
      <p:ext uri="{BB962C8B-B14F-4D97-AF65-F5344CB8AC3E}">
        <p14:creationId xmlns:p14="http://schemas.microsoft.com/office/powerpoint/2010/main" val="31661808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F441F-527F-747E-4B31-C28DDD12D7B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7F1C10A-2D21-2118-2BE3-6B03B56AFCDC}"/>
              </a:ext>
            </a:extLst>
          </p:cNvPr>
          <p:cNvSpPr>
            <a:spLocks noGrp="1"/>
          </p:cNvSpPr>
          <p:nvPr>
            <p:ph type="title"/>
          </p:nvPr>
        </p:nvSpPr>
        <p:spPr/>
        <p:txBody>
          <a:bodyPr/>
          <a:lstStyle/>
          <a:p>
            <a:r>
              <a:rPr lang="tr-TR" dirty="0">
                <a:cs typeface="Arial" panose="020B0604020202020204" pitchFamily="34" charset="0"/>
              </a:rPr>
              <a:t>Denetimsiz Öğrenme Algoritmaları  - Kümeleme </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5A774748-6E87-FB8A-E0AB-D25643F3DB37}"/>
              </a:ext>
            </a:extLst>
          </p:cNvPr>
          <p:cNvSpPr>
            <a:spLocks noGrp="1"/>
          </p:cNvSpPr>
          <p:nvPr>
            <p:ph idx="1"/>
          </p:nvPr>
        </p:nvSpPr>
        <p:spPr>
          <a:xfrm>
            <a:off x="555981" y="1767397"/>
            <a:ext cx="10886376" cy="1661604"/>
          </a:xfrm>
        </p:spPr>
        <p:txBody>
          <a:bodyPr>
            <a:normAutofit/>
          </a:bodyPr>
          <a:lstStyle/>
          <a:p>
            <a:pPr algn="just"/>
            <a:r>
              <a:rPr lang="tr-TR" b="1" dirty="0">
                <a:cs typeface="Arial" panose="020B0604020202020204" pitchFamily="34" charset="0"/>
              </a:rPr>
              <a:t>Hiyerarşik Kümeleme: </a:t>
            </a:r>
            <a:r>
              <a:rPr lang="tr-TR" dirty="0"/>
              <a:t>Hiyerarşik kümeleme benzer nesneleri küme adı verilen gruplara ayıran bir algoritmadır. Bu algoritmada veri kümesi gözden geçirilerek veriler arasındaki benzerliğe dayalı olarak benzer bulunan verileri gruplayarak kümeler oluşturulur. Her küme birbirinden farklıdır ve her kümedeki veriler büyük ölçüde birbirine benzer. Yani kümelerin her biri için bir hiyerarşi oluşturulur</a:t>
            </a:r>
            <a:endParaRPr lang="en-US" dirty="0">
              <a:cs typeface="Arial" panose="020B0604020202020204" pitchFamily="34" charset="0"/>
            </a:endParaRPr>
          </a:p>
        </p:txBody>
      </p:sp>
      <p:pic>
        <p:nvPicPr>
          <p:cNvPr id="6" name="Resim 5">
            <a:extLst>
              <a:ext uri="{FF2B5EF4-FFF2-40B4-BE49-F238E27FC236}">
                <a16:creationId xmlns:a16="http://schemas.microsoft.com/office/drawing/2014/main" id="{EB6394CD-1D49-8561-71D7-986641B0506E}"/>
              </a:ext>
            </a:extLst>
          </p:cNvPr>
          <p:cNvPicPr>
            <a:picLocks noChangeAspect="1"/>
          </p:cNvPicPr>
          <p:nvPr/>
        </p:nvPicPr>
        <p:blipFill>
          <a:blip r:embed="rId2"/>
          <a:stretch>
            <a:fillRect/>
          </a:stretch>
        </p:blipFill>
        <p:spPr>
          <a:xfrm>
            <a:off x="2722111" y="3593650"/>
            <a:ext cx="6554115" cy="1895740"/>
          </a:xfrm>
          <a:prstGeom prst="rect">
            <a:avLst/>
          </a:prstGeom>
        </p:spPr>
      </p:pic>
    </p:spTree>
    <p:extLst>
      <p:ext uri="{BB962C8B-B14F-4D97-AF65-F5344CB8AC3E}">
        <p14:creationId xmlns:p14="http://schemas.microsoft.com/office/powerpoint/2010/main" val="16012655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E6F42-E645-9337-8D20-1D6D6205D6E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2F06763-9670-D523-2A4E-CC94B8D3FC93}"/>
              </a:ext>
            </a:extLst>
          </p:cNvPr>
          <p:cNvSpPr>
            <a:spLocks noGrp="1"/>
          </p:cNvSpPr>
          <p:nvPr>
            <p:ph type="title"/>
          </p:nvPr>
        </p:nvSpPr>
        <p:spPr/>
        <p:txBody>
          <a:bodyPr/>
          <a:lstStyle/>
          <a:p>
            <a:r>
              <a:rPr lang="tr-TR" dirty="0">
                <a:cs typeface="Arial" panose="020B0604020202020204" pitchFamily="34" charset="0"/>
              </a:rPr>
              <a:t>Denetimsiz Öğrenme Algoritmaları </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736A3F3B-6ABD-9FFC-B2E0-0E3F73144F0C}"/>
              </a:ext>
            </a:extLst>
          </p:cNvPr>
          <p:cNvSpPr>
            <a:spLocks noGrp="1"/>
          </p:cNvSpPr>
          <p:nvPr>
            <p:ph idx="1"/>
          </p:nvPr>
        </p:nvSpPr>
        <p:spPr>
          <a:xfrm>
            <a:off x="555981" y="1767397"/>
            <a:ext cx="10886376" cy="1661604"/>
          </a:xfrm>
        </p:spPr>
        <p:txBody>
          <a:bodyPr>
            <a:normAutofit fontScale="92500"/>
          </a:bodyPr>
          <a:lstStyle/>
          <a:p>
            <a:pPr algn="just"/>
            <a:r>
              <a:rPr lang="tr-TR" b="1" dirty="0">
                <a:cs typeface="Arial" panose="020B0604020202020204" pitchFamily="34" charset="0"/>
              </a:rPr>
              <a:t>Hiyerarşik Kümeleme:</a:t>
            </a:r>
          </a:p>
          <a:p>
            <a:r>
              <a:rPr lang="tr-TR" dirty="0"/>
              <a:t>Kümelemelerden oluşan ağaç benzeri bir hiyerarşi oluşturarak, farklı ayrıntı düzeylerindeki ilişkileri gösterir.</a:t>
            </a:r>
          </a:p>
          <a:p>
            <a:r>
              <a:rPr lang="tr-TR" dirty="0"/>
              <a:t>Veri noktalarını hiyerarşik bir yapıda kümelere ayırmak için kullanılan bir kümeleme yöntemidir. Veri noktaları bir ağaç yapısı olarak temsil edilir, her düğüm kümenin bir alt kümesini veya birleşimini temsil eder.</a:t>
            </a:r>
            <a:endParaRPr lang="en-US" dirty="0">
              <a:cs typeface="Arial" panose="020B0604020202020204" pitchFamily="34" charset="0"/>
            </a:endParaRPr>
          </a:p>
        </p:txBody>
      </p:sp>
    </p:spTree>
    <p:extLst>
      <p:ext uri="{BB962C8B-B14F-4D97-AF65-F5344CB8AC3E}">
        <p14:creationId xmlns:p14="http://schemas.microsoft.com/office/powerpoint/2010/main" val="15814873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C59E1-4584-3009-4A55-71C9B950364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0AA1EF1-D57B-A876-9A11-5E1DC502BE5B}"/>
              </a:ext>
            </a:extLst>
          </p:cNvPr>
          <p:cNvSpPr>
            <a:spLocks noGrp="1"/>
          </p:cNvSpPr>
          <p:nvPr>
            <p:ph type="title"/>
          </p:nvPr>
        </p:nvSpPr>
        <p:spPr/>
        <p:txBody>
          <a:bodyPr/>
          <a:lstStyle/>
          <a:p>
            <a:r>
              <a:rPr lang="tr-TR" dirty="0">
                <a:cs typeface="Arial" panose="020B0604020202020204" pitchFamily="34" charset="0"/>
              </a:rPr>
              <a:t>Denetimsiz Öğrenme Algoritmaları  - Kümeleme </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86A6C830-B43D-AA16-6298-C6C76529E6E9}"/>
              </a:ext>
            </a:extLst>
          </p:cNvPr>
          <p:cNvSpPr>
            <a:spLocks noGrp="1"/>
          </p:cNvSpPr>
          <p:nvPr>
            <p:ph idx="1"/>
          </p:nvPr>
        </p:nvSpPr>
        <p:spPr>
          <a:xfrm>
            <a:off x="555981" y="1767396"/>
            <a:ext cx="6484899" cy="4602923"/>
          </a:xfrm>
        </p:spPr>
        <p:txBody>
          <a:bodyPr>
            <a:normAutofit/>
          </a:bodyPr>
          <a:lstStyle/>
          <a:p>
            <a:pPr algn="just"/>
            <a:r>
              <a:rPr lang="tr-TR" b="1" dirty="0">
                <a:cs typeface="Arial" panose="020B0604020202020204" pitchFamily="34" charset="0"/>
              </a:rPr>
              <a:t>Hiyerarşik Kümeleme:</a:t>
            </a:r>
          </a:p>
          <a:p>
            <a:r>
              <a:rPr lang="tr-TR" b="1" dirty="0"/>
              <a:t>Hiyerarşik kümeleme analizi iki farklı yaklaşıma sahiptir:</a:t>
            </a:r>
            <a:endParaRPr lang="tr-TR" dirty="0"/>
          </a:p>
          <a:p>
            <a:r>
              <a:rPr lang="tr-TR" dirty="0"/>
              <a:t>Aşağıdan Yukarıya (</a:t>
            </a:r>
            <a:r>
              <a:rPr lang="tr-TR" dirty="0" err="1"/>
              <a:t>Agglomerative</a:t>
            </a:r>
            <a:r>
              <a:rPr lang="tr-TR" dirty="0"/>
              <a:t>), Her veri noktası ayrı bir küme olarak başlar. Ardından, benzerlik veya uzaklık metrikleri kullanılarak en yakın iki küme birleştirilir. Bu birleştirme işlemi, benzerlik ölçütüne göre en yakın iki kümenin birleştirilmesiyle devam eder. Bu işlem, tüm veri noktaları tek bir küme haline gelene kadar tekrarlanır.</a:t>
            </a:r>
          </a:p>
          <a:p>
            <a:r>
              <a:rPr lang="tr-TR" dirty="0"/>
              <a:t>Yukarıdan Aşağıya (</a:t>
            </a:r>
            <a:r>
              <a:rPr lang="tr-TR" dirty="0" err="1"/>
              <a:t>Divisive</a:t>
            </a:r>
            <a:r>
              <a:rPr lang="tr-TR" dirty="0"/>
              <a:t>), Tüm veri noktaları tek bir küme olarak başlar. Bu küme içerisindeki benzer olmayan veri noktaları alt kümelere ayrılır. Bu ayrıştırma işlemi, veri noktaları alt kümelere ayrılmayacak kadar farklı olana kadar tekrarlanır.</a:t>
            </a:r>
          </a:p>
        </p:txBody>
      </p:sp>
      <p:pic>
        <p:nvPicPr>
          <p:cNvPr id="5" name="Resim 4">
            <a:extLst>
              <a:ext uri="{FF2B5EF4-FFF2-40B4-BE49-F238E27FC236}">
                <a16:creationId xmlns:a16="http://schemas.microsoft.com/office/drawing/2014/main" id="{C9647793-0206-44B8-6D1B-46AF9E88FC34}"/>
              </a:ext>
            </a:extLst>
          </p:cNvPr>
          <p:cNvPicPr>
            <a:picLocks noChangeAspect="1"/>
          </p:cNvPicPr>
          <p:nvPr/>
        </p:nvPicPr>
        <p:blipFill>
          <a:blip r:embed="rId2"/>
          <a:stretch>
            <a:fillRect/>
          </a:stretch>
        </p:blipFill>
        <p:spPr>
          <a:xfrm>
            <a:off x="7409825" y="2506539"/>
            <a:ext cx="4477375" cy="3124636"/>
          </a:xfrm>
          <a:prstGeom prst="rect">
            <a:avLst/>
          </a:prstGeom>
        </p:spPr>
      </p:pic>
    </p:spTree>
    <p:extLst>
      <p:ext uri="{BB962C8B-B14F-4D97-AF65-F5344CB8AC3E}">
        <p14:creationId xmlns:p14="http://schemas.microsoft.com/office/powerpoint/2010/main" val="24831913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3F6F8-A1CC-5216-CF62-D8E5015552F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8CD78BD-A4EC-82F4-8945-133F5B1A2842}"/>
              </a:ext>
            </a:extLst>
          </p:cNvPr>
          <p:cNvSpPr>
            <a:spLocks noGrp="1"/>
          </p:cNvSpPr>
          <p:nvPr>
            <p:ph type="title"/>
          </p:nvPr>
        </p:nvSpPr>
        <p:spPr/>
        <p:txBody>
          <a:bodyPr/>
          <a:lstStyle/>
          <a:p>
            <a:r>
              <a:rPr lang="tr-TR" dirty="0">
                <a:cs typeface="Arial" panose="020B0604020202020204" pitchFamily="34" charset="0"/>
              </a:rPr>
              <a:t>Denetimsiz Öğrenme Algoritmaları  - Kümeleme </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B22A90DD-34B2-8D70-A1C6-636DCB522443}"/>
              </a:ext>
            </a:extLst>
          </p:cNvPr>
          <p:cNvSpPr>
            <a:spLocks noGrp="1"/>
          </p:cNvSpPr>
          <p:nvPr>
            <p:ph idx="1"/>
          </p:nvPr>
        </p:nvSpPr>
        <p:spPr>
          <a:xfrm>
            <a:off x="555981" y="1767397"/>
            <a:ext cx="10886376" cy="1661604"/>
          </a:xfrm>
        </p:spPr>
        <p:txBody>
          <a:bodyPr>
            <a:normAutofit/>
          </a:bodyPr>
          <a:lstStyle/>
          <a:p>
            <a:pPr algn="just"/>
            <a:r>
              <a:rPr lang="tr-TR" b="1" dirty="0">
                <a:cs typeface="Arial" panose="020B0604020202020204" pitchFamily="34" charset="0"/>
              </a:rPr>
              <a:t>Hiyerarşik Kümeleme:</a:t>
            </a:r>
          </a:p>
          <a:p>
            <a:r>
              <a:rPr lang="tr-TR" dirty="0"/>
              <a:t>Küme sayısı baştan verilmek zorunda değildir</a:t>
            </a:r>
          </a:p>
          <a:p>
            <a:r>
              <a:rPr lang="tr-TR" dirty="0"/>
              <a:t>Veriler arasındaki ilişkileri görselleştirmek için uygundur</a:t>
            </a:r>
          </a:p>
          <a:p>
            <a:r>
              <a:rPr lang="tr-TR" dirty="0"/>
              <a:t>Daha küçük veri setlerinde tercih edilir</a:t>
            </a:r>
          </a:p>
        </p:txBody>
      </p:sp>
    </p:spTree>
    <p:extLst>
      <p:ext uri="{BB962C8B-B14F-4D97-AF65-F5344CB8AC3E}">
        <p14:creationId xmlns:p14="http://schemas.microsoft.com/office/powerpoint/2010/main" val="8360712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7373B-11C6-0EB6-2EEE-87D4B3ABA9A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FD8B5E6-A367-9BF2-87CB-E136A4E19F69}"/>
              </a:ext>
            </a:extLst>
          </p:cNvPr>
          <p:cNvSpPr>
            <a:spLocks noGrp="1"/>
          </p:cNvSpPr>
          <p:nvPr>
            <p:ph type="title"/>
          </p:nvPr>
        </p:nvSpPr>
        <p:spPr/>
        <p:txBody>
          <a:bodyPr/>
          <a:lstStyle/>
          <a:p>
            <a:r>
              <a:rPr lang="tr-TR" dirty="0">
                <a:cs typeface="Arial" panose="020B0604020202020204" pitchFamily="34" charset="0"/>
              </a:rPr>
              <a:t>Denetimsiz Öğrenme Algoritmaları  - </a:t>
            </a:r>
            <a:r>
              <a:rPr lang="tr-TR" dirty="0"/>
              <a:t> İlişkilendirme</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E2C9CAF0-4F86-1EE8-DAB9-6BB1B3E2B9E0}"/>
              </a:ext>
            </a:extLst>
          </p:cNvPr>
          <p:cNvSpPr>
            <a:spLocks noGrp="1"/>
          </p:cNvSpPr>
          <p:nvPr>
            <p:ph idx="1"/>
          </p:nvPr>
        </p:nvSpPr>
        <p:spPr>
          <a:xfrm>
            <a:off x="555981" y="1767396"/>
            <a:ext cx="10886376" cy="4816283"/>
          </a:xfrm>
        </p:spPr>
        <p:txBody>
          <a:bodyPr>
            <a:normAutofit/>
          </a:bodyPr>
          <a:lstStyle/>
          <a:p>
            <a:pPr algn="just"/>
            <a:r>
              <a:rPr lang="tr-TR" dirty="0">
                <a:cs typeface="Arial" panose="020B0604020202020204" pitchFamily="34" charset="0"/>
              </a:rPr>
              <a:t>İlişkilendirme algoritması, verileriniz arasındaki birlikteliği ortaya çıkarır. Bu algoritma genelde Birliktelik Kuralı Madenciliği (</a:t>
            </a:r>
            <a:r>
              <a:rPr lang="tr-TR" dirty="0" err="1">
                <a:cs typeface="Arial" panose="020B0604020202020204" pitchFamily="34" charset="0"/>
              </a:rPr>
              <a:t>Association</a:t>
            </a:r>
            <a:r>
              <a:rPr lang="tr-TR" dirty="0">
                <a:cs typeface="Arial" panose="020B0604020202020204" pitchFamily="34" charset="0"/>
              </a:rPr>
              <a:t> </a:t>
            </a:r>
            <a:r>
              <a:rPr lang="tr-TR" dirty="0" err="1">
                <a:cs typeface="Arial" panose="020B0604020202020204" pitchFamily="34" charset="0"/>
              </a:rPr>
              <a:t>Rule</a:t>
            </a:r>
            <a:r>
              <a:rPr lang="tr-TR" dirty="0">
                <a:cs typeface="Arial" panose="020B0604020202020204" pitchFamily="34" charset="0"/>
              </a:rPr>
              <a:t> </a:t>
            </a:r>
            <a:r>
              <a:rPr lang="tr-TR" dirty="0" err="1">
                <a:cs typeface="Arial" panose="020B0604020202020204" pitchFamily="34" charset="0"/>
              </a:rPr>
              <a:t>Mining</a:t>
            </a:r>
            <a:r>
              <a:rPr lang="tr-TR" dirty="0">
                <a:cs typeface="Arial" panose="020B0604020202020204" pitchFamily="34" charset="0"/>
              </a:rPr>
              <a:t>) olarak bilinir. İlişkisel </a:t>
            </a:r>
            <a:r>
              <a:rPr lang="tr-TR" dirty="0" err="1">
                <a:cs typeface="Arial" panose="020B0604020202020204" pitchFamily="34" charset="0"/>
              </a:rPr>
              <a:t>veritabanları</a:t>
            </a:r>
            <a:r>
              <a:rPr lang="tr-TR" dirty="0">
                <a:cs typeface="Arial" panose="020B0604020202020204" pitchFamily="34" charset="0"/>
              </a:rPr>
              <a:t>, işlem </a:t>
            </a:r>
            <a:r>
              <a:rPr lang="tr-TR" dirty="0" err="1">
                <a:cs typeface="Arial" panose="020B0604020202020204" pitchFamily="34" charset="0"/>
              </a:rPr>
              <a:t>veritabanları</a:t>
            </a:r>
            <a:r>
              <a:rPr lang="tr-TR" dirty="0">
                <a:cs typeface="Arial" panose="020B0604020202020204" pitchFamily="34" charset="0"/>
              </a:rPr>
              <a:t> ve diğer depo biçimleri gibi çeşitli </a:t>
            </a:r>
            <a:r>
              <a:rPr lang="tr-TR" dirty="0" err="1">
                <a:cs typeface="Arial" panose="020B0604020202020204" pitchFamily="34" charset="0"/>
              </a:rPr>
              <a:t>veritabanlarında</a:t>
            </a:r>
            <a:r>
              <a:rPr lang="tr-TR" dirty="0">
                <a:cs typeface="Arial" panose="020B0604020202020204" pitchFamily="34" charset="0"/>
              </a:rPr>
              <a:t> bulunan veri kümelerinden sık sık meydana gelen kalıpları, bağıntıları veya ilişkileri gözlemlemeyi amaçlayan bir prosedürdür.</a:t>
            </a:r>
          </a:p>
          <a:p>
            <a:pPr algn="just"/>
            <a:r>
              <a:rPr lang="tr-TR" dirty="0"/>
              <a:t>Genellikle pazar sepeti analizi (market basket </a:t>
            </a:r>
            <a:r>
              <a:rPr lang="tr-TR" dirty="0" err="1"/>
              <a:t>analysis</a:t>
            </a:r>
            <a:r>
              <a:rPr lang="tr-TR" dirty="0"/>
              <a:t>) için yani hangi ürünler birlikte satın alınır, insanların birlikte ziyaret etme eğiliminde olduğu mağazalar/siteler, ürün çeşitliliği kararları, çapraz satış gibi alanlarda kullanıldığından alışveriş siteleri, mağazalar gibi satış yapılan alanlarda sıklıkla kullanılır.</a:t>
            </a:r>
          </a:p>
          <a:p>
            <a:pPr algn="just"/>
            <a:r>
              <a:rPr lang="tr-TR" dirty="0"/>
              <a:t>Yukarıdaki örnekte olduğu gibi bir ürünü alan kullanıcıların yanında aldıkları ürünlerin diğer kullanıcılara da tavsiye edilmesi İlişkilendirme algoritmasının en yaygın kullanım alanıdır.</a:t>
            </a:r>
          </a:p>
          <a:p>
            <a:pPr algn="just"/>
            <a:endParaRPr lang="tr-TR" b="1" dirty="0">
              <a:cs typeface="Arial" panose="020B0604020202020204" pitchFamily="34" charset="0"/>
            </a:endParaRPr>
          </a:p>
        </p:txBody>
      </p:sp>
    </p:spTree>
    <p:extLst>
      <p:ext uri="{BB962C8B-B14F-4D97-AF65-F5344CB8AC3E}">
        <p14:creationId xmlns:p14="http://schemas.microsoft.com/office/powerpoint/2010/main" val="16610052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94BAE-42D5-6318-0140-4BE165CC70C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A823007-68AE-4047-7805-4A19C32DB7D1}"/>
              </a:ext>
            </a:extLst>
          </p:cNvPr>
          <p:cNvSpPr>
            <a:spLocks noGrp="1"/>
          </p:cNvSpPr>
          <p:nvPr>
            <p:ph type="title"/>
          </p:nvPr>
        </p:nvSpPr>
        <p:spPr/>
        <p:txBody>
          <a:bodyPr/>
          <a:lstStyle/>
          <a:p>
            <a:r>
              <a:rPr lang="tr-TR" dirty="0">
                <a:cs typeface="Arial" panose="020B0604020202020204" pitchFamily="34" charset="0"/>
              </a:rPr>
              <a:t>Denetimsiz Öğrenme Algoritmaları  - </a:t>
            </a:r>
            <a:r>
              <a:rPr lang="tr-TR" dirty="0"/>
              <a:t> İlişkilendirme</a:t>
            </a:r>
            <a:endParaRPr lang="en-US" dirty="0">
              <a:latin typeface="+mn-lt"/>
              <a:cs typeface="Arial" panose="020B0604020202020204" pitchFamily="34" charset="0"/>
            </a:endParaRPr>
          </a:p>
        </p:txBody>
      </p:sp>
      <p:sp>
        <p:nvSpPr>
          <p:cNvPr id="3" name="İçerik Yer Tutucusu 2">
            <a:extLst>
              <a:ext uri="{FF2B5EF4-FFF2-40B4-BE49-F238E27FC236}">
                <a16:creationId xmlns:a16="http://schemas.microsoft.com/office/drawing/2014/main" id="{27BCA51F-07FE-7F8E-C358-D6F24FE7C64D}"/>
              </a:ext>
            </a:extLst>
          </p:cNvPr>
          <p:cNvSpPr>
            <a:spLocks noGrp="1"/>
          </p:cNvSpPr>
          <p:nvPr>
            <p:ph idx="1"/>
          </p:nvPr>
        </p:nvSpPr>
        <p:spPr>
          <a:xfrm>
            <a:off x="555981" y="1767396"/>
            <a:ext cx="10886376" cy="4816283"/>
          </a:xfrm>
        </p:spPr>
        <p:txBody>
          <a:bodyPr>
            <a:normAutofit/>
          </a:bodyPr>
          <a:lstStyle/>
          <a:p>
            <a:r>
              <a:rPr lang="tr-TR" b="1" dirty="0"/>
              <a:t>Apriori algoritması:  </a:t>
            </a:r>
            <a:r>
              <a:rPr lang="tr-TR" dirty="0"/>
              <a:t>Birliktelik kuralları oluşturmak için kullanılan en eski algoritmalardan biri olan Apriori Algoritması, öğeler arasındaki bağımlılığı hesaplamaya dayanır. Kısacası “tüketiciler hangi ürünleri birlikte alıyor ” sorusunun cevabını vermeye çalışmaktadır. </a:t>
            </a:r>
            <a:r>
              <a:rPr lang="tr-TR" dirty="0" err="1"/>
              <a:t>Priori</a:t>
            </a:r>
            <a:r>
              <a:rPr lang="tr-TR" dirty="0"/>
              <a:t> kelimesi önce anlamına gelmektedir ve kendinden önceki ürünlerin durumuna göre sonuçlar çıkarır ve bu sonuçları başka bir tüketici aynı ürünü aldığında ona tavsiye edilecek ürünleri gösterir.</a:t>
            </a:r>
          </a:p>
          <a:p>
            <a:r>
              <a:rPr lang="tr-TR" dirty="0"/>
              <a:t>Diyelim ki bir e-ticaret sayfanız var ve oradan çeşitli ürünler satmaktasınız. Bir müşteri sepetine filtre kahve eklediğinde Apriori algoritması o müşteriye çeşitli kahve kupaları tavsiye edecektir. Böylece satışlarınız artarken karınız da artacaktır.</a:t>
            </a:r>
          </a:p>
          <a:p>
            <a:pPr algn="just"/>
            <a:endParaRPr lang="tr-TR" b="1" dirty="0">
              <a:cs typeface="Arial" panose="020B0604020202020204" pitchFamily="34" charset="0"/>
            </a:endParaRPr>
          </a:p>
        </p:txBody>
      </p:sp>
    </p:spTree>
    <p:extLst>
      <p:ext uri="{BB962C8B-B14F-4D97-AF65-F5344CB8AC3E}">
        <p14:creationId xmlns:p14="http://schemas.microsoft.com/office/powerpoint/2010/main" val="2067897423"/>
      </p:ext>
    </p:extLst>
  </p:cSld>
  <p:clrMapOvr>
    <a:masterClrMapping/>
  </p:clrMapOvr>
</p:sld>
</file>

<file path=ppt/theme/theme1.xml><?xml version="1.0" encoding="utf-8"?>
<a:theme xmlns:a="http://schemas.openxmlformats.org/drawingml/2006/main" name="Tema1">
  <a:themeElements>
    <a:clrScheme name="Özel 4">
      <a:dk1>
        <a:sysClr val="windowText" lastClr="000000"/>
      </a:dk1>
      <a:lt1>
        <a:sysClr val="window" lastClr="FFFFFF"/>
      </a:lt1>
      <a:dk2>
        <a:srgbClr val="505046"/>
      </a:dk2>
      <a:lt2>
        <a:srgbClr val="EEECE1"/>
      </a:lt2>
      <a:accent1>
        <a:srgbClr val="FF0000"/>
      </a:accent1>
      <a:accent2>
        <a:srgbClr val="DDDDD8"/>
      </a:accent2>
      <a:accent3>
        <a:srgbClr val="C00000"/>
      </a:accent3>
      <a:accent4>
        <a:srgbClr val="BFBFBF"/>
      </a:accent4>
      <a:accent5>
        <a:srgbClr val="A5A5A5"/>
      </a:accent5>
      <a:accent6>
        <a:srgbClr val="C00000"/>
      </a:accent6>
      <a:hlink>
        <a:srgbClr val="F2F2F2"/>
      </a:hlink>
      <a:folHlink>
        <a:srgbClr val="FFFF00"/>
      </a:folHlink>
    </a:clrScheme>
    <a:fontScheme name="Özel 3">
      <a:majorFont>
        <a:latin typeface="Calibri"/>
        <a:ea typeface=""/>
        <a:cs typeface=""/>
      </a:majorFont>
      <a:minorFont>
        <a:latin typeface="Calibri Light"/>
        <a:ea typeface=""/>
        <a:cs typeface=""/>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spDef>
      <a:spPr>
        <a:solidFill>
          <a:schemeClr val="accent1"/>
        </a:solidFill>
        <a:ln>
          <a:noFill/>
        </a:ln>
        <a:effectLst>
          <a:outerShdw blurRad="50800" dist="38100" dir="5400000" algn="t" rotWithShape="0">
            <a:prstClr val="black">
              <a:alpha val="40000"/>
            </a:prstClr>
          </a:outerShdw>
        </a:effectLst>
      </a:spPr>
      <a:body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ema1" id="{56656CFC-96D9-4161-87A6-42153A226C3A}" vid="{115BE652-9AB5-4D5F-9FAF-1E735429021C}"/>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Tema1</Template>
  <TotalTime>1164</TotalTime>
  <Words>2950</Words>
  <Application>Microsoft Office PowerPoint</Application>
  <PresentationFormat>Geniş ekran</PresentationFormat>
  <Paragraphs>250</Paragraphs>
  <Slides>55</Slides>
  <Notes>4</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55</vt:i4>
      </vt:variant>
    </vt:vector>
  </HeadingPairs>
  <TitlesOfParts>
    <vt:vector size="61" baseType="lpstr">
      <vt:lpstr>Arial</vt:lpstr>
      <vt:lpstr>Calibri</vt:lpstr>
      <vt:lpstr>Calibri Light</vt:lpstr>
      <vt:lpstr>Google Sans</vt:lpstr>
      <vt:lpstr>Wingdings 3</vt:lpstr>
      <vt:lpstr>Tema1</vt:lpstr>
      <vt:lpstr>RYZ108 MAKİNE ÖĞRENMESİ</vt:lpstr>
      <vt:lpstr>Makine Öğrenmesi Nedir?</vt:lpstr>
      <vt:lpstr>PowerPoint Sunusu</vt:lpstr>
      <vt:lpstr>Makine Öğrenmesi Terimleri</vt:lpstr>
      <vt:lpstr>Makine Öğrenmesi Terimleri</vt:lpstr>
      <vt:lpstr>Bir Sınıflandırma Örneği</vt:lpstr>
      <vt:lpstr>Sınıflandırma Örneği</vt:lpstr>
      <vt:lpstr>Sınıflandırma Örneği</vt:lpstr>
      <vt:lpstr>Makine Öğrenmesi Performans Metrikleri</vt:lpstr>
      <vt:lpstr>Makine Öğrenmesi Performans Metrikleri</vt:lpstr>
      <vt:lpstr>Makine Öğrenmesi Performans Metrikleri</vt:lpstr>
      <vt:lpstr>Makine Öğrenmesi Performans Metrikleri</vt:lpstr>
      <vt:lpstr>Makine Öğrenmesi Performans Metrikleri</vt:lpstr>
      <vt:lpstr>Makine Öğrenmesi Performans Metrikleri</vt:lpstr>
      <vt:lpstr>Makine Öğrenmesi Performans Metrikleri</vt:lpstr>
      <vt:lpstr>Makine Öğrenmesi Performans Metrikleri</vt:lpstr>
      <vt:lpstr>Makine Öğrenmesi Performans Metrikleri</vt:lpstr>
      <vt:lpstr>Makine Öğrenmesi Performans Metrikleri</vt:lpstr>
      <vt:lpstr>Makine Öğrenmesi Terimleri</vt:lpstr>
      <vt:lpstr>Makine Öğrenmesi Performans Metrikleri</vt:lpstr>
      <vt:lpstr>Makine Öğrenmesi Performans Metrikleri</vt:lpstr>
      <vt:lpstr>Makine Öğrenmesi Performans Metrikleri</vt:lpstr>
      <vt:lpstr>Makine Öğrenmesi Performans Metrikleri</vt:lpstr>
      <vt:lpstr>Makine Öğrenmesi Terimleri</vt:lpstr>
      <vt:lpstr>Makine Öğrenmesi Terimleri</vt:lpstr>
      <vt:lpstr>Makine Öğrenmesi Terimleri</vt:lpstr>
      <vt:lpstr>Makine Öğrenmesi Performans Metrikleri</vt:lpstr>
      <vt:lpstr>Makine Öğrenmesi Terimleri</vt:lpstr>
      <vt:lpstr>Makine Öğrenmesi Terimleri</vt:lpstr>
      <vt:lpstr>Makine Öğrenmesi Terimleri</vt:lpstr>
      <vt:lpstr>Makine Öğrenmesi Terimleri</vt:lpstr>
      <vt:lpstr>Veri Keşfi ve Analizi (Exploratory Data Analysis - EDA)</vt:lpstr>
      <vt:lpstr>Veri Keşfi ve Analizi (Exploratory Data Analysis - EDA)</vt:lpstr>
      <vt:lpstr>Veri Keşfi ve Analizi (Exploratory Data Analysis - EDA)</vt:lpstr>
      <vt:lpstr>Veri Keşfi ve Analizi (Exploratory Data Analysis - EDA)</vt:lpstr>
      <vt:lpstr>Makine Öğrenmesi Terimleri</vt:lpstr>
      <vt:lpstr>Çapraz Geçerlik (Cross Validation)</vt:lpstr>
      <vt:lpstr>K Parçalı (K-fold) Çapraz Doğrulama</vt:lpstr>
      <vt:lpstr>Denetimli Öğrenme Algoritmaları - Regresyon</vt:lpstr>
      <vt:lpstr>Denetimli Öğrenme Algoritmaları - Regresyon</vt:lpstr>
      <vt:lpstr>Denetimli Öğrenme Algoritmaları - Regresyon</vt:lpstr>
      <vt:lpstr>Denetimli Öğrenme Algoritmaları - Sınıflandırma</vt:lpstr>
      <vt:lpstr>Denetimli Öğrenme Algoritmaları - Sınıflandırma</vt:lpstr>
      <vt:lpstr>Denetimsiz Öğrenme Algoritmaları  - Kümeleme </vt:lpstr>
      <vt:lpstr>Denetimsiz Öğrenme Algoritmaları  - Kümeleme </vt:lpstr>
      <vt:lpstr>Denetimsiz Öğrenme Algoritmaları  - Kümeleme </vt:lpstr>
      <vt:lpstr>Denetimsiz Öğrenme Algoritmaları  - Kümeleme </vt:lpstr>
      <vt:lpstr>Denetimsiz Öğrenme Algoritmaları  - Kümeleme </vt:lpstr>
      <vt:lpstr>Denetimsiz Öğrenme Algoritmaları  - Kümeleme </vt:lpstr>
      <vt:lpstr>Denetimsiz Öğrenme Algoritmaları  - Kümeleme </vt:lpstr>
      <vt:lpstr>Denetimsiz Öğrenme Algoritmaları </vt:lpstr>
      <vt:lpstr>Denetimsiz Öğrenme Algoritmaları  - Kümeleme </vt:lpstr>
      <vt:lpstr>Denetimsiz Öğrenme Algoritmaları  - Kümeleme </vt:lpstr>
      <vt:lpstr>Denetimsiz Öğrenme Algoritmaları  -  İlişkilendirme</vt:lpstr>
      <vt:lpstr>Denetimsiz Öğrenme Algoritmaları  -  İlişkilendirme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HP</dc:creator>
  <cp:lastModifiedBy>MELİKE ÖZMEN ARSLAN</cp:lastModifiedBy>
  <cp:revision>13</cp:revision>
  <dcterms:created xsi:type="dcterms:W3CDTF">2023-10-18T12:37:13Z</dcterms:created>
  <dcterms:modified xsi:type="dcterms:W3CDTF">2026-05-27T21:59:05Z</dcterms:modified>
</cp:coreProperties>
</file>