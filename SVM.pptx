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30"/>
  </p:notesMasterIdLst>
  <p:sldIdLst>
    <p:sldId id="293" r:id="rId2"/>
    <p:sldId id="257" r:id="rId3"/>
    <p:sldId id="273" r:id="rId4"/>
    <p:sldId id="306" r:id="rId5"/>
    <p:sldId id="304" r:id="rId6"/>
    <p:sldId id="285" r:id="rId7"/>
    <p:sldId id="294" r:id="rId8"/>
    <p:sldId id="307" r:id="rId9"/>
    <p:sldId id="295" r:id="rId10"/>
    <p:sldId id="286" r:id="rId11"/>
    <p:sldId id="288" r:id="rId12"/>
    <p:sldId id="309" r:id="rId13"/>
    <p:sldId id="310" r:id="rId14"/>
    <p:sldId id="301" r:id="rId15"/>
    <p:sldId id="311" r:id="rId16"/>
    <p:sldId id="302" r:id="rId17"/>
    <p:sldId id="312" r:id="rId18"/>
    <p:sldId id="278" r:id="rId19"/>
    <p:sldId id="297" r:id="rId20"/>
    <p:sldId id="280" r:id="rId21"/>
    <p:sldId id="281" r:id="rId22"/>
    <p:sldId id="298" r:id="rId23"/>
    <p:sldId id="282" r:id="rId24"/>
    <p:sldId id="299" r:id="rId25"/>
    <p:sldId id="258" r:id="rId26"/>
    <p:sldId id="270" r:id="rId27"/>
    <p:sldId id="276" r:id="rId28"/>
    <p:sldId id="27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ema Uygulanmış Stil 1 - Vurgu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2437" autoAdjust="0"/>
  </p:normalViewPr>
  <p:slideViewPr>
    <p:cSldViewPr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230EE8-BC08-4138-B53B-E3751362D73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1FEC40-AF6F-4BAB-8C6A-A70D34307272}">
      <dgm:prSet phldrT="[Metin]"/>
      <dgm:spPr/>
      <dgm:t>
        <a:bodyPr/>
        <a:lstStyle/>
        <a:p>
          <a:r>
            <a:rPr lang="tr-TR" dirty="0" err="1"/>
            <a:t>Hiperdüzlem</a:t>
          </a:r>
          <a:endParaRPr lang="en-US" dirty="0"/>
        </a:p>
      </dgm:t>
    </dgm:pt>
    <dgm:pt modelId="{A109A243-F841-4B96-BF5F-1778E63257D4}" type="parTrans" cxnId="{9F2F47FB-1BA6-4261-821E-1868024BABC7}">
      <dgm:prSet/>
      <dgm:spPr/>
      <dgm:t>
        <a:bodyPr/>
        <a:lstStyle/>
        <a:p>
          <a:endParaRPr lang="en-US"/>
        </a:p>
      </dgm:t>
    </dgm:pt>
    <dgm:pt modelId="{7ECC4B26-15F4-48CF-BE3E-210349C7DE2C}" type="sibTrans" cxnId="{9F2F47FB-1BA6-4261-821E-1868024BABC7}">
      <dgm:prSet/>
      <dgm:spPr/>
      <dgm:t>
        <a:bodyPr/>
        <a:lstStyle/>
        <a:p>
          <a:endParaRPr lang="en-US"/>
        </a:p>
      </dgm:t>
    </dgm:pt>
    <dgm:pt modelId="{FCB156BE-8183-4B74-B747-0EE979908390}">
      <dgm:prSet phldrT="[Metin]"/>
      <dgm:spPr/>
      <dgm:t>
        <a:bodyPr/>
        <a:lstStyle/>
        <a:p>
          <a:r>
            <a:rPr lang="tr-TR" dirty="0"/>
            <a:t>Marjin</a:t>
          </a:r>
          <a:endParaRPr lang="en-US" dirty="0"/>
        </a:p>
      </dgm:t>
    </dgm:pt>
    <dgm:pt modelId="{B3DE9B82-AABA-4D1C-B5AF-0F7940AAFADF}" type="parTrans" cxnId="{A43936F8-C0D3-4289-8C6B-60785C7B0B9D}">
      <dgm:prSet/>
      <dgm:spPr/>
      <dgm:t>
        <a:bodyPr/>
        <a:lstStyle/>
        <a:p>
          <a:endParaRPr lang="en-US"/>
        </a:p>
      </dgm:t>
    </dgm:pt>
    <dgm:pt modelId="{675BF1AB-33A5-465D-B7E5-8A39D5398B46}" type="sibTrans" cxnId="{A43936F8-C0D3-4289-8C6B-60785C7B0B9D}">
      <dgm:prSet/>
      <dgm:spPr/>
      <dgm:t>
        <a:bodyPr/>
        <a:lstStyle/>
        <a:p>
          <a:endParaRPr lang="en-US"/>
        </a:p>
      </dgm:t>
    </dgm:pt>
    <dgm:pt modelId="{F03C0A01-08B0-4E59-9AD5-B2B1C65314AD}">
      <dgm:prSet phldrT="[Metin]"/>
      <dgm:spPr/>
      <dgm:t>
        <a:bodyPr/>
        <a:lstStyle/>
        <a:p>
          <a:r>
            <a:rPr lang="tr-TR" dirty="0"/>
            <a:t>Destek Vektörleri</a:t>
          </a:r>
          <a:endParaRPr lang="en-US" dirty="0"/>
        </a:p>
      </dgm:t>
    </dgm:pt>
    <dgm:pt modelId="{895B7BFD-4967-4CBE-8662-86F3FE87DD3B}" type="parTrans" cxnId="{0B7C47E6-E9BD-4591-AA09-17482CFE3ED6}">
      <dgm:prSet/>
      <dgm:spPr/>
      <dgm:t>
        <a:bodyPr/>
        <a:lstStyle/>
        <a:p>
          <a:endParaRPr lang="en-US"/>
        </a:p>
      </dgm:t>
    </dgm:pt>
    <dgm:pt modelId="{1E75FC0C-8EAA-40CC-ABE2-FC6F4CC2A282}" type="sibTrans" cxnId="{0B7C47E6-E9BD-4591-AA09-17482CFE3ED6}">
      <dgm:prSet/>
      <dgm:spPr/>
      <dgm:t>
        <a:bodyPr/>
        <a:lstStyle/>
        <a:p>
          <a:endParaRPr lang="en-US"/>
        </a:p>
      </dgm:t>
    </dgm:pt>
    <dgm:pt modelId="{AE3A2A24-8775-4A59-84C3-091B7B057032}" type="pres">
      <dgm:prSet presAssocID="{3E230EE8-BC08-4138-B53B-E3751362D73D}" presName="diagram" presStyleCnt="0">
        <dgm:presLayoutVars>
          <dgm:dir/>
          <dgm:resizeHandles val="exact"/>
        </dgm:presLayoutVars>
      </dgm:prSet>
      <dgm:spPr/>
    </dgm:pt>
    <dgm:pt modelId="{299DE1DE-325F-4A43-857F-E4F5248D57F0}" type="pres">
      <dgm:prSet presAssocID="{CA1FEC40-AF6F-4BAB-8C6A-A70D34307272}" presName="node" presStyleLbl="node1" presStyleIdx="0" presStyleCnt="3">
        <dgm:presLayoutVars>
          <dgm:bulletEnabled val="1"/>
        </dgm:presLayoutVars>
      </dgm:prSet>
      <dgm:spPr/>
    </dgm:pt>
    <dgm:pt modelId="{60459423-AF5D-4A92-95A8-B3FC45546E38}" type="pres">
      <dgm:prSet presAssocID="{7ECC4B26-15F4-48CF-BE3E-210349C7DE2C}" presName="sibTrans" presStyleCnt="0"/>
      <dgm:spPr/>
    </dgm:pt>
    <dgm:pt modelId="{ED8E2BF4-5D99-4DD9-BD6D-37DF193F6B69}" type="pres">
      <dgm:prSet presAssocID="{FCB156BE-8183-4B74-B747-0EE979908390}" presName="node" presStyleLbl="node1" presStyleIdx="1" presStyleCnt="3">
        <dgm:presLayoutVars>
          <dgm:bulletEnabled val="1"/>
        </dgm:presLayoutVars>
      </dgm:prSet>
      <dgm:spPr/>
    </dgm:pt>
    <dgm:pt modelId="{D73AD1BB-2748-4FE3-B091-AAFF18EFC46A}" type="pres">
      <dgm:prSet presAssocID="{675BF1AB-33A5-465D-B7E5-8A39D5398B46}" presName="sibTrans" presStyleCnt="0"/>
      <dgm:spPr/>
    </dgm:pt>
    <dgm:pt modelId="{B16F7578-D5B5-4479-984C-EAC2612D0268}" type="pres">
      <dgm:prSet presAssocID="{F03C0A01-08B0-4E59-9AD5-B2B1C65314AD}" presName="node" presStyleLbl="node1" presStyleIdx="2" presStyleCnt="3">
        <dgm:presLayoutVars>
          <dgm:bulletEnabled val="1"/>
        </dgm:presLayoutVars>
      </dgm:prSet>
      <dgm:spPr/>
    </dgm:pt>
  </dgm:ptLst>
  <dgm:cxnLst>
    <dgm:cxn modelId="{ADA38184-D7EB-4502-B443-D610F737C819}" type="presOf" srcId="{3E230EE8-BC08-4138-B53B-E3751362D73D}" destId="{AE3A2A24-8775-4A59-84C3-091B7B057032}" srcOrd="0" destOrd="0" presId="urn:microsoft.com/office/officeart/2005/8/layout/default"/>
    <dgm:cxn modelId="{397855C1-5779-4B8C-A74B-D66BDCF370F9}" type="presOf" srcId="{CA1FEC40-AF6F-4BAB-8C6A-A70D34307272}" destId="{299DE1DE-325F-4A43-857F-E4F5248D57F0}" srcOrd="0" destOrd="0" presId="urn:microsoft.com/office/officeart/2005/8/layout/default"/>
    <dgm:cxn modelId="{0ED989D2-B3CA-4B24-898D-230896A47A14}" type="presOf" srcId="{FCB156BE-8183-4B74-B747-0EE979908390}" destId="{ED8E2BF4-5D99-4DD9-BD6D-37DF193F6B69}" srcOrd="0" destOrd="0" presId="urn:microsoft.com/office/officeart/2005/8/layout/default"/>
    <dgm:cxn modelId="{78A792DF-D68A-451D-961D-73B01862AE21}" type="presOf" srcId="{F03C0A01-08B0-4E59-9AD5-B2B1C65314AD}" destId="{B16F7578-D5B5-4479-984C-EAC2612D0268}" srcOrd="0" destOrd="0" presId="urn:microsoft.com/office/officeart/2005/8/layout/default"/>
    <dgm:cxn modelId="{0B7C47E6-E9BD-4591-AA09-17482CFE3ED6}" srcId="{3E230EE8-BC08-4138-B53B-E3751362D73D}" destId="{F03C0A01-08B0-4E59-9AD5-B2B1C65314AD}" srcOrd="2" destOrd="0" parTransId="{895B7BFD-4967-4CBE-8662-86F3FE87DD3B}" sibTransId="{1E75FC0C-8EAA-40CC-ABE2-FC6F4CC2A282}"/>
    <dgm:cxn modelId="{A43936F8-C0D3-4289-8C6B-60785C7B0B9D}" srcId="{3E230EE8-BC08-4138-B53B-E3751362D73D}" destId="{FCB156BE-8183-4B74-B747-0EE979908390}" srcOrd="1" destOrd="0" parTransId="{B3DE9B82-AABA-4D1C-B5AF-0F7940AAFADF}" sibTransId="{675BF1AB-33A5-465D-B7E5-8A39D5398B46}"/>
    <dgm:cxn modelId="{9F2F47FB-1BA6-4261-821E-1868024BABC7}" srcId="{3E230EE8-BC08-4138-B53B-E3751362D73D}" destId="{CA1FEC40-AF6F-4BAB-8C6A-A70D34307272}" srcOrd="0" destOrd="0" parTransId="{A109A243-F841-4B96-BF5F-1778E63257D4}" sibTransId="{7ECC4B26-15F4-48CF-BE3E-210349C7DE2C}"/>
    <dgm:cxn modelId="{C4C722C8-2CAD-457E-BA69-C96EA85BAF3F}" type="presParOf" srcId="{AE3A2A24-8775-4A59-84C3-091B7B057032}" destId="{299DE1DE-325F-4A43-857F-E4F5248D57F0}" srcOrd="0" destOrd="0" presId="urn:microsoft.com/office/officeart/2005/8/layout/default"/>
    <dgm:cxn modelId="{5FF27679-57D4-4DAA-B43D-F77E2EFCA0C9}" type="presParOf" srcId="{AE3A2A24-8775-4A59-84C3-091B7B057032}" destId="{60459423-AF5D-4A92-95A8-B3FC45546E38}" srcOrd="1" destOrd="0" presId="urn:microsoft.com/office/officeart/2005/8/layout/default"/>
    <dgm:cxn modelId="{9E7FE0FF-A8BB-4857-9AD8-B9E6D80FCD3B}" type="presParOf" srcId="{AE3A2A24-8775-4A59-84C3-091B7B057032}" destId="{ED8E2BF4-5D99-4DD9-BD6D-37DF193F6B69}" srcOrd="2" destOrd="0" presId="urn:microsoft.com/office/officeart/2005/8/layout/default"/>
    <dgm:cxn modelId="{DE0E2D40-2945-4038-B822-6504ADF9879A}" type="presParOf" srcId="{AE3A2A24-8775-4A59-84C3-091B7B057032}" destId="{D73AD1BB-2748-4FE3-B091-AAFF18EFC46A}" srcOrd="3" destOrd="0" presId="urn:microsoft.com/office/officeart/2005/8/layout/default"/>
    <dgm:cxn modelId="{5469978E-FF6F-4D41-88C5-9AAFAA833E55}" type="presParOf" srcId="{AE3A2A24-8775-4A59-84C3-091B7B057032}" destId="{B16F7578-D5B5-4479-984C-EAC2612D026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9DE1DE-325F-4A43-857F-E4F5248D57F0}">
      <dsp:nvSpPr>
        <dsp:cNvPr id="0" name=""/>
        <dsp:cNvSpPr/>
      </dsp:nvSpPr>
      <dsp:spPr>
        <a:xfrm>
          <a:off x="39832" y="391"/>
          <a:ext cx="2985118" cy="17910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 dirty="0" err="1"/>
            <a:t>Hiperdüzlem</a:t>
          </a:r>
          <a:endParaRPr lang="en-US" sz="3700" kern="1200" dirty="0"/>
        </a:p>
      </dsp:txBody>
      <dsp:txXfrm>
        <a:off x="39832" y="391"/>
        <a:ext cx="2985118" cy="1791070"/>
      </dsp:txXfrm>
    </dsp:sp>
    <dsp:sp modelId="{ED8E2BF4-5D99-4DD9-BD6D-37DF193F6B69}">
      <dsp:nvSpPr>
        <dsp:cNvPr id="0" name=""/>
        <dsp:cNvSpPr/>
      </dsp:nvSpPr>
      <dsp:spPr>
        <a:xfrm>
          <a:off x="3323462" y="391"/>
          <a:ext cx="2985118" cy="17910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 dirty="0"/>
            <a:t>Marjin</a:t>
          </a:r>
          <a:endParaRPr lang="en-US" sz="3700" kern="1200" dirty="0"/>
        </a:p>
      </dsp:txBody>
      <dsp:txXfrm>
        <a:off x="3323462" y="391"/>
        <a:ext cx="2985118" cy="1791070"/>
      </dsp:txXfrm>
    </dsp:sp>
    <dsp:sp modelId="{B16F7578-D5B5-4479-984C-EAC2612D0268}">
      <dsp:nvSpPr>
        <dsp:cNvPr id="0" name=""/>
        <dsp:cNvSpPr/>
      </dsp:nvSpPr>
      <dsp:spPr>
        <a:xfrm>
          <a:off x="1681647" y="2089974"/>
          <a:ext cx="2985118" cy="17910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700" kern="1200" dirty="0"/>
            <a:t>Destek Vektörleri</a:t>
          </a:r>
          <a:endParaRPr lang="en-US" sz="3700" kern="1200" dirty="0"/>
        </a:p>
      </dsp:txBody>
      <dsp:txXfrm>
        <a:off x="1681647" y="2089974"/>
        <a:ext cx="2985118" cy="17910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885EC-5A8C-4DF6-ACE8-E88E953D1A43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3B87FA-EA7C-437A-8AFF-2F0B3E06FED4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Modern problems are high-dimensional, and if the underlying mapping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very smooth the linear paradigm needs an exponentially increasing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 of terms with an increasing dimensionality of the input space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(an increasing number of independent variables). </a:t>
            </a:r>
            <a:endParaRPr lang="tr-TR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tr-TR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The underlying real-life data generation laws may typically be very far from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normal distribution and a model-builder must consider this difference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order to construct an effective learning algorithm.</a:t>
            </a:r>
            <a:endParaRPr lang="tr-TR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From the first two points it follows that the maximum likelihood estimator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(and consequently the sum-of-error-squares cost function) should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replaced by a new induction paradigm that is uniformly better, in order to</a:t>
            </a:r>
          </a:p>
          <a:p>
            <a:r>
              <a:rPr lang="tr-T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 </a:t>
            </a:r>
            <a:r>
              <a:rPr lang="tr-T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</a:t>
            </a:r>
            <a:r>
              <a:rPr lang="tr-T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tr-T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Gaussian</a:t>
            </a:r>
            <a:r>
              <a:rPr lang="tr-T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distributions</a:t>
            </a:r>
            <a:r>
              <a:rPr lang="tr-T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tr-TR" dirty="0"/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B87FA-EA7C-437A-8AFF-2F0B3E06FED4}" type="slidenum">
              <a:rPr lang="tr-TR" smtClean="0"/>
              <a:pPr/>
              <a:t>25</a:t>
            </a:fld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B87FA-EA7C-437A-8AFF-2F0B3E06FED4}" type="slidenum">
              <a:rPr lang="tr-TR" smtClean="0"/>
              <a:pPr/>
              <a:t>26</a:t>
            </a:fld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133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350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7956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526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2745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5317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181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2581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2196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6518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2164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3409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4832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9696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8409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570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53A17-19AD-4B1B-B5E0-9914C2BD1E3C}" type="datetimeFigureOut">
              <a:rPr lang="tr-TR" smtClean="0"/>
              <a:pPr/>
              <a:t>28.05.2026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D3A2631-BE75-43BC-91EB-0AAFE106B42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3443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9A23E62-60BC-CCE5-1A0B-312D331B57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Makine Öğrenmesi</a:t>
            </a:r>
            <a:endParaRPr lang="en-US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51A973E-2BCB-7A25-2935-B610A95C3A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Destek Vektör Makinaları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367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400" spc="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SVM Nedir ?</a:t>
            </a: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>
          <a:xfrm>
            <a:off x="395536" y="1930400"/>
            <a:ext cx="7240057" cy="3777622"/>
          </a:xfrm>
        </p:spPr>
        <p:txBody>
          <a:bodyPr>
            <a:noAutofit/>
          </a:bodyPr>
          <a:lstStyle/>
          <a:p>
            <a:pPr algn="just">
              <a:buClr>
                <a:schemeClr val="accent1"/>
              </a:buClr>
              <a:buFont typeface="Wingdings" pitchFamily="2" charset="2"/>
              <a:buChar char="Ø"/>
            </a:pP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Algoritma Vladimir </a:t>
            </a:r>
            <a:r>
              <a:rPr lang="tr-TR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Vapnik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tarafından geliştirilmiştir  ve şu anki standart halini </a:t>
            </a:r>
            <a:r>
              <a:rPr lang="pt-B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Corinna Cortes 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 </a:t>
            </a:r>
            <a:r>
              <a:rPr lang="pt-B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Vladimir Vapnik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’in geliştirmesiyle almıştır. </a:t>
            </a:r>
          </a:p>
          <a:p>
            <a:pPr algn="just">
              <a:buClr>
                <a:schemeClr val="accent1"/>
              </a:buClr>
              <a:buFont typeface="Wingdings" pitchFamily="2" charset="2"/>
              <a:buChar char="Ø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Verileri analiz eden, modelleri, örüntüleri tanıyan, sınıflama ve regresyon analiz işlemlerinde kullanılan </a:t>
            </a:r>
            <a:r>
              <a:rPr lang="tr-TR" b="1" u="sng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denetimli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öğrenme yöntemleridir.</a:t>
            </a:r>
          </a:p>
          <a:p>
            <a:pPr algn="just">
              <a:buClr>
                <a:schemeClr val="accent1"/>
              </a:buClr>
              <a:buFont typeface="Wingdings" pitchFamily="2" charset="2"/>
              <a:buChar char="Ø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Eğitim verilerini kullanarak, giriş ile çıkış arasında haritalama fonksiyonu üretir. </a:t>
            </a:r>
          </a:p>
          <a:p>
            <a:pPr lvl="6">
              <a:buClr>
                <a:schemeClr val="accent1"/>
              </a:buClr>
              <a:buFont typeface="Wingdings" pitchFamily="2" charset="2"/>
              <a:buChar char="v"/>
            </a:pPr>
            <a:r>
              <a:rPr lang="tr-TR" sz="18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Sınıflama</a:t>
            </a:r>
          </a:p>
          <a:p>
            <a:pPr lvl="6">
              <a:buClr>
                <a:schemeClr val="accent1"/>
              </a:buClr>
              <a:buFont typeface="Wingdings" pitchFamily="2" charset="2"/>
              <a:buChar char="v"/>
            </a:pPr>
            <a:r>
              <a:rPr lang="tr-TR" sz="18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Regresyon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İçerik Yer Tutucusu"/>
          <p:cNvSpPr>
            <a:spLocks noGrp="1"/>
          </p:cNvSpPr>
          <p:nvPr>
            <p:ph idx="1"/>
          </p:nvPr>
        </p:nvSpPr>
        <p:spPr>
          <a:xfrm>
            <a:off x="395536" y="620688"/>
            <a:ext cx="7384073" cy="4608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SVM,</a:t>
            </a:r>
          </a:p>
          <a:p>
            <a:pPr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sınıflama problemlerini çözen,</a:t>
            </a:r>
          </a:p>
          <a:p>
            <a:pPr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sınıf sınırlarının daha esnek gösterimini kullanan,</a:t>
            </a:r>
          </a:p>
          <a:p>
            <a:pPr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otomatik karmaşıklık kontrolü kullanan,</a:t>
            </a:r>
          </a:p>
          <a:p>
            <a:pPr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polinominal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sürede bulunabilen </a:t>
            </a:r>
            <a:r>
              <a:rPr lang="tr-TR" u="sng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bir </a:t>
            </a:r>
            <a:r>
              <a:rPr lang="tr-TR" u="sng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minimuma sahip olan makine öğrenmesi algoritmasıdır.</a:t>
            </a:r>
          </a:p>
          <a:p>
            <a:pPr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Kullanımı kolaydır,</a:t>
            </a:r>
          </a:p>
          <a:p>
            <a:pPr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Genelleme performansı iyidir,</a:t>
            </a:r>
          </a:p>
          <a:p>
            <a:pPr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çok küçük değişikliklerle aynı algoritma kullanılarak birçok problem çözülebilir. 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597A50C-3616-DBE2-2346-53C687FC3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4149080"/>
            <a:ext cx="3384376" cy="27141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47604B-6104-C96A-454D-907A64D8D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SVM AMAÇ?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F61776-7EAE-BD4D-A14C-882BA5685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929656"/>
            <a:ext cx="7488832" cy="4523680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Veriyi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iyi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şekilde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nasıl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ayırırız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tr-T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Hedef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İki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sınıfı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güvenli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mesafeyle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ayırmak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tr-T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temel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olarak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ikili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sınıflar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içindir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ama:</a:t>
            </a:r>
            <a:endParaRPr lang="tr-T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One-vs-Rest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OvR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tr-T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One-vs-One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OvO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stratejileriyle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çoklu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sınıflar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desteklenir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4792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633B9D-63BA-BEFE-9507-5BF125887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400" b="1" dirty="0">
                <a:latin typeface="Arial" panose="020B0604020202020204" pitchFamily="34" charset="0"/>
                <a:cs typeface="Arial" panose="020B0604020202020204" pitchFamily="34" charset="0"/>
              </a:rPr>
              <a:t>SVM Temel Prensipleri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EA2A90D8-5483-914C-CC9D-347407AB7B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456938"/>
              </p:ext>
            </p:extLst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5404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E2C51B-DF87-F620-0F6D-00B8F174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Hiperdüzlem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6220224-6697-F6DE-66C4-3919480E3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895748"/>
            <a:ext cx="7130752" cy="3777622"/>
          </a:xfrm>
        </p:spPr>
        <p:txBody>
          <a:bodyPr/>
          <a:lstStyle/>
          <a:p>
            <a:pPr algn="just"/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Hiperdüzlem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, bir veri uzayında (n boyutlu bir ortamda), o uzayı ikiye bölen geometrik bir düzlemdir.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8623555E-66DE-D083-5B1E-CCDFC6447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262" y="2708920"/>
            <a:ext cx="5253930" cy="355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94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E2C51B-DF87-F620-0F6D-00B8F174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Hiperdüzlem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6220224-6697-F6DE-66C4-3919480E3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079" y="1498734"/>
            <a:ext cx="7130752" cy="3777622"/>
          </a:xfrm>
        </p:spPr>
        <p:txBody>
          <a:bodyPr/>
          <a:lstStyle/>
          <a:p>
            <a:pPr algn="just"/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boyutlu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uzayda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hiperdüzlem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çizgi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üç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boyutlu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uzayda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düzlem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olur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Genel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olarak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n-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boyutlu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uzayda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hiperdüzlem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(n-1)-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boyutludur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SVM,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sınıflar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arasında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optimal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ayrım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sağlayacak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hiperdüzlemi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bulmak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için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eğitilir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hiperdüzlem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noktalarının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sınıflarını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ayıran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sınır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olarak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işlev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görür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1DF5ABE-B481-7FA6-FEB9-7C6088D1B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127090"/>
            <a:ext cx="7416824" cy="229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5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1A90CF1-4362-3385-9ACC-43A99D1B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609600"/>
            <a:ext cx="7416823" cy="1320800"/>
          </a:xfrm>
        </p:spPr>
        <p:txBody>
          <a:bodyPr>
            <a:normAutofit/>
          </a:bodyPr>
          <a:lstStyle/>
          <a:p>
            <a:pPr algn="ctr"/>
            <a:b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tr-TR" sz="3200" dirty="0" err="1">
                <a:latin typeface="Arial" panose="020B0604020202020204" pitchFamily="34" charset="0"/>
                <a:cs typeface="Arial" panose="020B0604020202020204" pitchFamily="34" charset="0"/>
              </a:rPr>
              <a:t>Hiperdüzlem</a:t>
            </a:r>
            <a:r>
              <a:rPr lang="tr-TR" sz="3200" dirty="0">
                <a:latin typeface="Arial" panose="020B0604020202020204" pitchFamily="34" charset="0"/>
                <a:cs typeface="Arial" panose="020B0604020202020204" pitchFamily="34" charset="0"/>
              </a:rPr>
              <a:t> Matematiksel İfadesi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2C0C7E0-9424-5995-0C70-299924AE0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2160590"/>
            <a:ext cx="6698705" cy="3880773"/>
          </a:xfrm>
        </p:spPr>
        <p:txBody>
          <a:bodyPr/>
          <a:lstStyle/>
          <a:p>
            <a:r>
              <a:rPr lang="tr-TR" dirty="0"/>
              <a:t>Bir </a:t>
            </a:r>
            <a:r>
              <a:rPr lang="tr-TR" dirty="0" err="1"/>
              <a:t>hiperdüzlem</a:t>
            </a:r>
            <a:r>
              <a:rPr lang="tr-TR" dirty="0"/>
              <a:t> :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b="1" dirty="0"/>
              <a:t>w: </a:t>
            </a:r>
            <a:r>
              <a:rPr lang="tr-TR" dirty="0"/>
              <a:t>Ağırlık (vektör), düzlemin yönünü belirler</a:t>
            </a:r>
          </a:p>
          <a:p>
            <a:r>
              <a:rPr lang="tr-TR" b="1" dirty="0"/>
              <a:t>x: </a:t>
            </a:r>
            <a:r>
              <a:rPr lang="tr-TR" dirty="0"/>
              <a:t>Girdi vektörü (bir veri noktası)</a:t>
            </a:r>
          </a:p>
          <a:p>
            <a:r>
              <a:rPr lang="tr-TR" b="1" dirty="0"/>
              <a:t>b: </a:t>
            </a:r>
            <a:r>
              <a:rPr lang="tr-TR" dirty="0" err="1"/>
              <a:t>Bias</a:t>
            </a:r>
            <a:r>
              <a:rPr lang="tr-TR" dirty="0"/>
              <a:t> (düzlemin orijine olan uzaklığını ayarlayan sabit)</a:t>
            </a:r>
          </a:p>
          <a:p>
            <a:r>
              <a:rPr lang="tr-TR" dirty="0"/>
              <a:t>Denklem, tüm veri noktaları için bir karar sınırı (</a:t>
            </a:r>
            <a:r>
              <a:rPr lang="tr-TR" dirty="0" err="1"/>
              <a:t>decision</a:t>
            </a:r>
            <a:r>
              <a:rPr lang="tr-TR" dirty="0"/>
              <a:t> </a:t>
            </a:r>
            <a:r>
              <a:rPr lang="tr-TR" dirty="0" err="1"/>
              <a:t>boundary</a:t>
            </a:r>
            <a:r>
              <a:rPr lang="tr-TR" dirty="0"/>
              <a:t>) oluşturur. </a:t>
            </a:r>
          </a:p>
          <a:p>
            <a:endParaRPr lang="tr-TR" dirty="0"/>
          </a:p>
          <a:p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62E3064-270E-9199-B4D0-EA523BB8D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2708920"/>
            <a:ext cx="2841546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94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BC67F4E-4CCB-9E33-BC0B-E792E9EC4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Marjin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3C8E5BC-0ED6-F4B9-1E87-66736BBDB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060848"/>
            <a:ext cx="7418784" cy="3777622"/>
          </a:xfrm>
        </p:spPr>
        <p:txBody>
          <a:bodyPr/>
          <a:lstStyle/>
          <a:p>
            <a:pPr algn="just"/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SVM,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marjini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maksimize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etmeye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çalışır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yani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her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iki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sınıfa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destek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vektörleri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arasındaki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geniş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şeridi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oluşturmayı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amaçlar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Marjin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kadar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büyükse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sınıflandırıcının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genelleme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yeteneği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genellikle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kadar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iyi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olur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çünkü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hiperdüzlemin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rastgele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gürültüden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etkilenmeyeceği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anlamına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gelir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8733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BC67F4E-4CCB-9E33-BC0B-E792E9EC4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Marjin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3C8E5BC-0ED6-F4B9-1E87-66736BBDB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40189"/>
            <a:ext cx="7128792" cy="3777622"/>
          </a:xfrm>
        </p:spPr>
        <p:txBody>
          <a:bodyPr/>
          <a:lstStyle/>
          <a:p>
            <a:pPr algn="just"/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Marjin,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SVM’in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bulduğu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hiperdüzleme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(karar sınırı) en yakın veri noktalarına olan dik mesafedir. </a:t>
            </a:r>
          </a:p>
          <a:p>
            <a:pPr algn="just"/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Sınıflar ile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hiperdüzlem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arasındaki boşluk.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6133EB3B-4395-AA2B-FD40-7744B7886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846106"/>
            <a:ext cx="4829721" cy="349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99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41B33A-16AD-9C1A-A428-8DD4D0261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476672"/>
            <a:ext cx="6589199" cy="1280890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Soft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Marjin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Hard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Marji</a:t>
            </a: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5151F6E-6FB1-1830-56DF-6570AEBFF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14" y="1844824"/>
            <a:ext cx="7490791" cy="377762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SVM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modelleri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iki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tür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marjin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kullanabilir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"hard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marjin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"soft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marjin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marjin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noktalarının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olarak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doğru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sınıflandırıldığı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hiçbir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yanlış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sınıflandırma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yapılmadığı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durumları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ifade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eder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Diğer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yandan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soft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marjin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bazı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yanlış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sınıflandırmalara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izin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verir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genellikle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daha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gerçekçi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senaryolarda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kullanılır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Soft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marjin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setindeki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gürültüye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ayrılabilir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olmayan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noktalara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karşı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daha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dayanıklıdır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887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7E03EB-50C0-C74F-FE03-58A8ECB6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Destek Vektörü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86FD7CB-D073-DE92-B585-3EADDF77B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094" y="1488613"/>
            <a:ext cx="7162234" cy="3880773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Destek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vektörleri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SVM’de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bulunan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hiperdüzleme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karar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sınırına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yakın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olan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noktalarıdır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noktalar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marjini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belirleyen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hiperdüzlemi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konumlandıran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örneklerdir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Geri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kalan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veriler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modelin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karar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sınırını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doğrudan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etkilemez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5A746044-EB1E-5826-64E8-01B97D5B3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92" y="3249474"/>
            <a:ext cx="5920163" cy="335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57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055D37-3A01-4DE2-E25F-76E6291AC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SVM </a:t>
            </a:r>
            <a:r>
              <a:rPr lang="tr-TR" dirty="0" err="1"/>
              <a:t>Hiperparametreleri</a:t>
            </a:r>
            <a:endParaRPr lang="en-US" dirty="0"/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71A5518A-3415-CC06-FAFC-5A1B15D84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1412776"/>
            <a:ext cx="6986737" cy="510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97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B31E47B-055D-EA8D-1BDA-A3C3BF9B7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 değeri</a:t>
            </a:r>
            <a:endParaRPr lang="en-US" dirty="0"/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3A329621-D210-6184-3035-3455C5682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600" y="2348880"/>
            <a:ext cx="5400600" cy="4357141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EB935B89-B199-9062-58DA-BE4ACFF05F8C}"/>
              </a:ext>
            </a:extLst>
          </p:cNvPr>
          <p:cNvSpPr txBox="1"/>
          <p:nvPr/>
        </p:nvSpPr>
        <p:spPr>
          <a:xfrm>
            <a:off x="344794" y="1270000"/>
            <a:ext cx="70355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değeri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SVM'nin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karar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sınırlarını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marjinal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hata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toleransını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ayarlamak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için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kullanılan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önemli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hiperparametredir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tr-TR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Doğru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değeri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modelin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genelleme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performansını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optimize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etmek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için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önemlidir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31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1187DD-BC05-4124-4122-721BD46F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 Değeri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2BACB07-2FEA-F582-7786-59FD0191A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628800"/>
            <a:ext cx="6347714" cy="388077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 ne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kadar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büyükse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Margin 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kadar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dardır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overfit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olursa C’yi azaltmamız gerekir.</a:t>
            </a:r>
          </a:p>
          <a:p>
            <a:endParaRPr lang="tr-TR" dirty="0"/>
          </a:p>
          <a:p>
            <a:endParaRPr lang="en-US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932EB256-5752-DABC-FA72-4C4B3BF98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865201"/>
            <a:ext cx="7203215" cy="338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65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B31E47B-055D-EA8D-1BDA-A3C3BF9B7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884064"/>
            <a:ext cx="6347713" cy="1320800"/>
          </a:xfrm>
        </p:spPr>
        <p:txBody>
          <a:bodyPr/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C değeri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İçerik Yer Tutucusu 4">
            <a:extLst>
              <a:ext uri="{FF2B5EF4-FFF2-40B4-BE49-F238E27FC236}">
                <a16:creationId xmlns:a16="http://schemas.microsoft.com/office/drawing/2014/main" id="{486559BE-3582-CB16-FC19-224E59A5C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544" y="1916832"/>
            <a:ext cx="6973767" cy="388077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SVM,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verileri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sınıflara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ayırmak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için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hiperdüzlem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oluşturur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Ancak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genellikle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setleri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tam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olarak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ayrılamaz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tr-TR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durumda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SVM,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marjinal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hata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toleransını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kabul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eder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C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değeri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toleransı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kontrol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eder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tr-TR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tr-TR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Daha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yüksek</a:t>
            </a: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değerleri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SVM'nin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marjinal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hata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toleransını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azaltır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modelin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eğitim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setine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daha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fazla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uymasını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sağlar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ancak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aşırı</a:t>
            </a: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uyuma</a:t>
            </a: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(overfitting)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eğilimini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artırabilir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tr-TR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tr-TR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Daha</a:t>
            </a: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düşük</a:t>
            </a: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değerleri</a:t>
            </a:r>
            <a:r>
              <a:rPr lang="en-US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ise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marjinal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hata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toleransını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artırır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modelin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daha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fazla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esneklik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kazanmasına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aşırı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uyum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riskinin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azalmasına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neden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olabilir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ancak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eğitim</a:t>
            </a: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</a:t>
            </a: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setine</a:t>
            </a: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daha</a:t>
            </a: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</a:t>
            </a:r>
            <a:r>
              <a:rPr lang="en-US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uymasına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yol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açabilir</a:t>
            </a:r>
            <a:r>
              <a:rPr lang="en-US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085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B8DD16-9EAF-73EF-0931-6D20717C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316" y="544011"/>
            <a:ext cx="6770713" cy="1320800"/>
          </a:xfrm>
        </p:spPr>
        <p:txBody>
          <a:bodyPr/>
          <a:lstStyle/>
          <a:p>
            <a:r>
              <a:rPr lang="tr-TR" dirty="0"/>
              <a:t>Kernel (Çekirdek Fonksiyonları)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08804F1-A44C-C12F-77DA-90AE159DD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772816"/>
            <a:ext cx="7128792" cy="3880773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SVM’in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amacı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sınıfları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düzlemle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hiperdüzlem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ayırmak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tır. Fakat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veriler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her zaman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doğrusal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olarak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ayrılabilir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değildir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Bu durumlarda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kernel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fonksiyonu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devreye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girer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Kernel,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veriyi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daha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yüksek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boyutlara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dönüştürerek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orada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doğrusal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hale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getirir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D8B45E14-EB58-6CB2-1D42-949504568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55" y="3649125"/>
            <a:ext cx="3816424" cy="3233269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13C7677C-693D-22C0-2F5F-D95ED0435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4227786"/>
            <a:ext cx="5422706" cy="17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956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624C07-B3BD-EF24-59FB-F2F4890C1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04664"/>
            <a:ext cx="6589199" cy="1280890"/>
          </a:xfrm>
        </p:spPr>
        <p:txBody>
          <a:bodyPr/>
          <a:lstStyle/>
          <a:p>
            <a:r>
              <a:rPr lang="tr-TR" dirty="0"/>
              <a:t>Örnek :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526031-57B7-F878-74BB-818493D70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85554"/>
            <a:ext cx="7344816" cy="158417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Diyelim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ki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elinizde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tip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meyve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var: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elmalar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portakallar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Her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meyvenin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ağırlığı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rengi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gibi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özelliği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(feature)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ölçtünüz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tr-TR" sz="2000" b="0" i="0" dirty="0">
              <a:solidFill>
                <a:srgbClr val="37415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özellikleri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kullanarak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SVM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eğiteceğiz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ki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model yeni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gördüğü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meyveyi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elma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yoksa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portakal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olduğunu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tahmin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edebilsin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tr-TR" sz="2000" b="0" i="0" dirty="0">
              <a:solidFill>
                <a:srgbClr val="37415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5ECB935-8710-A0E6-8B03-4B58FDE33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557389"/>
            <a:ext cx="3094294" cy="3094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558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624C07-B3BD-EF24-59FB-F2F4890C1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04664"/>
            <a:ext cx="6589199" cy="1280890"/>
          </a:xfrm>
        </p:spPr>
        <p:txBody>
          <a:bodyPr/>
          <a:lstStyle/>
          <a:p>
            <a:r>
              <a:rPr lang="tr-TR" dirty="0"/>
              <a:t>Örnek :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526031-57B7-F878-74BB-818493D70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83" y="1340768"/>
            <a:ext cx="7092321" cy="2160240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Toplama</a:t>
            </a:r>
            <a:r>
              <a:rPr lang="en-US" b="1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b="1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Görselleştirme</a:t>
            </a:r>
            <a:r>
              <a:rPr lang="en-US" b="1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b="0" i="0" dirty="0">
              <a:solidFill>
                <a:srgbClr val="37415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Elmanın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portakalın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ağırlığını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rengini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temsil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eden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özellik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üzerinden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oluşturulur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veriler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boyutlu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düzlemde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görselleştirilir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burada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eksen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ağırlığı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diğer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eksen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rengi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temsil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eder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5ECB935-8710-A0E6-8B03-4B58FDE33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360927"/>
            <a:ext cx="3094294" cy="3094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0315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35222D-A332-CE19-6DB6-D72E30A10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620688"/>
            <a:ext cx="6912768" cy="377762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b="1" i="0" dirty="0">
                <a:solidFill>
                  <a:srgbClr val="374151"/>
                </a:solidFill>
                <a:effectLst/>
                <a:latin typeface="Söhne"/>
              </a:rPr>
              <a:t>2.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Modelin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Eğitimi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Elma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portakal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verileri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SVM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modeline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verilir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SVM,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elmalar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portakalları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ayıran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hiperdüzlem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durumda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çizgi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bulmaya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çalışır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çizgi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her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iki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meyve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kategorisinin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yakın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örneklerine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maksimum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marjin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büyük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mesafe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ile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ayrılacak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şekilde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seçilir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Bu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yakın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örnekler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destek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vektörleri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olarak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adlandırılır</a:t>
            </a:r>
            <a:r>
              <a:rPr lang="en-US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82C0DA-E819-E0BA-1E06-46ED0CA58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188221"/>
            <a:ext cx="3669779" cy="366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740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8DCF9D8-6707-02B4-61AC-1C8BBF1F9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204864"/>
            <a:ext cx="7058744" cy="31683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Optimizasyon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Marjin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Marjin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iki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sınıfı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ayıran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çizginin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her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iki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yanındaki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boşluk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olarak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düşünülebilir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SVM,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marjini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maksimize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edecek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şekilde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hiperdüzlemi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ayırma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çizgisini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bulmaya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çalışır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endParaRPr lang="tr-T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946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8DCF9D8-6707-02B4-61AC-1C8BBF1F9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0768"/>
            <a:ext cx="7058744" cy="50745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tr-T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tr-TR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Çekirdek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Trick: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Eğer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veriler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doğrusal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olarak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ayrılabilir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değilse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yani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çizgiyle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ayrılamıyorsa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çekirdek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trick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devreye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girer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Çekirdek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fonksiyonları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özellikleri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daha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yüksek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boyutlu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uzaya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taşıyarak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örneğin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basit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çizgi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yerine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eğri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düzlem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kullanarak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sınıfları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ayırmayı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mümkün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kılar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4235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F424F82-454D-136B-9600-FCE465058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015752"/>
            <a:ext cx="7346776" cy="626469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b="1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Modelin</a:t>
            </a:r>
            <a:r>
              <a:rPr lang="en-US" b="1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Test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Edilmesi</a:t>
            </a:r>
            <a:r>
              <a:rPr lang="en-US" b="1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b="1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Tahminler</a:t>
            </a:r>
            <a:r>
              <a:rPr lang="en-US" b="1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b="0" i="0" dirty="0">
              <a:solidFill>
                <a:srgbClr val="37415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Eğitim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tamamlandıktan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sonra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model yeni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verilerle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test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edilir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Model, yeni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meyvenin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özelliklerini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alır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meyvenin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hangi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marjinin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içinde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kaldığına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bakarak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elma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mı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yoksa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portakal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mı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olduğunu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tahmin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eder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tr-TR" sz="1800" b="0" i="0" dirty="0">
              <a:solidFill>
                <a:srgbClr val="37415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+mj-lt"/>
              <a:buAutoNum type="arabicPeriod"/>
            </a:pPr>
            <a:endParaRPr lang="tr-TR" sz="1800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+mj-lt"/>
              <a:buAutoNum type="arabicPeriod"/>
            </a:pPr>
            <a:endParaRPr lang="tr-TR" sz="1800" b="0" i="0" dirty="0">
              <a:solidFill>
                <a:srgbClr val="37415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+mj-lt"/>
              <a:buAutoNum type="arabicPeriod"/>
            </a:pPr>
            <a:endParaRPr lang="tr-TR" sz="1800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buNone/>
            </a:pPr>
            <a:endParaRPr lang="tr-TR" sz="1800" b="1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buNone/>
            </a:pPr>
            <a:endParaRPr lang="tr-TR" sz="1800" b="1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4098" name="Picture 2" descr="image_2">
            <a:extLst>
              <a:ext uri="{FF2B5EF4-FFF2-40B4-BE49-F238E27FC236}">
                <a16:creationId xmlns:a16="http://schemas.microsoft.com/office/drawing/2014/main" id="{33325AEE-ECB3-C1FF-D1C5-567E89074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068960"/>
            <a:ext cx="3456384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274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F424F82-454D-136B-9600-FCE465058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556793"/>
            <a:ext cx="7346776" cy="3744416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endParaRPr lang="tr-TR" sz="1800" b="1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buNone/>
            </a:pPr>
            <a:endParaRPr lang="tr-TR" sz="1800" b="1" dirty="0">
              <a:solidFill>
                <a:srgbClr val="3741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buNone/>
            </a:pPr>
            <a:r>
              <a:rPr lang="tr-TR" sz="1800" b="1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US" sz="1800" b="1" dirty="0" err="1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Sonuç</a:t>
            </a:r>
            <a:r>
              <a:rPr lang="en-US" sz="1800" b="1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1800" b="1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İyileştirme</a:t>
            </a:r>
            <a:r>
              <a:rPr lang="en-US" sz="1800" b="1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Modelin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performansı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gerçek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etiketlerle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tahminleri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karşılaştırarak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değerlendirilir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Eğer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model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yeterince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iyi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performans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göstermezse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hiperparametre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ayarlama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çekirdek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seçimi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gibi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iyileştirmeler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yapılabilir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919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pc="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Klasik Yaklaşımlardan Farkı</a:t>
            </a:r>
          </a:p>
        </p:txBody>
      </p:sp>
      <p:sp>
        <p:nvSpPr>
          <p:cNvPr id="5" name="4 İçerik Yer Tutucusu"/>
          <p:cNvSpPr>
            <a:spLocks noGrp="1"/>
          </p:cNvSpPr>
          <p:nvPr>
            <p:ph idx="1"/>
          </p:nvPr>
        </p:nvSpPr>
        <p:spPr>
          <a:xfrm>
            <a:off x="251520" y="1844824"/>
            <a:ext cx="7312065" cy="3777622"/>
          </a:xfrm>
        </p:spPr>
        <p:txBody>
          <a:bodyPr>
            <a:noAutofit/>
          </a:bodyPr>
          <a:lstStyle/>
          <a:p>
            <a:pPr algn="just">
              <a:buClr>
                <a:schemeClr val="accent1">
                  <a:lumMod val="50000"/>
                </a:schemeClr>
              </a:buClr>
            </a:pP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Klasik yaklaşımda,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itchFamily="2" charset="2"/>
              <a:buChar char="ü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Veriler bir dizi lineer parametreli fonksiyonlarla modellenir.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itchFamily="2" charset="2"/>
              <a:buChar char="ü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Verilerin olasılık bileşenleri, normal olasılık dağılım kurallarıdır  ve </a:t>
            </a:r>
            <a:r>
              <a:rPr lang="tr-TR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Gaussian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fonksiyonu kullanılmaktadır.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itchFamily="2" charset="2"/>
              <a:buChar char="ü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Parametre tahminleri maksimum benzerlik yöntemine bağlıdır;  böylece uygulamalarda karesel hata toplamının </a:t>
            </a:r>
            <a:r>
              <a:rPr lang="tr-TR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minimizasyonu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işleminde maliyet azaltılır.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itchFamily="2" charset="2"/>
              <a:buChar char="ü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Modele uygun yapı seçilir; örneğin, </a:t>
            </a:r>
            <a:r>
              <a:rPr lang="tr-TR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polinominal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HL nöron sayısı, </a:t>
            </a:r>
            <a:r>
              <a:rPr lang="tr-TR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fuzzy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modeldeki kural sayısı.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itchFamily="2" charset="2"/>
              <a:buChar char="ü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Tahmini hata sabit tutularak, eğitim verilerindeki hata minimize edilir.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İçerik Yer Tutucusu"/>
          <p:cNvSpPr>
            <a:spLocks noGrp="1"/>
          </p:cNvSpPr>
          <p:nvPr>
            <p:ph idx="1"/>
          </p:nvPr>
        </p:nvSpPr>
        <p:spPr>
          <a:xfrm>
            <a:off x="158824" y="1206116"/>
            <a:ext cx="7509520" cy="3240360"/>
          </a:xfrm>
        </p:spPr>
        <p:txBody>
          <a:bodyPr>
            <a:normAutofit/>
          </a:bodyPr>
          <a:lstStyle/>
          <a:p>
            <a:pPr>
              <a:buClr>
                <a:schemeClr val="accent1">
                  <a:lumMod val="50000"/>
                </a:schemeClr>
              </a:buClr>
              <a:buFont typeface="Wingdings" pitchFamily="2" charset="2"/>
              <a:buChar char="Ø"/>
            </a:pP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 ise,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itchFamily="2" charset="2"/>
              <a:buChar char="v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Yüksek boyutlu ve dağınıktır. 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itchFamily="2" charset="2"/>
              <a:buChar char="v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Klasik modellerin aksine parametreler önceden tanımlı değildir ve sayısı eğitim verilerine göre değişir. 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itchFamily="2" charset="2"/>
              <a:buChar char="v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Eğitim verilerindeki hata değeri sabit tutularak, güven aralığı minimize edilir. 	</a:t>
            </a:r>
          </a:p>
        </p:txBody>
      </p:sp>
      <p:graphicFrame>
        <p:nvGraphicFramePr>
          <p:cNvPr id="4" name="3 Tablo"/>
          <p:cNvGraphicFramePr>
            <a:graphicFrameLocks noGrp="1"/>
          </p:cNvGraphicFramePr>
          <p:nvPr/>
        </p:nvGraphicFramePr>
        <p:xfrm>
          <a:off x="323527" y="4365104"/>
          <a:ext cx="8280921" cy="1800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60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3814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RBF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SVM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63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r-TR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r-T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r-T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5536" y="5301208"/>
            <a:ext cx="2520280" cy="758753"/>
          </a:xfrm>
          <a:prstGeom prst="rect">
            <a:avLst/>
          </a:prstGeom>
          <a:noFill/>
        </p:spPr>
      </p:pic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31840" y="5373216"/>
            <a:ext cx="2952328" cy="648072"/>
          </a:xfrm>
          <a:prstGeom prst="rect">
            <a:avLst/>
          </a:prstGeom>
          <a:noFill/>
        </p:spPr>
      </p:pic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00192" y="5229200"/>
            <a:ext cx="2088232" cy="8550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pc="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SVM ‘</a:t>
            </a:r>
            <a:r>
              <a:rPr lang="tr-TR" spc="0" dirty="0" err="1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nin</a:t>
            </a:r>
            <a:r>
              <a:rPr lang="tr-TR" spc="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 Özellikleri</a:t>
            </a: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>
          <a:xfrm>
            <a:off x="362094" y="2060848"/>
            <a:ext cx="6842721" cy="3880773"/>
          </a:xfrm>
        </p:spPr>
        <p:txBody>
          <a:bodyPr>
            <a:normAutofit/>
          </a:bodyPr>
          <a:lstStyle/>
          <a:p>
            <a:pPr algn="just">
              <a:buClr>
                <a:schemeClr val="accent1">
                  <a:lumMod val="50000"/>
                </a:schemeClr>
              </a:buClr>
              <a:buFont typeface="Arial" pitchFamily="34" charset="0"/>
              <a:buChar char="•"/>
            </a:pPr>
            <a:r>
              <a:rPr lang="tr-TR" sz="2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etkili ve sınıflamada en çok kullanılan araçtır, diğer yöntemlere göre avantajları bulunmaktadır.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Arial" pitchFamily="34" charset="0"/>
              <a:buChar char="•"/>
            </a:pPr>
            <a:r>
              <a:rPr lang="tr-TR" sz="20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Convex</a:t>
            </a:r>
            <a:r>
              <a:rPr lang="tr-TR" sz="2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tr-TR" sz="2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problemine dayanmaktadır; </a:t>
            </a:r>
            <a:r>
              <a:rPr lang="tr-TR" sz="20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r>
              <a:rPr lang="tr-TR" sz="2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kriterle lineer kısıtları bulunmaktadır. Bu nedenle lokal </a:t>
            </a:r>
            <a:r>
              <a:rPr lang="tr-TR" sz="20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minima</a:t>
            </a:r>
            <a:r>
              <a:rPr lang="tr-TR" sz="2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problemi bulunmamaktadır.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Arial" pitchFamily="34" charset="0"/>
              <a:buChar char="•"/>
            </a:pPr>
            <a:r>
              <a:rPr lang="tr-TR" sz="2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Çok büyük veri setlerinde de başarılı olmaktadır.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Arial" pitchFamily="34" charset="0"/>
              <a:buChar char="•"/>
            </a:pPr>
            <a:r>
              <a:rPr lang="tr-TR" sz="2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0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  <a:r>
              <a:rPr lang="tr-TR" sz="2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yöntemleriyle lineer olmayan sınıflamada da başarılıdır.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pc="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SVM ‘</a:t>
            </a:r>
            <a:r>
              <a:rPr lang="tr-TR" spc="0" dirty="0" err="1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nin</a:t>
            </a:r>
            <a:r>
              <a:rPr lang="tr-TR" spc="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 Kısıtları</a:t>
            </a:r>
          </a:p>
        </p:txBody>
      </p:sp>
      <p:sp>
        <p:nvSpPr>
          <p:cNvPr id="2" name="1 İçerik Yer Tutucusu"/>
          <p:cNvSpPr>
            <a:spLocks noGrp="1"/>
          </p:cNvSpPr>
          <p:nvPr>
            <p:ph idx="1"/>
          </p:nvPr>
        </p:nvSpPr>
        <p:spPr>
          <a:xfrm>
            <a:off x="395536" y="2204864"/>
            <a:ext cx="7022073" cy="3777622"/>
          </a:xfrm>
        </p:spPr>
        <p:txBody>
          <a:bodyPr/>
          <a:lstStyle/>
          <a:p>
            <a:pPr algn="just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 fonksiyonunun seçimi,</a:t>
            </a:r>
          </a:p>
          <a:p>
            <a:pPr algn="just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endParaRPr lang="tr-TR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Büyük eğitim verileri olmasına rağmen test aşamasında hızı düşürmemek için az sayıda destek vektörlerinin seçilmesi,</a:t>
            </a:r>
          </a:p>
          <a:p>
            <a:pPr algn="just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endParaRPr lang="tr-TR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tr-TR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Çok sınıflı SVM sınıflayıcılar için optimal tasarım için araştırmalar devam etmektedir.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endParaRPr lang="tr-T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üzeyler">
  <a:themeElements>
    <a:clrScheme name="Turuncu Kırmızı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Yüzeyler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üzeyler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</Template>
  <TotalTime>4962</TotalTime>
  <Words>1314</Words>
  <Application>Microsoft Office PowerPoint</Application>
  <PresentationFormat>Ekran Gösterisi (4:3)</PresentationFormat>
  <Paragraphs>153</Paragraphs>
  <Slides>28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28</vt:i4>
      </vt:variant>
    </vt:vector>
  </HeadingPairs>
  <TitlesOfParts>
    <vt:vector size="35" baseType="lpstr">
      <vt:lpstr>Arial</vt:lpstr>
      <vt:lpstr>Calibri</vt:lpstr>
      <vt:lpstr>Söhne</vt:lpstr>
      <vt:lpstr>Trebuchet MS</vt:lpstr>
      <vt:lpstr>Wingdings</vt:lpstr>
      <vt:lpstr>Wingdings 3</vt:lpstr>
      <vt:lpstr>Yüzeyler</vt:lpstr>
      <vt:lpstr>Makine Öğrenmesi</vt:lpstr>
      <vt:lpstr>SVM Nedir ?</vt:lpstr>
      <vt:lpstr>PowerPoint Sunusu</vt:lpstr>
      <vt:lpstr>SVM AMAÇ?</vt:lpstr>
      <vt:lpstr>SVM Temel Prensipleri</vt:lpstr>
      <vt:lpstr>Hiperdüzlem</vt:lpstr>
      <vt:lpstr>Hiperdüzlem</vt:lpstr>
      <vt:lpstr> Hiperdüzlem Matematiksel İfadesi</vt:lpstr>
      <vt:lpstr>Marjin</vt:lpstr>
      <vt:lpstr>Marjin</vt:lpstr>
      <vt:lpstr>Soft Marjin ve Hard Marjin</vt:lpstr>
      <vt:lpstr>Destek Vektörü</vt:lpstr>
      <vt:lpstr>SVM Hiperparametreleri</vt:lpstr>
      <vt:lpstr>C değeri</vt:lpstr>
      <vt:lpstr>C Değeri</vt:lpstr>
      <vt:lpstr>C değeri</vt:lpstr>
      <vt:lpstr>Kernel (Çekirdek Fonksiyonları)</vt:lpstr>
      <vt:lpstr>Örnek :</vt:lpstr>
      <vt:lpstr>Örnek :</vt:lpstr>
      <vt:lpstr>PowerPoint Sunusu</vt:lpstr>
      <vt:lpstr>PowerPoint Sunusu</vt:lpstr>
      <vt:lpstr>PowerPoint Sunusu</vt:lpstr>
      <vt:lpstr>PowerPoint Sunusu</vt:lpstr>
      <vt:lpstr>PowerPoint Sunusu</vt:lpstr>
      <vt:lpstr>Klasik Yaklaşımlardan Farkı</vt:lpstr>
      <vt:lpstr>PowerPoint Sunusu</vt:lpstr>
      <vt:lpstr>SVM ‘nin Özellikleri</vt:lpstr>
      <vt:lpstr>SVM ‘nin Kısıtları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MELIS</dc:creator>
  <cp:lastModifiedBy>MELİKE ÖZMEN ARSLAN</cp:lastModifiedBy>
  <cp:revision>261</cp:revision>
  <dcterms:created xsi:type="dcterms:W3CDTF">2010-12-24T20:32:43Z</dcterms:created>
  <dcterms:modified xsi:type="dcterms:W3CDTF">2026-05-27T21:56:11Z</dcterms:modified>
</cp:coreProperties>
</file>