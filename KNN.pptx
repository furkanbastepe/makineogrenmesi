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7" r:id="rId1"/>
  </p:sldMasterIdLst>
  <p:notesMasterIdLst>
    <p:notesMasterId r:id="rId54"/>
  </p:notesMasterIdLst>
  <p:sldIdLst>
    <p:sldId id="256" r:id="rId2"/>
    <p:sldId id="1279" r:id="rId3"/>
    <p:sldId id="1300" r:id="rId4"/>
    <p:sldId id="1282" r:id="rId5"/>
    <p:sldId id="1280" r:id="rId6"/>
    <p:sldId id="366" r:id="rId7"/>
    <p:sldId id="1284" r:id="rId8"/>
    <p:sldId id="1285" r:id="rId9"/>
    <p:sldId id="1286" r:id="rId10"/>
    <p:sldId id="1287" r:id="rId11"/>
    <p:sldId id="1290" r:id="rId12"/>
    <p:sldId id="1288" r:id="rId13"/>
    <p:sldId id="1289" r:id="rId14"/>
    <p:sldId id="1291" r:id="rId15"/>
    <p:sldId id="1293" r:id="rId16"/>
    <p:sldId id="1294" r:id="rId17"/>
    <p:sldId id="1320" r:id="rId18"/>
    <p:sldId id="1319" r:id="rId19"/>
    <p:sldId id="1321" r:id="rId20"/>
    <p:sldId id="1301" r:id="rId21"/>
    <p:sldId id="1315" r:id="rId22"/>
    <p:sldId id="1302" r:id="rId23"/>
    <p:sldId id="1303" r:id="rId24"/>
    <p:sldId id="1304" r:id="rId25"/>
    <p:sldId id="1275" r:id="rId26"/>
    <p:sldId id="1317" r:id="rId27"/>
    <p:sldId id="1305" r:id="rId28"/>
    <p:sldId id="1276" r:id="rId29"/>
    <p:sldId id="1277" r:id="rId30"/>
    <p:sldId id="1278" r:id="rId31"/>
    <p:sldId id="337" r:id="rId32"/>
    <p:sldId id="338" r:id="rId33"/>
    <p:sldId id="349" r:id="rId34"/>
    <p:sldId id="351" r:id="rId35"/>
    <p:sldId id="352" r:id="rId36"/>
    <p:sldId id="353" r:id="rId37"/>
    <p:sldId id="354" r:id="rId38"/>
    <p:sldId id="359" r:id="rId39"/>
    <p:sldId id="358" r:id="rId40"/>
    <p:sldId id="361" r:id="rId41"/>
    <p:sldId id="362" r:id="rId42"/>
    <p:sldId id="363" r:id="rId43"/>
    <p:sldId id="364" r:id="rId44"/>
    <p:sldId id="1307" r:id="rId45"/>
    <p:sldId id="1308" r:id="rId46"/>
    <p:sldId id="1309" r:id="rId47"/>
    <p:sldId id="1310" r:id="rId48"/>
    <p:sldId id="1311" r:id="rId49"/>
    <p:sldId id="1312" r:id="rId50"/>
    <p:sldId id="1313" r:id="rId51"/>
    <p:sldId id="1298" r:id="rId52"/>
    <p:sldId id="1299"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66"/>
    <a:srgbClr val="A379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Açık Stil 3 - Vurgu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Açık Stil 3 - Vurgu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Açık Stil 3 - Vurgu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Açık Stil 3 - Vurgu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113A9D2-9D6B-4929-AA2D-F23B5EE8CBE7}" styleName="Tema Uygulanmış Stil 2 - Vurgu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ema Uygulanmış Stil 2 - Vurgu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ema Uygulanmış Stil 2 - Vurgu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ema Uygulanmış Stil 2 - Vurgu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ema Uygulanmış Stil 1 - Vurgu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97" autoAdjust="0"/>
    <p:restoredTop sz="95857" autoAdjust="0"/>
  </p:normalViewPr>
  <p:slideViewPr>
    <p:cSldViewPr>
      <p:cViewPr varScale="1">
        <p:scale>
          <a:sx n="106" d="100"/>
          <a:sy n="106" d="100"/>
        </p:scale>
        <p:origin x="1788" y="102"/>
      </p:cViewPr>
      <p:guideLst>
        <p:guide orient="horz" pos="2160"/>
        <p:guide pos="2880"/>
      </p:guideLst>
    </p:cSldViewPr>
  </p:slideViewPr>
  <p:notesTextViewPr>
    <p:cViewPr>
      <p:scale>
        <a:sx n="100" d="100"/>
        <a:sy n="100" d="100"/>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İKE ÖZMEN ARSLAN" userId="b128ab95-86aa-4d7a-a7c0-49c143764621" providerId="ADAL" clId="{D1588729-615E-4A86-9089-4DB067234D6E}"/>
    <pc:docChg chg="custSel modSld">
      <pc:chgData name="MELİKE ÖZMEN ARSLAN" userId="b128ab95-86aa-4d7a-a7c0-49c143764621" providerId="ADAL" clId="{D1588729-615E-4A86-9089-4DB067234D6E}" dt="2026-05-27T21:54:27.852" v="2" actId="20577"/>
      <pc:docMkLst>
        <pc:docMk/>
      </pc:docMkLst>
      <pc:sldChg chg="modSp mod">
        <pc:chgData name="MELİKE ÖZMEN ARSLAN" userId="b128ab95-86aa-4d7a-a7c0-49c143764621" providerId="ADAL" clId="{D1588729-615E-4A86-9089-4DB067234D6E}" dt="2026-05-27T21:54:27.852" v="2" actId="20577"/>
        <pc:sldMkLst>
          <pc:docMk/>
          <pc:sldMk cId="0" sldId="256"/>
        </pc:sldMkLst>
        <pc:spChg chg="mod">
          <ac:chgData name="MELİKE ÖZMEN ARSLAN" userId="b128ab95-86aa-4d7a-a7c0-49c143764621" providerId="ADAL" clId="{D1588729-615E-4A86-9089-4DB067234D6E}" dt="2026-05-27T21:54:27.852" v="2" actId="20577"/>
          <ac:spMkLst>
            <pc:docMk/>
            <pc:sldMk cId="0" sldId="256"/>
            <ac:spMk id="4"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453C7F-4367-4192-ACB7-1153B2DFFDF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4212F95-2412-4E11-A4DA-D87257BD115B}">
      <dgm:prSet custT="1"/>
      <dgm:spPr/>
      <dgm:t>
        <a:bodyPr/>
        <a:lstStyle/>
        <a:p>
          <a:r>
            <a:rPr lang="en-US" sz="2000" b="1" i="0" dirty="0" err="1">
              <a:latin typeface="Arial" panose="020B0604020202020204" pitchFamily="34" charset="0"/>
              <a:cs typeface="Arial" panose="020B0604020202020204" pitchFamily="34" charset="0"/>
            </a:rPr>
            <a:t>KNN'nin</a:t>
          </a:r>
          <a:r>
            <a:rPr lang="en-US" sz="2000" b="1" i="0" dirty="0">
              <a:latin typeface="Arial" panose="020B0604020202020204" pitchFamily="34" charset="0"/>
              <a:cs typeface="Arial" panose="020B0604020202020204" pitchFamily="34" charset="0"/>
            </a:rPr>
            <a:t> </a:t>
          </a:r>
          <a:r>
            <a:rPr lang="en-US" sz="2000" b="1" i="0" dirty="0" err="1">
              <a:latin typeface="Arial" panose="020B0604020202020204" pitchFamily="34" charset="0"/>
              <a:cs typeface="Arial" panose="020B0604020202020204" pitchFamily="34" charset="0"/>
            </a:rPr>
            <a:t>temel</a:t>
          </a:r>
          <a:r>
            <a:rPr lang="en-US" sz="2000" b="1" i="0" dirty="0">
              <a:latin typeface="Arial" panose="020B0604020202020204" pitchFamily="34" charset="0"/>
              <a:cs typeface="Arial" panose="020B0604020202020204" pitchFamily="34" charset="0"/>
            </a:rPr>
            <a:t> </a:t>
          </a:r>
          <a:r>
            <a:rPr lang="en-US" sz="2000" b="1" i="0" dirty="0" err="1">
              <a:latin typeface="Arial" panose="020B0604020202020204" pitchFamily="34" charset="0"/>
              <a:cs typeface="Arial" panose="020B0604020202020204" pitchFamily="34" charset="0"/>
            </a:rPr>
            <a:t>özellikleri</a:t>
          </a:r>
          <a:r>
            <a:rPr lang="en-US" sz="2000" b="1" i="0" dirty="0">
              <a:latin typeface="Arial" panose="020B0604020202020204" pitchFamily="34" charset="0"/>
              <a:cs typeface="Arial" panose="020B0604020202020204" pitchFamily="34" charset="0"/>
            </a:rPr>
            <a:t> :</a:t>
          </a:r>
          <a:endParaRPr lang="en-US" sz="2000" b="1" dirty="0">
            <a:latin typeface="Arial" panose="020B0604020202020204" pitchFamily="34" charset="0"/>
            <a:cs typeface="Arial" panose="020B0604020202020204" pitchFamily="34" charset="0"/>
          </a:endParaRPr>
        </a:p>
      </dgm:t>
    </dgm:pt>
    <dgm:pt modelId="{B34CFD76-061C-41B4-91CA-C5B8C4BF59E9}" type="parTrans" cxnId="{EFEDC8E4-DBCD-4248-86DE-76C6D74CD43E}">
      <dgm:prSet/>
      <dgm:spPr/>
      <dgm:t>
        <a:bodyPr/>
        <a:lstStyle/>
        <a:p>
          <a:endParaRPr lang="en-US"/>
        </a:p>
      </dgm:t>
    </dgm:pt>
    <dgm:pt modelId="{C9E51F8C-847C-4646-B5AD-49D6E3CDE375}" type="sibTrans" cxnId="{EFEDC8E4-DBCD-4248-86DE-76C6D74CD43E}">
      <dgm:prSet/>
      <dgm:spPr/>
      <dgm:t>
        <a:bodyPr/>
        <a:lstStyle/>
        <a:p>
          <a:endParaRPr lang="en-US"/>
        </a:p>
      </dgm:t>
    </dgm:pt>
    <dgm:pt modelId="{FE4DB949-D339-4E6E-AEED-221C246CF416}">
      <dgm:prSet/>
      <dgm:spPr/>
      <dgm:t>
        <a:bodyPr/>
        <a:lstStyle/>
        <a:p>
          <a:r>
            <a:rPr lang="en-US" b="1" i="0" dirty="0" err="1"/>
            <a:t>Basitlik</a:t>
          </a:r>
          <a:r>
            <a:rPr lang="en-US" b="1" i="0" dirty="0"/>
            <a:t>:</a:t>
          </a:r>
          <a:r>
            <a:rPr lang="en-US" b="0" i="0" dirty="0"/>
            <a:t> KNN, </a:t>
          </a:r>
          <a:r>
            <a:rPr lang="en-US" b="0" i="0" dirty="0" err="1"/>
            <a:t>basit</a:t>
          </a:r>
          <a:r>
            <a:rPr lang="en-US" b="0" i="0" dirty="0"/>
            <a:t> </a:t>
          </a:r>
          <a:r>
            <a:rPr lang="en-US" b="0" i="0" dirty="0" err="1"/>
            <a:t>bir</a:t>
          </a:r>
          <a:r>
            <a:rPr lang="en-US" b="0" i="0" dirty="0"/>
            <a:t> </a:t>
          </a:r>
          <a:r>
            <a:rPr lang="en-US" b="0" i="0" dirty="0" err="1"/>
            <a:t>algoritmadır</a:t>
          </a:r>
          <a:r>
            <a:rPr lang="en-US" b="0" i="0" dirty="0"/>
            <a:t> </a:t>
          </a:r>
          <a:r>
            <a:rPr lang="en-US" b="0" i="0" dirty="0" err="1"/>
            <a:t>ve</a:t>
          </a:r>
          <a:r>
            <a:rPr lang="en-US" b="0" i="0" dirty="0"/>
            <a:t> </a:t>
          </a:r>
          <a:r>
            <a:rPr lang="en-US" b="0" i="0" dirty="0" err="1"/>
            <a:t>anlaşılması</a:t>
          </a:r>
          <a:r>
            <a:rPr lang="en-US" b="0" i="0" dirty="0"/>
            <a:t> </a:t>
          </a:r>
          <a:r>
            <a:rPr lang="en-US" b="0" i="0" dirty="0" err="1"/>
            <a:t>kolaydır</a:t>
          </a:r>
          <a:r>
            <a:rPr lang="en-US" b="0" i="0" dirty="0"/>
            <a:t>.</a:t>
          </a:r>
          <a:endParaRPr lang="en-US" dirty="0"/>
        </a:p>
      </dgm:t>
    </dgm:pt>
    <dgm:pt modelId="{82D86537-A44E-41D4-96C5-EA766F5379E5}" type="parTrans" cxnId="{B40D3104-A3E3-4677-B975-58EA1BA6F441}">
      <dgm:prSet/>
      <dgm:spPr/>
      <dgm:t>
        <a:bodyPr/>
        <a:lstStyle/>
        <a:p>
          <a:endParaRPr lang="en-US"/>
        </a:p>
      </dgm:t>
    </dgm:pt>
    <dgm:pt modelId="{B4E7A6DA-C5CF-4072-BC34-EFB807795615}" type="sibTrans" cxnId="{B40D3104-A3E3-4677-B975-58EA1BA6F441}">
      <dgm:prSet/>
      <dgm:spPr/>
      <dgm:t>
        <a:bodyPr/>
        <a:lstStyle/>
        <a:p>
          <a:endParaRPr lang="en-US"/>
        </a:p>
      </dgm:t>
    </dgm:pt>
    <dgm:pt modelId="{E384D125-23A0-4B01-AE32-F7C4DE3477D6}">
      <dgm:prSet/>
      <dgm:spPr/>
      <dgm:t>
        <a:bodyPr/>
        <a:lstStyle/>
        <a:p>
          <a:r>
            <a:rPr lang="en-US" b="1" i="0" dirty="0" err="1"/>
            <a:t>Parametre</a:t>
          </a:r>
          <a:r>
            <a:rPr lang="en-US" b="1" i="0" dirty="0"/>
            <a:t> </a:t>
          </a:r>
          <a:r>
            <a:rPr lang="en-US" b="1" i="0" dirty="0" err="1"/>
            <a:t>Azlığı</a:t>
          </a:r>
          <a:r>
            <a:rPr lang="en-US" b="1" i="0" dirty="0"/>
            <a:t>:</a:t>
          </a:r>
          <a:r>
            <a:rPr lang="en-US" b="0" i="0" dirty="0"/>
            <a:t> </a:t>
          </a:r>
          <a:r>
            <a:rPr lang="en-US" b="0" i="0" dirty="0" err="1"/>
            <a:t>KNN'nin</a:t>
          </a:r>
          <a:r>
            <a:rPr lang="en-US" b="0" i="0" dirty="0"/>
            <a:t> </a:t>
          </a:r>
          <a:r>
            <a:rPr lang="en-US" b="0" i="0" dirty="0" err="1"/>
            <a:t>temel</a:t>
          </a:r>
          <a:r>
            <a:rPr lang="en-US" b="0" i="0" dirty="0"/>
            <a:t> </a:t>
          </a:r>
          <a:r>
            <a:rPr lang="en-US" b="0" i="0" dirty="0" err="1"/>
            <a:t>parametresi</a:t>
          </a:r>
          <a:r>
            <a:rPr lang="en-US" b="0" i="0" dirty="0"/>
            <a:t>, k </a:t>
          </a:r>
          <a:r>
            <a:rPr lang="en-US" b="0" i="0" dirty="0" err="1"/>
            <a:t>değeridir</a:t>
          </a:r>
          <a:r>
            <a:rPr lang="en-US" b="0" i="0" dirty="0"/>
            <a:t>. </a:t>
          </a:r>
          <a:r>
            <a:rPr lang="en-US" b="0" i="0" dirty="0" err="1"/>
            <a:t>Ancak</a:t>
          </a:r>
          <a:r>
            <a:rPr lang="en-US" b="0" i="0" dirty="0"/>
            <a:t>, </a:t>
          </a:r>
          <a:r>
            <a:rPr lang="en-US" b="0" i="0" dirty="0" err="1"/>
            <a:t>uzaklık</a:t>
          </a:r>
          <a:r>
            <a:rPr lang="en-US" b="0" i="0" dirty="0"/>
            <a:t> </a:t>
          </a:r>
          <a:r>
            <a:rPr lang="en-US" b="0" i="0" dirty="0" err="1"/>
            <a:t>ölçüm</a:t>
          </a:r>
          <a:r>
            <a:rPr lang="en-US" b="0" i="0" dirty="0"/>
            <a:t> </a:t>
          </a:r>
          <a:r>
            <a:rPr lang="en-US" b="0" i="0" dirty="0" err="1"/>
            <a:t>metriği</a:t>
          </a:r>
          <a:r>
            <a:rPr lang="en-US" b="0" i="0" dirty="0"/>
            <a:t> </a:t>
          </a:r>
          <a:r>
            <a:rPr lang="en-US" b="0" i="0" dirty="0" err="1"/>
            <a:t>gibi</a:t>
          </a:r>
          <a:r>
            <a:rPr lang="en-US" b="0" i="0" dirty="0"/>
            <a:t> </a:t>
          </a:r>
          <a:r>
            <a:rPr lang="en-US" b="0" i="0" dirty="0" err="1"/>
            <a:t>diğer</a:t>
          </a:r>
          <a:r>
            <a:rPr lang="en-US" b="0" i="0" dirty="0"/>
            <a:t> </a:t>
          </a:r>
          <a:r>
            <a:rPr lang="en-US" b="0" i="0" dirty="0" err="1"/>
            <a:t>parametreler</a:t>
          </a:r>
          <a:r>
            <a:rPr lang="en-US" b="0" i="0" dirty="0"/>
            <a:t> de </a:t>
          </a:r>
          <a:r>
            <a:rPr lang="en-US" b="0" i="0" dirty="0" err="1"/>
            <a:t>etkili</a:t>
          </a:r>
          <a:r>
            <a:rPr lang="en-US" b="0" i="0" dirty="0"/>
            <a:t> </a:t>
          </a:r>
          <a:r>
            <a:rPr lang="en-US" b="0" i="0" dirty="0" err="1"/>
            <a:t>olabilir</a:t>
          </a:r>
          <a:r>
            <a:rPr lang="en-US" b="0" i="0" dirty="0"/>
            <a:t>.</a:t>
          </a:r>
          <a:endParaRPr lang="en-US" dirty="0"/>
        </a:p>
      </dgm:t>
    </dgm:pt>
    <dgm:pt modelId="{E3C65E9A-D025-4CD1-9817-72F098284E73}" type="parTrans" cxnId="{701857B3-C2B4-43F0-85BF-69A1FADB762B}">
      <dgm:prSet/>
      <dgm:spPr/>
      <dgm:t>
        <a:bodyPr/>
        <a:lstStyle/>
        <a:p>
          <a:endParaRPr lang="en-US"/>
        </a:p>
      </dgm:t>
    </dgm:pt>
    <dgm:pt modelId="{59DF2459-CA04-4A09-8273-769392197179}" type="sibTrans" cxnId="{701857B3-C2B4-43F0-85BF-69A1FADB762B}">
      <dgm:prSet/>
      <dgm:spPr/>
      <dgm:t>
        <a:bodyPr/>
        <a:lstStyle/>
        <a:p>
          <a:endParaRPr lang="en-US"/>
        </a:p>
      </dgm:t>
    </dgm:pt>
    <dgm:pt modelId="{AFAA0ABE-377E-46BA-9237-8BDBAB03E9B6}">
      <dgm:prSet/>
      <dgm:spPr/>
      <dgm:t>
        <a:bodyPr/>
        <a:lstStyle/>
        <a:p>
          <a:r>
            <a:rPr lang="en-US" b="1" i="0" dirty="0" err="1"/>
            <a:t>Esneklik</a:t>
          </a:r>
          <a:r>
            <a:rPr lang="en-US" b="1" i="0" dirty="0"/>
            <a:t>:</a:t>
          </a:r>
          <a:r>
            <a:rPr lang="en-US" b="0" i="0" dirty="0"/>
            <a:t> KNN, </a:t>
          </a:r>
          <a:r>
            <a:rPr lang="en-US" b="0" i="0" dirty="0" err="1"/>
            <a:t>herhangi</a:t>
          </a:r>
          <a:r>
            <a:rPr lang="en-US" b="0" i="0" dirty="0"/>
            <a:t> </a:t>
          </a:r>
          <a:r>
            <a:rPr lang="en-US" b="0" i="0" dirty="0" err="1"/>
            <a:t>bir</a:t>
          </a:r>
          <a:r>
            <a:rPr lang="en-US" b="0" i="0" dirty="0"/>
            <a:t> </a:t>
          </a:r>
          <a:r>
            <a:rPr lang="en-US" b="0" i="0" dirty="0" err="1"/>
            <a:t>öğrenme</a:t>
          </a:r>
          <a:r>
            <a:rPr lang="en-US" b="0" i="0" dirty="0"/>
            <a:t> </a:t>
          </a:r>
          <a:r>
            <a:rPr lang="en-US" b="0" i="0" dirty="0" err="1"/>
            <a:t>sürecine</a:t>
          </a:r>
          <a:r>
            <a:rPr lang="en-US" b="0" i="0" dirty="0"/>
            <a:t> </a:t>
          </a:r>
          <a:r>
            <a:rPr lang="en-US" b="0" i="0" dirty="0" err="1"/>
            <a:t>sahip</a:t>
          </a:r>
          <a:r>
            <a:rPr lang="en-US" b="0" i="0" dirty="0"/>
            <a:t> </a:t>
          </a:r>
          <a:r>
            <a:rPr lang="en-US" b="0" i="0" dirty="0" err="1"/>
            <a:t>olmadığı</a:t>
          </a:r>
          <a:r>
            <a:rPr lang="en-US" b="0" i="0" dirty="0"/>
            <a:t> </a:t>
          </a:r>
          <a:r>
            <a:rPr lang="en-US" b="0" i="0" dirty="0" err="1"/>
            <a:t>için</a:t>
          </a:r>
          <a:r>
            <a:rPr lang="en-US" b="0" i="0" dirty="0"/>
            <a:t>, yeni </a:t>
          </a:r>
          <a:r>
            <a:rPr lang="en-US" b="0" i="0" dirty="0" err="1"/>
            <a:t>veri</a:t>
          </a:r>
          <a:r>
            <a:rPr lang="en-US" b="0" i="0" dirty="0"/>
            <a:t> </a:t>
          </a:r>
          <a:r>
            <a:rPr lang="en-US" b="0" i="0" dirty="0" err="1"/>
            <a:t>noktaları</a:t>
          </a:r>
          <a:r>
            <a:rPr lang="en-US" b="0" i="0" dirty="0"/>
            <a:t> </a:t>
          </a:r>
          <a:r>
            <a:rPr lang="en-US" b="0" i="0" dirty="0" err="1"/>
            <a:t>eklemek</a:t>
          </a:r>
          <a:r>
            <a:rPr lang="en-US" b="0" i="0" dirty="0"/>
            <a:t> </a:t>
          </a:r>
          <a:r>
            <a:rPr lang="en-US" b="0" i="0" dirty="0" err="1"/>
            <a:t>veya</a:t>
          </a:r>
          <a:r>
            <a:rPr lang="en-US" b="0" i="0" dirty="0"/>
            <a:t> </a:t>
          </a:r>
          <a:r>
            <a:rPr lang="en-US" b="0" i="0" dirty="0" err="1"/>
            <a:t>modeli</a:t>
          </a:r>
          <a:r>
            <a:rPr lang="en-US" b="0" i="0" dirty="0"/>
            <a:t> </a:t>
          </a:r>
          <a:r>
            <a:rPr lang="en-US" b="0" i="0" dirty="0" err="1"/>
            <a:t>güncellemek</a:t>
          </a:r>
          <a:r>
            <a:rPr lang="en-US" b="0" i="0" dirty="0"/>
            <a:t> </a:t>
          </a:r>
          <a:r>
            <a:rPr lang="en-US" b="0" i="0" dirty="0" err="1"/>
            <a:t>kolaydır</a:t>
          </a:r>
          <a:r>
            <a:rPr lang="en-US" b="0" i="0" dirty="0"/>
            <a:t>.</a:t>
          </a:r>
          <a:endParaRPr lang="en-US" dirty="0"/>
        </a:p>
      </dgm:t>
    </dgm:pt>
    <dgm:pt modelId="{31731A8F-4DB0-471C-9814-A891DC3602FC}" type="parTrans" cxnId="{D1089BD0-7B45-450B-AB0E-B1E89E8A64F1}">
      <dgm:prSet/>
      <dgm:spPr/>
      <dgm:t>
        <a:bodyPr/>
        <a:lstStyle/>
        <a:p>
          <a:endParaRPr lang="en-US"/>
        </a:p>
      </dgm:t>
    </dgm:pt>
    <dgm:pt modelId="{7E9390D7-8221-4A82-98F1-A048BFC14AE9}" type="sibTrans" cxnId="{D1089BD0-7B45-450B-AB0E-B1E89E8A64F1}">
      <dgm:prSet/>
      <dgm:spPr/>
      <dgm:t>
        <a:bodyPr/>
        <a:lstStyle/>
        <a:p>
          <a:endParaRPr lang="en-US"/>
        </a:p>
      </dgm:t>
    </dgm:pt>
    <dgm:pt modelId="{63A5E0CA-97FF-421F-8A0B-71E697D8822A}">
      <dgm:prSet/>
      <dgm:spPr/>
      <dgm:t>
        <a:bodyPr/>
        <a:lstStyle/>
        <a:p>
          <a:r>
            <a:rPr lang="en-US" b="1" i="0"/>
            <a:t>Yüksek Hafıza İhtiyacı:</a:t>
          </a:r>
          <a:r>
            <a:rPr lang="en-US" b="0" i="0"/>
            <a:t> KNN, tahmin yaparken tüm veri setine erişim gerektirir. Bu nedenle, büyük veri setleri için yüksek bellek ihtiyacına sahip olabilir.</a:t>
          </a:r>
          <a:endParaRPr lang="en-US"/>
        </a:p>
      </dgm:t>
    </dgm:pt>
    <dgm:pt modelId="{BF535318-907F-405B-A63F-259C2E7CA972}" type="parTrans" cxnId="{0F1407DE-D0F9-4C30-B3EA-917B5B03725E}">
      <dgm:prSet/>
      <dgm:spPr/>
      <dgm:t>
        <a:bodyPr/>
        <a:lstStyle/>
        <a:p>
          <a:endParaRPr lang="en-US"/>
        </a:p>
      </dgm:t>
    </dgm:pt>
    <dgm:pt modelId="{E4AA2908-666C-4C9E-A9D2-CB4A222B325E}" type="sibTrans" cxnId="{0F1407DE-D0F9-4C30-B3EA-917B5B03725E}">
      <dgm:prSet/>
      <dgm:spPr/>
      <dgm:t>
        <a:bodyPr/>
        <a:lstStyle/>
        <a:p>
          <a:endParaRPr lang="en-US"/>
        </a:p>
      </dgm:t>
    </dgm:pt>
    <dgm:pt modelId="{A35C6F61-9CB5-4798-B5BE-2DCDD5B7D5E5}">
      <dgm:prSet/>
      <dgm:spPr/>
      <dgm:t>
        <a:bodyPr/>
        <a:lstStyle/>
        <a:p>
          <a:r>
            <a:rPr lang="en-US" b="1" i="0"/>
            <a:t>Etkinlik Problemleri:</a:t>
          </a:r>
          <a:r>
            <a:rPr lang="en-US" b="0" i="0"/>
            <a:t> KNN, her tahmin yapmak için tüm veri setini tarar, bu da büyük veri setleri için yavaş çalışmasına neden olabilir.</a:t>
          </a:r>
          <a:endParaRPr lang="en-US"/>
        </a:p>
      </dgm:t>
    </dgm:pt>
    <dgm:pt modelId="{F4C25554-46A6-4292-882D-A76A86CD10C4}" type="parTrans" cxnId="{34A9BB9E-0E82-4161-B713-166FC90FCD6A}">
      <dgm:prSet/>
      <dgm:spPr/>
      <dgm:t>
        <a:bodyPr/>
        <a:lstStyle/>
        <a:p>
          <a:endParaRPr lang="en-US"/>
        </a:p>
      </dgm:t>
    </dgm:pt>
    <dgm:pt modelId="{C01581A2-769E-4771-997F-A2F57DDA250D}" type="sibTrans" cxnId="{34A9BB9E-0E82-4161-B713-166FC90FCD6A}">
      <dgm:prSet/>
      <dgm:spPr/>
      <dgm:t>
        <a:bodyPr/>
        <a:lstStyle/>
        <a:p>
          <a:endParaRPr lang="en-US"/>
        </a:p>
      </dgm:t>
    </dgm:pt>
    <dgm:pt modelId="{77B32C20-D203-4E36-B782-CA1AB98C3156}" type="pres">
      <dgm:prSet presAssocID="{D4453C7F-4367-4192-ACB7-1153B2DFFDF9}" presName="linear" presStyleCnt="0">
        <dgm:presLayoutVars>
          <dgm:animLvl val="lvl"/>
          <dgm:resizeHandles val="exact"/>
        </dgm:presLayoutVars>
      </dgm:prSet>
      <dgm:spPr/>
    </dgm:pt>
    <dgm:pt modelId="{6A706B96-CB47-457A-BD0C-A06E86F55243}" type="pres">
      <dgm:prSet presAssocID="{84212F95-2412-4E11-A4DA-D87257BD115B}" presName="parentText" presStyleLbl="node1" presStyleIdx="0" presStyleCnt="6">
        <dgm:presLayoutVars>
          <dgm:chMax val="0"/>
          <dgm:bulletEnabled val="1"/>
        </dgm:presLayoutVars>
      </dgm:prSet>
      <dgm:spPr/>
    </dgm:pt>
    <dgm:pt modelId="{3011FE75-4616-46A0-8630-AFC45225A4A1}" type="pres">
      <dgm:prSet presAssocID="{C9E51F8C-847C-4646-B5AD-49D6E3CDE375}" presName="spacer" presStyleCnt="0"/>
      <dgm:spPr/>
    </dgm:pt>
    <dgm:pt modelId="{218CDF0B-7BA4-4B1B-BEB4-F250031302A8}" type="pres">
      <dgm:prSet presAssocID="{FE4DB949-D339-4E6E-AEED-221C246CF416}" presName="parentText" presStyleLbl="node1" presStyleIdx="1" presStyleCnt="6">
        <dgm:presLayoutVars>
          <dgm:chMax val="0"/>
          <dgm:bulletEnabled val="1"/>
        </dgm:presLayoutVars>
      </dgm:prSet>
      <dgm:spPr/>
    </dgm:pt>
    <dgm:pt modelId="{45619ED5-25D4-4F1D-9AFB-56293BC46084}" type="pres">
      <dgm:prSet presAssocID="{B4E7A6DA-C5CF-4072-BC34-EFB807795615}" presName="spacer" presStyleCnt="0"/>
      <dgm:spPr/>
    </dgm:pt>
    <dgm:pt modelId="{CA90579A-2952-445E-8E75-29617591881C}" type="pres">
      <dgm:prSet presAssocID="{E384D125-23A0-4B01-AE32-F7C4DE3477D6}" presName="parentText" presStyleLbl="node1" presStyleIdx="2" presStyleCnt="6">
        <dgm:presLayoutVars>
          <dgm:chMax val="0"/>
          <dgm:bulletEnabled val="1"/>
        </dgm:presLayoutVars>
      </dgm:prSet>
      <dgm:spPr/>
    </dgm:pt>
    <dgm:pt modelId="{4E1EE2DA-303E-48C5-9B50-5CE08289DA78}" type="pres">
      <dgm:prSet presAssocID="{59DF2459-CA04-4A09-8273-769392197179}" presName="spacer" presStyleCnt="0"/>
      <dgm:spPr/>
    </dgm:pt>
    <dgm:pt modelId="{817F5664-D234-4A48-A62A-89BED0E89483}" type="pres">
      <dgm:prSet presAssocID="{AFAA0ABE-377E-46BA-9237-8BDBAB03E9B6}" presName="parentText" presStyleLbl="node1" presStyleIdx="3" presStyleCnt="6">
        <dgm:presLayoutVars>
          <dgm:chMax val="0"/>
          <dgm:bulletEnabled val="1"/>
        </dgm:presLayoutVars>
      </dgm:prSet>
      <dgm:spPr/>
    </dgm:pt>
    <dgm:pt modelId="{A9CB47A0-E399-41F2-BE93-4D0A303E8B0F}" type="pres">
      <dgm:prSet presAssocID="{7E9390D7-8221-4A82-98F1-A048BFC14AE9}" presName="spacer" presStyleCnt="0"/>
      <dgm:spPr/>
    </dgm:pt>
    <dgm:pt modelId="{854C2BC8-10C6-4B4C-8F73-E14AB0BD805F}" type="pres">
      <dgm:prSet presAssocID="{63A5E0CA-97FF-421F-8A0B-71E697D8822A}" presName="parentText" presStyleLbl="node1" presStyleIdx="4" presStyleCnt="6">
        <dgm:presLayoutVars>
          <dgm:chMax val="0"/>
          <dgm:bulletEnabled val="1"/>
        </dgm:presLayoutVars>
      </dgm:prSet>
      <dgm:spPr/>
    </dgm:pt>
    <dgm:pt modelId="{2F815674-C1DE-4F1A-8603-6613BCA20BE8}" type="pres">
      <dgm:prSet presAssocID="{E4AA2908-666C-4C9E-A9D2-CB4A222B325E}" presName="spacer" presStyleCnt="0"/>
      <dgm:spPr/>
    </dgm:pt>
    <dgm:pt modelId="{8798FBF5-C684-41E2-94ED-BBC23717AC76}" type="pres">
      <dgm:prSet presAssocID="{A35C6F61-9CB5-4798-B5BE-2DCDD5B7D5E5}" presName="parentText" presStyleLbl="node1" presStyleIdx="5" presStyleCnt="6">
        <dgm:presLayoutVars>
          <dgm:chMax val="0"/>
          <dgm:bulletEnabled val="1"/>
        </dgm:presLayoutVars>
      </dgm:prSet>
      <dgm:spPr/>
    </dgm:pt>
  </dgm:ptLst>
  <dgm:cxnLst>
    <dgm:cxn modelId="{B40D3104-A3E3-4677-B975-58EA1BA6F441}" srcId="{D4453C7F-4367-4192-ACB7-1153B2DFFDF9}" destId="{FE4DB949-D339-4E6E-AEED-221C246CF416}" srcOrd="1" destOrd="0" parTransId="{82D86537-A44E-41D4-96C5-EA766F5379E5}" sibTransId="{B4E7A6DA-C5CF-4072-BC34-EFB807795615}"/>
    <dgm:cxn modelId="{15A71806-714E-42DD-B360-C835AAB7F977}" type="presOf" srcId="{E384D125-23A0-4B01-AE32-F7C4DE3477D6}" destId="{CA90579A-2952-445E-8E75-29617591881C}" srcOrd="0" destOrd="0" presId="urn:microsoft.com/office/officeart/2005/8/layout/vList2"/>
    <dgm:cxn modelId="{F20A292E-6E9B-45AD-B8E4-E6460752B229}" type="presOf" srcId="{FE4DB949-D339-4E6E-AEED-221C246CF416}" destId="{218CDF0B-7BA4-4B1B-BEB4-F250031302A8}" srcOrd="0" destOrd="0" presId="urn:microsoft.com/office/officeart/2005/8/layout/vList2"/>
    <dgm:cxn modelId="{92042A79-09AF-4EAA-9AAF-CC7A23B10FEE}" type="presOf" srcId="{84212F95-2412-4E11-A4DA-D87257BD115B}" destId="{6A706B96-CB47-457A-BD0C-A06E86F55243}" srcOrd="0" destOrd="0" presId="urn:microsoft.com/office/officeart/2005/8/layout/vList2"/>
    <dgm:cxn modelId="{34A9BB9E-0E82-4161-B713-166FC90FCD6A}" srcId="{D4453C7F-4367-4192-ACB7-1153B2DFFDF9}" destId="{A35C6F61-9CB5-4798-B5BE-2DCDD5B7D5E5}" srcOrd="5" destOrd="0" parTransId="{F4C25554-46A6-4292-882D-A76A86CD10C4}" sibTransId="{C01581A2-769E-4771-997F-A2F57DDA250D}"/>
    <dgm:cxn modelId="{E8123CB1-51CB-4318-9D9E-69BA13BC6886}" type="presOf" srcId="{D4453C7F-4367-4192-ACB7-1153B2DFFDF9}" destId="{77B32C20-D203-4E36-B782-CA1AB98C3156}" srcOrd="0" destOrd="0" presId="urn:microsoft.com/office/officeart/2005/8/layout/vList2"/>
    <dgm:cxn modelId="{701857B3-C2B4-43F0-85BF-69A1FADB762B}" srcId="{D4453C7F-4367-4192-ACB7-1153B2DFFDF9}" destId="{E384D125-23A0-4B01-AE32-F7C4DE3477D6}" srcOrd="2" destOrd="0" parTransId="{E3C65E9A-D025-4CD1-9817-72F098284E73}" sibTransId="{59DF2459-CA04-4A09-8273-769392197179}"/>
    <dgm:cxn modelId="{B02AF4BE-3C2A-471C-A6C7-30D767AFCBF5}" type="presOf" srcId="{63A5E0CA-97FF-421F-8A0B-71E697D8822A}" destId="{854C2BC8-10C6-4B4C-8F73-E14AB0BD805F}" srcOrd="0" destOrd="0" presId="urn:microsoft.com/office/officeart/2005/8/layout/vList2"/>
    <dgm:cxn modelId="{1FDA61C3-077F-465C-9313-CEDF6F3DE648}" type="presOf" srcId="{AFAA0ABE-377E-46BA-9237-8BDBAB03E9B6}" destId="{817F5664-D234-4A48-A62A-89BED0E89483}" srcOrd="0" destOrd="0" presId="urn:microsoft.com/office/officeart/2005/8/layout/vList2"/>
    <dgm:cxn modelId="{4A980ECA-AAD9-48CA-A541-CD3CF0795012}" type="presOf" srcId="{A35C6F61-9CB5-4798-B5BE-2DCDD5B7D5E5}" destId="{8798FBF5-C684-41E2-94ED-BBC23717AC76}" srcOrd="0" destOrd="0" presId="urn:microsoft.com/office/officeart/2005/8/layout/vList2"/>
    <dgm:cxn modelId="{D1089BD0-7B45-450B-AB0E-B1E89E8A64F1}" srcId="{D4453C7F-4367-4192-ACB7-1153B2DFFDF9}" destId="{AFAA0ABE-377E-46BA-9237-8BDBAB03E9B6}" srcOrd="3" destOrd="0" parTransId="{31731A8F-4DB0-471C-9814-A891DC3602FC}" sibTransId="{7E9390D7-8221-4A82-98F1-A048BFC14AE9}"/>
    <dgm:cxn modelId="{0F1407DE-D0F9-4C30-B3EA-917B5B03725E}" srcId="{D4453C7F-4367-4192-ACB7-1153B2DFFDF9}" destId="{63A5E0CA-97FF-421F-8A0B-71E697D8822A}" srcOrd="4" destOrd="0" parTransId="{BF535318-907F-405B-A63F-259C2E7CA972}" sibTransId="{E4AA2908-666C-4C9E-A9D2-CB4A222B325E}"/>
    <dgm:cxn modelId="{EFEDC8E4-DBCD-4248-86DE-76C6D74CD43E}" srcId="{D4453C7F-4367-4192-ACB7-1153B2DFFDF9}" destId="{84212F95-2412-4E11-A4DA-D87257BD115B}" srcOrd="0" destOrd="0" parTransId="{B34CFD76-061C-41B4-91CA-C5B8C4BF59E9}" sibTransId="{C9E51F8C-847C-4646-B5AD-49D6E3CDE375}"/>
    <dgm:cxn modelId="{6CE83A27-43A0-49F7-85B8-ECACF8B20E9A}" type="presParOf" srcId="{77B32C20-D203-4E36-B782-CA1AB98C3156}" destId="{6A706B96-CB47-457A-BD0C-A06E86F55243}" srcOrd="0" destOrd="0" presId="urn:microsoft.com/office/officeart/2005/8/layout/vList2"/>
    <dgm:cxn modelId="{A28DC01C-390F-4CCB-8452-62E805C3FB8D}" type="presParOf" srcId="{77B32C20-D203-4E36-B782-CA1AB98C3156}" destId="{3011FE75-4616-46A0-8630-AFC45225A4A1}" srcOrd="1" destOrd="0" presId="urn:microsoft.com/office/officeart/2005/8/layout/vList2"/>
    <dgm:cxn modelId="{FD9DFAE0-4AA2-4E84-A935-762003A9526F}" type="presParOf" srcId="{77B32C20-D203-4E36-B782-CA1AB98C3156}" destId="{218CDF0B-7BA4-4B1B-BEB4-F250031302A8}" srcOrd="2" destOrd="0" presId="urn:microsoft.com/office/officeart/2005/8/layout/vList2"/>
    <dgm:cxn modelId="{57159921-55C2-4188-97DB-0541EA54708C}" type="presParOf" srcId="{77B32C20-D203-4E36-B782-CA1AB98C3156}" destId="{45619ED5-25D4-4F1D-9AFB-56293BC46084}" srcOrd="3" destOrd="0" presId="urn:microsoft.com/office/officeart/2005/8/layout/vList2"/>
    <dgm:cxn modelId="{EF408572-BABB-4E9E-A73F-AD25A947B29E}" type="presParOf" srcId="{77B32C20-D203-4E36-B782-CA1AB98C3156}" destId="{CA90579A-2952-445E-8E75-29617591881C}" srcOrd="4" destOrd="0" presId="urn:microsoft.com/office/officeart/2005/8/layout/vList2"/>
    <dgm:cxn modelId="{10A677EC-62B2-4781-AC14-C94684C7335D}" type="presParOf" srcId="{77B32C20-D203-4E36-B782-CA1AB98C3156}" destId="{4E1EE2DA-303E-48C5-9B50-5CE08289DA78}" srcOrd="5" destOrd="0" presId="urn:microsoft.com/office/officeart/2005/8/layout/vList2"/>
    <dgm:cxn modelId="{0E8B1D88-FF5C-4F01-88C9-5C0264CD0509}" type="presParOf" srcId="{77B32C20-D203-4E36-B782-CA1AB98C3156}" destId="{817F5664-D234-4A48-A62A-89BED0E89483}" srcOrd="6" destOrd="0" presId="urn:microsoft.com/office/officeart/2005/8/layout/vList2"/>
    <dgm:cxn modelId="{B734FEE3-0279-401A-9E52-B4D17CABCE3B}" type="presParOf" srcId="{77B32C20-D203-4E36-B782-CA1AB98C3156}" destId="{A9CB47A0-E399-41F2-BE93-4D0A303E8B0F}" srcOrd="7" destOrd="0" presId="urn:microsoft.com/office/officeart/2005/8/layout/vList2"/>
    <dgm:cxn modelId="{70441938-686A-4A4B-86FC-C4484E7BD38E}" type="presParOf" srcId="{77B32C20-D203-4E36-B782-CA1AB98C3156}" destId="{854C2BC8-10C6-4B4C-8F73-E14AB0BD805F}" srcOrd="8" destOrd="0" presId="urn:microsoft.com/office/officeart/2005/8/layout/vList2"/>
    <dgm:cxn modelId="{1A816BBD-8127-4D3D-8587-89729B35CBBA}" type="presParOf" srcId="{77B32C20-D203-4E36-B782-CA1AB98C3156}" destId="{2F815674-C1DE-4F1A-8603-6613BCA20BE8}" srcOrd="9" destOrd="0" presId="urn:microsoft.com/office/officeart/2005/8/layout/vList2"/>
    <dgm:cxn modelId="{F5F4C888-3FCA-4200-A3E4-011C27E5C031}" type="presParOf" srcId="{77B32C20-D203-4E36-B782-CA1AB98C3156}" destId="{8798FBF5-C684-41E2-94ED-BBC23717AC7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D2E8AB-4952-4592-9E75-829ADECAE133}"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27F3AF9-B745-42DC-8C4D-192CB73DF85C}">
      <dgm:prSet/>
      <dgm:spPr/>
      <dgm:t>
        <a:bodyPr/>
        <a:lstStyle/>
        <a:p>
          <a:r>
            <a:rPr lang="tr-TR" b="1" dirty="0"/>
            <a:t>Uzaklık Ölçütleri</a:t>
          </a:r>
          <a:endParaRPr lang="en-US" b="1" dirty="0"/>
        </a:p>
      </dgm:t>
    </dgm:pt>
    <dgm:pt modelId="{37744813-7077-4E8A-AC6C-3C58DE902428}" type="parTrans" cxnId="{BD3207D7-2BAB-453D-B05B-A893AC459C6A}">
      <dgm:prSet/>
      <dgm:spPr/>
      <dgm:t>
        <a:bodyPr/>
        <a:lstStyle/>
        <a:p>
          <a:endParaRPr lang="en-US"/>
        </a:p>
      </dgm:t>
    </dgm:pt>
    <dgm:pt modelId="{384357E7-3A9E-4377-9F34-AEFB5B5AB7B8}" type="sibTrans" cxnId="{BD3207D7-2BAB-453D-B05B-A893AC459C6A}">
      <dgm:prSet/>
      <dgm:spPr/>
      <dgm:t>
        <a:bodyPr/>
        <a:lstStyle/>
        <a:p>
          <a:endParaRPr lang="en-US"/>
        </a:p>
      </dgm:t>
    </dgm:pt>
    <dgm:pt modelId="{6A47027F-9218-4185-A152-D3C8CBE20FAC}">
      <dgm:prSet/>
      <dgm:spPr/>
      <dgm:t>
        <a:bodyPr/>
        <a:lstStyle/>
        <a:p>
          <a:r>
            <a:rPr lang="tr-TR" b="1"/>
            <a:t>Komşu Sayısı</a:t>
          </a:r>
          <a:endParaRPr lang="en-US" b="1"/>
        </a:p>
      </dgm:t>
    </dgm:pt>
    <dgm:pt modelId="{956E71E3-17CE-48CF-A80E-08376950D7B2}" type="parTrans" cxnId="{7135F996-3F0B-4C0E-A9D9-37438938C747}">
      <dgm:prSet/>
      <dgm:spPr/>
      <dgm:t>
        <a:bodyPr/>
        <a:lstStyle/>
        <a:p>
          <a:endParaRPr lang="en-US"/>
        </a:p>
      </dgm:t>
    </dgm:pt>
    <dgm:pt modelId="{D77F5C8C-8EA9-4DFF-B6CA-C2325CABEF9F}" type="sibTrans" cxnId="{7135F996-3F0B-4C0E-A9D9-37438938C747}">
      <dgm:prSet/>
      <dgm:spPr/>
      <dgm:t>
        <a:bodyPr/>
        <a:lstStyle/>
        <a:p>
          <a:endParaRPr lang="en-US"/>
        </a:p>
      </dgm:t>
    </dgm:pt>
    <dgm:pt modelId="{0F03B2E0-BB6D-4CB8-A35D-FF9AFDD28D6A}">
      <dgm:prSet/>
      <dgm:spPr/>
      <dgm:t>
        <a:bodyPr/>
        <a:lstStyle/>
        <a:p>
          <a:r>
            <a:rPr lang="tr-TR" b="1"/>
            <a:t>Ağırlıklandırma</a:t>
          </a:r>
          <a:endParaRPr lang="en-US" b="1"/>
        </a:p>
      </dgm:t>
    </dgm:pt>
    <dgm:pt modelId="{B38221FB-8F53-42EB-97FE-AC6C9D98F236}" type="parTrans" cxnId="{60792FE7-D623-440E-BF1D-4EE663E47B2A}">
      <dgm:prSet/>
      <dgm:spPr/>
      <dgm:t>
        <a:bodyPr/>
        <a:lstStyle/>
        <a:p>
          <a:endParaRPr lang="en-US"/>
        </a:p>
      </dgm:t>
    </dgm:pt>
    <dgm:pt modelId="{A72CF031-614E-4508-B5AF-2EE57DE7DD69}" type="sibTrans" cxnId="{60792FE7-D623-440E-BF1D-4EE663E47B2A}">
      <dgm:prSet/>
      <dgm:spPr/>
      <dgm:t>
        <a:bodyPr/>
        <a:lstStyle/>
        <a:p>
          <a:endParaRPr lang="en-US"/>
        </a:p>
      </dgm:t>
    </dgm:pt>
    <dgm:pt modelId="{A59ECA9B-5E13-40AA-8363-0591F849F162}" type="pres">
      <dgm:prSet presAssocID="{BFD2E8AB-4952-4592-9E75-829ADECAE133}" presName="hierChild1" presStyleCnt="0">
        <dgm:presLayoutVars>
          <dgm:chPref val="1"/>
          <dgm:dir/>
          <dgm:animOne val="branch"/>
          <dgm:animLvl val="lvl"/>
          <dgm:resizeHandles/>
        </dgm:presLayoutVars>
      </dgm:prSet>
      <dgm:spPr/>
    </dgm:pt>
    <dgm:pt modelId="{33F3F311-E388-4D21-9910-32FDC417D1B4}" type="pres">
      <dgm:prSet presAssocID="{B27F3AF9-B745-42DC-8C4D-192CB73DF85C}" presName="hierRoot1" presStyleCnt="0"/>
      <dgm:spPr/>
    </dgm:pt>
    <dgm:pt modelId="{BAEDCCFC-76D2-4F87-9260-82E7651BE241}" type="pres">
      <dgm:prSet presAssocID="{B27F3AF9-B745-42DC-8C4D-192CB73DF85C}" presName="composite" presStyleCnt="0"/>
      <dgm:spPr/>
    </dgm:pt>
    <dgm:pt modelId="{0B48B289-2209-4CD3-82DF-2030410C6C9B}" type="pres">
      <dgm:prSet presAssocID="{B27F3AF9-B745-42DC-8C4D-192CB73DF85C}" presName="background" presStyleLbl="node0" presStyleIdx="0" presStyleCnt="3"/>
      <dgm:spPr/>
    </dgm:pt>
    <dgm:pt modelId="{E5EC5CC9-C603-4B53-9215-49742713DFB9}" type="pres">
      <dgm:prSet presAssocID="{B27F3AF9-B745-42DC-8C4D-192CB73DF85C}" presName="text" presStyleLbl="fgAcc0" presStyleIdx="0" presStyleCnt="3">
        <dgm:presLayoutVars>
          <dgm:chPref val="3"/>
        </dgm:presLayoutVars>
      </dgm:prSet>
      <dgm:spPr/>
    </dgm:pt>
    <dgm:pt modelId="{30C80FD4-7EA3-4A7A-8C1D-9F98D6F7D25A}" type="pres">
      <dgm:prSet presAssocID="{B27F3AF9-B745-42DC-8C4D-192CB73DF85C}" presName="hierChild2" presStyleCnt="0"/>
      <dgm:spPr/>
    </dgm:pt>
    <dgm:pt modelId="{436FEF36-A3B1-4EE8-BFA9-007EEBE3BB23}" type="pres">
      <dgm:prSet presAssocID="{6A47027F-9218-4185-A152-D3C8CBE20FAC}" presName="hierRoot1" presStyleCnt="0"/>
      <dgm:spPr/>
    </dgm:pt>
    <dgm:pt modelId="{19732E97-1FA9-4EC9-AD39-C4E519E4A527}" type="pres">
      <dgm:prSet presAssocID="{6A47027F-9218-4185-A152-D3C8CBE20FAC}" presName="composite" presStyleCnt="0"/>
      <dgm:spPr/>
    </dgm:pt>
    <dgm:pt modelId="{8F4DD12E-D317-43D9-B0FE-EDA034149473}" type="pres">
      <dgm:prSet presAssocID="{6A47027F-9218-4185-A152-D3C8CBE20FAC}" presName="background" presStyleLbl="node0" presStyleIdx="1" presStyleCnt="3"/>
      <dgm:spPr/>
    </dgm:pt>
    <dgm:pt modelId="{A653BEB7-7F8B-411C-AFA6-0ADE555BECF0}" type="pres">
      <dgm:prSet presAssocID="{6A47027F-9218-4185-A152-D3C8CBE20FAC}" presName="text" presStyleLbl="fgAcc0" presStyleIdx="1" presStyleCnt="3">
        <dgm:presLayoutVars>
          <dgm:chPref val="3"/>
        </dgm:presLayoutVars>
      </dgm:prSet>
      <dgm:spPr/>
    </dgm:pt>
    <dgm:pt modelId="{57ED6724-A252-430B-B41E-99DDD98C3A62}" type="pres">
      <dgm:prSet presAssocID="{6A47027F-9218-4185-A152-D3C8CBE20FAC}" presName="hierChild2" presStyleCnt="0"/>
      <dgm:spPr/>
    </dgm:pt>
    <dgm:pt modelId="{F9612559-2237-4809-9C66-9A1A570E5DA7}" type="pres">
      <dgm:prSet presAssocID="{0F03B2E0-BB6D-4CB8-A35D-FF9AFDD28D6A}" presName="hierRoot1" presStyleCnt="0"/>
      <dgm:spPr/>
    </dgm:pt>
    <dgm:pt modelId="{25BB3C96-CC29-4336-9D97-8CCD90C07B1A}" type="pres">
      <dgm:prSet presAssocID="{0F03B2E0-BB6D-4CB8-A35D-FF9AFDD28D6A}" presName="composite" presStyleCnt="0"/>
      <dgm:spPr/>
    </dgm:pt>
    <dgm:pt modelId="{409E1CAA-40BE-43EF-B282-72D2CCD3FEB1}" type="pres">
      <dgm:prSet presAssocID="{0F03B2E0-BB6D-4CB8-A35D-FF9AFDD28D6A}" presName="background" presStyleLbl="node0" presStyleIdx="2" presStyleCnt="3"/>
      <dgm:spPr/>
    </dgm:pt>
    <dgm:pt modelId="{BC28AF95-B337-4948-BDA1-2ADF80CE0D63}" type="pres">
      <dgm:prSet presAssocID="{0F03B2E0-BB6D-4CB8-A35D-FF9AFDD28D6A}" presName="text" presStyleLbl="fgAcc0" presStyleIdx="2" presStyleCnt="3">
        <dgm:presLayoutVars>
          <dgm:chPref val="3"/>
        </dgm:presLayoutVars>
      </dgm:prSet>
      <dgm:spPr/>
    </dgm:pt>
    <dgm:pt modelId="{6933A4D0-8FD9-4750-BC75-49DBB69C189F}" type="pres">
      <dgm:prSet presAssocID="{0F03B2E0-BB6D-4CB8-A35D-FF9AFDD28D6A}" presName="hierChild2" presStyleCnt="0"/>
      <dgm:spPr/>
    </dgm:pt>
  </dgm:ptLst>
  <dgm:cxnLst>
    <dgm:cxn modelId="{1426A101-3384-4DED-8B2D-CFFBC4D67E77}" type="presOf" srcId="{B27F3AF9-B745-42DC-8C4D-192CB73DF85C}" destId="{E5EC5CC9-C603-4B53-9215-49742713DFB9}" srcOrd="0" destOrd="0" presId="urn:microsoft.com/office/officeart/2005/8/layout/hierarchy1"/>
    <dgm:cxn modelId="{BB8E6505-AA0A-4989-B5D8-01D960657944}" type="presOf" srcId="{6A47027F-9218-4185-A152-D3C8CBE20FAC}" destId="{A653BEB7-7F8B-411C-AFA6-0ADE555BECF0}" srcOrd="0" destOrd="0" presId="urn:microsoft.com/office/officeart/2005/8/layout/hierarchy1"/>
    <dgm:cxn modelId="{7135F996-3F0B-4C0E-A9D9-37438938C747}" srcId="{BFD2E8AB-4952-4592-9E75-829ADECAE133}" destId="{6A47027F-9218-4185-A152-D3C8CBE20FAC}" srcOrd="1" destOrd="0" parTransId="{956E71E3-17CE-48CF-A80E-08376950D7B2}" sibTransId="{D77F5C8C-8EA9-4DFF-B6CA-C2325CABEF9F}"/>
    <dgm:cxn modelId="{0DFB32D0-3F9E-4187-8411-2C14E6DCA04F}" type="presOf" srcId="{BFD2E8AB-4952-4592-9E75-829ADECAE133}" destId="{A59ECA9B-5E13-40AA-8363-0591F849F162}" srcOrd="0" destOrd="0" presId="urn:microsoft.com/office/officeart/2005/8/layout/hierarchy1"/>
    <dgm:cxn modelId="{BD3207D7-2BAB-453D-B05B-A893AC459C6A}" srcId="{BFD2E8AB-4952-4592-9E75-829ADECAE133}" destId="{B27F3AF9-B745-42DC-8C4D-192CB73DF85C}" srcOrd="0" destOrd="0" parTransId="{37744813-7077-4E8A-AC6C-3C58DE902428}" sibTransId="{384357E7-3A9E-4377-9F34-AEFB5B5AB7B8}"/>
    <dgm:cxn modelId="{60792FE7-D623-440E-BF1D-4EE663E47B2A}" srcId="{BFD2E8AB-4952-4592-9E75-829ADECAE133}" destId="{0F03B2E0-BB6D-4CB8-A35D-FF9AFDD28D6A}" srcOrd="2" destOrd="0" parTransId="{B38221FB-8F53-42EB-97FE-AC6C9D98F236}" sibTransId="{A72CF031-614E-4508-B5AF-2EE57DE7DD69}"/>
    <dgm:cxn modelId="{874529F1-D650-43FF-A6AA-352DEFAABEF8}" type="presOf" srcId="{0F03B2E0-BB6D-4CB8-A35D-FF9AFDD28D6A}" destId="{BC28AF95-B337-4948-BDA1-2ADF80CE0D63}" srcOrd="0" destOrd="0" presId="urn:microsoft.com/office/officeart/2005/8/layout/hierarchy1"/>
    <dgm:cxn modelId="{C3059557-EB37-46F7-8B32-D1910EA1419B}" type="presParOf" srcId="{A59ECA9B-5E13-40AA-8363-0591F849F162}" destId="{33F3F311-E388-4D21-9910-32FDC417D1B4}" srcOrd="0" destOrd="0" presId="urn:microsoft.com/office/officeart/2005/8/layout/hierarchy1"/>
    <dgm:cxn modelId="{F572D2DB-F8A1-43EA-8754-0C886B798732}" type="presParOf" srcId="{33F3F311-E388-4D21-9910-32FDC417D1B4}" destId="{BAEDCCFC-76D2-4F87-9260-82E7651BE241}" srcOrd="0" destOrd="0" presId="urn:microsoft.com/office/officeart/2005/8/layout/hierarchy1"/>
    <dgm:cxn modelId="{99305477-54E6-48FA-A6A2-E73E9A0DA6F1}" type="presParOf" srcId="{BAEDCCFC-76D2-4F87-9260-82E7651BE241}" destId="{0B48B289-2209-4CD3-82DF-2030410C6C9B}" srcOrd="0" destOrd="0" presId="urn:microsoft.com/office/officeart/2005/8/layout/hierarchy1"/>
    <dgm:cxn modelId="{A19B0347-D341-4D2E-B676-1CC5D2A81410}" type="presParOf" srcId="{BAEDCCFC-76D2-4F87-9260-82E7651BE241}" destId="{E5EC5CC9-C603-4B53-9215-49742713DFB9}" srcOrd="1" destOrd="0" presId="urn:microsoft.com/office/officeart/2005/8/layout/hierarchy1"/>
    <dgm:cxn modelId="{4A7C9E7E-F19D-4EF9-9AF4-753AE958885D}" type="presParOf" srcId="{33F3F311-E388-4D21-9910-32FDC417D1B4}" destId="{30C80FD4-7EA3-4A7A-8C1D-9F98D6F7D25A}" srcOrd="1" destOrd="0" presId="urn:microsoft.com/office/officeart/2005/8/layout/hierarchy1"/>
    <dgm:cxn modelId="{AA4EC4C8-5D4E-4A71-9A81-70CF604A80DA}" type="presParOf" srcId="{A59ECA9B-5E13-40AA-8363-0591F849F162}" destId="{436FEF36-A3B1-4EE8-BFA9-007EEBE3BB23}" srcOrd="1" destOrd="0" presId="urn:microsoft.com/office/officeart/2005/8/layout/hierarchy1"/>
    <dgm:cxn modelId="{446A32A0-8F55-448A-BDAA-EC2131065884}" type="presParOf" srcId="{436FEF36-A3B1-4EE8-BFA9-007EEBE3BB23}" destId="{19732E97-1FA9-4EC9-AD39-C4E519E4A527}" srcOrd="0" destOrd="0" presId="urn:microsoft.com/office/officeart/2005/8/layout/hierarchy1"/>
    <dgm:cxn modelId="{AF093A2D-1287-4E09-ABCE-E16F28505B1C}" type="presParOf" srcId="{19732E97-1FA9-4EC9-AD39-C4E519E4A527}" destId="{8F4DD12E-D317-43D9-B0FE-EDA034149473}" srcOrd="0" destOrd="0" presId="urn:microsoft.com/office/officeart/2005/8/layout/hierarchy1"/>
    <dgm:cxn modelId="{AEDC94A5-3FD1-488A-8800-DF29D767DE60}" type="presParOf" srcId="{19732E97-1FA9-4EC9-AD39-C4E519E4A527}" destId="{A653BEB7-7F8B-411C-AFA6-0ADE555BECF0}" srcOrd="1" destOrd="0" presId="urn:microsoft.com/office/officeart/2005/8/layout/hierarchy1"/>
    <dgm:cxn modelId="{98B1DC7A-F2DF-488E-9BDB-A8EF6E14625B}" type="presParOf" srcId="{436FEF36-A3B1-4EE8-BFA9-007EEBE3BB23}" destId="{57ED6724-A252-430B-B41E-99DDD98C3A62}" srcOrd="1" destOrd="0" presId="urn:microsoft.com/office/officeart/2005/8/layout/hierarchy1"/>
    <dgm:cxn modelId="{53967BEC-226C-41B1-96E5-FE9736B1B29C}" type="presParOf" srcId="{A59ECA9B-5E13-40AA-8363-0591F849F162}" destId="{F9612559-2237-4809-9C66-9A1A570E5DA7}" srcOrd="2" destOrd="0" presId="urn:microsoft.com/office/officeart/2005/8/layout/hierarchy1"/>
    <dgm:cxn modelId="{1B893649-D398-4948-8CB0-611C3F8D3427}" type="presParOf" srcId="{F9612559-2237-4809-9C66-9A1A570E5DA7}" destId="{25BB3C96-CC29-4336-9D97-8CCD90C07B1A}" srcOrd="0" destOrd="0" presId="urn:microsoft.com/office/officeart/2005/8/layout/hierarchy1"/>
    <dgm:cxn modelId="{D0AC318D-8FAB-4AA3-9683-9BCE2A9B58D1}" type="presParOf" srcId="{25BB3C96-CC29-4336-9D97-8CCD90C07B1A}" destId="{409E1CAA-40BE-43EF-B282-72D2CCD3FEB1}" srcOrd="0" destOrd="0" presId="urn:microsoft.com/office/officeart/2005/8/layout/hierarchy1"/>
    <dgm:cxn modelId="{61481CEF-71C3-4CCA-96C3-FC42FA47AB03}" type="presParOf" srcId="{25BB3C96-CC29-4336-9D97-8CCD90C07B1A}" destId="{BC28AF95-B337-4948-BDA1-2ADF80CE0D63}" srcOrd="1" destOrd="0" presId="urn:microsoft.com/office/officeart/2005/8/layout/hierarchy1"/>
    <dgm:cxn modelId="{10719164-7140-4046-82CF-5F9B404795AE}" type="presParOf" srcId="{F9612559-2237-4809-9C66-9A1A570E5DA7}" destId="{6933A4D0-8FD9-4750-BC75-49DBB69C189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3520DD-9F9B-44F3-BD20-F7ACC7F87D79}"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1EF4C9C-8B16-44A6-BBB3-2F90C8AFD014}">
      <dgm:prSet/>
      <dgm:spPr/>
      <dgm:t>
        <a:bodyPr/>
        <a:lstStyle/>
        <a:p>
          <a:r>
            <a:rPr lang="en-US" b="1" dirty="0"/>
            <a:t>Distance (</a:t>
          </a:r>
          <a:r>
            <a:rPr lang="en-US" b="1" dirty="0" err="1"/>
            <a:t>Uzaklık</a:t>
          </a:r>
          <a:r>
            <a:rPr lang="en-US" b="1" dirty="0"/>
            <a:t>): </a:t>
          </a:r>
          <a:r>
            <a:rPr lang="en-US" dirty="0" err="1"/>
            <a:t>Tahmin</a:t>
          </a:r>
          <a:r>
            <a:rPr lang="en-US" dirty="0"/>
            <a:t> </a:t>
          </a:r>
          <a:r>
            <a:rPr lang="en-US" dirty="0" err="1"/>
            <a:t>edilecek</a:t>
          </a:r>
          <a:r>
            <a:rPr lang="en-US" dirty="0"/>
            <a:t> </a:t>
          </a:r>
          <a:r>
            <a:rPr lang="en-US" dirty="0" err="1"/>
            <a:t>noktanın</a:t>
          </a:r>
          <a:r>
            <a:rPr lang="en-US" dirty="0"/>
            <a:t> </a:t>
          </a:r>
          <a:r>
            <a:rPr lang="en-US" dirty="0" err="1"/>
            <a:t>diğer</a:t>
          </a:r>
          <a:r>
            <a:rPr lang="en-US" dirty="0"/>
            <a:t> </a:t>
          </a:r>
          <a:r>
            <a:rPr lang="en-US" dirty="0" err="1"/>
            <a:t>noktalara</a:t>
          </a:r>
          <a:r>
            <a:rPr lang="tr-TR" dirty="0"/>
            <a:t> olan</a:t>
          </a:r>
          <a:r>
            <a:rPr lang="en-US" dirty="0"/>
            <a:t> </a:t>
          </a:r>
          <a:r>
            <a:rPr lang="en-US" dirty="0" err="1"/>
            <a:t>uzaklığı</a:t>
          </a:r>
          <a:r>
            <a:rPr lang="en-US" dirty="0"/>
            <a:t> </a:t>
          </a:r>
          <a:r>
            <a:rPr lang="en-US" dirty="0" err="1"/>
            <a:t>hesaplanır</a:t>
          </a:r>
          <a:r>
            <a:rPr lang="en-US" dirty="0"/>
            <a:t>. </a:t>
          </a:r>
        </a:p>
      </dgm:t>
    </dgm:pt>
    <dgm:pt modelId="{446E9853-BFC0-4CB1-BD1A-E08826FA56DF}" type="parTrans" cxnId="{118413D7-BF31-43A5-9ECD-D49092AEFEB6}">
      <dgm:prSet/>
      <dgm:spPr/>
      <dgm:t>
        <a:bodyPr/>
        <a:lstStyle/>
        <a:p>
          <a:endParaRPr lang="en-US"/>
        </a:p>
      </dgm:t>
    </dgm:pt>
    <dgm:pt modelId="{510E3317-3992-444D-BDB0-209B16038482}" type="sibTrans" cxnId="{118413D7-BF31-43A5-9ECD-D49092AEFEB6}">
      <dgm:prSet/>
      <dgm:spPr/>
      <dgm:t>
        <a:bodyPr/>
        <a:lstStyle/>
        <a:p>
          <a:endParaRPr lang="en-US"/>
        </a:p>
      </dgm:t>
    </dgm:pt>
    <dgm:pt modelId="{30B4F7B9-E25A-4CA4-830B-10A84AA1CC4A}">
      <dgm:prSet/>
      <dgm:spPr/>
      <dgm:t>
        <a:bodyPr/>
        <a:lstStyle/>
        <a:p>
          <a:r>
            <a:rPr lang="tr-TR" dirty="0"/>
            <a:t>Öklid Uzaklığı</a:t>
          </a:r>
          <a:endParaRPr lang="en-US" dirty="0"/>
        </a:p>
      </dgm:t>
    </dgm:pt>
    <dgm:pt modelId="{298EA247-E97E-4D74-B9E2-C409AB7D3CC2}" type="parTrans" cxnId="{51578591-8B4E-46AB-80D3-6122F78B1F5E}">
      <dgm:prSet/>
      <dgm:spPr/>
      <dgm:t>
        <a:bodyPr/>
        <a:lstStyle/>
        <a:p>
          <a:endParaRPr lang="en-US"/>
        </a:p>
      </dgm:t>
    </dgm:pt>
    <dgm:pt modelId="{F99046A6-CB26-4544-9F32-F6D7DDE0E090}" type="sibTrans" cxnId="{51578591-8B4E-46AB-80D3-6122F78B1F5E}">
      <dgm:prSet/>
      <dgm:spPr/>
      <dgm:t>
        <a:bodyPr/>
        <a:lstStyle/>
        <a:p>
          <a:endParaRPr lang="en-US"/>
        </a:p>
      </dgm:t>
    </dgm:pt>
    <dgm:pt modelId="{0FBDAF05-809E-43D9-8F3F-64A89A28D188}">
      <dgm:prSet/>
      <dgm:spPr/>
      <dgm:t>
        <a:bodyPr/>
        <a:lstStyle/>
        <a:p>
          <a:r>
            <a:rPr lang="tr-TR"/>
            <a:t>Manhattan Uzaklığı</a:t>
          </a:r>
          <a:endParaRPr lang="en-US"/>
        </a:p>
      </dgm:t>
    </dgm:pt>
    <dgm:pt modelId="{CAEC86CE-9070-4DFD-8A56-856057AF25AD}" type="parTrans" cxnId="{749BF9FC-1E2D-4016-B002-FD200390CD2A}">
      <dgm:prSet/>
      <dgm:spPr/>
      <dgm:t>
        <a:bodyPr/>
        <a:lstStyle/>
        <a:p>
          <a:endParaRPr lang="en-US"/>
        </a:p>
      </dgm:t>
    </dgm:pt>
    <dgm:pt modelId="{41D1C5DE-1F7D-4793-A2E2-FDA90E997808}" type="sibTrans" cxnId="{749BF9FC-1E2D-4016-B002-FD200390CD2A}">
      <dgm:prSet/>
      <dgm:spPr/>
      <dgm:t>
        <a:bodyPr/>
        <a:lstStyle/>
        <a:p>
          <a:endParaRPr lang="en-US"/>
        </a:p>
      </dgm:t>
    </dgm:pt>
    <dgm:pt modelId="{A3055204-D573-4D31-A49B-E4068ADC8833}">
      <dgm:prSet/>
      <dgm:spPr/>
      <dgm:t>
        <a:bodyPr/>
        <a:lstStyle/>
        <a:p>
          <a:r>
            <a:rPr lang="tr-TR" dirty="0" err="1"/>
            <a:t>Minkowski</a:t>
          </a:r>
          <a:r>
            <a:rPr lang="tr-TR" dirty="0"/>
            <a:t> Uzaklığı</a:t>
          </a:r>
          <a:endParaRPr lang="en-US" dirty="0"/>
        </a:p>
      </dgm:t>
    </dgm:pt>
    <dgm:pt modelId="{8B4BCE7D-3031-461E-8C78-05EFC72724F6}" type="parTrans" cxnId="{7B3E41FE-EE89-4881-8ABA-40A589FA0755}">
      <dgm:prSet/>
      <dgm:spPr/>
      <dgm:t>
        <a:bodyPr/>
        <a:lstStyle/>
        <a:p>
          <a:endParaRPr lang="en-US"/>
        </a:p>
      </dgm:t>
    </dgm:pt>
    <dgm:pt modelId="{CBEA948D-67EE-4C26-82EC-29B0975ABC25}" type="sibTrans" cxnId="{7B3E41FE-EE89-4881-8ABA-40A589FA0755}">
      <dgm:prSet/>
      <dgm:spPr/>
      <dgm:t>
        <a:bodyPr/>
        <a:lstStyle/>
        <a:p>
          <a:endParaRPr lang="en-US"/>
        </a:p>
      </dgm:t>
    </dgm:pt>
    <dgm:pt modelId="{F9A510A4-713B-4EED-BE90-B0E364D4CC86}">
      <dgm:prSet/>
      <dgm:spPr/>
      <dgm:t>
        <a:bodyPr/>
        <a:lstStyle/>
        <a:p>
          <a:r>
            <a:rPr lang="tr-TR"/>
            <a:t>Chebyschev Uzaklığı</a:t>
          </a:r>
          <a:endParaRPr lang="en-US"/>
        </a:p>
      </dgm:t>
    </dgm:pt>
    <dgm:pt modelId="{5A0944E4-DADD-4637-93B4-9091CDDF5883}" type="parTrans" cxnId="{4C40E8A1-F7D5-4083-AE43-C85B39F014E8}">
      <dgm:prSet/>
      <dgm:spPr/>
      <dgm:t>
        <a:bodyPr/>
        <a:lstStyle/>
        <a:p>
          <a:endParaRPr lang="en-US"/>
        </a:p>
      </dgm:t>
    </dgm:pt>
    <dgm:pt modelId="{A018BC09-D45B-4BEF-897F-1D27FC539BF3}" type="sibTrans" cxnId="{4C40E8A1-F7D5-4083-AE43-C85B39F014E8}">
      <dgm:prSet/>
      <dgm:spPr/>
      <dgm:t>
        <a:bodyPr/>
        <a:lstStyle/>
        <a:p>
          <a:endParaRPr lang="en-US"/>
        </a:p>
      </dgm:t>
    </dgm:pt>
    <dgm:pt modelId="{11378778-085B-4DBC-A985-CDA78CA58A9F}">
      <dgm:prSet/>
      <dgm:spPr/>
      <dgm:t>
        <a:bodyPr/>
        <a:lstStyle/>
        <a:p>
          <a:r>
            <a:rPr lang="tr-TR"/>
            <a:t>Dilca Uzaklığı</a:t>
          </a:r>
          <a:endParaRPr lang="en-US"/>
        </a:p>
      </dgm:t>
    </dgm:pt>
    <dgm:pt modelId="{9CAF5244-E2E2-458B-A68E-6735D5528842}" type="parTrans" cxnId="{AED63729-1E0D-47CF-8791-4DCDD48EC010}">
      <dgm:prSet/>
      <dgm:spPr/>
      <dgm:t>
        <a:bodyPr/>
        <a:lstStyle/>
        <a:p>
          <a:endParaRPr lang="en-US"/>
        </a:p>
      </dgm:t>
    </dgm:pt>
    <dgm:pt modelId="{042DBDB8-C2C2-4C89-81FE-265B2B27F9FE}" type="sibTrans" cxnId="{AED63729-1E0D-47CF-8791-4DCDD48EC010}">
      <dgm:prSet/>
      <dgm:spPr/>
      <dgm:t>
        <a:bodyPr/>
        <a:lstStyle/>
        <a:p>
          <a:endParaRPr lang="en-US"/>
        </a:p>
      </dgm:t>
    </dgm:pt>
    <dgm:pt modelId="{E6131A4B-6312-45BD-A9E8-55BABF5ADF9A}" type="pres">
      <dgm:prSet presAssocID="{F13520DD-9F9B-44F3-BD20-F7ACC7F87D79}" presName="linear" presStyleCnt="0">
        <dgm:presLayoutVars>
          <dgm:animLvl val="lvl"/>
          <dgm:resizeHandles val="exact"/>
        </dgm:presLayoutVars>
      </dgm:prSet>
      <dgm:spPr/>
    </dgm:pt>
    <dgm:pt modelId="{CD578DC9-23B7-4121-917A-629D8D06D331}" type="pres">
      <dgm:prSet presAssocID="{81EF4C9C-8B16-44A6-BBB3-2F90C8AFD014}" presName="parentText" presStyleLbl="node1" presStyleIdx="0" presStyleCnt="6">
        <dgm:presLayoutVars>
          <dgm:chMax val="0"/>
          <dgm:bulletEnabled val="1"/>
        </dgm:presLayoutVars>
      </dgm:prSet>
      <dgm:spPr/>
    </dgm:pt>
    <dgm:pt modelId="{43876272-74C6-4CC4-AB38-D7752035BA89}" type="pres">
      <dgm:prSet presAssocID="{510E3317-3992-444D-BDB0-209B16038482}" presName="spacer" presStyleCnt="0"/>
      <dgm:spPr/>
    </dgm:pt>
    <dgm:pt modelId="{A5B5813A-6815-4002-8809-38E5E776E9CB}" type="pres">
      <dgm:prSet presAssocID="{30B4F7B9-E25A-4CA4-830B-10A84AA1CC4A}" presName="parentText" presStyleLbl="node1" presStyleIdx="1" presStyleCnt="6">
        <dgm:presLayoutVars>
          <dgm:chMax val="0"/>
          <dgm:bulletEnabled val="1"/>
        </dgm:presLayoutVars>
      </dgm:prSet>
      <dgm:spPr/>
    </dgm:pt>
    <dgm:pt modelId="{47A2CB8C-C414-48A4-BF00-91DA867E9AC4}" type="pres">
      <dgm:prSet presAssocID="{F99046A6-CB26-4544-9F32-F6D7DDE0E090}" presName="spacer" presStyleCnt="0"/>
      <dgm:spPr/>
    </dgm:pt>
    <dgm:pt modelId="{E2BB1271-6DAC-43E1-953A-F88E54ED72B9}" type="pres">
      <dgm:prSet presAssocID="{0FBDAF05-809E-43D9-8F3F-64A89A28D188}" presName="parentText" presStyleLbl="node1" presStyleIdx="2" presStyleCnt="6">
        <dgm:presLayoutVars>
          <dgm:chMax val="0"/>
          <dgm:bulletEnabled val="1"/>
        </dgm:presLayoutVars>
      </dgm:prSet>
      <dgm:spPr/>
    </dgm:pt>
    <dgm:pt modelId="{62625508-BDAD-441E-9756-2B2585BA1107}" type="pres">
      <dgm:prSet presAssocID="{41D1C5DE-1F7D-4793-A2E2-FDA90E997808}" presName="spacer" presStyleCnt="0"/>
      <dgm:spPr/>
    </dgm:pt>
    <dgm:pt modelId="{AA6A8FB1-1FD0-4A47-99AC-1AB26FEDEDD2}" type="pres">
      <dgm:prSet presAssocID="{A3055204-D573-4D31-A49B-E4068ADC8833}" presName="parentText" presStyleLbl="node1" presStyleIdx="3" presStyleCnt="6">
        <dgm:presLayoutVars>
          <dgm:chMax val="0"/>
          <dgm:bulletEnabled val="1"/>
        </dgm:presLayoutVars>
      </dgm:prSet>
      <dgm:spPr/>
    </dgm:pt>
    <dgm:pt modelId="{B5F27FC6-F27E-4C43-B5D0-C32B1F18FDA5}" type="pres">
      <dgm:prSet presAssocID="{CBEA948D-67EE-4C26-82EC-29B0975ABC25}" presName="spacer" presStyleCnt="0"/>
      <dgm:spPr/>
    </dgm:pt>
    <dgm:pt modelId="{145665E2-EFE7-452E-99BE-A7A2B10474A5}" type="pres">
      <dgm:prSet presAssocID="{F9A510A4-713B-4EED-BE90-B0E364D4CC86}" presName="parentText" presStyleLbl="node1" presStyleIdx="4" presStyleCnt="6">
        <dgm:presLayoutVars>
          <dgm:chMax val="0"/>
          <dgm:bulletEnabled val="1"/>
        </dgm:presLayoutVars>
      </dgm:prSet>
      <dgm:spPr/>
    </dgm:pt>
    <dgm:pt modelId="{80872E8E-0193-43F2-8DC5-567E9C5868D2}" type="pres">
      <dgm:prSet presAssocID="{A018BC09-D45B-4BEF-897F-1D27FC539BF3}" presName="spacer" presStyleCnt="0"/>
      <dgm:spPr/>
    </dgm:pt>
    <dgm:pt modelId="{A6E8AC72-B07E-4AF2-8CDC-B6744464EAF6}" type="pres">
      <dgm:prSet presAssocID="{11378778-085B-4DBC-A985-CDA78CA58A9F}" presName="parentText" presStyleLbl="node1" presStyleIdx="5" presStyleCnt="6">
        <dgm:presLayoutVars>
          <dgm:chMax val="0"/>
          <dgm:bulletEnabled val="1"/>
        </dgm:presLayoutVars>
      </dgm:prSet>
      <dgm:spPr/>
    </dgm:pt>
  </dgm:ptLst>
  <dgm:cxnLst>
    <dgm:cxn modelId="{AED63729-1E0D-47CF-8791-4DCDD48EC010}" srcId="{F13520DD-9F9B-44F3-BD20-F7ACC7F87D79}" destId="{11378778-085B-4DBC-A985-CDA78CA58A9F}" srcOrd="5" destOrd="0" parTransId="{9CAF5244-E2E2-458B-A68E-6735D5528842}" sibTransId="{042DBDB8-C2C2-4C89-81FE-265B2B27F9FE}"/>
    <dgm:cxn modelId="{EBE72936-09BB-4497-9228-700F8F84B295}" type="presOf" srcId="{A3055204-D573-4D31-A49B-E4068ADC8833}" destId="{AA6A8FB1-1FD0-4A47-99AC-1AB26FEDEDD2}" srcOrd="0" destOrd="0" presId="urn:microsoft.com/office/officeart/2005/8/layout/vList2"/>
    <dgm:cxn modelId="{952A8843-DE99-4ED6-ACF3-E2B629E85FD5}" type="presOf" srcId="{0FBDAF05-809E-43D9-8F3F-64A89A28D188}" destId="{E2BB1271-6DAC-43E1-953A-F88E54ED72B9}" srcOrd="0" destOrd="0" presId="urn:microsoft.com/office/officeart/2005/8/layout/vList2"/>
    <dgm:cxn modelId="{51578591-8B4E-46AB-80D3-6122F78B1F5E}" srcId="{F13520DD-9F9B-44F3-BD20-F7ACC7F87D79}" destId="{30B4F7B9-E25A-4CA4-830B-10A84AA1CC4A}" srcOrd="1" destOrd="0" parTransId="{298EA247-E97E-4D74-B9E2-C409AB7D3CC2}" sibTransId="{F99046A6-CB26-4544-9F32-F6D7DDE0E090}"/>
    <dgm:cxn modelId="{AD2D6198-1B56-4295-886C-823473EA02BA}" type="presOf" srcId="{30B4F7B9-E25A-4CA4-830B-10A84AA1CC4A}" destId="{A5B5813A-6815-4002-8809-38E5E776E9CB}" srcOrd="0" destOrd="0" presId="urn:microsoft.com/office/officeart/2005/8/layout/vList2"/>
    <dgm:cxn modelId="{4C40E8A1-F7D5-4083-AE43-C85B39F014E8}" srcId="{F13520DD-9F9B-44F3-BD20-F7ACC7F87D79}" destId="{F9A510A4-713B-4EED-BE90-B0E364D4CC86}" srcOrd="4" destOrd="0" parTransId="{5A0944E4-DADD-4637-93B4-9091CDDF5883}" sibTransId="{A018BC09-D45B-4BEF-897F-1D27FC539BF3}"/>
    <dgm:cxn modelId="{4F440EA9-51CD-40A6-9BC7-FBC5A44F9278}" type="presOf" srcId="{F9A510A4-713B-4EED-BE90-B0E364D4CC86}" destId="{145665E2-EFE7-452E-99BE-A7A2B10474A5}" srcOrd="0" destOrd="0" presId="urn:microsoft.com/office/officeart/2005/8/layout/vList2"/>
    <dgm:cxn modelId="{10CBC3C0-C0F4-4933-BFEE-9462EB08571B}" type="presOf" srcId="{F13520DD-9F9B-44F3-BD20-F7ACC7F87D79}" destId="{E6131A4B-6312-45BD-A9E8-55BABF5ADF9A}" srcOrd="0" destOrd="0" presId="urn:microsoft.com/office/officeart/2005/8/layout/vList2"/>
    <dgm:cxn modelId="{118413D7-BF31-43A5-9ECD-D49092AEFEB6}" srcId="{F13520DD-9F9B-44F3-BD20-F7ACC7F87D79}" destId="{81EF4C9C-8B16-44A6-BBB3-2F90C8AFD014}" srcOrd="0" destOrd="0" parTransId="{446E9853-BFC0-4CB1-BD1A-E08826FA56DF}" sibTransId="{510E3317-3992-444D-BDB0-209B16038482}"/>
    <dgm:cxn modelId="{960D8DDB-4226-46BF-9E1B-D36039698FE4}" type="presOf" srcId="{11378778-085B-4DBC-A985-CDA78CA58A9F}" destId="{A6E8AC72-B07E-4AF2-8CDC-B6744464EAF6}" srcOrd="0" destOrd="0" presId="urn:microsoft.com/office/officeart/2005/8/layout/vList2"/>
    <dgm:cxn modelId="{2E8AAFF1-A23C-4B04-9A63-635BA004C531}" type="presOf" srcId="{81EF4C9C-8B16-44A6-BBB3-2F90C8AFD014}" destId="{CD578DC9-23B7-4121-917A-629D8D06D331}" srcOrd="0" destOrd="0" presId="urn:microsoft.com/office/officeart/2005/8/layout/vList2"/>
    <dgm:cxn modelId="{749BF9FC-1E2D-4016-B002-FD200390CD2A}" srcId="{F13520DD-9F9B-44F3-BD20-F7ACC7F87D79}" destId="{0FBDAF05-809E-43D9-8F3F-64A89A28D188}" srcOrd="2" destOrd="0" parTransId="{CAEC86CE-9070-4DFD-8A56-856057AF25AD}" sibTransId="{41D1C5DE-1F7D-4793-A2E2-FDA90E997808}"/>
    <dgm:cxn modelId="{7B3E41FE-EE89-4881-8ABA-40A589FA0755}" srcId="{F13520DD-9F9B-44F3-BD20-F7ACC7F87D79}" destId="{A3055204-D573-4D31-A49B-E4068ADC8833}" srcOrd="3" destOrd="0" parTransId="{8B4BCE7D-3031-461E-8C78-05EFC72724F6}" sibTransId="{CBEA948D-67EE-4C26-82EC-29B0975ABC25}"/>
    <dgm:cxn modelId="{8DC2DCA1-E0F8-4046-8CA8-F6484B786682}" type="presParOf" srcId="{E6131A4B-6312-45BD-A9E8-55BABF5ADF9A}" destId="{CD578DC9-23B7-4121-917A-629D8D06D331}" srcOrd="0" destOrd="0" presId="urn:microsoft.com/office/officeart/2005/8/layout/vList2"/>
    <dgm:cxn modelId="{36DEAF21-5DEE-46B4-95EF-8B980FEB1CFA}" type="presParOf" srcId="{E6131A4B-6312-45BD-A9E8-55BABF5ADF9A}" destId="{43876272-74C6-4CC4-AB38-D7752035BA89}" srcOrd="1" destOrd="0" presId="urn:microsoft.com/office/officeart/2005/8/layout/vList2"/>
    <dgm:cxn modelId="{F229118A-A413-4AC3-9ECC-F606B2885237}" type="presParOf" srcId="{E6131A4B-6312-45BD-A9E8-55BABF5ADF9A}" destId="{A5B5813A-6815-4002-8809-38E5E776E9CB}" srcOrd="2" destOrd="0" presId="urn:microsoft.com/office/officeart/2005/8/layout/vList2"/>
    <dgm:cxn modelId="{2266358A-4680-4227-9A2F-12C925B8772F}" type="presParOf" srcId="{E6131A4B-6312-45BD-A9E8-55BABF5ADF9A}" destId="{47A2CB8C-C414-48A4-BF00-91DA867E9AC4}" srcOrd="3" destOrd="0" presId="urn:microsoft.com/office/officeart/2005/8/layout/vList2"/>
    <dgm:cxn modelId="{45C48BBD-5BD5-4434-9EBA-6AD9507E74D8}" type="presParOf" srcId="{E6131A4B-6312-45BD-A9E8-55BABF5ADF9A}" destId="{E2BB1271-6DAC-43E1-953A-F88E54ED72B9}" srcOrd="4" destOrd="0" presId="urn:microsoft.com/office/officeart/2005/8/layout/vList2"/>
    <dgm:cxn modelId="{C6916FA1-5E1E-43BE-A7D2-1CC16B7A6688}" type="presParOf" srcId="{E6131A4B-6312-45BD-A9E8-55BABF5ADF9A}" destId="{62625508-BDAD-441E-9756-2B2585BA1107}" srcOrd="5" destOrd="0" presId="urn:microsoft.com/office/officeart/2005/8/layout/vList2"/>
    <dgm:cxn modelId="{5EFA86EC-5E55-4541-AFC9-FC8E3E78E1C1}" type="presParOf" srcId="{E6131A4B-6312-45BD-A9E8-55BABF5ADF9A}" destId="{AA6A8FB1-1FD0-4A47-99AC-1AB26FEDEDD2}" srcOrd="6" destOrd="0" presId="urn:microsoft.com/office/officeart/2005/8/layout/vList2"/>
    <dgm:cxn modelId="{AF6C0C91-4F7E-449D-BFCD-5BEB72BD8C9F}" type="presParOf" srcId="{E6131A4B-6312-45BD-A9E8-55BABF5ADF9A}" destId="{B5F27FC6-F27E-4C43-B5D0-C32B1F18FDA5}" srcOrd="7" destOrd="0" presId="urn:microsoft.com/office/officeart/2005/8/layout/vList2"/>
    <dgm:cxn modelId="{CA0FC479-07CB-4A81-B765-C15178A55574}" type="presParOf" srcId="{E6131A4B-6312-45BD-A9E8-55BABF5ADF9A}" destId="{145665E2-EFE7-452E-99BE-A7A2B10474A5}" srcOrd="8" destOrd="0" presId="urn:microsoft.com/office/officeart/2005/8/layout/vList2"/>
    <dgm:cxn modelId="{BCECDCFE-3B48-4013-8B69-2CEB9D4AD8CF}" type="presParOf" srcId="{E6131A4B-6312-45BD-A9E8-55BABF5ADF9A}" destId="{80872E8E-0193-43F2-8DC5-567E9C5868D2}" srcOrd="9" destOrd="0" presId="urn:microsoft.com/office/officeart/2005/8/layout/vList2"/>
    <dgm:cxn modelId="{44E57F68-868C-48F7-86EA-F4F32796CD71}" type="presParOf" srcId="{E6131A4B-6312-45BD-A9E8-55BABF5ADF9A}" destId="{A6E8AC72-B07E-4AF2-8CDC-B6744464EAF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706B96-CB47-457A-BD0C-A06E86F55243}">
      <dsp:nvSpPr>
        <dsp:cNvPr id="0" name=""/>
        <dsp:cNvSpPr/>
      </dsp:nvSpPr>
      <dsp:spPr>
        <a:xfrm>
          <a:off x="0" y="287703"/>
          <a:ext cx="7886700" cy="7585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i="0" kern="1200" dirty="0" err="1">
              <a:latin typeface="Arial" panose="020B0604020202020204" pitchFamily="34" charset="0"/>
              <a:cs typeface="Arial" panose="020B0604020202020204" pitchFamily="34" charset="0"/>
            </a:rPr>
            <a:t>KNN'nin</a:t>
          </a:r>
          <a:r>
            <a:rPr lang="en-US" sz="2000" b="1" i="0" kern="1200" dirty="0">
              <a:latin typeface="Arial" panose="020B0604020202020204" pitchFamily="34" charset="0"/>
              <a:cs typeface="Arial" panose="020B0604020202020204" pitchFamily="34" charset="0"/>
            </a:rPr>
            <a:t> </a:t>
          </a:r>
          <a:r>
            <a:rPr lang="en-US" sz="2000" b="1" i="0" kern="1200" dirty="0" err="1">
              <a:latin typeface="Arial" panose="020B0604020202020204" pitchFamily="34" charset="0"/>
              <a:cs typeface="Arial" panose="020B0604020202020204" pitchFamily="34" charset="0"/>
            </a:rPr>
            <a:t>temel</a:t>
          </a:r>
          <a:r>
            <a:rPr lang="en-US" sz="2000" b="1" i="0" kern="1200" dirty="0">
              <a:latin typeface="Arial" panose="020B0604020202020204" pitchFamily="34" charset="0"/>
              <a:cs typeface="Arial" panose="020B0604020202020204" pitchFamily="34" charset="0"/>
            </a:rPr>
            <a:t> </a:t>
          </a:r>
          <a:r>
            <a:rPr lang="en-US" sz="2000" b="1" i="0" kern="1200" dirty="0" err="1">
              <a:latin typeface="Arial" panose="020B0604020202020204" pitchFamily="34" charset="0"/>
              <a:cs typeface="Arial" panose="020B0604020202020204" pitchFamily="34" charset="0"/>
            </a:rPr>
            <a:t>özellikleri</a:t>
          </a:r>
          <a:r>
            <a:rPr lang="en-US" sz="2000" b="1" i="0" kern="1200" dirty="0">
              <a:latin typeface="Arial" panose="020B0604020202020204" pitchFamily="34" charset="0"/>
              <a:cs typeface="Arial" panose="020B0604020202020204" pitchFamily="34" charset="0"/>
            </a:rPr>
            <a:t> :</a:t>
          </a:r>
          <a:endParaRPr lang="en-US" sz="2000" b="1" kern="1200" dirty="0">
            <a:latin typeface="Arial" panose="020B0604020202020204" pitchFamily="34" charset="0"/>
            <a:cs typeface="Arial" panose="020B0604020202020204" pitchFamily="34" charset="0"/>
          </a:endParaRPr>
        </a:p>
      </dsp:txBody>
      <dsp:txXfrm>
        <a:off x="37032" y="324735"/>
        <a:ext cx="7812636" cy="684534"/>
      </dsp:txXfrm>
    </dsp:sp>
    <dsp:sp modelId="{218CDF0B-7BA4-4B1B-BEB4-F250031302A8}">
      <dsp:nvSpPr>
        <dsp:cNvPr id="0" name=""/>
        <dsp:cNvSpPr/>
      </dsp:nvSpPr>
      <dsp:spPr>
        <a:xfrm>
          <a:off x="0" y="1101022"/>
          <a:ext cx="7886700" cy="7585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dirty="0" err="1"/>
            <a:t>Basitlik</a:t>
          </a:r>
          <a:r>
            <a:rPr lang="en-US" sz="1900" b="1" i="0" kern="1200" dirty="0"/>
            <a:t>:</a:t>
          </a:r>
          <a:r>
            <a:rPr lang="en-US" sz="1900" b="0" i="0" kern="1200" dirty="0"/>
            <a:t> KNN, </a:t>
          </a:r>
          <a:r>
            <a:rPr lang="en-US" sz="1900" b="0" i="0" kern="1200" dirty="0" err="1"/>
            <a:t>basit</a:t>
          </a:r>
          <a:r>
            <a:rPr lang="en-US" sz="1900" b="0" i="0" kern="1200" dirty="0"/>
            <a:t> </a:t>
          </a:r>
          <a:r>
            <a:rPr lang="en-US" sz="1900" b="0" i="0" kern="1200" dirty="0" err="1"/>
            <a:t>bir</a:t>
          </a:r>
          <a:r>
            <a:rPr lang="en-US" sz="1900" b="0" i="0" kern="1200" dirty="0"/>
            <a:t> </a:t>
          </a:r>
          <a:r>
            <a:rPr lang="en-US" sz="1900" b="0" i="0" kern="1200" dirty="0" err="1"/>
            <a:t>algoritmadır</a:t>
          </a:r>
          <a:r>
            <a:rPr lang="en-US" sz="1900" b="0" i="0" kern="1200" dirty="0"/>
            <a:t> </a:t>
          </a:r>
          <a:r>
            <a:rPr lang="en-US" sz="1900" b="0" i="0" kern="1200" dirty="0" err="1"/>
            <a:t>ve</a:t>
          </a:r>
          <a:r>
            <a:rPr lang="en-US" sz="1900" b="0" i="0" kern="1200" dirty="0"/>
            <a:t> </a:t>
          </a:r>
          <a:r>
            <a:rPr lang="en-US" sz="1900" b="0" i="0" kern="1200" dirty="0" err="1"/>
            <a:t>anlaşılması</a:t>
          </a:r>
          <a:r>
            <a:rPr lang="en-US" sz="1900" b="0" i="0" kern="1200" dirty="0"/>
            <a:t> </a:t>
          </a:r>
          <a:r>
            <a:rPr lang="en-US" sz="1900" b="0" i="0" kern="1200" dirty="0" err="1"/>
            <a:t>kolaydır</a:t>
          </a:r>
          <a:r>
            <a:rPr lang="en-US" sz="1900" b="0" i="0" kern="1200" dirty="0"/>
            <a:t>.</a:t>
          </a:r>
          <a:endParaRPr lang="en-US" sz="1900" kern="1200" dirty="0"/>
        </a:p>
      </dsp:txBody>
      <dsp:txXfrm>
        <a:off x="37032" y="1138054"/>
        <a:ext cx="7812636" cy="684534"/>
      </dsp:txXfrm>
    </dsp:sp>
    <dsp:sp modelId="{CA90579A-2952-445E-8E75-29617591881C}">
      <dsp:nvSpPr>
        <dsp:cNvPr id="0" name=""/>
        <dsp:cNvSpPr/>
      </dsp:nvSpPr>
      <dsp:spPr>
        <a:xfrm>
          <a:off x="0" y="1914341"/>
          <a:ext cx="7886700" cy="7585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dirty="0" err="1"/>
            <a:t>Parametre</a:t>
          </a:r>
          <a:r>
            <a:rPr lang="en-US" sz="1900" b="1" i="0" kern="1200" dirty="0"/>
            <a:t> </a:t>
          </a:r>
          <a:r>
            <a:rPr lang="en-US" sz="1900" b="1" i="0" kern="1200" dirty="0" err="1"/>
            <a:t>Azlığı</a:t>
          </a:r>
          <a:r>
            <a:rPr lang="en-US" sz="1900" b="1" i="0" kern="1200" dirty="0"/>
            <a:t>:</a:t>
          </a:r>
          <a:r>
            <a:rPr lang="en-US" sz="1900" b="0" i="0" kern="1200" dirty="0"/>
            <a:t> </a:t>
          </a:r>
          <a:r>
            <a:rPr lang="en-US" sz="1900" b="0" i="0" kern="1200" dirty="0" err="1"/>
            <a:t>KNN'nin</a:t>
          </a:r>
          <a:r>
            <a:rPr lang="en-US" sz="1900" b="0" i="0" kern="1200" dirty="0"/>
            <a:t> </a:t>
          </a:r>
          <a:r>
            <a:rPr lang="en-US" sz="1900" b="0" i="0" kern="1200" dirty="0" err="1"/>
            <a:t>temel</a:t>
          </a:r>
          <a:r>
            <a:rPr lang="en-US" sz="1900" b="0" i="0" kern="1200" dirty="0"/>
            <a:t> </a:t>
          </a:r>
          <a:r>
            <a:rPr lang="en-US" sz="1900" b="0" i="0" kern="1200" dirty="0" err="1"/>
            <a:t>parametresi</a:t>
          </a:r>
          <a:r>
            <a:rPr lang="en-US" sz="1900" b="0" i="0" kern="1200" dirty="0"/>
            <a:t>, k </a:t>
          </a:r>
          <a:r>
            <a:rPr lang="en-US" sz="1900" b="0" i="0" kern="1200" dirty="0" err="1"/>
            <a:t>değeridir</a:t>
          </a:r>
          <a:r>
            <a:rPr lang="en-US" sz="1900" b="0" i="0" kern="1200" dirty="0"/>
            <a:t>. </a:t>
          </a:r>
          <a:r>
            <a:rPr lang="en-US" sz="1900" b="0" i="0" kern="1200" dirty="0" err="1"/>
            <a:t>Ancak</a:t>
          </a:r>
          <a:r>
            <a:rPr lang="en-US" sz="1900" b="0" i="0" kern="1200" dirty="0"/>
            <a:t>, </a:t>
          </a:r>
          <a:r>
            <a:rPr lang="en-US" sz="1900" b="0" i="0" kern="1200" dirty="0" err="1"/>
            <a:t>uzaklık</a:t>
          </a:r>
          <a:r>
            <a:rPr lang="en-US" sz="1900" b="0" i="0" kern="1200" dirty="0"/>
            <a:t> </a:t>
          </a:r>
          <a:r>
            <a:rPr lang="en-US" sz="1900" b="0" i="0" kern="1200" dirty="0" err="1"/>
            <a:t>ölçüm</a:t>
          </a:r>
          <a:r>
            <a:rPr lang="en-US" sz="1900" b="0" i="0" kern="1200" dirty="0"/>
            <a:t> </a:t>
          </a:r>
          <a:r>
            <a:rPr lang="en-US" sz="1900" b="0" i="0" kern="1200" dirty="0" err="1"/>
            <a:t>metriği</a:t>
          </a:r>
          <a:r>
            <a:rPr lang="en-US" sz="1900" b="0" i="0" kern="1200" dirty="0"/>
            <a:t> </a:t>
          </a:r>
          <a:r>
            <a:rPr lang="en-US" sz="1900" b="0" i="0" kern="1200" dirty="0" err="1"/>
            <a:t>gibi</a:t>
          </a:r>
          <a:r>
            <a:rPr lang="en-US" sz="1900" b="0" i="0" kern="1200" dirty="0"/>
            <a:t> </a:t>
          </a:r>
          <a:r>
            <a:rPr lang="en-US" sz="1900" b="0" i="0" kern="1200" dirty="0" err="1"/>
            <a:t>diğer</a:t>
          </a:r>
          <a:r>
            <a:rPr lang="en-US" sz="1900" b="0" i="0" kern="1200" dirty="0"/>
            <a:t> </a:t>
          </a:r>
          <a:r>
            <a:rPr lang="en-US" sz="1900" b="0" i="0" kern="1200" dirty="0" err="1"/>
            <a:t>parametreler</a:t>
          </a:r>
          <a:r>
            <a:rPr lang="en-US" sz="1900" b="0" i="0" kern="1200" dirty="0"/>
            <a:t> de </a:t>
          </a:r>
          <a:r>
            <a:rPr lang="en-US" sz="1900" b="0" i="0" kern="1200" dirty="0" err="1"/>
            <a:t>etkili</a:t>
          </a:r>
          <a:r>
            <a:rPr lang="en-US" sz="1900" b="0" i="0" kern="1200" dirty="0"/>
            <a:t> </a:t>
          </a:r>
          <a:r>
            <a:rPr lang="en-US" sz="1900" b="0" i="0" kern="1200" dirty="0" err="1"/>
            <a:t>olabilir</a:t>
          </a:r>
          <a:r>
            <a:rPr lang="en-US" sz="1900" b="0" i="0" kern="1200" dirty="0"/>
            <a:t>.</a:t>
          </a:r>
          <a:endParaRPr lang="en-US" sz="1900" kern="1200" dirty="0"/>
        </a:p>
      </dsp:txBody>
      <dsp:txXfrm>
        <a:off x="37032" y="1951373"/>
        <a:ext cx="7812636" cy="684534"/>
      </dsp:txXfrm>
    </dsp:sp>
    <dsp:sp modelId="{817F5664-D234-4A48-A62A-89BED0E89483}">
      <dsp:nvSpPr>
        <dsp:cNvPr id="0" name=""/>
        <dsp:cNvSpPr/>
      </dsp:nvSpPr>
      <dsp:spPr>
        <a:xfrm>
          <a:off x="0" y="2727660"/>
          <a:ext cx="7886700" cy="7585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dirty="0" err="1"/>
            <a:t>Esneklik</a:t>
          </a:r>
          <a:r>
            <a:rPr lang="en-US" sz="1900" b="1" i="0" kern="1200" dirty="0"/>
            <a:t>:</a:t>
          </a:r>
          <a:r>
            <a:rPr lang="en-US" sz="1900" b="0" i="0" kern="1200" dirty="0"/>
            <a:t> KNN, </a:t>
          </a:r>
          <a:r>
            <a:rPr lang="en-US" sz="1900" b="0" i="0" kern="1200" dirty="0" err="1"/>
            <a:t>herhangi</a:t>
          </a:r>
          <a:r>
            <a:rPr lang="en-US" sz="1900" b="0" i="0" kern="1200" dirty="0"/>
            <a:t> </a:t>
          </a:r>
          <a:r>
            <a:rPr lang="en-US" sz="1900" b="0" i="0" kern="1200" dirty="0" err="1"/>
            <a:t>bir</a:t>
          </a:r>
          <a:r>
            <a:rPr lang="en-US" sz="1900" b="0" i="0" kern="1200" dirty="0"/>
            <a:t> </a:t>
          </a:r>
          <a:r>
            <a:rPr lang="en-US" sz="1900" b="0" i="0" kern="1200" dirty="0" err="1"/>
            <a:t>öğrenme</a:t>
          </a:r>
          <a:r>
            <a:rPr lang="en-US" sz="1900" b="0" i="0" kern="1200" dirty="0"/>
            <a:t> </a:t>
          </a:r>
          <a:r>
            <a:rPr lang="en-US" sz="1900" b="0" i="0" kern="1200" dirty="0" err="1"/>
            <a:t>sürecine</a:t>
          </a:r>
          <a:r>
            <a:rPr lang="en-US" sz="1900" b="0" i="0" kern="1200" dirty="0"/>
            <a:t> </a:t>
          </a:r>
          <a:r>
            <a:rPr lang="en-US" sz="1900" b="0" i="0" kern="1200" dirty="0" err="1"/>
            <a:t>sahip</a:t>
          </a:r>
          <a:r>
            <a:rPr lang="en-US" sz="1900" b="0" i="0" kern="1200" dirty="0"/>
            <a:t> </a:t>
          </a:r>
          <a:r>
            <a:rPr lang="en-US" sz="1900" b="0" i="0" kern="1200" dirty="0" err="1"/>
            <a:t>olmadığı</a:t>
          </a:r>
          <a:r>
            <a:rPr lang="en-US" sz="1900" b="0" i="0" kern="1200" dirty="0"/>
            <a:t> </a:t>
          </a:r>
          <a:r>
            <a:rPr lang="en-US" sz="1900" b="0" i="0" kern="1200" dirty="0" err="1"/>
            <a:t>için</a:t>
          </a:r>
          <a:r>
            <a:rPr lang="en-US" sz="1900" b="0" i="0" kern="1200" dirty="0"/>
            <a:t>, yeni </a:t>
          </a:r>
          <a:r>
            <a:rPr lang="en-US" sz="1900" b="0" i="0" kern="1200" dirty="0" err="1"/>
            <a:t>veri</a:t>
          </a:r>
          <a:r>
            <a:rPr lang="en-US" sz="1900" b="0" i="0" kern="1200" dirty="0"/>
            <a:t> </a:t>
          </a:r>
          <a:r>
            <a:rPr lang="en-US" sz="1900" b="0" i="0" kern="1200" dirty="0" err="1"/>
            <a:t>noktaları</a:t>
          </a:r>
          <a:r>
            <a:rPr lang="en-US" sz="1900" b="0" i="0" kern="1200" dirty="0"/>
            <a:t> </a:t>
          </a:r>
          <a:r>
            <a:rPr lang="en-US" sz="1900" b="0" i="0" kern="1200" dirty="0" err="1"/>
            <a:t>eklemek</a:t>
          </a:r>
          <a:r>
            <a:rPr lang="en-US" sz="1900" b="0" i="0" kern="1200" dirty="0"/>
            <a:t> </a:t>
          </a:r>
          <a:r>
            <a:rPr lang="en-US" sz="1900" b="0" i="0" kern="1200" dirty="0" err="1"/>
            <a:t>veya</a:t>
          </a:r>
          <a:r>
            <a:rPr lang="en-US" sz="1900" b="0" i="0" kern="1200" dirty="0"/>
            <a:t> </a:t>
          </a:r>
          <a:r>
            <a:rPr lang="en-US" sz="1900" b="0" i="0" kern="1200" dirty="0" err="1"/>
            <a:t>modeli</a:t>
          </a:r>
          <a:r>
            <a:rPr lang="en-US" sz="1900" b="0" i="0" kern="1200" dirty="0"/>
            <a:t> </a:t>
          </a:r>
          <a:r>
            <a:rPr lang="en-US" sz="1900" b="0" i="0" kern="1200" dirty="0" err="1"/>
            <a:t>güncellemek</a:t>
          </a:r>
          <a:r>
            <a:rPr lang="en-US" sz="1900" b="0" i="0" kern="1200" dirty="0"/>
            <a:t> </a:t>
          </a:r>
          <a:r>
            <a:rPr lang="en-US" sz="1900" b="0" i="0" kern="1200" dirty="0" err="1"/>
            <a:t>kolaydır</a:t>
          </a:r>
          <a:r>
            <a:rPr lang="en-US" sz="1900" b="0" i="0" kern="1200" dirty="0"/>
            <a:t>.</a:t>
          </a:r>
          <a:endParaRPr lang="en-US" sz="1900" kern="1200" dirty="0"/>
        </a:p>
      </dsp:txBody>
      <dsp:txXfrm>
        <a:off x="37032" y="2764692"/>
        <a:ext cx="7812636" cy="684534"/>
      </dsp:txXfrm>
    </dsp:sp>
    <dsp:sp modelId="{854C2BC8-10C6-4B4C-8F73-E14AB0BD805F}">
      <dsp:nvSpPr>
        <dsp:cNvPr id="0" name=""/>
        <dsp:cNvSpPr/>
      </dsp:nvSpPr>
      <dsp:spPr>
        <a:xfrm>
          <a:off x="0" y="3540978"/>
          <a:ext cx="7886700" cy="7585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a:t>Yüksek Hafıza İhtiyacı:</a:t>
          </a:r>
          <a:r>
            <a:rPr lang="en-US" sz="1900" b="0" i="0" kern="1200"/>
            <a:t> KNN, tahmin yaparken tüm veri setine erişim gerektirir. Bu nedenle, büyük veri setleri için yüksek bellek ihtiyacına sahip olabilir.</a:t>
          </a:r>
          <a:endParaRPr lang="en-US" sz="1900" kern="1200"/>
        </a:p>
      </dsp:txBody>
      <dsp:txXfrm>
        <a:off x="37032" y="3578010"/>
        <a:ext cx="7812636" cy="684534"/>
      </dsp:txXfrm>
    </dsp:sp>
    <dsp:sp modelId="{8798FBF5-C684-41E2-94ED-BBC23717AC76}">
      <dsp:nvSpPr>
        <dsp:cNvPr id="0" name=""/>
        <dsp:cNvSpPr/>
      </dsp:nvSpPr>
      <dsp:spPr>
        <a:xfrm>
          <a:off x="0" y="4354297"/>
          <a:ext cx="7886700" cy="7585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a:t>Etkinlik Problemleri:</a:t>
          </a:r>
          <a:r>
            <a:rPr lang="en-US" sz="1900" b="0" i="0" kern="1200"/>
            <a:t> KNN, her tahmin yapmak için tüm veri setini tarar, bu da büyük veri setleri için yavaş çalışmasına neden olabilir.</a:t>
          </a:r>
          <a:endParaRPr lang="en-US" sz="1900" kern="1200"/>
        </a:p>
      </dsp:txBody>
      <dsp:txXfrm>
        <a:off x="37032" y="4391329"/>
        <a:ext cx="7812636" cy="6845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48B289-2209-4CD3-82DF-2030410C6C9B}">
      <dsp:nvSpPr>
        <dsp:cNvPr id="0" name=""/>
        <dsp:cNvSpPr/>
      </dsp:nvSpPr>
      <dsp:spPr>
        <a:xfrm>
          <a:off x="0" y="1021767"/>
          <a:ext cx="2282428" cy="14493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EC5CC9-C603-4B53-9215-49742713DFB9}">
      <dsp:nvSpPr>
        <dsp:cNvPr id="0" name=""/>
        <dsp:cNvSpPr/>
      </dsp:nvSpPr>
      <dsp:spPr>
        <a:xfrm>
          <a:off x="253603" y="1262690"/>
          <a:ext cx="2282428" cy="14493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tr-TR" sz="2400" b="1" kern="1200" dirty="0"/>
            <a:t>Uzaklık Ölçütleri</a:t>
          </a:r>
          <a:endParaRPr lang="en-US" sz="2400" b="1" kern="1200" dirty="0"/>
        </a:p>
      </dsp:txBody>
      <dsp:txXfrm>
        <a:off x="296053" y="1305140"/>
        <a:ext cx="2197528" cy="1364441"/>
      </dsp:txXfrm>
    </dsp:sp>
    <dsp:sp modelId="{8F4DD12E-D317-43D9-B0FE-EDA034149473}">
      <dsp:nvSpPr>
        <dsp:cNvPr id="0" name=""/>
        <dsp:cNvSpPr/>
      </dsp:nvSpPr>
      <dsp:spPr>
        <a:xfrm>
          <a:off x="2789634" y="1021767"/>
          <a:ext cx="2282428" cy="14493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53BEB7-7F8B-411C-AFA6-0ADE555BECF0}">
      <dsp:nvSpPr>
        <dsp:cNvPr id="0" name=""/>
        <dsp:cNvSpPr/>
      </dsp:nvSpPr>
      <dsp:spPr>
        <a:xfrm>
          <a:off x="3043237" y="1262690"/>
          <a:ext cx="2282428" cy="14493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tr-TR" sz="2400" b="1" kern="1200"/>
            <a:t>Komşu Sayısı</a:t>
          </a:r>
          <a:endParaRPr lang="en-US" sz="2400" b="1" kern="1200"/>
        </a:p>
      </dsp:txBody>
      <dsp:txXfrm>
        <a:off x="3085687" y="1305140"/>
        <a:ext cx="2197528" cy="1364441"/>
      </dsp:txXfrm>
    </dsp:sp>
    <dsp:sp modelId="{409E1CAA-40BE-43EF-B282-72D2CCD3FEB1}">
      <dsp:nvSpPr>
        <dsp:cNvPr id="0" name=""/>
        <dsp:cNvSpPr/>
      </dsp:nvSpPr>
      <dsp:spPr>
        <a:xfrm>
          <a:off x="5579268" y="1021767"/>
          <a:ext cx="2282428" cy="14493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28AF95-B337-4948-BDA1-2ADF80CE0D63}">
      <dsp:nvSpPr>
        <dsp:cNvPr id="0" name=""/>
        <dsp:cNvSpPr/>
      </dsp:nvSpPr>
      <dsp:spPr>
        <a:xfrm>
          <a:off x="5832871" y="1262690"/>
          <a:ext cx="2282428" cy="14493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tr-TR" sz="2400" b="1" kern="1200"/>
            <a:t>Ağırlıklandırma</a:t>
          </a:r>
          <a:endParaRPr lang="en-US" sz="2400" b="1" kern="1200"/>
        </a:p>
      </dsp:txBody>
      <dsp:txXfrm>
        <a:off x="5875321" y="1305140"/>
        <a:ext cx="2197528" cy="13644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78DC9-23B7-4121-917A-629D8D06D331}">
      <dsp:nvSpPr>
        <dsp:cNvPr id="0" name=""/>
        <dsp:cNvSpPr/>
      </dsp:nvSpPr>
      <dsp:spPr>
        <a:xfrm>
          <a:off x="0" y="232228"/>
          <a:ext cx="5669628" cy="9149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Distance (</a:t>
          </a:r>
          <a:r>
            <a:rPr lang="en-US" sz="2300" b="1" kern="1200" dirty="0" err="1"/>
            <a:t>Uzaklık</a:t>
          </a:r>
          <a:r>
            <a:rPr lang="en-US" sz="2300" b="1" kern="1200" dirty="0"/>
            <a:t>): </a:t>
          </a:r>
          <a:r>
            <a:rPr lang="en-US" sz="2300" kern="1200" dirty="0" err="1"/>
            <a:t>Tahmin</a:t>
          </a:r>
          <a:r>
            <a:rPr lang="en-US" sz="2300" kern="1200" dirty="0"/>
            <a:t> </a:t>
          </a:r>
          <a:r>
            <a:rPr lang="en-US" sz="2300" kern="1200" dirty="0" err="1"/>
            <a:t>edilecek</a:t>
          </a:r>
          <a:r>
            <a:rPr lang="en-US" sz="2300" kern="1200" dirty="0"/>
            <a:t> </a:t>
          </a:r>
          <a:r>
            <a:rPr lang="en-US" sz="2300" kern="1200" dirty="0" err="1"/>
            <a:t>noktanın</a:t>
          </a:r>
          <a:r>
            <a:rPr lang="en-US" sz="2300" kern="1200" dirty="0"/>
            <a:t> </a:t>
          </a:r>
          <a:r>
            <a:rPr lang="en-US" sz="2300" kern="1200" dirty="0" err="1"/>
            <a:t>diğer</a:t>
          </a:r>
          <a:r>
            <a:rPr lang="en-US" sz="2300" kern="1200" dirty="0"/>
            <a:t> </a:t>
          </a:r>
          <a:r>
            <a:rPr lang="en-US" sz="2300" kern="1200" dirty="0" err="1"/>
            <a:t>noktalara</a:t>
          </a:r>
          <a:r>
            <a:rPr lang="tr-TR" sz="2300" kern="1200" dirty="0"/>
            <a:t> olan</a:t>
          </a:r>
          <a:r>
            <a:rPr lang="en-US" sz="2300" kern="1200" dirty="0"/>
            <a:t> </a:t>
          </a:r>
          <a:r>
            <a:rPr lang="en-US" sz="2300" kern="1200" dirty="0" err="1"/>
            <a:t>uzaklığı</a:t>
          </a:r>
          <a:r>
            <a:rPr lang="en-US" sz="2300" kern="1200" dirty="0"/>
            <a:t> </a:t>
          </a:r>
          <a:r>
            <a:rPr lang="en-US" sz="2300" kern="1200" dirty="0" err="1"/>
            <a:t>hesaplanır</a:t>
          </a:r>
          <a:r>
            <a:rPr lang="en-US" sz="2300" kern="1200" dirty="0"/>
            <a:t>. </a:t>
          </a:r>
        </a:p>
      </dsp:txBody>
      <dsp:txXfrm>
        <a:off x="44664" y="276892"/>
        <a:ext cx="5580300" cy="825612"/>
      </dsp:txXfrm>
    </dsp:sp>
    <dsp:sp modelId="{A5B5813A-6815-4002-8809-38E5E776E9CB}">
      <dsp:nvSpPr>
        <dsp:cNvPr id="0" name=""/>
        <dsp:cNvSpPr/>
      </dsp:nvSpPr>
      <dsp:spPr>
        <a:xfrm>
          <a:off x="0" y="1213408"/>
          <a:ext cx="5669628" cy="914940"/>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tr-TR" sz="2300" kern="1200" dirty="0"/>
            <a:t>Öklid Uzaklığı</a:t>
          </a:r>
          <a:endParaRPr lang="en-US" sz="2300" kern="1200" dirty="0"/>
        </a:p>
      </dsp:txBody>
      <dsp:txXfrm>
        <a:off x="44664" y="1258072"/>
        <a:ext cx="5580300" cy="825612"/>
      </dsp:txXfrm>
    </dsp:sp>
    <dsp:sp modelId="{E2BB1271-6DAC-43E1-953A-F88E54ED72B9}">
      <dsp:nvSpPr>
        <dsp:cNvPr id="0" name=""/>
        <dsp:cNvSpPr/>
      </dsp:nvSpPr>
      <dsp:spPr>
        <a:xfrm>
          <a:off x="0" y="2194588"/>
          <a:ext cx="5669628" cy="914940"/>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tr-TR" sz="2300" kern="1200"/>
            <a:t>Manhattan Uzaklığı</a:t>
          </a:r>
          <a:endParaRPr lang="en-US" sz="2300" kern="1200"/>
        </a:p>
      </dsp:txBody>
      <dsp:txXfrm>
        <a:off x="44664" y="2239252"/>
        <a:ext cx="5580300" cy="825612"/>
      </dsp:txXfrm>
    </dsp:sp>
    <dsp:sp modelId="{AA6A8FB1-1FD0-4A47-99AC-1AB26FEDEDD2}">
      <dsp:nvSpPr>
        <dsp:cNvPr id="0" name=""/>
        <dsp:cNvSpPr/>
      </dsp:nvSpPr>
      <dsp:spPr>
        <a:xfrm>
          <a:off x="0" y="3175768"/>
          <a:ext cx="5669628" cy="914940"/>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tr-TR" sz="2300" kern="1200" dirty="0" err="1"/>
            <a:t>Minkowski</a:t>
          </a:r>
          <a:r>
            <a:rPr lang="tr-TR" sz="2300" kern="1200" dirty="0"/>
            <a:t> Uzaklığı</a:t>
          </a:r>
          <a:endParaRPr lang="en-US" sz="2300" kern="1200" dirty="0"/>
        </a:p>
      </dsp:txBody>
      <dsp:txXfrm>
        <a:off x="44664" y="3220432"/>
        <a:ext cx="5580300" cy="825612"/>
      </dsp:txXfrm>
    </dsp:sp>
    <dsp:sp modelId="{145665E2-EFE7-452E-99BE-A7A2B10474A5}">
      <dsp:nvSpPr>
        <dsp:cNvPr id="0" name=""/>
        <dsp:cNvSpPr/>
      </dsp:nvSpPr>
      <dsp:spPr>
        <a:xfrm>
          <a:off x="0" y="4156948"/>
          <a:ext cx="5669628" cy="914940"/>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tr-TR" sz="2300" kern="1200"/>
            <a:t>Chebyschev Uzaklığı</a:t>
          </a:r>
          <a:endParaRPr lang="en-US" sz="2300" kern="1200"/>
        </a:p>
      </dsp:txBody>
      <dsp:txXfrm>
        <a:off x="44664" y="4201612"/>
        <a:ext cx="5580300" cy="825612"/>
      </dsp:txXfrm>
    </dsp:sp>
    <dsp:sp modelId="{A6E8AC72-B07E-4AF2-8CDC-B6744464EAF6}">
      <dsp:nvSpPr>
        <dsp:cNvPr id="0" name=""/>
        <dsp:cNvSpPr/>
      </dsp:nvSpPr>
      <dsp:spPr>
        <a:xfrm>
          <a:off x="0" y="5138128"/>
          <a:ext cx="5669628" cy="9149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tr-TR" sz="2300" kern="1200"/>
            <a:t>Dilca Uzaklığı</a:t>
          </a:r>
          <a:endParaRPr lang="en-US" sz="2300" kern="1200"/>
        </a:p>
      </dsp:txBody>
      <dsp:txXfrm>
        <a:off x="44664" y="5182792"/>
        <a:ext cx="5580300" cy="8256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41557E65-1FAD-4811-98EB-AA504D5D53D9}" type="datetimeFigureOut">
              <a:rPr lang="tr-TR"/>
              <a:pPr>
                <a:defRPr/>
              </a:pPr>
              <a:t>28.05.2026</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tr-TR" noProof="0"/>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EA691191-04C3-4329-9332-8023D3CD7BC4}" type="slidenum">
              <a:rPr lang="tr-TR"/>
              <a:pPr>
                <a:defRPr/>
              </a:pPr>
              <a:t>‹#›</a:t>
            </a:fld>
            <a:endParaRPr lang="tr-TR"/>
          </a:p>
        </p:txBody>
      </p:sp>
    </p:spTree>
    <p:extLst>
      <p:ext uri="{BB962C8B-B14F-4D97-AF65-F5344CB8AC3E}">
        <p14:creationId xmlns:p14="http://schemas.microsoft.com/office/powerpoint/2010/main" val="1165533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1 Slayt Görüntüsü Yer Tutucusu"/>
          <p:cNvSpPr>
            <a:spLocks noGrp="1" noRot="1" noChangeAspect="1"/>
          </p:cNvSpPr>
          <p:nvPr>
            <p:ph type="sldImg"/>
          </p:nvPr>
        </p:nvSpPr>
        <p:spPr bwMode="auto">
          <a:noFill/>
          <a:ln>
            <a:solidFill>
              <a:srgbClr val="000000"/>
            </a:solidFill>
            <a:miter lim="800000"/>
            <a:headEnd/>
            <a:tailEnd/>
          </a:ln>
        </p:spPr>
      </p:sp>
      <p:sp>
        <p:nvSpPr>
          <p:cNvPr id="17410" name="2 Not Yer Tutucusu"/>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tr-TR"/>
          </a:p>
        </p:txBody>
      </p:sp>
      <p:sp>
        <p:nvSpPr>
          <p:cNvPr id="17411" name="3 Slayt Numarası Yer Tutucusu"/>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EF39513-F362-4323-ACA8-605FFA7D96C8}" type="slidenum">
              <a:rPr lang="tr-TR"/>
              <a:pPr fontAlgn="base">
                <a:spcBef>
                  <a:spcPct val="0"/>
                </a:spcBef>
                <a:spcAft>
                  <a:spcPct val="0"/>
                </a:spcAft>
                <a:defRPr/>
              </a:pPr>
              <a:t>1</a:t>
            </a:fld>
            <a:endParaRPr lang="tr-TR"/>
          </a:p>
        </p:txBody>
      </p:sp>
    </p:spTree>
    <p:extLst>
      <p:ext uri="{BB962C8B-B14F-4D97-AF65-F5344CB8AC3E}">
        <p14:creationId xmlns:p14="http://schemas.microsoft.com/office/powerpoint/2010/main" val="2477909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6C76CA76-5D96-47A9-9485-A923700521F2}" type="slidenum">
              <a:rPr lang="tr-TR" smtClean="0"/>
              <a:pPr/>
              <a:t>25</a:t>
            </a:fld>
            <a:endParaRPr lang="tr-TR"/>
          </a:p>
        </p:txBody>
      </p:sp>
    </p:spTree>
    <p:extLst>
      <p:ext uri="{BB962C8B-B14F-4D97-AF65-F5344CB8AC3E}">
        <p14:creationId xmlns:p14="http://schemas.microsoft.com/office/powerpoint/2010/main" val="1736991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6C76CA76-5D96-47A9-9485-A923700521F2}" type="slidenum">
              <a:rPr lang="tr-TR" smtClean="0"/>
              <a:pPr/>
              <a:t>28</a:t>
            </a:fld>
            <a:endParaRPr lang="tr-TR"/>
          </a:p>
        </p:txBody>
      </p:sp>
    </p:spTree>
    <p:extLst>
      <p:ext uri="{BB962C8B-B14F-4D97-AF65-F5344CB8AC3E}">
        <p14:creationId xmlns:p14="http://schemas.microsoft.com/office/powerpoint/2010/main" val="1736991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pPr>
              <a:defRPr/>
            </a:pPr>
            <a:fld id="{EA691191-04C3-4329-9332-8023D3CD7BC4}" type="slidenum">
              <a:rPr lang="tr-TR" smtClean="0"/>
              <a:pPr>
                <a:defRPr/>
              </a:pPr>
              <a:t>45</a:t>
            </a:fld>
            <a:endParaRPr lang="tr-TR"/>
          </a:p>
        </p:txBody>
      </p:sp>
    </p:spTree>
    <p:extLst>
      <p:ext uri="{BB962C8B-B14F-4D97-AF65-F5344CB8AC3E}">
        <p14:creationId xmlns:p14="http://schemas.microsoft.com/office/powerpoint/2010/main" val="3928182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pPr>
              <a:defRPr/>
            </a:pPr>
            <a:fld id="{EA691191-04C3-4329-9332-8023D3CD7BC4}" type="slidenum">
              <a:rPr lang="tr-TR" smtClean="0"/>
              <a:pPr>
                <a:defRPr/>
              </a:pPr>
              <a:t>46</a:t>
            </a:fld>
            <a:endParaRPr lang="tr-TR"/>
          </a:p>
        </p:txBody>
      </p:sp>
    </p:spTree>
    <p:extLst>
      <p:ext uri="{BB962C8B-B14F-4D97-AF65-F5344CB8AC3E}">
        <p14:creationId xmlns:p14="http://schemas.microsoft.com/office/powerpoint/2010/main" val="3492179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pPr>
              <a:defRPr/>
            </a:pPr>
            <a:fld id="{EA691191-04C3-4329-9332-8023D3CD7BC4}" type="slidenum">
              <a:rPr lang="tr-TR" smtClean="0"/>
              <a:pPr>
                <a:defRPr/>
              </a:pPr>
              <a:t>47</a:t>
            </a:fld>
            <a:endParaRPr lang="tr-TR"/>
          </a:p>
        </p:txBody>
      </p:sp>
    </p:spTree>
    <p:extLst>
      <p:ext uri="{BB962C8B-B14F-4D97-AF65-F5344CB8AC3E}">
        <p14:creationId xmlns:p14="http://schemas.microsoft.com/office/powerpoint/2010/main" val="3914610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pPr>
              <a:defRPr/>
            </a:pPr>
            <a:fld id="{EA691191-04C3-4329-9332-8023D3CD7BC4}" type="slidenum">
              <a:rPr lang="tr-TR" smtClean="0"/>
              <a:pPr>
                <a:defRPr/>
              </a:pPr>
              <a:t>48</a:t>
            </a:fld>
            <a:endParaRPr lang="tr-TR"/>
          </a:p>
        </p:txBody>
      </p:sp>
    </p:spTree>
    <p:extLst>
      <p:ext uri="{BB962C8B-B14F-4D97-AF65-F5344CB8AC3E}">
        <p14:creationId xmlns:p14="http://schemas.microsoft.com/office/powerpoint/2010/main" val="1156143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pPr>
              <a:defRPr/>
            </a:pPr>
            <a:fld id="{EA691191-04C3-4329-9332-8023D3CD7BC4}" type="slidenum">
              <a:rPr lang="tr-TR" smtClean="0"/>
              <a:pPr>
                <a:defRPr/>
              </a:pPr>
              <a:t>49</a:t>
            </a:fld>
            <a:endParaRPr lang="tr-TR"/>
          </a:p>
        </p:txBody>
      </p:sp>
    </p:spTree>
    <p:extLst>
      <p:ext uri="{BB962C8B-B14F-4D97-AF65-F5344CB8AC3E}">
        <p14:creationId xmlns:p14="http://schemas.microsoft.com/office/powerpoint/2010/main" val="1134819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pPr>
              <a:defRPr/>
            </a:pPr>
            <a:fld id="{EA691191-04C3-4329-9332-8023D3CD7BC4}" type="slidenum">
              <a:rPr lang="tr-TR" smtClean="0"/>
              <a:pPr>
                <a:defRPr/>
              </a:pPr>
              <a:t>50</a:t>
            </a:fld>
            <a:endParaRPr lang="tr-TR"/>
          </a:p>
        </p:txBody>
      </p:sp>
    </p:spTree>
    <p:extLst>
      <p:ext uri="{BB962C8B-B14F-4D97-AF65-F5344CB8AC3E}">
        <p14:creationId xmlns:p14="http://schemas.microsoft.com/office/powerpoint/2010/main" val="1600263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25C915-EDFE-62EA-03F4-1323DF6177F0}"/>
              </a:ext>
            </a:extLst>
          </p:cNvPr>
          <p:cNvSpPr>
            <a:spLocks noGrp="1"/>
          </p:cNvSpPr>
          <p:nvPr>
            <p:ph type="ctrTitle"/>
          </p:nvPr>
        </p:nvSpPr>
        <p:spPr>
          <a:xfrm>
            <a:off x="1143000" y="1122363"/>
            <a:ext cx="6858000" cy="2387600"/>
          </a:xfrm>
        </p:spPr>
        <p:txBody>
          <a:bodyPr anchor="b"/>
          <a:lstStyle>
            <a:lvl1pPr algn="ctr">
              <a:defRPr sz="4500"/>
            </a:lvl1pPr>
          </a:lstStyle>
          <a:p>
            <a:r>
              <a:rPr lang="tr-TR"/>
              <a:t>Asıl başlık stilini düzenlemek için tıklayın</a:t>
            </a:r>
            <a:endParaRPr lang="en-US"/>
          </a:p>
        </p:txBody>
      </p:sp>
      <p:sp>
        <p:nvSpPr>
          <p:cNvPr id="3" name="Alt Başlık 2">
            <a:extLst>
              <a:ext uri="{FF2B5EF4-FFF2-40B4-BE49-F238E27FC236}">
                <a16:creationId xmlns:a16="http://schemas.microsoft.com/office/drawing/2014/main" id="{9DA55AB5-A629-0A47-6F16-6265547113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tr-TR"/>
              <a:t>Asıl alt başlık stilini düzenlemek için tıklayın</a:t>
            </a:r>
            <a:endParaRPr lang="en-US"/>
          </a:p>
        </p:txBody>
      </p:sp>
      <p:sp>
        <p:nvSpPr>
          <p:cNvPr id="4" name="Veri Yer Tutucusu 3">
            <a:extLst>
              <a:ext uri="{FF2B5EF4-FFF2-40B4-BE49-F238E27FC236}">
                <a16:creationId xmlns:a16="http://schemas.microsoft.com/office/drawing/2014/main" id="{3E61982C-FE7C-EBE7-9D87-AACD6B5A0F7F}"/>
              </a:ext>
            </a:extLst>
          </p:cNvPr>
          <p:cNvSpPr>
            <a:spLocks noGrp="1"/>
          </p:cNvSpPr>
          <p:nvPr>
            <p:ph type="dt" sz="half" idx="10"/>
          </p:nvPr>
        </p:nvSpPr>
        <p:spPr/>
        <p:txBody>
          <a:bodyPr/>
          <a:lstStyle/>
          <a:p>
            <a:pPr>
              <a:defRPr/>
            </a:pPr>
            <a:fld id="{8AEAD613-ED0E-4342-9ABE-4D88AF91326D}" type="datetime1">
              <a:rPr lang="tr-TR" smtClean="0"/>
              <a:pPr>
                <a:defRPr/>
              </a:pPr>
              <a:t>28.05.2026</a:t>
            </a:fld>
            <a:endParaRPr lang="tr-TR"/>
          </a:p>
        </p:txBody>
      </p:sp>
      <p:sp>
        <p:nvSpPr>
          <p:cNvPr id="5" name="Alt Bilgi Yer Tutucusu 4">
            <a:extLst>
              <a:ext uri="{FF2B5EF4-FFF2-40B4-BE49-F238E27FC236}">
                <a16:creationId xmlns:a16="http://schemas.microsoft.com/office/drawing/2014/main" id="{1FE68BBD-8353-5B3F-EA66-90F51BA7AF27}"/>
              </a:ext>
            </a:extLst>
          </p:cNvPr>
          <p:cNvSpPr>
            <a:spLocks noGrp="1"/>
          </p:cNvSpPr>
          <p:nvPr>
            <p:ph type="ftr" sz="quarter" idx="11"/>
          </p:nvPr>
        </p:nvSpPr>
        <p:spPr/>
        <p:txBody>
          <a:bodyPr/>
          <a:lstStyle/>
          <a:p>
            <a:pPr>
              <a:defRPr/>
            </a:pPr>
            <a:r>
              <a:rPr lang="tr-TR"/>
              <a:t> [ 8.hft  ]</a:t>
            </a:r>
            <a:endParaRPr lang="tr-TR" dirty="0"/>
          </a:p>
        </p:txBody>
      </p:sp>
      <p:sp>
        <p:nvSpPr>
          <p:cNvPr id="6" name="Slayt Numarası Yer Tutucusu 5">
            <a:extLst>
              <a:ext uri="{FF2B5EF4-FFF2-40B4-BE49-F238E27FC236}">
                <a16:creationId xmlns:a16="http://schemas.microsoft.com/office/drawing/2014/main" id="{4871AB7E-0BE1-3163-E24E-427831E21CDF}"/>
              </a:ext>
            </a:extLst>
          </p:cNvPr>
          <p:cNvSpPr>
            <a:spLocks noGrp="1"/>
          </p:cNvSpPr>
          <p:nvPr>
            <p:ph type="sldNum" sz="quarter" idx="12"/>
          </p:nvPr>
        </p:nvSpPr>
        <p:spPr/>
        <p:txBody>
          <a:bodyPr/>
          <a:lstStyle/>
          <a:p>
            <a:pPr>
              <a:defRPr/>
            </a:pPr>
            <a:fld id="{3A32B889-171B-45CE-B76E-4DDF1416711C}" type="slidenum">
              <a:rPr lang="tr-TR" smtClean="0"/>
              <a:pPr>
                <a:defRPr/>
              </a:pPr>
              <a:t>‹#›</a:t>
            </a:fld>
            <a:endParaRPr lang="tr-TR"/>
          </a:p>
        </p:txBody>
      </p:sp>
    </p:spTree>
    <p:extLst>
      <p:ext uri="{BB962C8B-B14F-4D97-AF65-F5344CB8AC3E}">
        <p14:creationId xmlns:p14="http://schemas.microsoft.com/office/powerpoint/2010/main" val="1184440523"/>
      </p:ext>
    </p:extLst>
  </p:cSld>
  <p:clrMapOvr>
    <a:masterClrMapping/>
  </p:clrMapOvr>
  <p:transition spd="med">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702358-876B-7920-8D35-393246F7F7DC}"/>
              </a:ext>
            </a:extLst>
          </p:cNvPr>
          <p:cNvSpPr>
            <a:spLocks noGrp="1"/>
          </p:cNvSpPr>
          <p:nvPr>
            <p:ph type="title"/>
          </p:nvPr>
        </p:nvSpPr>
        <p:spPr/>
        <p:txBody>
          <a:bodyPr/>
          <a:lstStyle/>
          <a:p>
            <a:r>
              <a:rPr lang="tr-TR"/>
              <a:t>Asıl başlık stilini düzenlemek için tıklayın</a:t>
            </a:r>
            <a:endParaRPr lang="en-US"/>
          </a:p>
        </p:txBody>
      </p:sp>
      <p:sp>
        <p:nvSpPr>
          <p:cNvPr id="3" name="İçerik Yer Tutucusu 2">
            <a:extLst>
              <a:ext uri="{FF2B5EF4-FFF2-40B4-BE49-F238E27FC236}">
                <a16:creationId xmlns:a16="http://schemas.microsoft.com/office/drawing/2014/main" id="{CAD3439E-B5D0-A040-AB7E-A7C20E187082}"/>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Veri Yer Tutucusu 3">
            <a:extLst>
              <a:ext uri="{FF2B5EF4-FFF2-40B4-BE49-F238E27FC236}">
                <a16:creationId xmlns:a16="http://schemas.microsoft.com/office/drawing/2014/main" id="{4A7D341E-A2EF-5E9C-1FED-B1EDE8D27352}"/>
              </a:ext>
            </a:extLst>
          </p:cNvPr>
          <p:cNvSpPr>
            <a:spLocks noGrp="1"/>
          </p:cNvSpPr>
          <p:nvPr>
            <p:ph type="dt" sz="half" idx="10"/>
          </p:nvPr>
        </p:nvSpPr>
        <p:spPr/>
        <p:txBody>
          <a:bodyPr/>
          <a:lstStyle/>
          <a:p>
            <a:pPr>
              <a:defRPr/>
            </a:pPr>
            <a:fld id="{3B475FDF-6BA0-4D22-89EE-15A438E23265}" type="datetime1">
              <a:rPr lang="tr-TR" smtClean="0"/>
              <a:pPr>
                <a:defRPr/>
              </a:pPr>
              <a:t>28.05.2026</a:t>
            </a:fld>
            <a:endParaRPr lang="tr-TR"/>
          </a:p>
        </p:txBody>
      </p:sp>
      <p:sp>
        <p:nvSpPr>
          <p:cNvPr id="5" name="Alt Bilgi Yer Tutucusu 4">
            <a:extLst>
              <a:ext uri="{FF2B5EF4-FFF2-40B4-BE49-F238E27FC236}">
                <a16:creationId xmlns:a16="http://schemas.microsoft.com/office/drawing/2014/main" id="{33BEBE1F-6B54-DE25-FBF5-84CDE6C4D5D3}"/>
              </a:ext>
            </a:extLst>
          </p:cNvPr>
          <p:cNvSpPr>
            <a:spLocks noGrp="1"/>
          </p:cNvSpPr>
          <p:nvPr>
            <p:ph type="ftr" sz="quarter" idx="11"/>
          </p:nvPr>
        </p:nvSpPr>
        <p:spPr/>
        <p:txBody>
          <a:bodyPr/>
          <a:lstStyle/>
          <a:p>
            <a:pPr>
              <a:defRPr/>
            </a:pPr>
            <a:r>
              <a:rPr lang="tr-TR"/>
              <a:t> [ 8.hft  ]</a:t>
            </a:r>
            <a:endParaRPr lang="tr-TR" dirty="0"/>
          </a:p>
        </p:txBody>
      </p:sp>
      <p:sp>
        <p:nvSpPr>
          <p:cNvPr id="6" name="Slayt Numarası Yer Tutucusu 5">
            <a:extLst>
              <a:ext uri="{FF2B5EF4-FFF2-40B4-BE49-F238E27FC236}">
                <a16:creationId xmlns:a16="http://schemas.microsoft.com/office/drawing/2014/main" id="{92C5A9CD-F2E1-F209-6EDF-83811BE5BD88}"/>
              </a:ext>
            </a:extLst>
          </p:cNvPr>
          <p:cNvSpPr>
            <a:spLocks noGrp="1"/>
          </p:cNvSpPr>
          <p:nvPr>
            <p:ph type="sldNum" sz="quarter" idx="12"/>
          </p:nvPr>
        </p:nvSpPr>
        <p:spPr/>
        <p:txBody>
          <a:bodyPr/>
          <a:lstStyle/>
          <a:p>
            <a:pPr>
              <a:defRPr/>
            </a:pPr>
            <a:fld id="{1E09EE13-7A4C-43FA-BBE8-D81D5C0B929E}" type="slidenum">
              <a:rPr lang="tr-TR" smtClean="0"/>
              <a:pPr>
                <a:defRPr/>
              </a:pPr>
              <a:t>‹#›</a:t>
            </a:fld>
            <a:endParaRPr lang="tr-TR"/>
          </a:p>
        </p:txBody>
      </p:sp>
    </p:spTree>
    <p:extLst>
      <p:ext uri="{BB962C8B-B14F-4D97-AF65-F5344CB8AC3E}">
        <p14:creationId xmlns:p14="http://schemas.microsoft.com/office/powerpoint/2010/main" val="4162360538"/>
      </p:ext>
    </p:extLst>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013BBE-EC36-4C11-7B5E-83C118329619}"/>
              </a:ext>
            </a:extLst>
          </p:cNvPr>
          <p:cNvSpPr>
            <a:spLocks noGrp="1"/>
          </p:cNvSpPr>
          <p:nvPr>
            <p:ph type="title"/>
          </p:nvPr>
        </p:nvSpPr>
        <p:spPr>
          <a:xfrm>
            <a:off x="623888" y="1709739"/>
            <a:ext cx="7886700" cy="2852737"/>
          </a:xfrm>
        </p:spPr>
        <p:txBody>
          <a:bodyPr anchor="b"/>
          <a:lstStyle>
            <a:lvl1pPr>
              <a:defRPr sz="4500"/>
            </a:lvl1pPr>
          </a:lstStyle>
          <a:p>
            <a:r>
              <a:rPr lang="tr-TR"/>
              <a:t>Asıl başlık stilini düzenlemek için tıklayın</a:t>
            </a:r>
            <a:endParaRPr lang="en-US"/>
          </a:p>
        </p:txBody>
      </p:sp>
      <p:sp>
        <p:nvSpPr>
          <p:cNvPr id="3" name="Metin Yer Tutucusu 2">
            <a:extLst>
              <a:ext uri="{FF2B5EF4-FFF2-40B4-BE49-F238E27FC236}">
                <a16:creationId xmlns:a16="http://schemas.microsoft.com/office/drawing/2014/main" id="{121940FA-3CDA-4C53-4093-3F5089DD255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64CE2FB-4BEA-D5C1-A5D3-7F83A8CBF628}"/>
              </a:ext>
            </a:extLst>
          </p:cNvPr>
          <p:cNvSpPr>
            <a:spLocks noGrp="1"/>
          </p:cNvSpPr>
          <p:nvPr>
            <p:ph type="dt" sz="half" idx="10"/>
          </p:nvPr>
        </p:nvSpPr>
        <p:spPr/>
        <p:txBody>
          <a:bodyPr/>
          <a:lstStyle/>
          <a:p>
            <a:pPr>
              <a:defRPr/>
            </a:pPr>
            <a:fld id="{1CB975FE-5749-4A7E-8CBE-7CE6867E1C32}" type="datetime1">
              <a:rPr lang="tr-TR" smtClean="0"/>
              <a:pPr>
                <a:defRPr/>
              </a:pPr>
              <a:t>28.05.2026</a:t>
            </a:fld>
            <a:endParaRPr lang="tr-TR"/>
          </a:p>
        </p:txBody>
      </p:sp>
      <p:sp>
        <p:nvSpPr>
          <p:cNvPr id="5" name="Alt Bilgi Yer Tutucusu 4">
            <a:extLst>
              <a:ext uri="{FF2B5EF4-FFF2-40B4-BE49-F238E27FC236}">
                <a16:creationId xmlns:a16="http://schemas.microsoft.com/office/drawing/2014/main" id="{F8792DC9-4D26-3C9C-61F1-7C4470021414}"/>
              </a:ext>
            </a:extLst>
          </p:cNvPr>
          <p:cNvSpPr>
            <a:spLocks noGrp="1"/>
          </p:cNvSpPr>
          <p:nvPr>
            <p:ph type="ftr" sz="quarter" idx="11"/>
          </p:nvPr>
        </p:nvSpPr>
        <p:spPr/>
        <p:txBody>
          <a:bodyPr/>
          <a:lstStyle/>
          <a:p>
            <a:pPr>
              <a:defRPr/>
            </a:pPr>
            <a:r>
              <a:rPr lang="tr-TR"/>
              <a:t> [ 8.hft  ]</a:t>
            </a:r>
            <a:endParaRPr lang="tr-TR" dirty="0"/>
          </a:p>
        </p:txBody>
      </p:sp>
      <p:sp>
        <p:nvSpPr>
          <p:cNvPr id="6" name="Slayt Numarası Yer Tutucusu 5">
            <a:extLst>
              <a:ext uri="{FF2B5EF4-FFF2-40B4-BE49-F238E27FC236}">
                <a16:creationId xmlns:a16="http://schemas.microsoft.com/office/drawing/2014/main" id="{FF210F38-BC8B-FF54-1E87-7630E2691BFB}"/>
              </a:ext>
            </a:extLst>
          </p:cNvPr>
          <p:cNvSpPr>
            <a:spLocks noGrp="1"/>
          </p:cNvSpPr>
          <p:nvPr>
            <p:ph type="sldNum" sz="quarter" idx="12"/>
          </p:nvPr>
        </p:nvSpPr>
        <p:spPr/>
        <p:txBody>
          <a:bodyPr/>
          <a:lstStyle/>
          <a:p>
            <a:pPr>
              <a:defRPr/>
            </a:pPr>
            <a:fld id="{835174EF-70F0-4224-A7A2-55601E20BC1E}" type="slidenum">
              <a:rPr lang="tr-TR" smtClean="0"/>
              <a:pPr>
                <a:defRPr/>
              </a:pPr>
              <a:t>‹#›</a:t>
            </a:fld>
            <a:endParaRPr lang="tr-TR"/>
          </a:p>
        </p:txBody>
      </p:sp>
    </p:spTree>
    <p:extLst>
      <p:ext uri="{BB962C8B-B14F-4D97-AF65-F5344CB8AC3E}">
        <p14:creationId xmlns:p14="http://schemas.microsoft.com/office/powerpoint/2010/main" val="160216428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EE03BC-345C-5013-2AE5-8C2E376D47C4}"/>
              </a:ext>
            </a:extLst>
          </p:cNvPr>
          <p:cNvSpPr>
            <a:spLocks noGrp="1"/>
          </p:cNvSpPr>
          <p:nvPr>
            <p:ph type="title"/>
          </p:nvPr>
        </p:nvSpPr>
        <p:spPr/>
        <p:txBody>
          <a:bodyPr/>
          <a:lstStyle/>
          <a:p>
            <a:r>
              <a:rPr lang="tr-TR"/>
              <a:t>Asıl başlık stilini düzenlemek için tıklayın</a:t>
            </a:r>
            <a:endParaRPr lang="en-US"/>
          </a:p>
        </p:txBody>
      </p:sp>
      <p:sp>
        <p:nvSpPr>
          <p:cNvPr id="3" name="İçerik Yer Tutucusu 2">
            <a:extLst>
              <a:ext uri="{FF2B5EF4-FFF2-40B4-BE49-F238E27FC236}">
                <a16:creationId xmlns:a16="http://schemas.microsoft.com/office/drawing/2014/main" id="{E773C291-54EB-0E88-52E0-70BD1405BC87}"/>
              </a:ext>
            </a:extLst>
          </p:cNvPr>
          <p:cNvSpPr>
            <a:spLocks noGrp="1"/>
          </p:cNvSpPr>
          <p:nvPr>
            <p:ph sz="half" idx="1"/>
          </p:nvPr>
        </p:nvSpPr>
        <p:spPr>
          <a:xfrm>
            <a:off x="628650" y="1825625"/>
            <a:ext cx="38862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İçerik Yer Tutucusu 3">
            <a:extLst>
              <a:ext uri="{FF2B5EF4-FFF2-40B4-BE49-F238E27FC236}">
                <a16:creationId xmlns:a16="http://schemas.microsoft.com/office/drawing/2014/main" id="{DF4541D4-2FEF-573C-DFBE-BEBE0812FC7C}"/>
              </a:ext>
            </a:extLst>
          </p:cNvPr>
          <p:cNvSpPr>
            <a:spLocks noGrp="1"/>
          </p:cNvSpPr>
          <p:nvPr>
            <p:ph sz="half" idx="2"/>
          </p:nvPr>
        </p:nvSpPr>
        <p:spPr>
          <a:xfrm>
            <a:off x="4629150" y="1825625"/>
            <a:ext cx="38862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Veri Yer Tutucusu 4">
            <a:extLst>
              <a:ext uri="{FF2B5EF4-FFF2-40B4-BE49-F238E27FC236}">
                <a16:creationId xmlns:a16="http://schemas.microsoft.com/office/drawing/2014/main" id="{5C53C2E2-5419-4769-1FCA-D54026E0769E}"/>
              </a:ext>
            </a:extLst>
          </p:cNvPr>
          <p:cNvSpPr>
            <a:spLocks noGrp="1"/>
          </p:cNvSpPr>
          <p:nvPr>
            <p:ph type="dt" sz="half" idx="10"/>
          </p:nvPr>
        </p:nvSpPr>
        <p:spPr/>
        <p:txBody>
          <a:bodyPr/>
          <a:lstStyle/>
          <a:p>
            <a:pPr>
              <a:defRPr/>
            </a:pPr>
            <a:fld id="{F371C566-D727-4733-A6FF-1C6A2F990B34}" type="datetime1">
              <a:rPr lang="tr-TR" smtClean="0"/>
              <a:pPr>
                <a:defRPr/>
              </a:pPr>
              <a:t>28.05.2026</a:t>
            </a:fld>
            <a:endParaRPr lang="tr-TR"/>
          </a:p>
        </p:txBody>
      </p:sp>
      <p:sp>
        <p:nvSpPr>
          <p:cNvPr id="6" name="Alt Bilgi Yer Tutucusu 5">
            <a:extLst>
              <a:ext uri="{FF2B5EF4-FFF2-40B4-BE49-F238E27FC236}">
                <a16:creationId xmlns:a16="http://schemas.microsoft.com/office/drawing/2014/main" id="{4FB92CE8-5B08-9091-E881-1532D83D9F93}"/>
              </a:ext>
            </a:extLst>
          </p:cNvPr>
          <p:cNvSpPr>
            <a:spLocks noGrp="1"/>
          </p:cNvSpPr>
          <p:nvPr>
            <p:ph type="ftr" sz="quarter" idx="11"/>
          </p:nvPr>
        </p:nvSpPr>
        <p:spPr/>
        <p:txBody>
          <a:bodyPr/>
          <a:lstStyle/>
          <a:p>
            <a:pPr>
              <a:defRPr/>
            </a:pPr>
            <a:r>
              <a:rPr lang="tr-TR"/>
              <a:t> [ 8.hft  ]</a:t>
            </a:r>
            <a:endParaRPr lang="tr-TR" dirty="0"/>
          </a:p>
        </p:txBody>
      </p:sp>
      <p:sp>
        <p:nvSpPr>
          <p:cNvPr id="7" name="Slayt Numarası Yer Tutucusu 6">
            <a:extLst>
              <a:ext uri="{FF2B5EF4-FFF2-40B4-BE49-F238E27FC236}">
                <a16:creationId xmlns:a16="http://schemas.microsoft.com/office/drawing/2014/main" id="{6DA7A33C-B112-0B86-9CF3-FA8C3DB25B5F}"/>
              </a:ext>
            </a:extLst>
          </p:cNvPr>
          <p:cNvSpPr>
            <a:spLocks noGrp="1"/>
          </p:cNvSpPr>
          <p:nvPr>
            <p:ph type="sldNum" sz="quarter" idx="12"/>
          </p:nvPr>
        </p:nvSpPr>
        <p:spPr/>
        <p:txBody>
          <a:bodyPr/>
          <a:lstStyle/>
          <a:p>
            <a:pPr>
              <a:defRPr/>
            </a:pPr>
            <a:fld id="{5E6B1742-35F4-4A34-8EA9-E6888FF3FF62}" type="slidenum">
              <a:rPr lang="tr-TR" smtClean="0"/>
              <a:pPr>
                <a:defRPr/>
              </a:pPr>
              <a:t>‹#›</a:t>
            </a:fld>
            <a:endParaRPr lang="tr-TR"/>
          </a:p>
        </p:txBody>
      </p:sp>
    </p:spTree>
    <p:extLst>
      <p:ext uri="{BB962C8B-B14F-4D97-AF65-F5344CB8AC3E}">
        <p14:creationId xmlns:p14="http://schemas.microsoft.com/office/powerpoint/2010/main" val="2266799006"/>
      </p:ext>
    </p:extLst>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48666B-F5F1-338A-B831-9A2697A72789}"/>
              </a:ext>
            </a:extLst>
          </p:cNvPr>
          <p:cNvSpPr>
            <a:spLocks noGrp="1"/>
          </p:cNvSpPr>
          <p:nvPr>
            <p:ph type="title"/>
          </p:nvPr>
        </p:nvSpPr>
        <p:spPr>
          <a:xfrm>
            <a:off x="629841" y="365126"/>
            <a:ext cx="7886700" cy="1325563"/>
          </a:xfrm>
        </p:spPr>
        <p:txBody>
          <a:bodyPr/>
          <a:lstStyle/>
          <a:p>
            <a:r>
              <a:rPr lang="tr-TR"/>
              <a:t>Asıl başlık stilini düzenlemek için tıklayın</a:t>
            </a:r>
            <a:endParaRPr lang="en-US"/>
          </a:p>
        </p:txBody>
      </p:sp>
      <p:sp>
        <p:nvSpPr>
          <p:cNvPr id="3" name="Metin Yer Tutucusu 2">
            <a:extLst>
              <a:ext uri="{FF2B5EF4-FFF2-40B4-BE49-F238E27FC236}">
                <a16:creationId xmlns:a16="http://schemas.microsoft.com/office/drawing/2014/main" id="{B9A69D5D-BEF7-40CF-5D0C-B9863EA6D3A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BF1B0199-96CC-C06F-BEF2-9AF4D5C00C17}"/>
              </a:ext>
            </a:extLst>
          </p:cNvPr>
          <p:cNvSpPr>
            <a:spLocks noGrp="1"/>
          </p:cNvSpPr>
          <p:nvPr>
            <p:ph sz="half" idx="2"/>
          </p:nvPr>
        </p:nvSpPr>
        <p:spPr>
          <a:xfrm>
            <a:off x="629842" y="2505075"/>
            <a:ext cx="3868340"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Metin Yer Tutucusu 4">
            <a:extLst>
              <a:ext uri="{FF2B5EF4-FFF2-40B4-BE49-F238E27FC236}">
                <a16:creationId xmlns:a16="http://schemas.microsoft.com/office/drawing/2014/main" id="{0FFA0F4F-6B96-AEE4-8449-AF316758C05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455ACFD9-DF3F-FC58-FC5B-9CCDD5EAF4A6}"/>
              </a:ext>
            </a:extLst>
          </p:cNvPr>
          <p:cNvSpPr>
            <a:spLocks noGrp="1"/>
          </p:cNvSpPr>
          <p:nvPr>
            <p:ph sz="quarter" idx="4"/>
          </p:nvPr>
        </p:nvSpPr>
        <p:spPr>
          <a:xfrm>
            <a:off x="4629150" y="2505075"/>
            <a:ext cx="3887391"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7" name="Veri Yer Tutucusu 6">
            <a:extLst>
              <a:ext uri="{FF2B5EF4-FFF2-40B4-BE49-F238E27FC236}">
                <a16:creationId xmlns:a16="http://schemas.microsoft.com/office/drawing/2014/main" id="{2A063116-BD0E-B72C-EDBF-F45FF1B6C058}"/>
              </a:ext>
            </a:extLst>
          </p:cNvPr>
          <p:cNvSpPr>
            <a:spLocks noGrp="1"/>
          </p:cNvSpPr>
          <p:nvPr>
            <p:ph type="dt" sz="half" idx="10"/>
          </p:nvPr>
        </p:nvSpPr>
        <p:spPr/>
        <p:txBody>
          <a:bodyPr/>
          <a:lstStyle/>
          <a:p>
            <a:pPr>
              <a:defRPr/>
            </a:pPr>
            <a:fld id="{D087765B-F6E1-4459-9EB5-A20C1B82ACE3}" type="datetime1">
              <a:rPr lang="tr-TR" smtClean="0"/>
              <a:pPr>
                <a:defRPr/>
              </a:pPr>
              <a:t>28.05.2026</a:t>
            </a:fld>
            <a:endParaRPr lang="tr-TR"/>
          </a:p>
        </p:txBody>
      </p:sp>
      <p:sp>
        <p:nvSpPr>
          <p:cNvPr id="8" name="Alt Bilgi Yer Tutucusu 7">
            <a:extLst>
              <a:ext uri="{FF2B5EF4-FFF2-40B4-BE49-F238E27FC236}">
                <a16:creationId xmlns:a16="http://schemas.microsoft.com/office/drawing/2014/main" id="{EFBF2A33-D313-00AB-4C2E-9D79885FD09F}"/>
              </a:ext>
            </a:extLst>
          </p:cNvPr>
          <p:cNvSpPr>
            <a:spLocks noGrp="1"/>
          </p:cNvSpPr>
          <p:nvPr>
            <p:ph type="ftr" sz="quarter" idx="11"/>
          </p:nvPr>
        </p:nvSpPr>
        <p:spPr/>
        <p:txBody>
          <a:bodyPr/>
          <a:lstStyle/>
          <a:p>
            <a:pPr>
              <a:defRPr/>
            </a:pPr>
            <a:r>
              <a:rPr lang="tr-TR"/>
              <a:t> [ 8.hft  ]</a:t>
            </a:r>
            <a:endParaRPr lang="tr-TR" dirty="0"/>
          </a:p>
        </p:txBody>
      </p:sp>
      <p:sp>
        <p:nvSpPr>
          <p:cNvPr id="9" name="Slayt Numarası Yer Tutucusu 8">
            <a:extLst>
              <a:ext uri="{FF2B5EF4-FFF2-40B4-BE49-F238E27FC236}">
                <a16:creationId xmlns:a16="http://schemas.microsoft.com/office/drawing/2014/main" id="{976B86A7-2325-BC9C-CC6C-5D66C4AA2F77}"/>
              </a:ext>
            </a:extLst>
          </p:cNvPr>
          <p:cNvSpPr>
            <a:spLocks noGrp="1"/>
          </p:cNvSpPr>
          <p:nvPr>
            <p:ph type="sldNum" sz="quarter" idx="12"/>
          </p:nvPr>
        </p:nvSpPr>
        <p:spPr/>
        <p:txBody>
          <a:bodyPr/>
          <a:lstStyle/>
          <a:p>
            <a:pPr>
              <a:defRPr/>
            </a:pPr>
            <a:fld id="{8266C08A-3D5F-40AC-8159-BCAF9C0980CE}" type="slidenum">
              <a:rPr lang="tr-TR" smtClean="0"/>
              <a:pPr>
                <a:defRPr/>
              </a:pPr>
              <a:t>‹#›</a:t>
            </a:fld>
            <a:endParaRPr lang="tr-TR"/>
          </a:p>
        </p:txBody>
      </p:sp>
    </p:spTree>
    <p:extLst>
      <p:ext uri="{BB962C8B-B14F-4D97-AF65-F5344CB8AC3E}">
        <p14:creationId xmlns:p14="http://schemas.microsoft.com/office/powerpoint/2010/main" val="3429949139"/>
      </p:ext>
    </p:extLst>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EACF72F-0EE4-CA11-2DCE-5D13A7E3962F}"/>
              </a:ext>
            </a:extLst>
          </p:cNvPr>
          <p:cNvSpPr>
            <a:spLocks noGrp="1"/>
          </p:cNvSpPr>
          <p:nvPr>
            <p:ph type="title"/>
          </p:nvPr>
        </p:nvSpPr>
        <p:spPr/>
        <p:txBody>
          <a:bodyPr/>
          <a:lstStyle/>
          <a:p>
            <a:r>
              <a:rPr lang="tr-TR"/>
              <a:t>Asıl başlık stilini düzenlemek için tıklayın</a:t>
            </a:r>
            <a:endParaRPr lang="en-US"/>
          </a:p>
        </p:txBody>
      </p:sp>
      <p:sp>
        <p:nvSpPr>
          <p:cNvPr id="3" name="Veri Yer Tutucusu 2">
            <a:extLst>
              <a:ext uri="{FF2B5EF4-FFF2-40B4-BE49-F238E27FC236}">
                <a16:creationId xmlns:a16="http://schemas.microsoft.com/office/drawing/2014/main" id="{31F84844-A67F-8C19-9230-9B9E23EF1286}"/>
              </a:ext>
            </a:extLst>
          </p:cNvPr>
          <p:cNvSpPr>
            <a:spLocks noGrp="1"/>
          </p:cNvSpPr>
          <p:nvPr>
            <p:ph type="dt" sz="half" idx="10"/>
          </p:nvPr>
        </p:nvSpPr>
        <p:spPr/>
        <p:txBody>
          <a:bodyPr/>
          <a:lstStyle/>
          <a:p>
            <a:pPr>
              <a:defRPr/>
            </a:pPr>
            <a:fld id="{1CE953AD-42EA-4F93-855D-C5A06F93939E}" type="datetime1">
              <a:rPr lang="tr-TR" smtClean="0"/>
              <a:pPr>
                <a:defRPr/>
              </a:pPr>
              <a:t>28.05.2026</a:t>
            </a:fld>
            <a:endParaRPr lang="tr-TR"/>
          </a:p>
        </p:txBody>
      </p:sp>
      <p:sp>
        <p:nvSpPr>
          <p:cNvPr id="4" name="Alt Bilgi Yer Tutucusu 3">
            <a:extLst>
              <a:ext uri="{FF2B5EF4-FFF2-40B4-BE49-F238E27FC236}">
                <a16:creationId xmlns:a16="http://schemas.microsoft.com/office/drawing/2014/main" id="{A2AABDF4-EC9F-6080-FC48-453FF7AE17D3}"/>
              </a:ext>
            </a:extLst>
          </p:cNvPr>
          <p:cNvSpPr>
            <a:spLocks noGrp="1"/>
          </p:cNvSpPr>
          <p:nvPr>
            <p:ph type="ftr" sz="quarter" idx="11"/>
          </p:nvPr>
        </p:nvSpPr>
        <p:spPr/>
        <p:txBody>
          <a:bodyPr/>
          <a:lstStyle/>
          <a:p>
            <a:pPr>
              <a:defRPr/>
            </a:pPr>
            <a:r>
              <a:rPr lang="tr-TR"/>
              <a:t> [ 8.hft  ]</a:t>
            </a:r>
            <a:endParaRPr lang="tr-TR" dirty="0"/>
          </a:p>
        </p:txBody>
      </p:sp>
      <p:sp>
        <p:nvSpPr>
          <p:cNvPr id="5" name="Slayt Numarası Yer Tutucusu 4">
            <a:extLst>
              <a:ext uri="{FF2B5EF4-FFF2-40B4-BE49-F238E27FC236}">
                <a16:creationId xmlns:a16="http://schemas.microsoft.com/office/drawing/2014/main" id="{8E062F67-AA59-34FA-C285-30AD940DE3DB}"/>
              </a:ext>
            </a:extLst>
          </p:cNvPr>
          <p:cNvSpPr>
            <a:spLocks noGrp="1"/>
          </p:cNvSpPr>
          <p:nvPr>
            <p:ph type="sldNum" sz="quarter" idx="12"/>
          </p:nvPr>
        </p:nvSpPr>
        <p:spPr/>
        <p:txBody>
          <a:bodyPr/>
          <a:lstStyle/>
          <a:p>
            <a:pPr>
              <a:defRPr/>
            </a:pPr>
            <a:fld id="{952ACE18-F5E2-41CF-88FB-24D3C7450E6E}" type="slidenum">
              <a:rPr lang="tr-TR" smtClean="0"/>
              <a:pPr>
                <a:defRPr/>
              </a:pPr>
              <a:t>‹#›</a:t>
            </a:fld>
            <a:endParaRPr lang="tr-TR"/>
          </a:p>
        </p:txBody>
      </p:sp>
    </p:spTree>
    <p:extLst>
      <p:ext uri="{BB962C8B-B14F-4D97-AF65-F5344CB8AC3E}">
        <p14:creationId xmlns:p14="http://schemas.microsoft.com/office/powerpoint/2010/main" val="2611312215"/>
      </p:ext>
    </p:extLst>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EEBEC1B0-4D84-0F3F-208B-89B845CA211E}"/>
              </a:ext>
            </a:extLst>
          </p:cNvPr>
          <p:cNvSpPr>
            <a:spLocks noGrp="1"/>
          </p:cNvSpPr>
          <p:nvPr>
            <p:ph type="dt" sz="half" idx="10"/>
          </p:nvPr>
        </p:nvSpPr>
        <p:spPr/>
        <p:txBody>
          <a:bodyPr/>
          <a:lstStyle/>
          <a:p>
            <a:pPr>
              <a:defRPr/>
            </a:pPr>
            <a:fld id="{3A953221-F500-426D-9B4D-B4B5EBF9DD33}" type="datetime1">
              <a:rPr lang="tr-TR" smtClean="0"/>
              <a:pPr>
                <a:defRPr/>
              </a:pPr>
              <a:t>28.05.2026</a:t>
            </a:fld>
            <a:endParaRPr lang="tr-TR"/>
          </a:p>
        </p:txBody>
      </p:sp>
      <p:sp>
        <p:nvSpPr>
          <p:cNvPr id="3" name="Alt Bilgi Yer Tutucusu 2">
            <a:extLst>
              <a:ext uri="{FF2B5EF4-FFF2-40B4-BE49-F238E27FC236}">
                <a16:creationId xmlns:a16="http://schemas.microsoft.com/office/drawing/2014/main" id="{11B6CD96-FD7C-7C7E-F4FB-CD46ECEF4259}"/>
              </a:ext>
            </a:extLst>
          </p:cNvPr>
          <p:cNvSpPr>
            <a:spLocks noGrp="1"/>
          </p:cNvSpPr>
          <p:nvPr>
            <p:ph type="ftr" sz="quarter" idx="11"/>
          </p:nvPr>
        </p:nvSpPr>
        <p:spPr/>
        <p:txBody>
          <a:bodyPr/>
          <a:lstStyle/>
          <a:p>
            <a:pPr>
              <a:defRPr/>
            </a:pPr>
            <a:r>
              <a:rPr lang="tr-TR"/>
              <a:t> [ 8.hft  ]</a:t>
            </a:r>
            <a:endParaRPr lang="tr-TR" dirty="0"/>
          </a:p>
        </p:txBody>
      </p:sp>
      <p:sp>
        <p:nvSpPr>
          <p:cNvPr id="4" name="Slayt Numarası Yer Tutucusu 3">
            <a:extLst>
              <a:ext uri="{FF2B5EF4-FFF2-40B4-BE49-F238E27FC236}">
                <a16:creationId xmlns:a16="http://schemas.microsoft.com/office/drawing/2014/main" id="{3B121DFA-99FF-95E3-BD1C-2320C32CA006}"/>
              </a:ext>
            </a:extLst>
          </p:cNvPr>
          <p:cNvSpPr>
            <a:spLocks noGrp="1"/>
          </p:cNvSpPr>
          <p:nvPr>
            <p:ph type="sldNum" sz="quarter" idx="12"/>
          </p:nvPr>
        </p:nvSpPr>
        <p:spPr/>
        <p:txBody>
          <a:bodyPr/>
          <a:lstStyle/>
          <a:p>
            <a:pPr>
              <a:defRPr/>
            </a:pPr>
            <a:fld id="{3C584179-B05B-4BC5-A1CE-DF3DCAB24DEF}" type="slidenum">
              <a:rPr lang="tr-TR" smtClean="0"/>
              <a:pPr>
                <a:defRPr/>
              </a:pPr>
              <a:t>‹#›</a:t>
            </a:fld>
            <a:endParaRPr lang="tr-TR"/>
          </a:p>
        </p:txBody>
      </p:sp>
    </p:spTree>
    <p:extLst>
      <p:ext uri="{BB962C8B-B14F-4D97-AF65-F5344CB8AC3E}">
        <p14:creationId xmlns:p14="http://schemas.microsoft.com/office/powerpoint/2010/main" val="1681608461"/>
      </p:ext>
    </p:extLst>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F0F4DA5-9664-4A75-071C-6CDF1C854C20}"/>
              </a:ext>
            </a:extLst>
          </p:cNvPr>
          <p:cNvSpPr>
            <a:spLocks noGrp="1"/>
          </p:cNvSpPr>
          <p:nvPr>
            <p:ph type="title"/>
          </p:nvPr>
        </p:nvSpPr>
        <p:spPr>
          <a:xfrm>
            <a:off x="629841" y="457200"/>
            <a:ext cx="2949178" cy="1600200"/>
          </a:xfrm>
        </p:spPr>
        <p:txBody>
          <a:bodyPr anchor="b"/>
          <a:lstStyle>
            <a:lvl1pPr>
              <a:defRPr sz="2400"/>
            </a:lvl1pPr>
          </a:lstStyle>
          <a:p>
            <a:r>
              <a:rPr lang="tr-TR"/>
              <a:t>Asıl başlık stilini düzenlemek için tıklayın</a:t>
            </a:r>
            <a:endParaRPr lang="en-US"/>
          </a:p>
        </p:txBody>
      </p:sp>
      <p:sp>
        <p:nvSpPr>
          <p:cNvPr id="3" name="İçerik Yer Tutucusu 2">
            <a:extLst>
              <a:ext uri="{FF2B5EF4-FFF2-40B4-BE49-F238E27FC236}">
                <a16:creationId xmlns:a16="http://schemas.microsoft.com/office/drawing/2014/main" id="{7EC38346-8126-43D1-4572-C54EA089D78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Metin Yer Tutucusu 3">
            <a:extLst>
              <a:ext uri="{FF2B5EF4-FFF2-40B4-BE49-F238E27FC236}">
                <a16:creationId xmlns:a16="http://schemas.microsoft.com/office/drawing/2014/main" id="{30121426-2632-E8D1-179F-FD5BE4DF173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43F6201-2CFB-0EE4-0D17-43D60C7BBDBC}"/>
              </a:ext>
            </a:extLst>
          </p:cNvPr>
          <p:cNvSpPr>
            <a:spLocks noGrp="1"/>
          </p:cNvSpPr>
          <p:nvPr>
            <p:ph type="dt" sz="half" idx="10"/>
          </p:nvPr>
        </p:nvSpPr>
        <p:spPr/>
        <p:txBody>
          <a:bodyPr/>
          <a:lstStyle/>
          <a:p>
            <a:pPr>
              <a:defRPr/>
            </a:pPr>
            <a:fld id="{35E72FCE-2E82-4164-974B-17B43BE20D47}" type="datetime1">
              <a:rPr lang="tr-TR" smtClean="0"/>
              <a:pPr>
                <a:defRPr/>
              </a:pPr>
              <a:t>28.05.2026</a:t>
            </a:fld>
            <a:endParaRPr lang="tr-TR"/>
          </a:p>
        </p:txBody>
      </p:sp>
      <p:sp>
        <p:nvSpPr>
          <p:cNvPr id="6" name="Alt Bilgi Yer Tutucusu 5">
            <a:extLst>
              <a:ext uri="{FF2B5EF4-FFF2-40B4-BE49-F238E27FC236}">
                <a16:creationId xmlns:a16="http://schemas.microsoft.com/office/drawing/2014/main" id="{E9A2F400-0E8C-E28D-9651-F7B3B767D5B4}"/>
              </a:ext>
            </a:extLst>
          </p:cNvPr>
          <p:cNvSpPr>
            <a:spLocks noGrp="1"/>
          </p:cNvSpPr>
          <p:nvPr>
            <p:ph type="ftr" sz="quarter" idx="11"/>
          </p:nvPr>
        </p:nvSpPr>
        <p:spPr/>
        <p:txBody>
          <a:bodyPr/>
          <a:lstStyle/>
          <a:p>
            <a:pPr>
              <a:defRPr/>
            </a:pPr>
            <a:r>
              <a:rPr lang="tr-TR"/>
              <a:t> [ 8.hft  ]</a:t>
            </a:r>
            <a:endParaRPr lang="tr-TR" dirty="0"/>
          </a:p>
        </p:txBody>
      </p:sp>
      <p:sp>
        <p:nvSpPr>
          <p:cNvPr id="7" name="Slayt Numarası Yer Tutucusu 6">
            <a:extLst>
              <a:ext uri="{FF2B5EF4-FFF2-40B4-BE49-F238E27FC236}">
                <a16:creationId xmlns:a16="http://schemas.microsoft.com/office/drawing/2014/main" id="{330F7EF9-3E86-1BFC-6EC1-9C4F1B6FD3D3}"/>
              </a:ext>
            </a:extLst>
          </p:cNvPr>
          <p:cNvSpPr>
            <a:spLocks noGrp="1"/>
          </p:cNvSpPr>
          <p:nvPr>
            <p:ph type="sldNum" sz="quarter" idx="12"/>
          </p:nvPr>
        </p:nvSpPr>
        <p:spPr/>
        <p:txBody>
          <a:bodyPr/>
          <a:lstStyle/>
          <a:p>
            <a:pPr>
              <a:defRPr/>
            </a:pPr>
            <a:fld id="{0EA09F0B-882F-4E97-A18C-B56C53B60444}" type="slidenum">
              <a:rPr lang="tr-TR" smtClean="0"/>
              <a:pPr>
                <a:defRPr/>
              </a:pPr>
              <a:t>‹#›</a:t>
            </a:fld>
            <a:endParaRPr lang="tr-TR"/>
          </a:p>
        </p:txBody>
      </p:sp>
    </p:spTree>
    <p:extLst>
      <p:ext uri="{BB962C8B-B14F-4D97-AF65-F5344CB8AC3E}">
        <p14:creationId xmlns:p14="http://schemas.microsoft.com/office/powerpoint/2010/main" val="3346522232"/>
      </p:ext>
    </p:extLst>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53993FA-935C-9DF7-33CA-E90DFABBF420}"/>
              </a:ext>
            </a:extLst>
          </p:cNvPr>
          <p:cNvSpPr>
            <a:spLocks noGrp="1"/>
          </p:cNvSpPr>
          <p:nvPr>
            <p:ph type="title"/>
          </p:nvPr>
        </p:nvSpPr>
        <p:spPr>
          <a:xfrm>
            <a:off x="629841" y="457200"/>
            <a:ext cx="2949178" cy="1600200"/>
          </a:xfrm>
        </p:spPr>
        <p:txBody>
          <a:bodyPr anchor="b"/>
          <a:lstStyle>
            <a:lvl1pPr>
              <a:defRPr sz="2400"/>
            </a:lvl1pPr>
          </a:lstStyle>
          <a:p>
            <a:r>
              <a:rPr lang="tr-TR"/>
              <a:t>Asıl başlık stilini düzenlemek için tıklayın</a:t>
            </a:r>
            <a:endParaRPr lang="en-US"/>
          </a:p>
        </p:txBody>
      </p:sp>
      <p:sp>
        <p:nvSpPr>
          <p:cNvPr id="3" name="Resim Yer Tutucusu 2">
            <a:extLst>
              <a:ext uri="{FF2B5EF4-FFF2-40B4-BE49-F238E27FC236}">
                <a16:creationId xmlns:a16="http://schemas.microsoft.com/office/drawing/2014/main" id="{F3234D4F-A0E4-B3ED-B157-799586011B3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Metin Yer Tutucusu 3">
            <a:extLst>
              <a:ext uri="{FF2B5EF4-FFF2-40B4-BE49-F238E27FC236}">
                <a16:creationId xmlns:a16="http://schemas.microsoft.com/office/drawing/2014/main" id="{7732745D-4B05-5FD5-57D7-16F357EDF10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C5231CA-D4C5-A435-97B6-D5E634368DCA}"/>
              </a:ext>
            </a:extLst>
          </p:cNvPr>
          <p:cNvSpPr>
            <a:spLocks noGrp="1"/>
          </p:cNvSpPr>
          <p:nvPr>
            <p:ph type="dt" sz="half" idx="10"/>
          </p:nvPr>
        </p:nvSpPr>
        <p:spPr/>
        <p:txBody>
          <a:bodyPr/>
          <a:lstStyle/>
          <a:p>
            <a:pPr>
              <a:defRPr/>
            </a:pPr>
            <a:fld id="{B3A3014A-693C-4652-B58B-1740C4D0EFA7}" type="datetime1">
              <a:rPr lang="tr-TR" smtClean="0"/>
              <a:pPr>
                <a:defRPr/>
              </a:pPr>
              <a:t>28.05.2026</a:t>
            </a:fld>
            <a:endParaRPr lang="tr-TR"/>
          </a:p>
        </p:txBody>
      </p:sp>
      <p:sp>
        <p:nvSpPr>
          <p:cNvPr id="6" name="Alt Bilgi Yer Tutucusu 5">
            <a:extLst>
              <a:ext uri="{FF2B5EF4-FFF2-40B4-BE49-F238E27FC236}">
                <a16:creationId xmlns:a16="http://schemas.microsoft.com/office/drawing/2014/main" id="{4F74FA7F-A3F6-258C-6C1F-5239F6290751}"/>
              </a:ext>
            </a:extLst>
          </p:cNvPr>
          <p:cNvSpPr>
            <a:spLocks noGrp="1"/>
          </p:cNvSpPr>
          <p:nvPr>
            <p:ph type="ftr" sz="quarter" idx="11"/>
          </p:nvPr>
        </p:nvSpPr>
        <p:spPr/>
        <p:txBody>
          <a:bodyPr/>
          <a:lstStyle/>
          <a:p>
            <a:pPr>
              <a:defRPr/>
            </a:pPr>
            <a:r>
              <a:rPr lang="tr-TR"/>
              <a:t> [ 8.hft  ]</a:t>
            </a:r>
            <a:endParaRPr lang="tr-TR" dirty="0"/>
          </a:p>
        </p:txBody>
      </p:sp>
      <p:sp>
        <p:nvSpPr>
          <p:cNvPr id="7" name="Slayt Numarası Yer Tutucusu 6">
            <a:extLst>
              <a:ext uri="{FF2B5EF4-FFF2-40B4-BE49-F238E27FC236}">
                <a16:creationId xmlns:a16="http://schemas.microsoft.com/office/drawing/2014/main" id="{18C30CBC-A8E3-189E-FB60-7B07185C1F62}"/>
              </a:ext>
            </a:extLst>
          </p:cNvPr>
          <p:cNvSpPr>
            <a:spLocks noGrp="1"/>
          </p:cNvSpPr>
          <p:nvPr>
            <p:ph type="sldNum" sz="quarter" idx="12"/>
          </p:nvPr>
        </p:nvSpPr>
        <p:spPr/>
        <p:txBody>
          <a:bodyPr/>
          <a:lstStyle/>
          <a:p>
            <a:pPr>
              <a:defRPr/>
            </a:pPr>
            <a:fld id="{461AE79D-88AB-4ADD-88FA-C9721AA5FC48}" type="slidenum">
              <a:rPr lang="tr-TR" smtClean="0"/>
              <a:pPr>
                <a:defRPr/>
              </a:pPr>
              <a:t>‹#›</a:t>
            </a:fld>
            <a:endParaRPr lang="tr-TR"/>
          </a:p>
        </p:txBody>
      </p:sp>
    </p:spTree>
    <p:extLst>
      <p:ext uri="{BB962C8B-B14F-4D97-AF65-F5344CB8AC3E}">
        <p14:creationId xmlns:p14="http://schemas.microsoft.com/office/powerpoint/2010/main" val="1154226251"/>
      </p:ext>
    </p:extLst>
  </p:cSld>
  <p:clrMapOvr>
    <a:masterClrMapping/>
  </p:clrMapOvr>
  <p:transition spd="med">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A26454E-D60F-1E39-134D-1B17C4B93CE3}"/>
              </a:ext>
            </a:extLst>
          </p:cNvPr>
          <p:cNvSpPr>
            <a:spLocks noGrp="1"/>
          </p:cNvSpPr>
          <p:nvPr>
            <p:ph type="title"/>
          </p:nvPr>
        </p:nvSpPr>
        <p:spPr/>
        <p:txBody>
          <a:bodyPr/>
          <a:lstStyle/>
          <a:p>
            <a:r>
              <a:rPr lang="tr-TR"/>
              <a:t>Asıl başlık stilini düzenlemek için tıklayın</a:t>
            </a:r>
            <a:endParaRPr lang="en-US"/>
          </a:p>
        </p:txBody>
      </p:sp>
      <p:sp>
        <p:nvSpPr>
          <p:cNvPr id="3" name="Dikey Metin Yer Tutucusu 2">
            <a:extLst>
              <a:ext uri="{FF2B5EF4-FFF2-40B4-BE49-F238E27FC236}">
                <a16:creationId xmlns:a16="http://schemas.microsoft.com/office/drawing/2014/main" id="{59DB8C3C-8404-AC33-FF86-6A3BB3AC5C9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Veri Yer Tutucusu 3">
            <a:extLst>
              <a:ext uri="{FF2B5EF4-FFF2-40B4-BE49-F238E27FC236}">
                <a16:creationId xmlns:a16="http://schemas.microsoft.com/office/drawing/2014/main" id="{F3E5B3A9-2174-42A2-448A-FC6C384592F4}"/>
              </a:ext>
            </a:extLst>
          </p:cNvPr>
          <p:cNvSpPr>
            <a:spLocks noGrp="1"/>
          </p:cNvSpPr>
          <p:nvPr>
            <p:ph type="dt" sz="half" idx="10"/>
          </p:nvPr>
        </p:nvSpPr>
        <p:spPr/>
        <p:txBody>
          <a:bodyPr/>
          <a:lstStyle/>
          <a:p>
            <a:pPr>
              <a:defRPr/>
            </a:pPr>
            <a:fld id="{1CB975FE-5749-4A7E-8CBE-7CE6867E1C32}" type="datetime1">
              <a:rPr lang="tr-TR" smtClean="0"/>
              <a:pPr>
                <a:defRPr/>
              </a:pPr>
              <a:t>28.05.2026</a:t>
            </a:fld>
            <a:endParaRPr lang="tr-TR"/>
          </a:p>
        </p:txBody>
      </p:sp>
      <p:sp>
        <p:nvSpPr>
          <p:cNvPr id="5" name="Alt Bilgi Yer Tutucusu 4">
            <a:extLst>
              <a:ext uri="{FF2B5EF4-FFF2-40B4-BE49-F238E27FC236}">
                <a16:creationId xmlns:a16="http://schemas.microsoft.com/office/drawing/2014/main" id="{D7847682-49A8-97C2-2239-A3AD59157DD2}"/>
              </a:ext>
            </a:extLst>
          </p:cNvPr>
          <p:cNvSpPr>
            <a:spLocks noGrp="1"/>
          </p:cNvSpPr>
          <p:nvPr>
            <p:ph type="ftr" sz="quarter" idx="11"/>
          </p:nvPr>
        </p:nvSpPr>
        <p:spPr/>
        <p:txBody>
          <a:bodyPr/>
          <a:lstStyle/>
          <a:p>
            <a:pPr>
              <a:defRPr/>
            </a:pPr>
            <a:r>
              <a:rPr lang="tr-TR"/>
              <a:t> [ 8.hft  ]</a:t>
            </a:r>
            <a:endParaRPr lang="tr-TR" dirty="0"/>
          </a:p>
        </p:txBody>
      </p:sp>
      <p:sp>
        <p:nvSpPr>
          <p:cNvPr id="6" name="Slayt Numarası Yer Tutucusu 5">
            <a:extLst>
              <a:ext uri="{FF2B5EF4-FFF2-40B4-BE49-F238E27FC236}">
                <a16:creationId xmlns:a16="http://schemas.microsoft.com/office/drawing/2014/main" id="{F03BD235-30BA-13A7-E2A4-89BEFDC8A0E8}"/>
              </a:ext>
            </a:extLst>
          </p:cNvPr>
          <p:cNvSpPr>
            <a:spLocks noGrp="1"/>
          </p:cNvSpPr>
          <p:nvPr>
            <p:ph type="sldNum" sz="quarter" idx="12"/>
          </p:nvPr>
        </p:nvSpPr>
        <p:spPr/>
        <p:txBody>
          <a:bodyPr/>
          <a:lstStyle/>
          <a:p>
            <a:pPr>
              <a:defRPr/>
            </a:pPr>
            <a:fld id="{835174EF-70F0-4224-A7A2-55601E20BC1E}" type="slidenum">
              <a:rPr lang="tr-TR" smtClean="0"/>
              <a:pPr>
                <a:defRPr/>
              </a:pPr>
              <a:t>‹#›</a:t>
            </a:fld>
            <a:endParaRPr lang="tr-TR"/>
          </a:p>
        </p:txBody>
      </p:sp>
    </p:spTree>
    <p:extLst>
      <p:ext uri="{BB962C8B-B14F-4D97-AF65-F5344CB8AC3E}">
        <p14:creationId xmlns:p14="http://schemas.microsoft.com/office/powerpoint/2010/main" val="3084850713"/>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DDCEB0AF-CB59-B805-29A4-BB6C5FFDCD71}"/>
              </a:ext>
            </a:extLst>
          </p:cNvPr>
          <p:cNvSpPr>
            <a:spLocks noGrp="1"/>
          </p:cNvSpPr>
          <p:nvPr>
            <p:ph type="title" orient="vert"/>
          </p:nvPr>
        </p:nvSpPr>
        <p:spPr>
          <a:xfrm>
            <a:off x="6543675" y="365125"/>
            <a:ext cx="1971675" cy="5811838"/>
          </a:xfrm>
        </p:spPr>
        <p:txBody>
          <a:bodyPr vert="eaVert"/>
          <a:lstStyle/>
          <a:p>
            <a:r>
              <a:rPr lang="tr-TR"/>
              <a:t>Asıl başlık stilini düzenlemek için tıklayın</a:t>
            </a:r>
            <a:endParaRPr lang="en-US"/>
          </a:p>
        </p:txBody>
      </p:sp>
      <p:sp>
        <p:nvSpPr>
          <p:cNvPr id="3" name="Dikey Metin Yer Tutucusu 2">
            <a:extLst>
              <a:ext uri="{FF2B5EF4-FFF2-40B4-BE49-F238E27FC236}">
                <a16:creationId xmlns:a16="http://schemas.microsoft.com/office/drawing/2014/main" id="{381D8CAC-0613-A8A3-C00F-70D9938B4DDB}"/>
              </a:ext>
            </a:extLst>
          </p:cNvPr>
          <p:cNvSpPr>
            <a:spLocks noGrp="1"/>
          </p:cNvSpPr>
          <p:nvPr>
            <p:ph type="body" orient="vert" idx="1"/>
          </p:nvPr>
        </p:nvSpPr>
        <p:spPr>
          <a:xfrm>
            <a:off x="628650" y="365125"/>
            <a:ext cx="5800725"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Veri Yer Tutucusu 3">
            <a:extLst>
              <a:ext uri="{FF2B5EF4-FFF2-40B4-BE49-F238E27FC236}">
                <a16:creationId xmlns:a16="http://schemas.microsoft.com/office/drawing/2014/main" id="{069DB111-D98D-8B4A-BC73-195F6D2AF981}"/>
              </a:ext>
            </a:extLst>
          </p:cNvPr>
          <p:cNvSpPr>
            <a:spLocks noGrp="1"/>
          </p:cNvSpPr>
          <p:nvPr>
            <p:ph type="dt" sz="half" idx="10"/>
          </p:nvPr>
        </p:nvSpPr>
        <p:spPr/>
        <p:txBody>
          <a:bodyPr/>
          <a:lstStyle/>
          <a:p>
            <a:pPr>
              <a:defRPr/>
            </a:pPr>
            <a:fld id="{81FB3095-27E4-47A5-8C67-677553B6E4EA}" type="datetime1">
              <a:rPr lang="tr-TR" smtClean="0"/>
              <a:pPr>
                <a:defRPr/>
              </a:pPr>
              <a:t>28.05.2026</a:t>
            </a:fld>
            <a:endParaRPr lang="tr-TR"/>
          </a:p>
        </p:txBody>
      </p:sp>
      <p:sp>
        <p:nvSpPr>
          <p:cNvPr id="5" name="Alt Bilgi Yer Tutucusu 4">
            <a:extLst>
              <a:ext uri="{FF2B5EF4-FFF2-40B4-BE49-F238E27FC236}">
                <a16:creationId xmlns:a16="http://schemas.microsoft.com/office/drawing/2014/main" id="{7AFDAAF0-6C29-9E56-9BE8-EC31B60711E6}"/>
              </a:ext>
            </a:extLst>
          </p:cNvPr>
          <p:cNvSpPr>
            <a:spLocks noGrp="1"/>
          </p:cNvSpPr>
          <p:nvPr>
            <p:ph type="ftr" sz="quarter" idx="11"/>
          </p:nvPr>
        </p:nvSpPr>
        <p:spPr/>
        <p:txBody>
          <a:bodyPr/>
          <a:lstStyle/>
          <a:p>
            <a:pPr>
              <a:defRPr/>
            </a:pPr>
            <a:r>
              <a:rPr lang="tr-TR"/>
              <a:t> [ 8.hft  ]</a:t>
            </a:r>
            <a:endParaRPr lang="tr-TR" dirty="0"/>
          </a:p>
        </p:txBody>
      </p:sp>
      <p:sp>
        <p:nvSpPr>
          <p:cNvPr id="6" name="Slayt Numarası Yer Tutucusu 5">
            <a:extLst>
              <a:ext uri="{FF2B5EF4-FFF2-40B4-BE49-F238E27FC236}">
                <a16:creationId xmlns:a16="http://schemas.microsoft.com/office/drawing/2014/main" id="{D46CDCB8-380E-C5BC-F18F-C174DFDC0EF0}"/>
              </a:ext>
            </a:extLst>
          </p:cNvPr>
          <p:cNvSpPr>
            <a:spLocks noGrp="1"/>
          </p:cNvSpPr>
          <p:nvPr>
            <p:ph type="sldNum" sz="quarter" idx="12"/>
          </p:nvPr>
        </p:nvSpPr>
        <p:spPr/>
        <p:txBody>
          <a:bodyPr/>
          <a:lstStyle/>
          <a:p>
            <a:pPr>
              <a:defRPr/>
            </a:pPr>
            <a:fld id="{FE4850FB-3BC9-41C4-82EC-EB7297A479C1}" type="slidenum">
              <a:rPr lang="tr-TR" smtClean="0"/>
              <a:pPr>
                <a:defRPr/>
              </a:pPr>
              <a:t>‹#›</a:t>
            </a:fld>
            <a:endParaRPr lang="tr-TR"/>
          </a:p>
        </p:txBody>
      </p:sp>
    </p:spTree>
    <p:extLst>
      <p:ext uri="{BB962C8B-B14F-4D97-AF65-F5344CB8AC3E}">
        <p14:creationId xmlns:p14="http://schemas.microsoft.com/office/powerpoint/2010/main" val="3170780760"/>
      </p:ext>
    </p:extLst>
  </p:cSld>
  <p:clrMapOvr>
    <a:masterClrMapping/>
  </p:clrMapOvr>
  <p:transition spd="med">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İçerik">
    <p:spTree>
      <p:nvGrpSpPr>
        <p:cNvPr id="1" name=""/>
        <p:cNvGrpSpPr/>
        <p:nvPr/>
      </p:nvGrpSpPr>
      <p:grpSpPr>
        <a:xfrm>
          <a:off x="0" y="0"/>
          <a:ext cx="0" cy="0"/>
          <a:chOff x="0" y="0"/>
          <a:chExt cx="0" cy="0"/>
        </a:xfrm>
      </p:grpSpPr>
      <p:sp>
        <p:nvSpPr>
          <p:cNvPr id="2" name="1 İçerik Yer Tutucusu"/>
          <p:cNvSpPr>
            <a:spLocks noGrp="1"/>
          </p:cNvSpPr>
          <p:nvPr>
            <p:ph/>
          </p:nvPr>
        </p:nvSpPr>
        <p:spPr>
          <a:xfrm>
            <a:off x="457200" y="457200"/>
            <a:ext cx="8229600" cy="54102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3" name="2 Altbilgi Yer Tutucusu"/>
          <p:cNvSpPr>
            <a:spLocks noGrp="1"/>
          </p:cNvSpPr>
          <p:nvPr>
            <p:ph type="ftr" sz="quarter" idx="10"/>
          </p:nvPr>
        </p:nvSpPr>
        <p:spPr>
          <a:xfrm>
            <a:off x="3124200" y="6248400"/>
            <a:ext cx="2895600" cy="457200"/>
          </a:xfrm>
        </p:spPr>
        <p:txBody>
          <a:bodyPr/>
          <a:lstStyle>
            <a:lvl1pPr>
              <a:defRPr/>
            </a:lvl1pPr>
          </a:lstStyle>
          <a:p>
            <a:pPr>
              <a:defRPr/>
            </a:pPr>
            <a:r>
              <a:rPr lang="tr-TR" dirty="0"/>
              <a:t> [ 8.hft  ]</a:t>
            </a:r>
          </a:p>
        </p:txBody>
      </p:sp>
      <p:sp>
        <p:nvSpPr>
          <p:cNvPr id="4" name="3 Slayt Numarası Yer Tutucusu"/>
          <p:cNvSpPr>
            <a:spLocks noGrp="1"/>
          </p:cNvSpPr>
          <p:nvPr>
            <p:ph type="sldNum" sz="quarter" idx="11"/>
          </p:nvPr>
        </p:nvSpPr>
        <p:spPr>
          <a:xfrm>
            <a:off x="6553200" y="6248400"/>
            <a:ext cx="2133600" cy="457200"/>
          </a:xfrm>
        </p:spPr>
        <p:txBody>
          <a:bodyPr/>
          <a:lstStyle>
            <a:lvl1pPr>
              <a:defRPr/>
            </a:lvl1pPr>
          </a:lstStyle>
          <a:p>
            <a:pPr>
              <a:defRPr/>
            </a:pPr>
            <a:fld id="{3125A160-A9FA-4FA4-9684-F1207C08D696}" type="slidenum">
              <a:rPr lang="tr-TR"/>
              <a:pPr>
                <a:defRPr/>
              </a:pPr>
              <a:t>‹#›</a:t>
            </a:fld>
            <a:endParaRPr lang="tr-TR"/>
          </a:p>
        </p:txBody>
      </p:sp>
      <p:sp>
        <p:nvSpPr>
          <p:cNvPr id="5" name="4 Veri Yer Tutucusu"/>
          <p:cNvSpPr>
            <a:spLocks noGrp="1"/>
          </p:cNvSpPr>
          <p:nvPr>
            <p:ph type="dt" sz="half" idx="12"/>
          </p:nvPr>
        </p:nvSpPr>
        <p:spPr>
          <a:xfrm>
            <a:off x="457200" y="6245225"/>
            <a:ext cx="2133600" cy="476250"/>
          </a:xfrm>
        </p:spPr>
        <p:txBody>
          <a:bodyPr/>
          <a:lstStyle>
            <a:lvl1pPr>
              <a:defRPr/>
            </a:lvl1pPr>
          </a:lstStyle>
          <a:p>
            <a:pPr>
              <a:defRPr/>
            </a:pPr>
            <a:fld id="{AEC0335C-10F7-4852-BD72-41235BAF1479}" type="datetime1">
              <a:rPr lang="tr-TR"/>
              <a:pPr>
                <a:defRPr/>
              </a:pPr>
              <a:t>28.05.2026</a:t>
            </a:fld>
            <a:endParaRPr lang="tr-TR"/>
          </a:p>
        </p:txBody>
      </p:sp>
    </p:spTree>
    <p:extLst>
      <p:ext uri="{BB962C8B-B14F-4D97-AF65-F5344CB8AC3E}">
        <p14:creationId xmlns:p14="http://schemas.microsoft.com/office/powerpoint/2010/main" val="1345737051"/>
      </p:ext>
    </p:extLst>
  </p:cSld>
  <p:clrMapOvr>
    <a:masterClrMapping/>
  </p:clrMapOvr>
  <p:transition spd="med">
    <p:whee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Başlık, Metin ve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457200"/>
            <a:ext cx="8229600" cy="1371600"/>
          </a:xfrm>
        </p:spPr>
        <p:txBody>
          <a:bodyPr/>
          <a:lstStyle/>
          <a:p>
            <a:r>
              <a:rPr lang="tr-TR"/>
              <a:t>Asıl başlık stili için tıklatın</a:t>
            </a:r>
          </a:p>
        </p:txBody>
      </p:sp>
      <p:sp>
        <p:nvSpPr>
          <p:cNvPr id="3" name="2 Metin Yer Tutucusu"/>
          <p:cNvSpPr>
            <a:spLocks noGrp="1"/>
          </p:cNvSpPr>
          <p:nvPr>
            <p:ph type="body" sz="half" idx="1"/>
          </p:nvPr>
        </p:nvSpPr>
        <p:spPr>
          <a:xfrm>
            <a:off x="457200" y="1981200"/>
            <a:ext cx="4038600" cy="38862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981200"/>
            <a:ext cx="4038600" cy="38862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Altbilgi Yer Tutucusu"/>
          <p:cNvSpPr>
            <a:spLocks noGrp="1"/>
          </p:cNvSpPr>
          <p:nvPr>
            <p:ph type="ftr" sz="quarter" idx="10"/>
          </p:nvPr>
        </p:nvSpPr>
        <p:spPr>
          <a:xfrm>
            <a:off x="3124200" y="6248400"/>
            <a:ext cx="2895600" cy="457200"/>
          </a:xfrm>
        </p:spPr>
        <p:txBody>
          <a:bodyPr/>
          <a:lstStyle>
            <a:lvl1pPr>
              <a:defRPr/>
            </a:lvl1pPr>
          </a:lstStyle>
          <a:p>
            <a:pPr>
              <a:defRPr/>
            </a:pPr>
            <a:r>
              <a:rPr lang="tr-TR" dirty="0"/>
              <a:t> [ 8.hft  ]</a:t>
            </a:r>
          </a:p>
        </p:txBody>
      </p:sp>
      <p:sp>
        <p:nvSpPr>
          <p:cNvPr id="6" name="5 Slayt Numarası Yer Tutucusu"/>
          <p:cNvSpPr>
            <a:spLocks noGrp="1"/>
          </p:cNvSpPr>
          <p:nvPr>
            <p:ph type="sldNum" sz="quarter" idx="11"/>
          </p:nvPr>
        </p:nvSpPr>
        <p:spPr>
          <a:xfrm>
            <a:off x="6553200" y="6248400"/>
            <a:ext cx="2133600" cy="457200"/>
          </a:xfrm>
        </p:spPr>
        <p:txBody>
          <a:bodyPr/>
          <a:lstStyle>
            <a:lvl1pPr>
              <a:defRPr/>
            </a:lvl1pPr>
          </a:lstStyle>
          <a:p>
            <a:pPr>
              <a:defRPr/>
            </a:pPr>
            <a:fld id="{05DD650E-AAF9-4BCC-8A46-4190C2F4F18C}" type="slidenum">
              <a:rPr lang="tr-TR"/>
              <a:pPr>
                <a:defRPr/>
              </a:pPr>
              <a:t>‹#›</a:t>
            </a:fld>
            <a:endParaRPr lang="tr-TR"/>
          </a:p>
        </p:txBody>
      </p:sp>
      <p:sp>
        <p:nvSpPr>
          <p:cNvPr id="7" name="6 Veri Yer Tutucusu"/>
          <p:cNvSpPr>
            <a:spLocks noGrp="1"/>
          </p:cNvSpPr>
          <p:nvPr>
            <p:ph type="dt" sz="half" idx="12"/>
          </p:nvPr>
        </p:nvSpPr>
        <p:spPr>
          <a:xfrm>
            <a:off x="457200" y="6245225"/>
            <a:ext cx="2133600" cy="476250"/>
          </a:xfrm>
        </p:spPr>
        <p:txBody>
          <a:bodyPr/>
          <a:lstStyle>
            <a:lvl1pPr>
              <a:defRPr/>
            </a:lvl1pPr>
          </a:lstStyle>
          <a:p>
            <a:pPr>
              <a:defRPr/>
            </a:pPr>
            <a:fld id="{12506982-4FA3-46A6-89BC-3C61BB2E3B7C}" type="datetime1">
              <a:rPr lang="tr-TR"/>
              <a:pPr>
                <a:defRPr/>
              </a:pPr>
              <a:t>28.05.2026</a:t>
            </a:fld>
            <a:endParaRPr lang="tr-TR"/>
          </a:p>
        </p:txBody>
      </p:sp>
    </p:spTree>
    <p:extLst>
      <p:ext uri="{BB962C8B-B14F-4D97-AF65-F5344CB8AC3E}">
        <p14:creationId xmlns:p14="http://schemas.microsoft.com/office/powerpoint/2010/main" val="802137734"/>
      </p:ext>
    </p:extLst>
  </p:cSld>
  <p:clrMapOvr>
    <a:masterClrMapping/>
  </p:clrMapOvr>
  <p:transition spd="med">
    <p:whee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DCAE2A7A-DDA4-19BB-8196-49D9FF62ADD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tr-TR"/>
              <a:t>Asıl başlık stilini düzenlemek için tıklayın</a:t>
            </a:r>
            <a:endParaRPr lang="en-US"/>
          </a:p>
        </p:txBody>
      </p:sp>
      <p:sp>
        <p:nvSpPr>
          <p:cNvPr id="3" name="Metin Yer Tutucusu 2">
            <a:extLst>
              <a:ext uri="{FF2B5EF4-FFF2-40B4-BE49-F238E27FC236}">
                <a16:creationId xmlns:a16="http://schemas.microsoft.com/office/drawing/2014/main" id="{B358DE00-FF57-617B-7275-BBBD0146A10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Veri Yer Tutucusu 3">
            <a:extLst>
              <a:ext uri="{FF2B5EF4-FFF2-40B4-BE49-F238E27FC236}">
                <a16:creationId xmlns:a16="http://schemas.microsoft.com/office/drawing/2014/main" id="{050B4BE6-B6FA-026A-BF84-49CABF9556F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1CB975FE-5749-4A7E-8CBE-7CE6867E1C32}" type="datetime1">
              <a:rPr lang="tr-TR" smtClean="0"/>
              <a:pPr>
                <a:defRPr/>
              </a:pPr>
              <a:t>28.05.2026</a:t>
            </a:fld>
            <a:endParaRPr lang="tr-TR"/>
          </a:p>
        </p:txBody>
      </p:sp>
      <p:sp>
        <p:nvSpPr>
          <p:cNvPr id="5" name="Alt Bilgi Yer Tutucusu 4">
            <a:extLst>
              <a:ext uri="{FF2B5EF4-FFF2-40B4-BE49-F238E27FC236}">
                <a16:creationId xmlns:a16="http://schemas.microsoft.com/office/drawing/2014/main" id="{9299A5AF-518F-0311-5DFF-F60D0FC9568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tr-TR"/>
              <a:t> [ 8.hft  ]</a:t>
            </a:r>
            <a:endParaRPr lang="tr-TR" dirty="0"/>
          </a:p>
        </p:txBody>
      </p:sp>
      <p:sp>
        <p:nvSpPr>
          <p:cNvPr id="6" name="Slayt Numarası Yer Tutucusu 5">
            <a:extLst>
              <a:ext uri="{FF2B5EF4-FFF2-40B4-BE49-F238E27FC236}">
                <a16:creationId xmlns:a16="http://schemas.microsoft.com/office/drawing/2014/main" id="{CF115918-5881-3FB0-98C4-9BA4952A6EF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835174EF-70F0-4224-A7A2-55601E20BC1E}" type="slidenum">
              <a:rPr lang="tr-TR" smtClean="0"/>
              <a:pPr>
                <a:defRPr/>
              </a:pPr>
              <a:t>‹#›</a:t>
            </a:fld>
            <a:endParaRPr lang="tr-TR"/>
          </a:p>
        </p:txBody>
      </p:sp>
    </p:spTree>
    <p:extLst>
      <p:ext uri="{BB962C8B-B14F-4D97-AF65-F5344CB8AC3E}">
        <p14:creationId xmlns:p14="http://schemas.microsoft.com/office/powerpoint/2010/main" val="2508899080"/>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Lst>
  <p:transition spd="med">
    <p:fade thruBlk="1"/>
  </p:transition>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3.bin"/><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6.bin"/><Relationship Id="rId1" Type="http://schemas.openxmlformats.org/officeDocument/2006/relationships/slideLayout" Target="../slideLayouts/slideLayout12.xml"/><Relationship Id="rId5" Type="http://schemas.openxmlformats.org/officeDocument/2006/relationships/image" Target="../media/image24.wmf"/><Relationship Id="rId4" Type="http://schemas.openxmlformats.org/officeDocument/2006/relationships/oleObject" Target="../embeddings/oleObject7.bin"/></Relationships>
</file>

<file path=ppt/slides/_rels/slide3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8.bin"/><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26.png"/><Relationship Id="rId3" Type="http://schemas.openxmlformats.org/officeDocument/2006/relationships/image" Target="../media/image27.wmf"/><Relationship Id="rId7" Type="http://schemas.openxmlformats.org/officeDocument/2006/relationships/image" Target="../media/image29.wmf"/><Relationship Id="rId12" Type="http://schemas.openxmlformats.org/officeDocument/2006/relationships/image" Target="../media/image22.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image" Target="../media/image31.wmf"/><Relationship Id="rId5" Type="http://schemas.openxmlformats.org/officeDocument/2006/relationships/image" Target="../media/image28.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30.wmf"/></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15.bin"/></Relationships>
</file>

<file path=ppt/slides/_rels/slide4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36.wmf"/><Relationship Id="rId7" Type="http://schemas.openxmlformats.org/officeDocument/2006/relationships/image" Target="../media/image40.wmf"/><Relationship Id="rId12" Type="http://schemas.openxmlformats.org/officeDocument/2006/relationships/image" Target="../media/image43.png"/><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42.wmf"/><Relationship Id="rId5" Type="http://schemas.openxmlformats.org/officeDocument/2006/relationships/image" Target="../media/image27.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41.wmf"/></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image" Target="../media/image53.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CC81228-CEA3-402B-B8E5-688F5BFA7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Arc 15">
            <a:extLst>
              <a:ext uri="{FF2B5EF4-FFF2-40B4-BE49-F238E27FC236}">
                <a16:creationId xmlns:a16="http://schemas.microsoft.com/office/drawing/2014/main" id="{BC0916B8-FF7A-4ECB-9FD7-C7668658D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011959" flipH="1">
            <a:off x="37777" y="3520677"/>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1 Başlık"/>
          <p:cNvSpPr txBox="1">
            <a:spLocks/>
          </p:cNvSpPr>
          <p:nvPr/>
        </p:nvSpPr>
        <p:spPr>
          <a:xfrm>
            <a:off x="652610" y="2370318"/>
            <a:ext cx="4118317" cy="2387600"/>
          </a:xfrm>
          <a:prstGeom prst="rect">
            <a:avLst/>
          </a:prstGeom>
        </p:spPr>
        <p:txBody>
          <a:bodyPr vert="horz" lIns="91440" tIns="45720" rIns="91440" bIns="45720" rtlCol="0" anchor="b">
            <a:normAutofit fontScale="40000" lnSpcReduction="20000"/>
          </a:bodyPr>
          <a:lstStyle/>
          <a:p>
            <a:pPr fontAlgn="auto">
              <a:lnSpc>
                <a:spcPct val="90000"/>
              </a:lnSpc>
              <a:spcBef>
                <a:spcPct val="0"/>
              </a:spcBef>
              <a:spcAft>
                <a:spcPts val="600"/>
              </a:spcAft>
              <a:defRPr/>
            </a:pPr>
            <a:r>
              <a:rPr lang="tr-TR" sz="8800" b="1" dirty="0">
                <a:latin typeface="Arial" panose="020B0604020202020204" pitchFamily="34" charset="0"/>
                <a:cs typeface="Arial" panose="020B0604020202020204" pitchFamily="34" charset="0"/>
              </a:rPr>
              <a:t>K En Yakın Komşuluk Algoritması (KNN)</a:t>
            </a:r>
            <a:br>
              <a:rPr lang="tr-TR" sz="8800" b="1" dirty="0">
                <a:latin typeface="Arial" panose="020B0604020202020204" pitchFamily="34" charset="0"/>
                <a:cs typeface="Arial" panose="020B0604020202020204" pitchFamily="34" charset="0"/>
              </a:rPr>
            </a:br>
            <a:r>
              <a:rPr lang="tr-TR" sz="8800" b="1" dirty="0">
                <a:latin typeface="Arial" panose="020B0604020202020204" pitchFamily="34" charset="0"/>
                <a:cs typeface="Arial" panose="020B0604020202020204" pitchFamily="34" charset="0"/>
              </a:rPr>
              <a:t>K-</a:t>
            </a:r>
            <a:r>
              <a:rPr lang="tr-TR" sz="8800" b="1" dirty="0" err="1">
                <a:latin typeface="Arial" panose="020B0604020202020204" pitchFamily="34" charset="0"/>
                <a:cs typeface="Arial" panose="020B0604020202020204" pitchFamily="34" charset="0"/>
              </a:rPr>
              <a:t>Nearest</a:t>
            </a:r>
            <a:r>
              <a:rPr lang="tr-TR" sz="8800" b="1" dirty="0">
                <a:latin typeface="Arial" panose="020B0604020202020204" pitchFamily="34" charset="0"/>
                <a:cs typeface="Arial" panose="020B0604020202020204" pitchFamily="34" charset="0"/>
              </a:rPr>
              <a:t> </a:t>
            </a:r>
            <a:r>
              <a:rPr lang="tr-TR" sz="8800" b="1" dirty="0" err="1">
                <a:latin typeface="Arial" panose="020B0604020202020204" pitchFamily="34" charset="0"/>
                <a:cs typeface="Arial" panose="020B0604020202020204" pitchFamily="34" charset="0"/>
              </a:rPr>
              <a:t>Neighbors</a:t>
            </a:r>
            <a:endParaRPr lang="tr-TR" sz="8800" b="1" dirty="0">
              <a:latin typeface="Arial" panose="020B0604020202020204" pitchFamily="34" charset="0"/>
              <a:cs typeface="Arial" panose="020B0604020202020204" pitchFamily="34" charset="0"/>
            </a:endParaRPr>
          </a:p>
        </p:txBody>
      </p:sp>
      <p:sp>
        <p:nvSpPr>
          <p:cNvPr id="7" name="6 Dikdörtgen"/>
          <p:cNvSpPr/>
          <p:nvPr/>
        </p:nvSpPr>
        <p:spPr>
          <a:xfrm>
            <a:off x="652611" y="4802538"/>
            <a:ext cx="4118317" cy="1411993"/>
          </a:xfrm>
          <a:prstGeom prst="rect">
            <a:avLst/>
          </a:prstGeom>
        </p:spPr>
        <p:txBody>
          <a:bodyPr vert="horz" lIns="91440" tIns="45720" rIns="91440" bIns="45720" rtlCol="0" anchor="t">
            <a:normAutofit/>
          </a:bodyPr>
          <a:lstStyle/>
          <a:p>
            <a:pPr fontAlgn="auto">
              <a:lnSpc>
                <a:spcPct val="90000"/>
              </a:lnSpc>
              <a:spcBef>
                <a:spcPts val="1000"/>
              </a:spcBef>
              <a:spcAft>
                <a:spcPts val="0"/>
              </a:spcAft>
              <a:defRPr/>
            </a:pPr>
            <a:r>
              <a:rPr lang="en-US" sz="2400" b="1" kern="1200">
                <a:ln w="9000" cmpd="sng">
                  <a:solidFill>
                    <a:schemeClr val="accent4">
                      <a:shade val="50000"/>
                      <a:satMod val="120000"/>
                    </a:schemeClr>
                  </a:solidFill>
                  <a:prstDash val="solid"/>
                </a:ln>
                <a:solidFill>
                  <a:schemeClr val="tx1"/>
                </a:solidFill>
                <a:effectLst>
                  <a:reflection blurRad="12700" stA="28000" endPos="45000" dist="1000" dir="5400000" sy="-100000" algn="bl" rotWithShape="0"/>
                </a:effectLst>
                <a:latin typeface="+mn-lt"/>
                <a:ea typeface="+mn-ea"/>
                <a:cs typeface="+mn-cs"/>
              </a:rPr>
              <a:t>.</a:t>
            </a:r>
          </a:p>
        </p:txBody>
      </p:sp>
      <p:sp>
        <p:nvSpPr>
          <p:cNvPr id="18" name="Rectangle 17">
            <a:extLst>
              <a:ext uri="{FF2B5EF4-FFF2-40B4-BE49-F238E27FC236}">
                <a16:creationId xmlns:a16="http://schemas.microsoft.com/office/drawing/2014/main" id="{9DC011D4-C95F-4B2E-9A3C-A46DCDE956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8938" y="447363"/>
            <a:ext cx="550605" cy="734141"/>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4 Slayt Numarası Yer Tutucusu"/>
          <p:cNvSpPr>
            <a:spLocks noGrp="1"/>
          </p:cNvSpPr>
          <p:nvPr>
            <p:ph type="sldNum" sz="quarter" idx="12"/>
          </p:nvPr>
        </p:nvSpPr>
        <p:spPr>
          <a:xfrm>
            <a:off x="6457950" y="6356350"/>
            <a:ext cx="2033439" cy="365125"/>
          </a:xfrm>
        </p:spPr>
        <p:txBody>
          <a:bodyPr vert="horz" lIns="91440" tIns="45720" rIns="91440" bIns="45720" rtlCol="0" anchor="ctr">
            <a:normAutofit/>
          </a:bodyPr>
          <a:lstStyle/>
          <a:p>
            <a:pPr>
              <a:spcAft>
                <a:spcPts val="600"/>
              </a:spcAft>
              <a:defRPr/>
            </a:pPr>
            <a:fld id="{AD962D39-3CDA-4E7D-B167-B7D96C7548C5}" type="slidenum">
              <a:rPr lang="en-US" sz="1200"/>
              <a:pPr>
                <a:spcAft>
                  <a:spcPts val="600"/>
                </a:spcAft>
                <a:defRPr/>
              </a:pPr>
              <a:t>1</a:t>
            </a:fld>
            <a:endParaRPr lang="en-US" sz="1200"/>
          </a:p>
        </p:txBody>
      </p:sp>
      <p:pic>
        <p:nvPicPr>
          <p:cNvPr id="2" name="Resim 1">
            <a:extLst>
              <a:ext uri="{FF2B5EF4-FFF2-40B4-BE49-F238E27FC236}">
                <a16:creationId xmlns:a16="http://schemas.microsoft.com/office/drawing/2014/main" id="{FE82AD0A-8EE3-48EF-4789-5F54D3FEBF19}"/>
              </a:ext>
            </a:extLst>
          </p:cNvPr>
          <p:cNvPicPr>
            <a:picLocks noChangeAspect="1"/>
          </p:cNvPicPr>
          <p:nvPr/>
        </p:nvPicPr>
        <p:blipFill>
          <a:blip r:embed="rId3"/>
          <a:stretch>
            <a:fillRect/>
          </a:stretch>
        </p:blipFill>
        <p:spPr>
          <a:xfrm>
            <a:off x="4853234" y="1365865"/>
            <a:ext cx="4211960" cy="2403062"/>
          </a:xfrm>
          <a:prstGeom prst="rect">
            <a:avLst/>
          </a:prstGeom>
        </p:spPr>
      </p:pic>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E29E7B4-5C18-8162-4FDA-2FB268A637A4}"/>
              </a:ext>
            </a:extLst>
          </p:cNvPr>
          <p:cNvSpPr>
            <a:spLocks noGrp="1"/>
          </p:cNvSpPr>
          <p:nvPr>
            <p:ph type="title"/>
          </p:nvPr>
        </p:nvSpPr>
        <p:spPr>
          <a:xfrm>
            <a:off x="107504" y="1153572"/>
            <a:ext cx="2807921" cy="4461163"/>
          </a:xfrm>
        </p:spPr>
        <p:txBody>
          <a:bodyPr>
            <a:normAutofit/>
          </a:bodyPr>
          <a:lstStyle/>
          <a:p>
            <a:r>
              <a:rPr lang="tr-TR" b="1" dirty="0">
                <a:solidFill>
                  <a:srgbClr val="FFFFFF"/>
                </a:solidFill>
                <a:latin typeface="Arial" panose="020B0604020202020204" pitchFamily="34" charset="0"/>
                <a:cs typeface="Arial" panose="020B0604020202020204" pitchFamily="34" charset="0"/>
              </a:rPr>
              <a:t>K En Yakın Komşuluk Algoritması (KNN)</a:t>
            </a:r>
            <a:br>
              <a:rPr lang="tr-TR" b="1" dirty="0">
                <a:solidFill>
                  <a:srgbClr val="FFFFFF"/>
                </a:solidFill>
                <a:latin typeface="Arial" panose="020B0604020202020204" pitchFamily="34" charset="0"/>
                <a:cs typeface="Arial" panose="020B0604020202020204" pitchFamily="34" charset="0"/>
              </a:rPr>
            </a:br>
            <a:r>
              <a:rPr lang="tr-TR" b="1" dirty="0">
                <a:solidFill>
                  <a:srgbClr val="FFFFFF"/>
                </a:solidFill>
                <a:latin typeface="Arial" panose="020B0604020202020204" pitchFamily="34" charset="0"/>
                <a:cs typeface="Arial" panose="020B0604020202020204" pitchFamily="34" charset="0"/>
              </a:rPr>
              <a:t>K-</a:t>
            </a:r>
            <a:r>
              <a:rPr lang="tr-TR" b="1" dirty="0" err="1">
                <a:solidFill>
                  <a:srgbClr val="FFFFFF"/>
                </a:solidFill>
                <a:latin typeface="Arial" panose="020B0604020202020204" pitchFamily="34" charset="0"/>
                <a:cs typeface="Arial" panose="020B0604020202020204" pitchFamily="34" charset="0"/>
              </a:rPr>
              <a:t>Nearest</a:t>
            </a:r>
            <a:r>
              <a:rPr lang="tr-TR" b="1" dirty="0">
                <a:solidFill>
                  <a:srgbClr val="FFFFFF"/>
                </a:solidFill>
                <a:latin typeface="Arial" panose="020B0604020202020204" pitchFamily="34" charset="0"/>
                <a:cs typeface="Arial" panose="020B0604020202020204" pitchFamily="34" charset="0"/>
              </a:rPr>
              <a:t> </a:t>
            </a:r>
            <a:r>
              <a:rPr lang="tr-TR" b="1" dirty="0" err="1">
                <a:solidFill>
                  <a:srgbClr val="FFFFFF"/>
                </a:solidFill>
                <a:latin typeface="Arial" panose="020B0604020202020204" pitchFamily="34" charset="0"/>
                <a:cs typeface="Arial" panose="020B0604020202020204" pitchFamily="34" charset="0"/>
              </a:rPr>
              <a:t>Neighbors</a:t>
            </a:r>
            <a:endParaRPr lang="en-US" b="1" dirty="0">
              <a:solidFill>
                <a:srgbClr val="FFFFFF"/>
              </a:solidFill>
              <a:latin typeface="Arial" panose="020B0604020202020204" pitchFamily="34" charset="0"/>
              <a:cs typeface="Arial" panose="020B0604020202020204" pitchFamily="34" charset="0"/>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1D3BE7B1-CDF0-3D33-0368-36DE8C5A51C3}"/>
              </a:ext>
            </a:extLst>
          </p:cNvPr>
          <p:cNvSpPr>
            <a:spLocks noGrp="1"/>
          </p:cNvSpPr>
          <p:nvPr>
            <p:ph idx="1"/>
          </p:nvPr>
        </p:nvSpPr>
        <p:spPr>
          <a:xfrm>
            <a:off x="3335481" y="591344"/>
            <a:ext cx="5179868" cy="5585619"/>
          </a:xfrm>
        </p:spPr>
        <p:txBody>
          <a:bodyPr anchor="ctr">
            <a:normAutofit/>
          </a:bodyPr>
          <a:lstStyle/>
          <a:p>
            <a:r>
              <a:rPr lang="en-US" sz="2400" b="0" i="0" dirty="0">
                <a:effectLst/>
                <a:latin typeface="Arial" panose="020B0604020202020204" pitchFamily="34" charset="0"/>
                <a:cs typeface="Arial" panose="020B0604020202020204" pitchFamily="34" charset="0"/>
              </a:rPr>
              <a:t>K-Nearest Neighbors (KNN), </a:t>
            </a:r>
            <a:r>
              <a:rPr lang="en-US" sz="2400" b="0" i="0" dirty="0" err="1">
                <a:effectLst/>
                <a:latin typeface="Arial" panose="020B0604020202020204" pitchFamily="34" charset="0"/>
                <a:cs typeface="Arial" panose="020B0604020202020204" pitchFamily="34" charset="0"/>
              </a:rPr>
              <a:t>temel</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bir</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makine</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öğrenmesi</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algoritmasıdır</a:t>
            </a:r>
            <a:r>
              <a:rPr lang="en-US" sz="2400" b="0" i="0" dirty="0">
                <a:effectLst/>
                <a:latin typeface="Arial" panose="020B0604020202020204" pitchFamily="34" charset="0"/>
                <a:cs typeface="Arial" panose="020B0604020202020204" pitchFamily="34" charset="0"/>
              </a:rPr>
              <a:t>. </a:t>
            </a:r>
            <a:endParaRPr lang="tr-TR" sz="2400" b="0" i="0" dirty="0">
              <a:effectLst/>
              <a:latin typeface="Arial" panose="020B0604020202020204" pitchFamily="34" charset="0"/>
              <a:cs typeface="Arial" panose="020B0604020202020204" pitchFamily="34" charset="0"/>
            </a:endParaRPr>
          </a:p>
          <a:p>
            <a:endParaRPr lang="tr-TR" sz="2400" b="0" i="0" dirty="0">
              <a:effectLst/>
              <a:latin typeface="Arial" panose="020B0604020202020204" pitchFamily="34" charset="0"/>
              <a:cs typeface="Arial" panose="020B0604020202020204" pitchFamily="34" charset="0"/>
            </a:endParaRPr>
          </a:p>
          <a:p>
            <a:r>
              <a:rPr lang="en-US" sz="2400" b="0" i="0" dirty="0">
                <a:effectLst/>
                <a:latin typeface="Arial" panose="020B0604020202020204" pitchFamily="34" charset="0"/>
                <a:cs typeface="Arial" panose="020B0604020202020204" pitchFamily="34" charset="0"/>
              </a:rPr>
              <a:t>KNN, </a:t>
            </a:r>
            <a:r>
              <a:rPr lang="tr-TR" sz="2400" b="0" i="0" dirty="0">
                <a:effectLst/>
                <a:latin typeface="Arial" panose="020B0604020202020204" pitchFamily="34" charset="0"/>
                <a:cs typeface="Arial" panose="020B0604020202020204" pitchFamily="34" charset="0"/>
              </a:rPr>
              <a:t>denetimli/</a:t>
            </a:r>
            <a:r>
              <a:rPr lang="en-US" sz="2400" b="0" i="0" dirty="0" err="1">
                <a:effectLst/>
                <a:latin typeface="Arial" panose="020B0604020202020204" pitchFamily="34" charset="0"/>
                <a:cs typeface="Arial" panose="020B0604020202020204" pitchFamily="34" charset="0"/>
              </a:rPr>
              <a:t>gözetimli</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öğrenme</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kategorisine</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girer</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ve</a:t>
            </a:r>
            <a:r>
              <a:rPr lang="en-US" sz="2400" b="0" i="0" dirty="0">
                <a:effectLst/>
                <a:latin typeface="Arial" panose="020B0604020202020204" pitchFamily="34" charset="0"/>
                <a:cs typeface="Arial" panose="020B0604020202020204" pitchFamily="34" charset="0"/>
              </a:rPr>
              <a:t> </a:t>
            </a:r>
            <a:r>
              <a:rPr lang="en-US" sz="2400" b="1" i="0" dirty="0" err="1">
                <a:effectLst/>
                <a:latin typeface="Arial" panose="020B0604020202020204" pitchFamily="34" charset="0"/>
                <a:cs typeface="Arial" panose="020B0604020202020204" pitchFamily="34" charset="0"/>
              </a:rPr>
              <a:t>sınıflandırma</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ile</a:t>
            </a:r>
            <a:r>
              <a:rPr lang="en-US" sz="2400" b="0" i="0" dirty="0">
                <a:effectLst/>
                <a:latin typeface="Arial" panose="020B0604020202020204" pitchFamily="34" charset="0"/>
                <a:cs typeface="Arial" panose="020B0604020202020204" pitchFamily="34" charset="0"/>
              </a:rPr>
              <a:t> </a:t>
            </a:r>
            <a:r>
              <a:rPr lang="en-US" sz="2400" b="1" i="0" dirty="0" err="1">
                <a:effectLst/>
                <a:latin typeface="Arial" panose="020B0604020202020204" pitchFamily="34" charset="0"/>
                <a:cs typeface="Arial" panose="020B0604020202020204" pitchFamily="34" charset="0"/>
              </a:rPr>
              <a:t>regresyon</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problemlerini</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çözmek</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için</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kullanılabilir</a:t>
            </a:r>
            <a:r>
              <a:rPr lang="en-US" sz="2400" b="0" i="0" dirty="0">
                <a:effectLst/>
                <a:latin typeface="Arial" panose="020B0604020202020204" pitchFamily="34" charset="0"/>
                <a:cs typeface="Arial" panose="020B0604020202020204" pitchFamily="34" charset="0"/>
              </a:rPr>
              <a:t>. </a:t>
            </a:r>
            <a:endParaRPr lang="tr-TR" sz="2400" b="0" i="0" dirty="0">
              <a:effectLst/>
              <a:latin typeface="Arial" panose="020B0604020202020204" pitchFamily="34" charset="0"/>
              <a:cs typeface="Arial" panose="020B0604020202020204" pitchFamily="34" charset="0"/>
            </a:endParaRPr>
          </a:p>
          <a:p>
            <a:endParaRPr lang="tr-TR" sz="2400" b="0" i="0" dirty="0">
              <a:effectLst/>
              <a:latin typeface="Arial" panose="020B0604020202020204" pitchFamily="34" charset="0"/>
              <a:cs typeface="Arial" panose="020B0604020202020204" pitchFamily="34" charset="0"/>
            </a:endParaRPr>
          </a:p>
          <a:p>
            <a:r>
              <a:rPr lang="en-US" sz="2400" b="0" i="0" dirty="0">
                <a:effectLst/>
                <a:latin typeface="Arial" panose="020B0604020202020204" pitchFamily="34" charset="0"/>
                <a:cs typeface="Arial" panose="020B0604020202020204" pitchFamily="34" charset="0"/>
              </a:rPr>
              <a:t>KNN </a:t>
            </a:r>
            <a:r>
              <a:rPr lang="en-US" sz="2400" b="0" i="0" dirty="0" err="1">
                <a:effectLst/>
                <a:latin typeface="Arial" panose="020B0604020202020204" pitchFamily="34" charset="0"/>
                <a:cs typeface="Arial" panose="020B0604020202020204" pitchFamily="34" charset="0"/>
              </a:rPr>
              <a:t>algoritması</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öğrenme</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ve</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tahminleme</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sürecinde</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veri</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noktaları</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arasındaki</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benzerlik</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ölçüsünü</a:t>
            </a:r>
            <a:r>
              <a:rPr lang="en-US" sz="2400" b="0" i="0" dirty="0">
                <a:effectLst/>
                <a:latin typeface="Arial" panose="020B0604020202020204" pitchFamily="34" charset="0"/>
                <a:cs typeface="Arial" panose="020B0604020202020204" pitchFamily="34" charset="0"/>
              </a:rPr>
              <a:t> </a:t>
            </a:r>
            <a:r>
              <a:rPr lang="en-US" sz="2400" b="0" i="0" dirty="0" err="1">
                <a:effectLst/>
                <a:latin typeface="Arial" panose="020B0604020202020204" pitchFamily="34" charset="0"/>
                <a:cs typeface="Arial" panose="020B0604020202020204" pitchFamily="34" charset="0"/>
              </a:rPr>
              <a:t>kullanır</a:t>
            </a:r>
            <a:r>
              <a:rPr lang="en-US" sz="2400" b="0" i="0" dirty="0">
                <a:effectLst/>
                <a:latin typeface="Arial" panose="020B0604020202020204" pitchFamily="34" charset="0"/>
                <a:cs typeface="Arial" panose="020B0604020202020204" pitchFamily="34" charset="0"/>
              </a:rPr>
              <a:t>.</a:t>
            </a:r>
            <a:endParaRPr lang="tr-TR" sz="2400" b="0" i="0" dirty="0">
              <a:effectLst/>
              <a:latin typeface="Arial" panose="020B0604020202020204" pitchFamily="34" charset="0"/>
              <a:cs typeface="Arial" panose="020B0604020202020204" pitchFamily="34" charset="0"/>
            </a:endParaRPr>
          </a:p>
          <a:p>
            <a:endParaRPr lang="tr-TR" sz="1800" dirty="0">
              <a:latin typeface="Söhne"/>
            </a:endParaRPr>
          </a:p>
        </p:txBody>
      </p:sp>
      <p:sp>
        <p:nvSpPr>
          <p:cNvPr id="5" name="Slayt Numarası Yer Tutucusu 4">
            <a:extLst>
              <a:ext uri="{FF2B5EF4-FFF2-40B4-BE49-F238E27FC236}">
                <a16:creationId xmlns:a16="http://schemas.microsoft.com/office/drawing/2014/main" id="{52132A32-AC1D-F6F5-FDA4-859A8F3114FF}"/>
              </a:ext>
            </a:extLst>
          </p:cNvPr>
          <p:cNvSpPr>
            <a:spLocks noGrp="1"/>
          </p:cNvSpPr>
          <p:nvPr>
            <p:ph type="sldNum" sz="quarter" idx="12"/>
          </p:nvPr>
        </p:nvSpPr>
        <p:spPr>
          <a:xfrm>
            <a:off x="7156173" y="6356350"/>
            <a:ext cx="1359176" cy="365125"/>
          </a:xfrm>
        </p:spPr>
        <p:txBody>
          <a:bodyPr>
            <a:normAutofit/>
          </a:bodyPr>
          <a:lstStyle/>
          <a:p>
            <a:pPr>
              <a:spcAft>
                <a:spcPts val="600"/>
              </a:spcAft>
              <a:defRPr/>
            </a:pPr>
            <a:fld id="{1E09EE13-7A4C-43FA-BBE8-D81D5C0B929E}" type="slidenum">
              <a:rPr lang="tr-TR" smtClean="0"/>
              <a:pPr>
                <a:spcAft>
                  <a:spcPts val="600"/>
                </a:spcAft>
                <a:defRPr/>
              </a:pPr>
              <a:t>2</a:t>
            </a:fld>
            <a:endParaRPr lang="tr-TR"/>
          </a:p>
        </p:txBody>
      </p:sp>
    </p:spTree>
    <p:extLst>
      <p:ext uri="{BB962C8B-B14F-4D97-AF65-F5344CB8AC3E}">
        <p14:creationId xmlns:p14="http://schemas.microsoft.com/office/powerpoint/2010/main" val="2144039949"/>
      </p:ext>
    </p:extLst>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E29E7B4-5C18-8162-4FDA-2FB268A637A4}"/>
              </a:ext>
            </a:extLst>
          </p:cNvPr>
          <p:cNvSpPr>
            <a:spLocks noGrp="1"/>
          </p:cNvSpPr>
          <p:nvPr>
            <p:ph type="title"/>
          </p:nvPr>
        </p:nvSpPr>
        <p:spPr>
          <a:xfrm>
            <a:off x="388416" y="4883544"/>
            <a:ext cx="3143908" cy="1556907"/>
          </a:xfrm>
        </p:spPr>
        <p:txBody>
          <a:bodyPr anchor="ctr">
            <a:normAutofit/>
          </a:bodyPr>
          <a:lstStyle/>
          <a:p>
            <a:r>
              <a:rPr lang="tr-TR" sz="2000" b="1" dirty="0">
                <a:latin typeface="Arial" panose="020B0604020202020204" pitchFamily="34" charset="0"/>
                <a:cs typeface="Arial" panose="020B0604020202020204" pitchFamily="34" charset="0"/>
              </a:rPr>
              <a:t>K En Yakın Komşuluk Algoritması (KNN)</a:t>
            </a:r>
            <a:br>
              <a:rPr lang="tr-TR" sz="2000" b="1" dirty="0">
                <a:latin typeface="Arial" panose="020B0604020202020204" pitchFamily="34" charset="0"/>
                <a:cs typeface="Arial" panose="020B0604020202020204" pitchFamily="34" charset="0"/>
              </a:rPr>
            </a:br>
            <a:r>
              <a:rPr lang="tr-TR" sz="2000" b="1" dirty="0">
                <a:latin typeface="Arial" panose="020B0604020202020204" pitchFamily="34" charset="0"/>
                <a:cs typeface="Arial" panose="020B0604020202020204" pitchFamily="34" charset="0"/>
              </a:rPr>
              <a:t>K-</a:t>
            </a:r>
            <a:r>
              <a:rPr lang="tr-TR" sz="2000" b="1" dirty="0" err="1">
                <a:latin typeface="Arial" panose="020B0604020202020204" pitchFamily="34" charset="0"/>
                <a:cs typeface="Arial" panose="020B0604020202020204" pitchFamily="34" charset="0"/>
              </a:rPr>
              <a:t>Nearest</a:t>
            </a:r>
            <a:r>
              <a:rPr lang="tr-TR" sz="2000" b="1" dirty="0">
                <a:latin typeface="Arial" panose="020B0604020202020204" pitchFamily="34" charset="0"/>
                <a:cs typeface="Arial" panose="020B0604020202020204" pitchFamily="34" charset="0"/>
              </a:rPr>
              <a:t> </a:t>
            </a:r>
            <a:r>
              <a:rPr lang="tr-TR" sz="2000" b="1" dirty="0" err="1">
                <a:latin typeface="Arial" panose="020B0604020202020204" pitchFamily="34" charset="0"/>
                <a:cs typeface="Arial" panose="020B0604020202020204" pitchFamily="34" charset="0"/>
              </a:rPr>
              <a:t>Neighbors</a:t>
            </a:r>
            <a:endParaRPr lang="en-US" sz="2000" b="1" dirty="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416" y="0"/>
            <a:ext cx="8423809"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Resim 3">
            <a:extLst>
              <a:ext uri="{FF2B5EF4-FFF2-40B4-BE49-F238E27FC236}">
                <a16:creationId xmlns:a16="http://schemas.microsoft.com/office/drawing/2014/main" id="{4316AA57-2D03-E4F1-99F5-C251B0285F6A}"/>
              </a:ext>
            </a:extLst>
          </p:cNvPr>
          <p:cNvPicPr>
            <a:picLocks noChangeAspect="1"/>
          </p:cNvPicPr>
          <p:nvPr/>
        </p:nvPicPr>
        <p:blipFill rotWithShape="1">
          <a:blip r:embed="rId2"/>
          <a:srcRect t="1563" b="2793"/>
          <a:stretch/>
        </p:blipFill>
        <p:spPr>
          <a:xfrm>
            <a:off x="719403" y="364142"/>
            <a:ext cx="7777234" cy="3867993"/>
          </a:xfrm>
          <a:prstGeom prst="rect">
            <a:avLst/>
          </a:prstGeom>
        </p:spPr>
      </p:pic>
      <p:sp>
        <p:nvSpPr>
          <p:cNvPr id="25" name="Rectangle 24">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817950" y="5666847"/>
            <a:ext cx="1463040" cy="342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1D3BE7B1-CDF0-3D33-0368-36DE8C5A51C3}"/>
              </a:ext>
            </a:extLst>
          </p:cNvPr>
          <p:cNvSpPr>
            <a:spLocks noGrp="1"/>
          </p:cNvSpPr>
          <p:nvPr>
            <p:ph idx="1"/>
          </p:nvPr>
        </p:nvSpPr>
        <p:spPr>
          <a:xfrm>
            <a:off x="3872039" y="4883544"/>
            <a:ext cx="4940186" cy="1556907"/>
          </a:xfrm>
        </p:spPr>
        <p:txBody>
          <a:bodyPr anchor="ctr">
            <a:normAutofit/>
          </a:bodyPr>
          <a:lstStyle/>
          <a:p>
            <a:endParaRPr lang="tr-TR" sz="1600" b="0" i="0">
              <a:effectLst/>
              <a:latin typeface="Arial" panose="020B0604020202020204" pitchFamily="34" charset="0"/>
              <a:cs typeface="Arial" panose="020B0604020202020204" pitchFamily="34" charset="0"/>
            </a:endParaRPr>
          </a:p>
          <a:p>
            <a:endParaRPr lang="tr-TR" sz="1600">
              <a:latin typeface="Söhne"/>
            </a:endParaRPr>
          </a:p>
        </p:txBody>
      </p:sp>
      <p:sp>
        <p:nvSpPr>
          <p:cNvPr id="5" name="Slayt Numarası Yer Tutucusu 4">
            <a:extLst>
              <a:ext uri="{FF2B5EF4-FFF2-40B4-BE49-F238E27FC236}">
                <a16:creationId xmlns:a16="http://schemas.microsoft.com/office/drawing/2014/main" id="{52132A32-AC1D-F6F5-FDA4-859A8F3114FF}"/>
              </a:ext>
            </a:extLst>
          </p:cNvPr>
          <p:cNvSpPr>
            <a:spLocks noGrp="1"/>
          </p:cNvSpPr>
          <p:nvPr>
            <p:ph type="sldNum" sz="quarter" idx="12"/>
          </p:nvPr>
        </p:nvSpPr>
        <p:spPr>
          <a:xfrm>
            <a:off x="6457950" y="6492240"/>
            <a:ext cx="2057400" cy="365125"/>
          </a:xfrm>
        </p:spPr>
        <p:txBody>
          <a:bodyPr>
            <a:normAutofit/>
          </a:bodyPr>
          <a:lstStyle/>
          <a:p>
            <a:pPr>
              <a:spcAft>
                <a:spcPts val="600"/>
              </a:spcAft>
              <a:defRPr/>
            </a:pPr>
            <a:fld id="{1E09EE13-7A4C-43FA-BBE8-D81D5C0B929E}" type="slidenum">
              <a:rPr lang="tr-TR" smtClean="0"/>
              <a:pPr>
                <a:spcAft>
                  <a:spcPts val="600"/>
                </a:spcAft>
                <a:defRPr/>
              </a:pPr>
              <a:t>3</a:t>
            </a:fld>
            <a:endParaRPr lang="tr-TR"/>
          </a:p>
        </p:txBody>
      </p:sp>
    </p:spTree>
    <p:extLst>
      <p:ext uri="{BB962C8B-B14F-4D97-AF65-F5344CB8AC3E}">
        <p14:creationId xmlns:p14="http://schemas.microsoft.com/office/powerpoint/2010/main" val="1422709039"/>
      </p:ext>
    </p:extLst>
  </p:cSld>
  <p:clrMapOvr>
    <a:masterClrMapping/>
  </p:clrMapOvr>
  <p:transition spd="med">
    <p:fade thruBlk="1"/>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16"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 name="İçerik Yer Tutucusu 2">
            <a:extLst>
              <a:ext uri="{FF2B5EF4-FFF2-40B4-BE49-F238E27FC236}">
                <a16:creationId xmlns:a16="http://schemas.microsoft.com/office/drawing/2014/main" id="{A181572A-05D3-10E5-7C5F-81FFF2F4DA36}"/>
              </a:ext>
            </a:extLst>
          </p:cNvPr>
          <p:cNvSpPr>
            <a:spLocks noGrp="1"/>
          </p:cNvSpPr>
          <p:nvPr>
            <p:ph idx="1"/>
          </p:nvPr>
        </p:nvSpPr>
        <p:spPr>
          <a:xfrm>
            <a:off x="4315977" y="818661"/>
            <a:ext cx="4694659" cy="5325768"/>
          </a:xfrm>
        </p:spPr>
        <p:txBody>
          <a:bodyPr anchor="ctr">
            <a:normAutofit/>
          </a:bodyPr>
          <a:lstStyle/>
          <a:p>
            <a:r>
              <a:rPr lang="en-US" sz="2800" b="0" i="0" dirty="0" err="1">
                <a:solidFill>
                  <a:srgbClr val="000000"/>
                </a:solidFill>
                <a:effectLst/>
                <a:latin typeface="Arial" panose="020B0604020202020204" pitchFamily="34" charset="0"/>
                <a:cs typeface="Arial" panose="020B0604020202020204" pitchFamily="34" charset="0"/>
              </a:rPr>
              <a:t>Örneğin</a:t>
            </a:r>
            <a:r>
              <a:rPr lang="en-US" sz="2800" b="0" i="0" dirty="0">
                <a:solidFill>
                  <a:srgbClr val="000000"/>
                </a:solidFill>
                <a:effectLst/>
                <a:latin typeface="Arial" panose="020B0604020202020204" pitchFamily="34" charset="0"/>
                <a:cs typeface="Arial" panose="020B0604020202020204" pitchFamily="34" charset="0"/>
              </a:rPr>
              <a:t>, yeni </a:t>
            </a:r>
            <a:r>
              <a:rPr lang="en-US" sz="2800" b="0" i="0" dirty="0" err="1">
                <a:solidFill>
                  <a:srgbClr val="000000"/>
                </a:solidFill>
                <a:effectLst/>
                <a:latin typeface="Arial" panose="020B0604020202020204" pitchFamily="34" charset="0"/>
                <a:cs typeface="Arial" panose="020B0604020202020204" pitchFamily="34" charset="0"/>
              </a:rPr>
              <a:t>bir</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telefon</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almak</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istediğinizi</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ancak</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önce</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arkadaşlarınızla</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kullandıkları</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markaların</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neler</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olduğunu</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kontrol</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ederek</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karar</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vermek</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istediğinizi</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düşünün</a:t>
            </a:r>
            <a:r>
              <a:rPr lang="en-US" sz="2800" b="0" i="0" dirty="0">
                <a:solidFill>
                  <a:srgbClr val="000000"/>
                </a:solidFill>
                <a:effectLst/>
                <a:latin typeface="Arial" panose="020B0604020202020204" pitchFamily="34" charset="0"/>
                <a:cs typeface="Arial" panose="020B0604020202020204" pitchFamily="34" charset="0"/>
              </a:rPr>
              <a:t>. </a:t>
            </a:r>
            <a:endParaRPr lang="tr-TR" sz="2800" b="0" i="0" dirty="0">
              <a:solidFill>
                <a:srgbClr val="000000"/>
              </a:solidFill>
              <a:effectLst/>
              <a:latin typeface="Arial" panose="020B0604020202020204" pitchFamily="34" charset="0"/>
              <a:cs typeface="Arial" panose="020B0604020202020204" pitchFamily="34" charset="0"/>
            </a:endParaRPr>
          </a:p>
          <a:p>
            <a:endParaRPr lang="tr-TR" sz="2800" b="0" i="0" dirty="0">
              <a:solidFill>
                <a:srgbClr val="000000"/>
              </a:solidFill>
              <a:effectLst/>
              <a:latin typeface="Arial" panose="020B0604020202020204" pitchFamily="34" charset="0"/>
              <a:cs typeface="Arial" panose="020B0604020202020204" pitchFamily="34" charset="0"/>
            </a:endParaRPr>
          </a:p>
          <a:p>
            <a:r>
              <a:rPr lang="en-US" sz="2800" b="0" i="0" dirty="0" err="1">
                <a:solidFill>
                  <a:srgbClr val="000000"/>
                </a:solidFill>
                <a:effectLst/>
                <a:latin typeface="Arial" panose="020B0604020202020204" pitchFamily="34" charset="0"/>
                <a:cs typeface="Arial" panose="020B0604020202020204" pitchFamily="34" charset="0"/>
              </a:rPr>
              <a:t>Daha</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sonra</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en</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çok</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arkadaşınız</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olarak</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en</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çok</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satın</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alınan</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markayı</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satın</a:t>
            </a:r>
            <a:r>
              <a:rPr lang="en-US" sz="2800" b="0" i="0" dirty="0">
                <a:solidFill>
                  <a:srgbClr val="000000"/>
                </a:solidFill>
                <a:effectLst/>
                <a:latin typeface="Arial" panose="020B0604020202020204" pitchFamily="34" charset="0"/>
                <a:cs typeface="Arial" panose="020B0604020202020204" pitchFamily="34" charset="0"/>
              </a:rPr>
              <a:t> </a:t>
            </a:r>
            <a:r>
              <a:rPr lang="en-US" sz="2800" b="0" i="0" dirty="0" err="1">
                <a:solidFill>
                  <a:srgbClr val="000000"/>
                </a:solidFill>
                <a:effectLst/>
                <a:latin typeface="Arial" panose="020B0604020202020204" pitchFamily="34" charset="0"/>
                <a:cs typeface="Arial" panose="020B0604020202020204" pitchFamily="34" charset="0"/>
              </a:rPr>
              <a:t>alırsınız</a:t>
            </a:r>
            <a:r>
              <a:rPr lang="en-US" sz="2800" b="0" i="0" dirty="0">
                <a:solidFill>
                  <a:srgbClr val="000000"/>
                </a:solidFill>
                <a:effectLst/>
                <a:latin typeface="Arial" panose="020B0604020202020204" pitchFamily="34" charset="0"/>
                <a:cs typeface="Arial" panose="020B0604020202020204" pitchFamily="34" charset="0"/>
              </a:rPr>
              <a:t>. Bu </a:t>
            </a:r>
            <a:r>
              <a:rPr lang="en-US" sz="2800" b="0" i="0" dirty="0" err="1">
                <a:solidFill>
                  <a:srgbClr val="000000"/>
                </a:solidFill>
                <a:effectLst/>
                <a:latin typeface="Arial" panose="020B0604020202020204" pitchFamily="34" charset="0"/>
                <a:cs typeface="Arial" panose="020B0604020202020204" pitchFamily="34" charset="0"/>
              </a:rPr>
              <a:t>KNN'dir</a:t>
            </a:r>
            <a:r>
              <a:rPr lang="en-US" sz="2800" b="0" i="0" dirty="0">
                <a:solidFill>
                  <a:srgbClr val="000000"/>
                </a:solidFill>
                <a:effectLst/>
                <a:latin typeface="Arial" panose="020B0604020202020204" pitchFamily="34" charset="0"/>
                <a:cs typeface="Arial" panose="020B0604020202020204" pitchFamily="34" charset="0"/>
              </a:rPr>
              <a:t>.</a:t>
            </a:r>
            <a:endParaRPr lang="en-US" sz="2800" dirty="0">
              <a:solidFill>
                <a:srgbClr val="000000"/>
              </a:solidFill>
              <a:latin typeface="Arial" panose="020B0604020202020204" pitchFamily="34" charset="0"/>
              <a:cs typeface="Arial" panose="020B0604020202020204" pitchFamily="34" charset="0"/>
            </a:endParaRPr>
          </a:p>
        </p:txBody>
      </p:sp>
      <p:sp>
        <p:nvSpPr>
          <p:cNvPr id="5" name="Slayt Numarası Yer Tutucusu 4">
            <a:extLst>
              <a:ext uri="{FF2B5EF4-FFF2-40B4-BE49-F238E27FC236}">
                <a16:creationId xmlns:a16="http://schemas.microsoft.com/office/drawing/2014/main" id="{560F19D8-C648-0BCE-65F3-83C7A613F9F6}"/>
              </a:ext>
            </a:extLst>
          </p:cNvPr>
          <p:cNvSpPr>
            <a:spLocks noGrp="1"/>
          </p:cNvSpPr>
          <p:nvPr>
            <p:ph type="sldNum" sz="quarter" idx="12"/>
          </p:nvPr>
        </p:nvSpPr>
        <p:spPr>
          <a:xfrm>
            <a:off x="8267450" y="6372752"/>
            <a:ext cx="428046" cy="235550"/>
          </a:xfrm>
        </p:spPr>
        <p:txBody>
          <a:bodyPr>
            <a:normAutofit/>
          </a:bodyPr>
          <a:lstStyle/>
          <a:p>
            <a:pPr>
              <a:spcAft>
                <a:spcPts val="600"/>
              </a:spcAft>
              <a:defRPr/>
            </a:pPr>
            <a:fld id="{1E09EE13-7A4C-43FA-BBE8-D81D5C0B929E}" type="slidenum">
              <a:rPr lang="tr-TR" sz="825">
                <a:solidFill>
                  <a:srgbClr val="898989"/>
                </a:solidFill>
              </a:rPr>
              <a:pPr>
                <a:spcAft>
                  <a:spcPts val="600"/>
                </a:spcAft>
                <a:defRPr/>
              </a:pPr>
              <a:t>4</a:t>
            </a:fld>
            <a:endParaRPr lang="tr-TR" sz="825">
              <a:solidFill>
                <a:srgbClr val="898989"/>
              </a:solidFill>
            </a:endParaRPr>
          </a:p>
        </p:txBody>
      </p:sp>
      <p:pic>
        <p:nvPicPr>
          <p:cNvPr id="6" name="Resim 5">
            <a:extLst>
              <a:ext uri="{FF2B5EF4-FFF2-40B4-BE49-F238E27FC236}">
                <a16:creationId xmlns:a16="http://schemas.microsoft.com/office/drawing/2014/main" id="{F0D93DB2-4C26-77E5-C881-090EAC80B90B}"/>
              </a:ext>
            </a:extLst>
          </p:cNvPr>
          <p:cNvPicPr>
            <a:picLocks noChangeAspect="1"/>
          </p:cNvPicPr>
          <p:nvPr/>
        </p:nvPicPr>
        <p:blipFill>
          <a:blip r:embed="rId3"/>
          <a:stretch>
            <a:fillRect/>
          </a:stretch>
        </p:blipFill>
        <p:spPr>
          <a:xfrm>
            <a:off x="144580" y="2780927"/>
            <a:ext cx="3635332" cy="2027031"/>
          </a:xfrm>
          <a:prstGeom prst="rect">
            <a:avLst/>
          </a:prstGeom>
        </p:spPr>
      </p:pic>
    </p:spTree>
    <p:extLst>
      <p:ext uri="{BB962C8B-B14F-4D97-AF65-F5344CB8AC3E}">
        <p14:creationId xmlns:p14="http://schemas.microsoft.com/office/powerpoint/2010/main" val="4025862886"/>
      </p:ext>
    </p:extLst>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çerik Yer Tutucusu 2">
            <a:extLst>
              <a:ext uri="{FF2B5EF4-FFF2-40B4-BE49-F238E27FC236}">
                <a16:creationId xmlns:a16="http://schemas.microsoft.com/office/drawing/2014/main" id="{A8E33E4C-3872-F579-D1FA-9710C837693F}"/>
              </a:ext>
            </a:extLst>
          </p:cNvPr>
          <p:cNvGraphicFramePr>
            <a:graphicFrameLocks noGrp="1"/>
          </p:cNvGraphicFramePr>
          <p:nvPr>
            <p:ph idx="1"/>
            <p:extLst>
              <p:ext uri="{D42A27DB-BD31-4B8C-83A1-F6EECF244321}">
                <p14:modId xmlns:p14="http://schemas.microsoft.com/office/powerpoint/2010/main" val="2231380224"/>
              </p:ext>
            </p:extLst>
          </p:nvPr>
        </p:nvGraphicFramePr>
        <p:xfrm>
          <a:off x="605339" y="764704"/>
          <a:ext cx="7886700" cy="54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ayt Numarası Yer Tutucusu 4">
            <a:extLst>
              <a:ext uri="{FF2B5EF4-FFF2-40B4-BE49-F238E27FC236}">
                <a16:creationId xmlns:a16="http://schemas.microsoft.com/office/drawing/2014/main" id="{3FE37119-ABF8-8462-3CCD-682912383D8D}"/>
              </a:ext>
            </a:extLst>
          </p:cNvPr>
          <p:cNvSpPr>
            <a:spLocks noGrp="1"/>
          </p:cNvSpPr>
          <p:nvPr>
            <p:ph type="sldNum" sz="quarter" idx="12"/>
          </p:nvPr>
        </p:nvSpPr>
        <p:spPr/>
        <p:txBody>
          <a:bodyPr/>
          <a:lstStyle/>
          <a:p>
            <a:pPr>
              <a:defRPr/>
            </a:pPr>
            <a:fld id="{1E09EE13-7A4C-43FA-BBE8-D81D5C0B929E}" type="slidenum">
              <a:rPr lang="tr-TR" smtClean="0"/>
              <a:pPr>
                <a:defRPr/>
              </a:pPr>
              <a:t>5</a:t>
            </a:fld>
            <a:endParaRPr lang="tr-TR"/>
          </a:p>
        </p:txBody>
      </p:sp>
    </p:spTree>
    <p:extLst>
      <p:ext uri="{BB962C8B-B14F-4D97-AF65-F5344CB8AC3E}">
        <p14:creationId xmlns:p14="http://schemas.microsoft.com/office/powerpoint/2010/main" val="3960625993"/>
      </p:ext>
    </p:extLst>
  </p:cSld>
  <p:clrMapOvr>
    <a:masterClrMapping/>
  </p:clrMapOvr>
  <p:transition spd="med">
    <p:fade thruBlk="1"/>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3" name="Group 12">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9143998" cy="4267200"/>
            <a:chOff x="7467600" y="0"/>
            <a:chExt cx="4724400" cy="6858000"/>
          </a:xfrm>
        </p:grpSpPr>
        <p:sp>
          <p:nvSpPr>
            <p:cNvPr id="14" name="Rectangle 13">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 name="Freeform: Shape 16">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9" name="Rectangle 18">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201"/>
            <a:ext cx="84582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Başlık 1">
            <a:extLst>
              <a:ext uri="{FF2B5EF4-FFF2-40B4-BE49-F238E27FC236}">
                <a16:creationId xmlns:a16="http://schemas.microsoft.com/office/drawing/2014/main" id="{1B331EBC-8C46-31B6-F8A5-B4B7F397C6B4}"/>
              </a:ext>
            </a:extLst>
          </p:cNvPr>
          <p:cNvSpPr>
            <a:spLocks noGrp="1"/>
          </p:cNvSpPr>
          <p:nvPr>
            <p:ph type="title"/>
          </p:nvPr>
        </p:nvSpPr>
        <p:spPr>
          <a:xfrm>
            <a:off x="857250" y="990599"/>
            <a:ext cx="7429500" cy="685800"/>
          </a:xfrm>
        </p:spPr>
        <p:txBody>
          <a:bodyPr anchor="t">
            <a:normAutofit/>
          </a:bodyPr>
          <a:lstStyle/>
          <a:p>
            <a:r>
              <a:rPr lang="tr-TR" sz="3500" b="1" dirty="0">
                <a:latin typeface="Arial" panose="020B0604020202020204" pitchFamily="34" charset="0"/>
                <a:cs typeface="Arial" panose="020B0604020202020204" pitchFamily="34" charset="0"/>
              </a:rPr>
              <a:t>KNN Algoritması Parametreleri</a:t>
            </a:r>
            <a:endParaRPr lang="en-US" sz="3500" b="1" dirty="0">
              <a:latin typeface="Arial" panose="020B0604020202020204" pitchFamily="34" charset="0"/>
              <a:cs typeface="Arial" panose="020B0604020202020204" pitchFamily="34" charset="0"/>
            </a:endParaRPr>
          </a:p>
        </p:txBody>
      </p:sp>
      <p:sp>
        <p:nvSpPr>
          <p:cNvPr id="5" name="Slayt Numarası Yer Tutucusu 4">
            <a:extLst>
              <a:ext uri="{FF2B5EF4-FFF2-40B4-BE49-F238E27FC236}">
                <a16:creationId xmlns:a16="http://schemas.microsoft.com/office/drawing/2014/main" id="{CDFB716F-939A-0E27-74D3-35928E3D3A42}"/>
              </a:ext>
            </a:extLst>
          </p:cNvPr>
          <p:cNvSpPr>
            <a:spLocks noGrp="1"/>
          </p:cNvSpPr>
          <p:nvPr>
            <p:ph type="sldNum" sz="quarter" idx="12"/>
          </p:nvPr>
        </p:nvSpPr>
        <p:spPr>
          <a:xfrm>
            <a:off x="8286750" y="6400800"/>
            <a:ext cx="514350" cy="457200"/>
          </a:xfrm>
        </p:spPr>
        <p:txBody>
          <a:bodyPr anchor="ctr">
            <a:normAutofit/>
          </a:bodyPr>
          <a:lstStyle/>
          <a:p>
            <a:pPr>
              <a:spcAft>
                <a:spcPts val="600"/>
              </a:spcAft>
              <a:defRPr/>
            </a:pPr>
            <a:fld id="{1E09EE13-7A4C-43FA-BBE8-D81D5C0B929E}" type="slidenum">
              <a:rPr lang="tr-TR">
                <a:solidFill>
                  <a:srgbClr val="000000">
                    <a:alpha val="70000"/>
                  </a:srgbClr>
                </a:solidFill>
              </a:rPr>
              <a:pPr>
                <a:spcAft>
                  <a:spcPts val="600"/>
                </a:spcAft>
                <a:defRPr/>
              </a:pPr>
              <a:t>6</a:t>
            </a:fld>
            <a:endParaRPr lang="tr-TR">
              <a:solidFill>
                <a:srgbClr val="000000">
                  <a:alpha val="70000"/>
                </a:srgbClr>
              </a:solidFill>
            </a:endParaRPr>
          </a:p>
        </p:txBody>
      </p:sp>
      <p:graphicFrame>
        <p:nvGraphicFramePr>
          <p:cNvPr id="7" name="İçerik Yer Tutucusu 2">
            <a:extLst>
              <a:ext uri="{FF2B5EF4-FFF2-40B4-BE49-F238E27FC236}">
                <a16:creationId xmlns:a16="http://schemas.microsoft.com/office/drawing/2014/main" id="{97A7ACD2-9D5E-69E4-AA21-DB4AFEFC8CAB}"/>
              </a:ext>
            </a:extLst>
          </p:cNvPr>
          <p:cNvGraphicFramePr>
            <a:graphicFrameLocks noGrp="1"/>
          </p:cNvGraphicFramePr>
          <p:nvPr>
            <p:ph idx="1"/>
            <p:extLst>
              <p:ext uri="{D42A27DB-BD31-4B8C-83A1-F6EECF244321}">
                <p14:modId xmlns:p14="http://schemas.microsoft.com/office/powerpoint/2010/main" val="3704719460"/>
              </p:ext>
            </p:extLst>
          </p:nvPr>
        </p:nvGraphicFramePr>
        <p:xfrm>
          <a:off x="514350" y="2137228"/>
          <a:ext cx="81153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3807655"/>
      </p:ext>
    </p:extLst>
  </p:cSld>
  <p:clrMapOvr>
    <a:masterClrMapping/>
  </p:clrMapOvr>
  <p:transition spd="med">
    <p:fade thruBlk="1"/>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16" y="-2"/>
            <a:ext cx="2601176" cy="6858000"/>
            <a:chOff x="651279" y="598259"/>
            <a:chExt cx="10889442" cy="5680742"/>
          </a:xfrm>
        </p:grpSpPr>
        <p:sp>
          <p:nvSpPr>
            <p:cNvPr id="16"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28"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21E45462-08C5-2569-30C5-4FA2382C91E8}"/>
              </a:ext>
            </a:extLst>
          </p:cNvPr>
          <p:cNvSpPr>
            <a:spLocks noGrp="1"/>
          </p:cNvSpPr>
          <p:nvPr>
            <p:ph type="title"/>
          </p:nvPr>
        </p:nvSpPr>
        <p:spPr>
          <a:xfrm rot="16200000">
            <a:off x="-994410" y="1947672"/>
            <a:ext cx="4471416" cy="2788920"/>
          </a:xfrm>
        </p:spPr>
        <p:txBody>
          <a:bodyPr anchor="ctr">
            <a:normAutofit/>
          </a:bodyPr>
          <a:lstStyle/>
          <a:p>
            <a:r>
              <a:rPr lang="tr-TR" sz="4200">
                <a:solidFill>
                  <a:schemeClr val="bg1"/>
                </a:solidFill>
              </a:rPr>
              <a:t>Uzaklık Ölçütleri</a:t>
            </a:r>
            <a:endParaRPr lang="en-US" sz="4200">
              <a:solidFill>
                <a:schemeClr val="bg1"/>
              </a:solidFill>
            </a:endParaRPr>
          </a:p>
        </p:txBody>
      </p:sp>
      <p:sp>
        <p:nvSpPr>
          <p:cNvPr id="5" name="Slayt Numarası Yer Tutucusu 4">
            <a:extLst>
              <a:ext uri="{FF2B5EF4-FFF2-40B4-BE49-F238E27FC236}">
                <a16:creationId xmlns:a16="http://schemas.microsoft.com/office/drawing/2014/main" id="{E2753606-4AA0-C980-CCC9-CCCCBB2EB7D5}"/>
              </a:ext>
            </a:extLst>
          </p:cNvPr>
          <p:cNvSpPr>
            <a:spLocks noGrp="1"/>
          </p:cNvSpPr>
          <p:nvPr>
            <p:ph type="sldNum" sz="quarter" idx="12"/>
          </p:nvPr>
        </p:nvSpPr>
        <p:spPr>
          <a:xfrm>
            <a:off x="8661654" y="6217920"/>
            <a:ext cx="480060" cy="640080"/>
          </a:xfrm>
        </p:spPr>
        <p:txBody>
          <a:bodyPr>
            <a:normAutofit/>
          </a:bodyPr>
          <a:lstStyle/>
          <a:p>
            <a:pPr algn="ctr">
              <a:spcAft>
                <a:spcPts val="600"/>
              </a:spcAft>
              <a:defRPr/>
            </a:pPr>
            <a:fld id="{1E09EE13-7A4C-43FA-BBE8-D81D5C0B929E}" type="slidenum">
              <a:rPr lang="tr-TR" sz="1400">
                <a:solidFill>
                  <a:schemeClr val="tx2"/>
                </a:solidFill>
              </a:rPr>
              <a:pPr algn="ctr">
                <a:spcAft>
                  <a:spcPts val="600"/>
                </a:spcAft>
                <a:defRPr/>
              </a:pPr>
              <a:t>7</a:t>
            </a:fld>
            <a:endParaRPr lang="tr-TR" sz="1400">
              <a:solidFill>
                <a:schemeClr val="tx2"/>
              </a:solidFill>
            </a:endParaRPr>
          </a:p>
        </p:txBody>
      </p:sp>
      <p:graphicFrame>
        <p:nvGraphicFramePr>
          <p:cNvPr id="7" name="İçerik Yer Tutucusu 2">
            <a:extLst>
              <a:ext uri="{FF2B5EF4-FFF2-40B4-BE49-F238E27FC236}">
                <a16:creationId xmlns:a16="http://schemas.microsoft.com/office/drawing/2014/main" id="{F79A469C-BF3D-79D2-2DD9-AD438DA7AA9E}"/>
              </a:ext>
            </a:extLst>
          </p:cNvPr>
          <p:cNvGraphicFramePr>
            <a:graphicFrameLocks noGrp="1"/>
          </p:cNvGraphicFramePr>
          <p:nvPr>
            <p:ph idx="1"/>
            <p:extLst>
              <p:ext uri="{D42A27DB-BD31-4B8C-83A1-F6EECF244321}">
                <p14:modId xmlns:p14="http://schemas.microsoft.com/office/powerpoint/2010/main" val="435679944"/>
              </p:ext>
            </p:extLst>
          </p:nvPr>
        </p:nvGraphicFramePr>
        <p:xfrm>
          <a:off x="2845722" y="288758"/>
          <a:ext cx="5669628"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9928763"/>
      </p:ext>
    </p:extLst>
  </p:cSld>
  <p:clrMapOvr>
    <a:masterClrMapping/>
  </p:clrMapOvr>
  <p:transition spd="med">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D791BFE-6E0B-07C3-77E5-D5B0F4AC3169}"/>
              </a:ext>
            </a:extLst>
          </p:cNvPr>
          <p:cNvSpPr>
            <a:spLocks noGrp="1"/>
          </p:cNvSpPr>
          <p:nvPr>
            <p:ph type="title"/>
          </p:nvPr>
        </p:nvSpPr>
        <p:spPr/>
        <p:txBody>
          <a:bodyPr/>
          <a:lstStyle/>
          <a:p>
            <a:r>
              <a:rPr lang="tr-TR" b="1" dirty="0">
                <a:latin typeface="Arial" panose="020B0604020202020204" pitchFamily="34" charset="0"/>
                <a:cs typeface="Arial" panose="020B0604020202020204" pitchFamily="34" charset="0"/>
              </a:rPr>
              <a:t>Öklid Uzaklığı</a:t>
            </a:r>
            <a:endParaRPr lang="en-US" b="1"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4D7C57B4-8F96-C5AE-55E3-C058DFFDFB79}"/>
              </a:ext>
            </a:extLst>
          </p:cNvPr>
          <p:cNvSpPr>
            <a:spLocks noGrp="1"/>
          </p:cNvSpPr>
          <p:nvPr>
            <p:ph idx="1"/>
          </p:nvPr>
        </p:nvSpPr>
        <p:spPr>
          <a:xfrm>
            <a:off x="628650" y="1556792"/>
            <a:ext cx="7886700" cy="4620171"/>
          </a:xfrm>
        </p:spPr>
        <p:txBody>
          <a:bodyPr/>
          <a:lstStyle/>
          <a:p>
            <a:r>
              <a:rPr lang="tr-TR" dirty="0"/>
              <a:t>Öklid uzaklığı, sınıflandırma ve kümeleme algoritmalarında en sık kullanılan uzaklık ölçütüdür.</a:t>
            </a:r>
          </a:p>
          <a:p>
            <a:r>
              <a:rPr lang="tr-TR" dirty="0"/>
              <a:t>Öklid uzaklığı, iki nokta arasındaki doğrusal uzaklık olup herhangi iki nokta, </a:t>
            </a:r>
          </a:p>
          <a:p>
            <a:r>
              <a:rPr lang="tr-TR" dirty="0"/>
              <a:t>P ve Q arasındaki Öklid uzaklığı P=(x1, x2, …</a:t>
            </a:r>
            <a:r>
              <a:rPr lang="tr-TR" dirty="0" err="1"/>
              <a:t>xn</a:t>
            </a:r>
            <a:r>
              <a:rPr lang="tr-TR" dirty="0"/>
              <a:t>) ve Q=(y1, y2, ..</a:t>
            </a:r>
            <a:r>
              <a:rPr lang="tr-TR" dirty="0" err="1"/>
              <a:t>yn</a:t>
            </a:r>
            <a:r>
              <a:rPr lang="tr-TR" dirty="0"/>
              <a:t>) olmak üzere, Eşitliğe göre hesaplanır.</a:t>
            </a:r>
          </a:p>
          <a:p>
            <a:endParaRPr lang="tr-TR" dirty="0"/>
          </a:p>
          <a:p>
            <a:endParaRPr lang="en-US" dirty="0"/>
          </a:p>
        </p:txBody>
      </p:sp>
      <p:graphicFrame>
        <p:nvGraphicFramePr>
          <p:cNvPr id="6" name="Nesne 5">
            <a:extLst>
              <a:ext uri="{FF2B5EF4-FFF2-40B4-BE49-F238E27FC236}">
                <a16:creationId xmlns:a16="http://schemas.microsoft.com/office/drawing/2014/main" id="{2DB7809B-6199-BAFC-2FD5-91212108A5F0}"/>
              </a:ext>
            </a:extLst>
          </p:cNvPr>
          <p:cNvGraphicFramePr>
            <a:graphicFrameLocks noChangeAspect="1"/>
          </p:cNvGraphicFramePr>
          <p:nvPr>
            <p:extLst>
              <p:ext uri="{D42A27DB-BD31-4B8C-83A1-F6EECF244321}">
                <p14:modId xmlns:p14="http://schemas.microsoft.com/office/powerpoint/2010/main" val="623532378"/>
              </p:ext>
            </p:extLst>
          </p:nvPr>
        </p:nvGraphicFramePr>
        <p:xfrm>
          <a:off x="1058612" y="3717032"/>
          <a:ext cx="3526838" cy="1875978"/>
        </p:xfrm>
        <a:graphic>
          <a:graphicData uri="http://schemas.openxmlformats.org/presentationml/2006/ole">
            <mc:AlternateContent xmlns:mc="http://schemas.openxmlformats.org/markup-compatibility/2006">
              <mc:Choice xmlns:v="urn:schemas-microsoft-com:vml" Requires="v">
                <p:oleObj name="Equation" r:id="rId2" imgW="895387" imgH="476297" progId="Equation.DSMT4">
                  <p:embed/>
                </p:oleObj>
              </mc:Choice>
              <mc:Fallback>
                <p:oleObj name="Equation" r:id="rId2" imgW="895387" imgH="476297" progId="Equation.DSMT4">
                  <p:embed/>
                  <p:pic>
                    <p:nvPicPr>
                      <p:cNvPr id="6" name="Nesne 5">
                        <a:extLst>
                          <a:ext uri="{FF2B5EF4-FFF2-40B4-BE49-F238E27FC236}">
                            <a16:creationId xmlns:a16="http://schemas.microsoft.com/office/drawing/2014/main" id="{2DB7809B-6199-BAFC-2FD5-91212108A5F0}"/>
                          </a:ext>
                        </a:extLst>
                      </p:cNvPr>
                      <p:cNvPicPr/>
                      <p:nvPr/>
                    </p:nvPicPr>
                    <p:blipFill>
                      <a:blip r:embed="rId3"/>
                      <a:stretch>
                        <a:fillRect/>
                      </a:stretch>
                    </p:blipFill>
                    <p:spPr>
                      <a:xfrm>
                        <a:off x="1058612" y="3717032"/>
                        <a:ext cx="3526838" cy="1875978"/>
                      </a:xfrm>
                      <a:prstGeom prst="rect">
                        <a:avLst/>
                      </a:prstGeom>
                    </p:spPr>
                  </p:pic>
                </p:oleObj>
              </mc:Fallback>
            </mc:AlternateContent>
          </a:graphicData>
        </a:graphic>
      </p:graphicFrame>
      <p:pic>
        <p:nvPicPr>
          <p:cNvPr id="7" name="Resim 6">
            <a:extLst>
              <a:ext uri="{FF2B5EF4-FFF2-40B4-BE49-F238E27FC236}">
                <a16:creationId xmlns:a16="http://schemas.microsoft.com/office/drawing/2014/main" id="{A1FD609F-9463-5648-9568-721A780288CE}"/>
              </a:ext>
            </a:extLst>
          </p:cNvPr>
          <p:cNvPicPr>
            <a:picLocks noChangeAspect="1"/>
          </p:cNvPicPr>
          <p:nvPr/>
        </p:nvPicPr>
        <p:blipFill>
          <a:blip r:embed="rId4"/>
          <a:stretch>
            <a:fillRect/>
          </a:stretch>
        </p:blipFill>
        <p:spPr>
          <a:xfrm>
            <a:off x="4860032" y="3551460"/>
            <a:ext cx="3028921" cy="2207121"/>
          </a:xfrm>
          <a:prstGeom prst="rect">
            <a:avLst/>
          </a:prstGeom>
        </p:spPr>
      </p:pic>
    </p:spTree>
    <p:extLst>
      <p:ext uri="{BB962C8B-B14F-4D97-AF65-F5344CB8AC3E}">
        <p14:creationId xmlns:p14="http://schemas.microsoft.com/office/powerpoint/2010/main" val="3812598947"/>
      </p:ext>
    </p:extLst>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964D37-311C-95F8-626B-265E3E274F02}"/>
              </a:ext>
            </a:extLst>
          </p:cNvPr>
          <p:cNvSpPr>
            <a:spLocks noGrp="1"/>
          </p:cNvSpPr>
          <p:nvPr>
            <p:ph type="title"/>
          </p:nvPr>
        </p:nvSpPr>
        <p:spPr/>
        <p:txBody>
          <a:bodyPr/>
          <a:lstStyle/>
          <a:p>
            <a:r>
              <a:rPr lang="tr-TR" b="1" dirty="0"/>
              <a:t>Manhattan Uzaklığı</a:t>
            </a:r>
            <a:endParaRPr lang="en-US" b="1" dirty="0"/>
          </a:p>
        </p:txBody>
      </p:sp>
      <p:sp>
        <p:nvSpPr>
          <p:cNvPr id="3" name="İçerik Yer Tutucusu 2">
            <a:extLst>
              <a:ext uri="{FF2B5EF4-FFF2-40B4-BE49-F238E27FC236}">
                <a16:creationId xmlns:a16="http://schemas.microsoft.com/office/drawing/2014/main" id="{CE16B828-79D9-161E-DEE8-5CE6E943AB42}"/>
              </a:ext>
            </a:extLst>
          </p:cNvPr>
          <p:cNvSpPr>
            <a:spLocks noGrp="1"/>
          </p:cNvSpPr>
          <p:nvPr>
            <p:ph idx="1"/>
          </p:nvPr>
        </p:nvSpPr>
        <p:spPr/>
        <p:txBody>
          <a:bodyPr/>
          <a:lstStyle/>
          <a:p>
            <a:r>
              <a:rPr lang="tr-TR" dirty="0"/>
              <a:t>Manhattan uzaklığı, n boyutlu iki nokta arasındaki farkların mutlak değerlerinin toplamıdır. </a:t>
            </a:r>
          </a:p>
          <a:p>
            <a:r>
              <a:rPr lang="tr-TR" dirty="0"/>
              <a:t>Herhangi iki nokta, P ve Q arasındaki Manhattan uzaklığı P=(x1, x2, …</a:t>
            </a:r>
            <a:r>
              <a:rPr lang="tr-TR" dirty="0" err="1"/>
              <a:t>xn</a:t>
            </a:r>
            <a:r>
              <a:rPr lang="tr-TR" dirty="0"/>
              <a:t>) ve Q=(y1, y2, ..</a:t>
            </a:r>
            <a:r>
              <a:rPr lang="tr-TR" dirty="0" err="1"/>
              <a:t>yn</a:t>
            </a:r>
            <a:r>
              <a:rPr lang="tr-TR" dirty="0"/>
              <a:t>) olmak üzere, Eşitliğine göre hesaplanır.</a:t>
            </a:r>
          </a:p>
          <a:p>
            <a:endParaRPr lang="tr-TR" dirty="0"/>
          </a:p>
          <a:p>
            <a:endParaRPr lang="tr-TR" dirty="0"/>
          </a:p>
          <a:p>
            <a:endParaRPr lang="en-US" dirty="0"/>
          </a:p>
        </p:txBody>
      </p:sp>
      <p:sp>
        <p:nvSpPr>
          <p:cNvPr id="5" name="Slayt Numarası Yer Tutucusu 4">
            <a:extLst>
              <a:ext uri="{FF2B5EF4-FFF2-40B4-BE49-F238E27FC236}">
                <a16:creationId xmlns:a16="http://schemas.microsoft.com/office/drawing/2014/main" id="{90DFBCB4-1E8A-0EB7-6A25-01AA18380C01}"/>
              </a:ext>
            </a:extLst>
          </p:cNvPr>
          <p:cNvSpPr>
            <a:spLocks noGrp="1"/>
          </p:cNvSpPr>
          <p:nvPr>
            <p:ph type="sldNum" sz="quarter" idx="12"/>
          </p:nvPr>
        </p:nvSpPr>
        <p:spPr/>
        <p:txBody>
          <a:bodyPr/>
          <a:lstStyle/>
          <a:p>
            <a:pPr>
              <a:defRPr/>
            </a:pPr>
            <a:fld id="{1E09EE13-7A4C-43FA-BBE8-D81D5C0B929E}" type="slidenum">
              <a:rPr lang="tr-TR" smtClean="0"/>
              <a:pPr>
                <a:defRPr/>
              </a:pPr>
              <a:t>9</a:t>
            </a:fld>
            <a:endParaRPr lang="tr-TR"/>
          </a:p>
        </p:txBody>
      </p:sp>
      <p:graphicFrame>
        <p:nvGraphicFramePr>
          <p:cNvPr id="6" name="Nesne 5">
            <a:extLst>
              <a:ext uri="{FF2B5EF4-FFF2-40B4-BE49-F238E27FC236}">
                <a16:creationId xmlns:a16="http://schemas.microsoft.com/office/drawing/2014/main" id="{14DB41C2-607A-694E-C0D2-CF6349A5BC3F}"/>
              </a:ext>
            </a:extLst>
          </p:cNvPr>
          <p:cNvGraphicFramePr>
            <a:graphicFrameLocks noChangeAspect="1"/>
          </p:cNvGraphicFramePr>
          <p:nvPr>
            <p:extLst>
              <p:ext uri="{D42A27DB-BD31-4B8C-83A1-F6EECF244321}">
                <p14:modId xmlns:p14="http://schemas.microsoft.com/office/powerpoint/2010/main" val="1121518120"/>
              </p:ext>
            </p:extLst>
          </p:nvPr>
        </p:nvGraphicFramePr>
        <p:xfrm>
          <a:off x="1475656" y="3645024"/>
          <a:ext cx="2878569" cy="1947267"/>
        </p:xfrm>
        <a:graphic>
          <a:graphicData uri="http://schemas.openxmlformats.org/presentationml/2006/ole">
            <mc:AlternateContent xmlns:mc="http://schemas.openxmlformats.org/markup-compatibility/2006">
              <mc:Choice xmlns:v="urn:schemas-microsoft-com:vml" Requires="v">
                <p:oleObj name="Equation" r:id="rId2" imgW="647688" imgH="438136" progId="Equation.DSMT4">
                  <p:embed/>
                </p:oleObj>
              </mc:Choice>
              <mc:Fallback>
                <p:oleObj name="Equation" r:id="rId2" imgW="647688" imgH="438136" progId="Equation.DSMT4">
                  <p:embed/>
                  <p:pic>
                    <p:nvPicPr>
                      <p:cNvPr id="6" name="Nesne 5">
                        <a:extLst>
                          <a:ext uri="{FF2B5EF4-FFF2-40B4-BE49-F238E27FC236}">
                            <a16:creationId xmlns:a16="http://schemas.microsoft.com/office/drawing/2014/main" id="{14DB41C2-607A-694E-C0D2-CF6349A5BC3F}"/>
                          </a:ext>
                        </a:extLst>
                      </p:cNvPr>
                      <p:cNvPicPr/>
                      <p:nvPr/>
                    </p:nvPicPr>
                    <p:blipFill>
                      <a:blip r:embed="rId3"/>
                      <a:stretch>
                        <a:fillRect/>
                      </a:stretch>
                    </p:blipFill>
                    <p:spPr>
                      <a:xfrm>
                        <a:off x="1475656" y="3645024"/>
                        <a:ext cx="2878569" cy="1947267"/>
                      </a:xfrm>
                      <a:prstGeom prst="rect">
                        <a:avLst/>
                      </a:prstGeom>
                    </p:spPr>
                  </p:pic>
                </p:oleObj>
              </mc:Fallback>
            </mc:AlternateContent>
          </a:graphicData>
        </a:graphic>
      </p:graphicFrame>
      <p:pic>
        <p:nvPicPr>
          <p:cNvPr id="7" name="Resim 6">
            <a:extLst>
              <a:ext uri="{FF2B5EF4-FFF2-40B4-BE49-F238E27FC236}">
                <a16:creationId xmlns:a16="http://schemas.microsoft.com/office/drawing/2014/main" id="{43B77D58-7758-F01C-957C-108130E63FB2}"/>
              </a:ext>
            </a:extLst>
          </p:cNvPr>
          <p:cNvPicPr>
            <a:picLocks noChangeAspect="1"/>
          </p:cNvPicPr>
          <p:nvPr/>
        </p:nvPicPr>
        <p:blipFill>
          <a:blip r:embed="rId4"/>
          <a:stretch>
            <a:fillRect/>
          </a:stretch>
        </p:blipFill>
        <p:spPr>
          <a:xfrm>
            <a:off x="5067300" y="3573016"/>
            <a:ext cx="3448050" cy="2505075"/>
          </a:xfrm>
          <a:prstGeom prst="rect">
            <a:avLst/>
          </a:prstGeom>
        </p:spPr>
      </p:pic>
    </p:spTree>
    <p:extLst>
      <p:ext uri="{BB962C8B-B14F-4D97-AF65-F5344CB8AC3E}">
        <p14:creationId xmlns:p14="http://schemas.microsoft.com/office/powerpoint/2010/main" val="258350429"/>
      </p:ext>
    </p:extLst>
  </p:cSld>
  <p:clrMapOvr>
    <a:masterClrMapping/>
  </p:clrMapOvr>
  <p:transition spd="med">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4B7B3F-0CEF-5A85-9B55-368FEC610289}"/>
              </a:ext>
            </a:extLst>
          </p:cNvPr>
          <p:cNvSpPr>
            <a:spLocks noGrp="1"/>
          </p:cNvSpPr>
          <p:nvPr>
            <p:ph type="title"/>
          </p:nvPr>
        </p:nvSpPr>
        <p:spPr/>
        <p:txBody>
          <a:bodyPr/>
          <a:lstStyle/>
          <a:p>
            <a:r>
              <a:rPr lang="tr-TR" b="1" dirty="0" err="1"/>
              <a:t>Chebyschev</a:t>
            </a:r>
            <a:r>
              <a:rPr lang="tr-TR" b="1" dirty="0"/>
              <a:t> Uzaklığı</a:t>
            </a:r>
            <a:endParaRPr lang="en-US" b="1" dirty="0"/>
          </a:p>
        </p:txBody>
      </p:sp>
      <p:sp>
        <p:nvSpPr>
          <p:cNvPr id="3" name="İçerik Yer Tutucusu 2">
            <a:extLst>
              <a:ext uri="{FF2B5EF4-FFF2-40B4-BE49-F238E27FC236}">
                <a16:creationId xmlns:a16="http://schemas.microsoft.com/office/drawing/2014/main" id="{B12F6834-B3A5-7928-3181-ED34608BB8F2}"/>
              </a:ext>
            </a:extLst>
          </p:cNvPr>
          <p:cNvSpPr>
            <a:spLocks noGrp="1"/>
          </p:cNvSpPr>
          <p:nvPr>
            <p:ph idx="1"/>
          </p:nvPr>
        </p:nvSpPr>
        <p:spPr/>
        <p:txBody>
          <a:bodyPr/>
          <a:lstStyle/>
          <a:p>
            <a:pPr algn="just"/>
            <a:r>
              <a:rPr lang="tr-TR" dirty="0" err="1"/>
              <a:t>Chebyschev</a:t>
            </a:r>
            <a:r>
              <a:rPr lang="tr-TR" dirty="0"/>
              <a:t> uzaklığı (maksimum değer uzaklığı), </a:t>
            </a:r>
            <a:r>
              <a:rPr lang="tr-TR" dirty="0" err="1"/>
              <a:t>Minkowski</a:t>
            </a:r>
            <a:r>
              <a:rPr lang="tr-TR" dirty="0"/>
              <a:t> uzaklığının, n</a:t>
            </a:r>
            <a:r>
              <a:rPr lang="tr-TR" dirty="0">
                <a:latin typeface="Abel" panose="020F0502020204030204" pitchFamily="2" charset="0"/>
                <a:sym typeface="Wingdings" panose="05000000000000000000" pitchFamily="2" charset="2"/>
              </a:rPr>
              <a:t>→</a:t>
            </a:r>
            <a:r>
              <a:rPr lang="tr-TR" dirty="0">
                <a:latin typeface="Abel" panose="02000506030000020004" pitchFamily="2" charset="0"/>
                <a:sym typeface="Wingdings" panose="05000000000000000000" pitchFamily="2" charset="2"/>
              </a:rPr>
              <a:t>∞</a:t>
            </a:r>
            <a:r>
              <a:rPr lang="tr-TR" dirty="0"/>
              <a:t>  olduğu özel durum olup iki nokta arasındaki farkların mutlak değerlerinin maksimumu olarak tanımlanmaktadır. </a:t>
            </a:r>
          </a:p>
          <a:p>
            <a:pPr algn="just"/>
            <a:endParaRPr lang="tr-TR" dirty="0"/>
          </a:p>
          <a:p>
            <a:pPr algn="just"/>
            <a:r>
              <a:rPr lang="tr-TR" dirty="0"/>
              <a:t>Herhangi iki nokta, P ve Q arasındaki </a:t>
            </a:r>
            <a:r>
              <a:rPr lang="tr-TR" dirty="0" err="1"/>
              <a:t>Chebyschev</a:t>
            </a:r>
            <a:r>
              <a:rPr lang="tr-TR" dirty="0"/>
              <a:t> uzaklığı </a:t>
            </a:r>
          </a:p>
          <a:p>
            <a:pPr algn="just"/>
            <a:r>
              <a:rPr lang="tr-TR" dirty="0"/>
              <a:t>P=(x1, x2, …</a:t>
            </a:r>
            <a:r>
              <a:rPr lang="tr-TR" dirty="0" err="1"/>
              <a:t>xn</a:t>
            </a:r>
            <a:r>
              <a:rPr lang="tr-TR" dirty="0"/>
              <a:t>) ve Q=(y1, y2, ..</a:t>
            </a:r>
            <a:r>
              <a:rPr lang="tr-TR" dirty="0" err="1"/>
              <a:t>yn</a:t>
            </a:r>
            <a:r>
              <a:rPr lang="tr-TR" dirty="0"/>
              <a:t>) olmak üzere, Eşitliğe göre hesaplanır.</a:t>
            </a:r>
          </a:p>
          <a:p>
            <a:endParaRPr lang="tr-TR" dirty="0"/>
          </a:p>
          <a:p>
            <a:endParaRPr lang="en-US" dirty="0"/>
          </a:p>
        </p:txBody>
      </p:sp>
      <p:graphicFrame>
        <p:nvGraphicFramePr>
          <p:cNvPr id="8" name="Nesne 7">
            <a:extLst>
              <a:ext uri="{FF2B5EF4-FFF2-40B4-BE49-F238E27FC236}">
                <a16:creationId xmlns:a16="http://schemas.microsoft.com/office/drawing/2014/main" id="{61C8B217-E948-7D7F-2482-A0492C97C308}"/>
              </a:ext>
            </a:extLst>
          </p:cNvPr>
          <p:cNvGraphicFramePr>
            <a:graphicFrameLocks noChangeAspect="1"/>
          </p:cNvGraphicFramePr>
          <p:nvPr>
            <p:extLst>
              <p:ext uri="{D42A27DB-BD31-4B8C-83A1-F6EECF244321}">
                <p14:modId xmlns:p14="http://schemas.microsoft.com/office/powerpoint/2010/main" val="3430744331"/>
              </p:ext>
            </p:extLst>
          </p:nvPr>
        </p:nvGraphicFramePr>
        <p:xfrm>
          <a:off x="755576" y="4149080"/>
          <a:ext cx="5087354" cy="1282898"/>
        </p:xfrm>
        <a:graphic>
          <a:graphicData uri="http://schemas.openxmlformats.org/presentationml/2006/ole">
            <mc:AlternateContent xmlns:mc="http://schemas.openxmlformats.org/markup-compatibility/2006">
              <mc:Choice xmlns:v="urn:schemas-microsoft-com:vml" Requires="v">
                <p:oleObj name="Equation" r:id="rId2" imgW="2190763" imgH="552620" progId="Equation.DSMT4">
                  <p:embed/>
                </p:oleObj>
              </mc:Choice>
              <mc:Fallback>
                <p:oleObj name="Equation" r:id="rId2" imgW="2190763" imgH="552620" progId="Equation.DSMT4">
                  <p:embed/>
                  <p:pic>
                    <p:nvPicPr>
                      <p:cNvPr id="8" name="Nesne 7">
                        <a:extLst>
                          <a:ext uri="{FF2B5EF4-FFF2-40B4-BE49-F238E27FC236}">
                            <a16:creationId xmlns:a16="http://schemas.microsoft.com/office/drawing/2014/main" id="{61C8B217-E948-7D7F-2482-A0492C97C308}"/>
                          </a:ext>
                        </a:extLst>
                      </p:cNvPr>
                      <p:cNvPicPr/>
                      <p:nvPr/>
                    </p:nvPicPr>
                    <p:blipFill>
                      <a:blip r:embed="rId3"/>
                      <a:stretch>
                        <a:fillRect/>
                      </a:stretch>
                    </p:blipFill>
                    <p:spPr>
                      <a:xfrm>
                        <a:off x="755576" y="4149080"/>
                        <a:ext cx="5087354" cy="1282898"/>
                      </a:xfrm>
                      <a:prstGeom prst="rect">
                        <a:avLst/>
                      </a:prstGeom>
                    </p:spPr>
                  </p:pic>
                </p:oleObj>
              </mc:Fallback>
            </mc:AlternateContent>
          </a:graphicData>
        </a:graphic>
      </p:graphicFrame>
      <p:pic>
        <p:nvPicPr>
          <p:cNvPr id="9" name="Resim 8">
            <a:extLst>
              <a:ext uri="{FF2B5EF4-FFF2-40B4-BE49-F238E27FC236}">
                <a16:creationId xmlns:a16="http://schemas.microsoft.com/office/drawing/2014/main" id="{EEF3D69B-5858-B57D-F0C7-9A5729A2CBF5}"/>
              </a:ext>
            </a:extLst>
          </p:cNvPr>
          <p:cNvPicPr>
            <a:picLocks noChangeAspect="1"/>
          </p:cNvPicPr>
          <p:nvPr/>
        </p:nvPicPr>
        <p:blipFill>
          <a:blip r:embed="rId4"/>
          <a:stretch>
            <a:fillRect/>
          </a:stretch>
        </p:blipFill>
        <p:spPr>
          <a:xfrm>
            <a:off x="6084168" y="3895640"/>
            <a:ext cx="2731439" cy="2156792"/>
          </a:xfrm>
          <a:prstGeom prst="rect">
            <a:avLst/>
          </a:prstGeom>
        </p:spPr>
      </p:pic>
    </p:spTree>
    <p:extLst>
      <p:ext uri="{BB962C8B-B14F-4D97-AF65-F5344CB8AC3E}">
        <p14:creationId xmlns:p14="http://schemas.microsoft.com/office/powerpoint/2010/main" val="1916927301"/>
      </p:ext>
    </p:extLst>
  </p:cSld>
  <p:clrMapOvr>
    <a:masterClrMapping/>
  </p:clrMapOvr>
  <p:transition spd="med">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5C86812-6F05-0DDB-BD08-023F7D6FE3A2}"/>
              </a:ext>
            </a:extLst>
          </p:cNvPr>
          <p:cNvSpPr>
            <a:spLocks noGrp="1"/>
          </p:cNvSpPr>
          <p:nvPr>
            <p:ph type="title"/>
          </p:nvPr>
        </p:nvSpPr>
        <p:spPr/>
        <p:txBody>
          <a:bodyPr/>
          <a:lstStyle/>
          <a:p>
            <a:pPr lvl="0"/>
            <a:r>
              <a:rPr lang="tr-TR" b="1" dirty="0" err="1"/>
              <a:t>Minkowski</a:t>
            </a:r>
            <a:r>
              <a:rPr lang="tr-TR" b="1" dirty="0"/>
              <a:t> Uzaklığı</a:t>
            </a:r>
            <a:endParaRPr lang="en-US" b="1" dirty="0"/>
          </a:p>
        </p:txBody>
      </p:sp>
      <p:sp>
        <p:nvSpPr>
          <p:cNvPr id="3" name="İçerik Yer Tutucusu 2">
            <a:extLst>
              <a:ext uri="{FF2B5EF4-FFF2-40B4-BE49-F238E27FC236}">
                <a16:creationId xmlns:a16="http://schemas.microsoft.com/office/drawing/2014/main" id="{C92CFA31-3640-0077-E8D5-862C3DA10E14}"/>
              </a:ext>
            </a:extLst>
          </p:cNvPr>
          <p:cNvSpPr>
            <a:spLocks noGrp="1"/>
          </p:cNvSpPr>
          <p:nvPr>
            <p:ph idx="1"/>
          </p:nvPr>
        </p:nvSpPr>
        <p:spPr>
          <a:xfrm>
            <a:off x="467544" y="1484784"/>
            <a:ext cx="7886700" cy="4351338"/>
          </a:xfrm>
        </p:spPr>
        <p:txBody>
          <a:bodyPr/>
          <a:lstStyle/>
          <a:p>
            <a:pPr algn="just"/>
            <a:r>
              <a:rPr lang="tr-TR" dirty="0" err="1">
                <a:latin typeface="Arial" panose="020B0604020202020204" pitchFamily="34" charset="0"/>
                <a:cs typeface="Arial" panose="020B0604020202020204" pitchFamily="34" charset="0"/>
              </a:rPr>
              <a:t>Minkowski</a:t>
            </a:r>
            <a:r>
              <a:rPr lang="tr-TR" dirty="0">
                <a:latin typeface="Arial" panose="020B0604020202020204" pitchFamily="34" charset="0"/>
                <a:cs typeface="Arial" panose="020B0604020202020204" pitchFamily="34" charset="0"/>
              </a:rPr>
              <a:t> Uzaklığı, Öklid uzayında tanımlı bir dizidir.</a:t>
            </a:r>
          </a:p>
          <a:p>
            <a:pPr algn="just"/>
            <a:r>
              <a:rPr lang="tr-TR" dirty="0">
                <a:latin typeface="Arial" panose="020B0604020202020204" pitchFamily="34" charset="0"/>
                <a:cs typeface="Arial" panose="020B0604020202020204" pitchFamily="34" charset="0"/>
              </a:rPr>
              <a:t>Öklid uzaklığı, Manhattan uzaklığı gibi uzaklık ölçütlerinin genelleştirilmiş halidir.</a:t>
            </a:r>
          </a:p>
          <a:p>
            <a:pPr algn="just"/>
            <a:r>
              <a:rPr lang="tr-TR" dirty="0" err="1">
                <a:latin typeface="Arial" panose="020B0604020202020204" pitchFamily="34" charset="0"/>
                <a:cs typeface="Arial" panose="020B0604020202020204" pitchFamily="34" charset="0"/>
              </a:rPr>
              <a:t>Minkowski</a:t>
            </a:r>
            <a:r>
              <a:rPr lang="tr-TR" dirty="0">
                <a:latin typeface="Arial" panose="020B0604020202020204" pitchFamily="34" charset="0"/>
                <a:cs typeface="Arial" panose="020B0604020202020204" pitchFamily="34" charset="0"/>
              </a:rPr>
              <a:t> ölçütünün </a:t>
            </a:r>
          </a:p>
          <a:p>
            <a:pPr lvl="1" algn="just"/>
            <a:r>
              <a:rPr lang="tr-TR" dirty="0">
                <a:latin typeface="Arial" panose="020B0604020202020204" pitchFamily="34" charset="0"/>
                <a:cs typeface="Arial" panose="020B0604020202020204" pitchFamily="34" charset="0"/>
              </a:rPr>
              <a:t>p=2 olduğu özel durumu : Öklid uzaklığını, </a:t>
            </a:r>
          </a:p>
          <a:p>
            <a:pPr lvl="1" algn="just"/>
            <a:r>
              <a:rPr lang="tr-TR" dirty="0">
                <a:latin typeface="Arial" panose="020B0604020202020204" pitchFamily="34" charset="0"/>
                <a:cs typeface="Arial" panose="020B0604020202020204" pitchFamily="34" charset="0"/>
              </a:rPr>
              <a:t>p=1 olduğu özel durumu: Manhattan uzaklığının </a:t>
            </a:r>
          </a:p>
          <a:p>
            <a:pPr lvl="1" algn="just"/>
            <a:r>
              <a:rPr lang="tr-TR" dirty="0">
                <a:latin typeface="Arial" panose="020B0604020202020204" pitchFamily="34" charset="0"/>
                <a:cs typeface="Arial" panose="020B0604020202020204" pitchFamily="34" charset="0"/>
              </a:rPr>
              <a:t>n</a:t>
            </a:r>
            <a:r>
              <a:rPr lang="tr-TR" dirty="0">
                <a:latin typeface="Arial" panose="020B0604020202020204" pitchFamily="34" charset="0"/>
                <a:cs typeface="Arial" panose="020B0604020202020204" pitchFamily="34" charset="0"/>
                <a:sym typeface="Wingdings" panose="05000000000000000000" pitchFamily="2" charset="2"/>
              </a:rPr>
              <a:t>→∞</a:t>
            </a:r>
            <a:r>
              <a:rPr lang="tr-TR" dirty="0">
                <a:latin typeface="Arial" panose="020B0604020202020204" pitchFamily="34" charset="0"/>
                <a:cs typeface="Arial" panose="020B0604020202020204" pitchFamily="34" charset="0"/>
              </a:rPr>
              <a:t> olduğu özel durum </a:t>
            </a:r>
            <a:r>
              <a:rPr lang="tr-TR" dirty="0" err="1">
                <a:latin typeface="Arial" panose="020B0604020202020204" pitchFamily="34" charset="0"/>
                <a:cs typeface="Arial" panose="020B0604020202020204" pitchFamily="34" charset="0"/>
              </a:rPr>
              <a:t>Chebyschev</a:t>
            </a:r>
            <a:r>
              <a:rPr lang="tr-TR" dirty="0">
                <a:latin typeface="Arial" panose="020B0604020202020204" pitchFamily="34" charset="0"/>
                <a:cs typeface="Arial" panose="020B0604020202020204" pitchFamily="34" charset="0"/>
              </a:rPr>
              <a:t> uzaklığını vermektedir.</a:t>
            </a:r>
            <a:endParaRPr lang="en-US" dirty="0">
              <a:latin typeface="Arial" panose="020B0604020202020204" pitchFamily="34" charset="0"/>
              <a:cs typeface="Arial" panose="020B0604020202020204" pitchFamily="34" charset="0"/>
            </a:endParaRPr>
          </a:p>
        </p:txBody>
      </p:sp>
      <p:sp>
        <p:nvSpPr>
          <p:cNvPr id="5" name="Slayt Numarası Yer Tutucusu 4">
            <a:extLst>
              <a:ext uri="{FF2B5EF4-FFF2-40B4-BE49-F238E27FC236}">
                <a16:creationId xmlns:a16="http://schemas.microsoft.com/office/drawing/2014/main" id="{FFDDF253-A702-8149-4EDA-5981AA6BCD20}"/>
              </a:ext>
            </a:extLst>
          </p:cNvPr>
          <p:cNvSpPr>
            <a:spLocks noGrp="1"/>
          </p:cNvSpPr>
          <p:nvPr>
            <p:ph type="sldNum" sz="quarter" idx="12"/>
          </p:nvPr>
        </p:nvSpPr>
        <p:spPr/>
        <p:txBody>
          <a:bodyPr/>
          <a:lstStyle/>
          <a:p>
            <a:pPr>
              <a:defRPr/>
            </a:pPr>
            <a:fld id="{1E09EE13-7A4C-43FA-BBE8-D81D5C0B929E}" type="slidenum">
              <a:rPr lang="tr-TR" smtClean="0"/>
              <a:pPr>
                <a:defRPr/>
              </a:pPr>
              <a:t>11</a:t>
            </a:fld>
            <a:endParaRPr lang="tr-TR"/>
          </a:p>
        </p:txBody>
      </p:sp>
      <p:pic>
        <p:nvPicPr>
          <p:cNvPr id="6" name="Resim 5">
            <a:extLst>
              <a:ext uri="{FF2B5EF4-FFF2-40B4-BE49-F238E27FC236}">
                <a16:creationId xmlns:a16="http://schemas.microsoft.com/office/drawing/2014/main" id="{8CF67702-2E41-13A0-DFBB-1C98715AC324}"/>
              </a:ext>
            </a:extLst>
          </p:cNvPr>
          <p:cNvPicPr>
            <a:picLocks noChangeAspect="1"/>
          </p:cNvPicPr>
          <p:nvPr/>
        </p:nvPicPr>
        <p:blipFill>
          <a:blip r:embed="rId2"/>
          <a:stretch>
            <a:fillRect/>
          </a:stretch>
        </p:blipFill>
        <p:spPr>
          <a:xfrm>
            <a:off x="5868144" y="3933056"/>
            <a:ext cx="3069561" cy="2276872"/>
          </a:xfrm>
          <a:prstGeom prst="rect">
            <a:avLst/>
          </a:prstGeom>
        </p:spPr>
      </p:pic>
      <p:pic>
        <p:nvPicPr>
          <p:cNvPr id="4" name="Resim 3">
            <a:extLst>
              <a:ext uri="{FF2B5EF4-FFF2-40B4-BE49-F238E27FC236}">
                <a16:creationId xmlns:a16="http://schemas.microsoft.com/office/drawing/2014/main" id="{33EE44DD-CEBE-C317-A12F-369ADCCE821C}"/>
              </a:ext>
            </a:extLst>
          </p:cNvPr>
          <p:cNvPicPr>
            <a:picLocks noChangeAspect="1"/>
          </p:cNvPicPr>
          <p:nvPr/>
        </p:nvPicPr>
        <p:blipFill>
          <a:blip r:embed="rId3"/>
          <a:stretch>
            <a:fillRect/>
          </a:stretch>
        </p:blipFill>
        <p:spPr>
          <a:xfrm>
            <a:off x="628650" y="4113336"/>
            <a:ext cx="4850317" cy="1748547"/>
          </a:xfrm>
          <a:prstGeom prst="rect">
            <a:avLst/>
          </a:prstGeom>
        </p:spPr>
      </p:pic>
    </p:spTree>
    <p:extLst>
      <p:ext uri="{BB962C8B-B14F-4D97-AF65-F5344CB8AC3E}">
        <p14:creationId xmlns:p14="http://schemas.microsoft.com/office/powerpoint/2010/main" val="480121617"/>
      </p:ext>
    </p:extLst>
  </p:cSld>
  <p:clrMapOvr>
    <a:masterClrMapping/>
  </p:clrMapOvr>
  <p:transition spd="med">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F3B49C0-6C24-F6B6-7B45-99E0BBDEF02F}"/>
              </a:ext>
            </a:extLst>
          </p:cNvPr>
          <p:cNvSpPr>
            <a:spLocks noGrp="1"/>
          </p:cNvSpPr>
          <p:nvPr>
            <p:ph type="title"/>
          </p:nvPr>
        </p:nvSpPr>
        <p:spPr>
          <a:xfrm>
            <a:off x="628650" y="365126"/>
            <a:ext cx="8335838" cy="1325563"/>
          </a:xfrm>
        </p:spPr>
        <p:txBody>
          <a:bodyPr/>
          <a:lstStyle/>
          <a:p>
            <a:r>
              <a:rPr lang="tr-TR" b="1" dirty="0" err="1"/>
              <a:t>Dilca</a:t>
            </a:r>
            <a:r>
              <a:rPr lang="tr-TR" b="1" dirty="0"/>
              <a:t> (</a:t>
            </a:r>
            <a:r>
              <a:rPr lang="tr-TR" b="1" dirty="0" err="1"/>
              <a:t>Distance</a:t>
            </a:r>
            <a:r>
              <a:rPr lang="tr-TR" b="1" dirty="0"/>
              <a:t> Learning in </a:t>
            </a:r>
            <a:r>
              <a:rPr lang="tr-TR" b="1" dirty="0" err="1"/>
              <a:t>Categorical</a:t>
            </a:r>
            <a:r>
              <a:rPr lang="tr-TR" b="1" dirty="0"/>
              <a:t> </a:t>
            </a:r>
            <a:r>
              <a:rPr lang="tr-TR" b="1" dirty="0" err="1"/>
              <a:t>Attribute</a:t>
            </a:r>
            <a:r>
              <a:rPr lang="tr-TR" b="1" dirty="0"/>
              <a:t>)</a:t>
            </a:r>
            <a:endParaRPr lang="en-US" b="1" dirty="0"/>
          </a:p>
        </p:txBody>
      </p:sp>
      <p:sp>
        <p:nvSpPr>
          <p:cNvPr id="3" name="İçerik Yer Tutucusu 2">
            <a:extLst>
              <a:ext uri="{FF2B5EF4-FFF2-40B4-BE49-F238E27FC236}">
                <a16:creationId xmlns:a16="http://schemas.microsoft.com/office/drawing/2014/main" id="{AB62C24B-0A58-FED2-57E3-7F7C439FCB66}"/>
              </a:ext>
            </a:extLst>
          </p:cNvPr>
          <p:cNvSpPr>
            <a:spLocks noGrp="1"/>
          </p:cNvSpPr>
          <p:nvPr>
            <p:ph idx="1"/>
          </p:nvPr>
        </p:nvSpPr>
        <p:spPr/>
        <p:txBody>
          <a:bodyPr/>
          <a:lstStyle/>
          <a:p>
            <a:pPr algn="just"/>
            <a:r>
              <a:rPr lang="tr-TR" dirty="0" err="1"/>
              <a:t>Dilca</a:t>
            </a:r>
            <a:r>
              <a:rPr lang="tr-TR" dirty="0"/>
              <a:t> uzaklığı, kategorik öznitelik değerleri arasındaki uzaklığı ölçümlemek için kullanılan iki aşamalı bir ölçüttür.</a:t>
            </a:r>
          </a:p>
          <a:p>
            <a:pPr algn="just"/>
            <a:r>
              <a:rPr lang="tr-TR" dirty="0"/>
              <a:t>Bu ölçütte öncelikle, simetrik belirsizlik katsayısı yöntemi kullanılarak öznitelik seçimi işlemi gerçekleştirilerek eş-oluşum tablosu oluşturulmaktadır. </a:t>
            </a:r>
          </a:p>
          <a:p>
            <a:pPr algn="just"/>
            <a:r>
              <a:rPr lang="tr-TR" dirty="0"/>
              <a:t>Ardından, eş-oluşum tablosu üzerinde koşullu olasılık ve Öklid uzaklığına dayalı hesaplama gerçekleştirilerek uzaklık ölçümlenmektedir.</a:t>
            </a:r>
            <a:endParaRPr lang="en-US" dirty="0"/>
          </a:p>
        </p:txBody>
      </p:sp>
      <p:graphicFrame>
        <p:nvGraphicFramePr>
          <p:cNvPr id="6" name="Nesne 5">
            <a:extLst>
              <a:ext uri="{FF2B5EF4-FFF2-40B4-BE49-F238E27FC236}">
                <a16:creationId xmlns:a16="http://schemas.microsoft.com/office/drawing/2014/main" id="{8A9922A9-D11C-2828-8D63-B93BF66531AF}"/>
              </a:ext>
            </a:extLst>
          </p:cNvPr>
          <p:cNvGraphicFramePr>
            <a:graphicFrameLocks noChangeAspect="1"/>
          </p:cNvGraphicFramePr>
          <p:nvPr>
            <p:extLst>
              <p:ext uri="{D42A27DB-BD31-4B8C-83A1-F6EECF244321}">
                <p14:modId xmlns:p14="http://schemas.microsoft.com/office/powerpoint/2010/main" val="3181561696"/>
              </p:ext>
            </p:extLst>
          </p:nvPr>
        </p:nvGraphicFramePr>
        <p:xfrm>
          <a:off x="2843808" y="4490543"/>
          <a:ext cx="3112560" cy="1805285"/>
        </p:xfrm>
        <a:graphic>
          <a:graphicData uri="http://schemas.openxmlformats.org/presentationml/2006/ole">
            <mc:AlternateContent xmlns:mc="http://schemas.openxmlformats.org/markup-compatibility/2006">
              <mc:Choice xmlns:v="urn:schemas-microsoft-com:vml" Requires="v">
                <p:oleObj name="Equation" r:id="rId2" imgW="952631" imgH="552620" progId="Equation.DSMT4">
                  <p:embed/>
                </p:oleObj>
              </mc:Choice>
              <mc:Fallback>
                <p:oleObj name="Equation" r:id="rId2" imgW="952631" imgH="552620" progId="Equation.DSMT4">
                  <p:embed/>
                  <p:pic>
                    <p:nvPicPr>
                      <p:cNvPr id="6" name="Nesne 5">
                        <a:extLst>
                          <a:ext uri="{FF2B5EF4-FFF2-40B4-BE49-F238E27FC236}">
                            <a16:creationId xmlns:a16="http://schemas.microsoft.com/office/drawing/2014/main" id="{8A9922A9-D11C-2828-8D63-B93BF66531AF}"/>
                          </a:ext>
                        </a:extLst>
                      </p:cNvPr>
                      <p:cNvPicPr/>
                      <p:nvPr/>
                    </p:nvPicPr>
                    <p:blipFill>
                      <a:blip r:embed="rId3"/>
                      <a:stretch>
                        <a:fillRect/>
                      </a:stretch>
                    </p:blipFill>
                    <p:spPr>
                      <a:xfrm>
                        <a:off x="2843808" y="4490543"/>
                        <a:ext cx="3112560" cy="1805285"/>
                      </a:xfrm>
                      <a:prstGeom prst="rect">
                        <a:avLst/>
                      </a:prstGeom>
                    </p:spPr>
                  </p:pic>
                </p:oleObj>
              </mc:Fallback>
            </mc:AlternateContent>
          </a:graphicData>
        </a:graphic>
      </p:graphicFrame>
    </p:spTree>
    <p:extLst>
      <p:ext uri="{BB962C8B-B14F-4D97-AF65-F5344CB8AC3E}">
        <p14:creationId xmlns:p14="http://schemas.microsoft.com/office/powerpoint/2010/main" val="1259896606"/>
      </p:ext>
    </p:extLst>
  </p:cSld>
  <p:clrMapOvr>
    <a:masterClrMapping/>
  </p:clrMapOvr>
  <p:transition spd="med">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796F84C-5210-43AA-2C4B-34395408F5F9}"/>
              </a:ext>
            </a:extLst>
          </p:cNvPr>
          <p:cNvSpPr>
            <a:spLocks noGrp="1"/>
          </p:cNvSpPr>
          <p:nvPr>
            <p:ph idx="1"/>
          </p:nvPr>
        </p:nvSpPr>
        <p:spPr>
          <a:xfrm>
            <a:off x="628650" y="1773230"/>
            <a:ext cx="7886700" cy="4567362"/>
          </a:xfrm>
        </p:spPr>
        <p:txBody>
          <a:bodyPr/>
          <a:lstStyle/>
          <a:p>
            <a:r>
              <a:rPr lang="tr-TR" dirty="0">
                <a:latin typeface="Arial" panose="020B0604020202020204" pitchFamily="34" charset="0"/>
                <a:cs typeface="Arial" panose="020B0604020202020204" pitchFamily="34" charset="0"/>
              </a:rPr>
              <a:t>Bilgi kazancı, yüksek değer içeren özniteliklere karşı taraflıdır.</a:t>
            </a:r>
          </a:p>
          <a:p>
            <a:endParaRPr lang="tr-TR"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Simetrik belirsizlik katsayısı (</a:t>
            </a:r>
            <a:r>
              <a:rPr lang="tr-TR" dirty="0" err="1">
                <a:latin typeface="Arial" panose="020B0604020202020204" pitchFamily="34" charset="0"/>
                <a:cs typeface="Arial" panose="020B0604020202020204" pitchFamily="34" charset="0"/>
              </a:rPr>
              <a:t>symmertrical</a:t>
            </a:r>
            <a:r>
              <a:rPr lang="tr-TR" dirty="0">
                <a:latin typeface="Arial" panose="020B0604020202020204" pitchFamily="34" charset="0"/>
                <a:cs typeface="Arial" panose="020B0604020202020204" pitchFamily="34" charset="0"/>
              </a:rPr>
              <a:t> </a:t>
            </a:r>
            <a:r>
              <a:rPr lang="tr-TR" dirty="0" err="1">
                <a:latin typeface="Arial" panose="020B0604020202020204" pitchFamily="34" charset="0"/>
                <a:cs typeface="Arial" panose="020B0604020202020204" pitchFamily="34" charset="0"/>
              </a:rPr>
              <a:t>uncertainty</a:t>
            </a:r>
            <a:r>
              <a:rPr lang="tr-TR" dirty="0">
                <a:latin typeface="Arial" panose="020B0604020202020204" pitchFamily="34" charset="0"/>
                <a:cs typeface="Arial" panose="020B0604020202020204" pitchFamily="34" charset="0"/>
              </a:rPr>
              <a:t>) (SU), bilgi kazancının (</a:t>
            </a:r>
            <a:r>
              <a:rPr lang="tr-TR" dirty="0" err="1">
                <a:latin typeface="Arial" panose="020B0604020202020204" pitchFamily="34" charset="0"/>
                <a:cs typeface="Arial" panose="020B0604020202020204" pitchFamily="34" charset="0"/>
              </a:rPr>
              <a:t>information</a:t>
            </a:r>
            <a:r>
              <a:rPr lang="tr-TR" dirty="0">
                <a:latin typeface="Arial" panose="020B0604020202020204" pitchFamily="34" charset="0"/>
                <a:cs typeface="Arial" panose="020B0604020202020204" pitchFamily="34" charset="0"/>
              </a:rPr>
              <a:t> </a:t>
            </a:r>
            <a:r>
              <a:rPr lang="tr-TR" dirty="0" err="1">
                <a:latin typeface="Arial" panose="020B0604020202020204" pitchFamily="34" charset="0"/>
                <a:cs typeface="Arial" panose="020B0604020202020204" pitchFamily="34" charset="0"/>
              </a:rPr>
              <a:t>gain</a:t>
            </a:r>
            <a:r>
              <a:rPr lang="tr-TR" dirty="0">
                <a:latin typeface="Arial" panose="020B0604020202020204" pitchFamily="34" charset="0"/>
                <a:cs typeface="Arial" panose="020B0604020202020204" pitchFamily="34" charset="0"/>
              </a:rPr>
              <a:t>) (IG) bu problemi ortadan kaldırmak için, bilgi kazancının X ve Y özniteliklerinin entropi değerleri toplamına bölünmesi ile eşitlik elde edilir. </a:t>
            </a:r>
          </a:p>
          <a:p>
            <a:endParaRPr lang="en-US" dirty="0"/>
          </a:p>
        </p:txBody>
      </p:sp>
      <p:sp>
        <p:nvSpPr>
          <p:cNvPr id="5" name="Slayt Numarası Yer Tutucusu 4">
            <a:extLst>
              <a:ext uri="{FF2B5EF4-FFF2-40B4-BE49-F238E27FC236}">
                <a16:creationId xmlns:a16="http://schemas.microsoft.com/office/drawing/2014/main" id="{6AFC22BF-1623-FE85-155B-84A3E70D4B13}"/>
              </a:ext>
            </a:extLst>
          </p:cNvPr>
          <p:cNvSpPr>
            <a:spLocks noGrp="1"/>
          </p:cNvSpPr>
          <p:nvPr>
            <p:ph type="sldNum" sz="quarter" idx="12"/>
          </p:nvPr>
        </p:nvSpPr>
        <p:spPr/>
        <p:txBody>
          <a:bodyPr/>
          <a:lstStyle/>
          <a:p>
            <a:pPr>
              <a:defRPr/>
            </a:pPr>
            <a:fld id="{1E09EE13-7A4C-43FA-BBE8-D81D5C0B929E}" type="slidenum">
              <a:rPr lang="tr-TR" smtClean="0"/>
              <a:pPr>
                <a:defRPr/>
              </a:pPr>
              <a:t>13</a:t>
            </a:fld>
            <a:endParaRPr lang="tr-TR"/>
          </a:p>
        </p:txBody>
      </p:sp>
      <p:graphicFrame>
        <p:nvGraphicFramePr>
          <p:cNvPr id="6" name="Nesne 5">
            <a:extLst>
              <a:ext uri="{FF2B5EF4-FFF2-40B4-BE49-F238E27FC236}">
                <a16:creationId xmlns:a16="http://schemas.microsoft.com/office/drawing/2014/main" id="{E970BA40-845F-C35B-B79A-8E63625166F2}"/>
              </a:ext>
            </a:extLst>
          </p:cNvPr>
          <p:cNvGraphicFramePr>
            <a:graphicFrameLocks noChangeAspect="1"/>
          </p:cNvGraphicFramePr>
          <p:nvPr>
            <p:extLst>
              <p:ext uri="{D42A27DB-BD31-4B8C-83A1-F6EECF244321}">
                <p14:modId xmlns:p14="http://schemas.microsoft.com/office/powerpoint/2010/main" val="801799592"/>
              </p:ext>
            </p:extLst>
          </p:nvPr>
        </p:nvGraphicFramePr>
        <p:xfrm>
          <a:off x="1069649" y="4528733"/>
          <a:ext cx="6417001" cy="1811859"/>
        </p:xfrm>
        <a:graphic>
          <a:graphicData uri="http://schemas.openxmlformats.org/presentationml/2006/ole">
            <mc:AlternateContent xmlns:mc="http://schemas.openxmlformats.org/markup-compatibility/2006">
              <mc:Choice xmlns:v="urn:schemas-microsoft-com:vml" Requires="v">
                <p:oleObj name="Equation" r:id="rId2" imgW="1619401" imgH="457216" progId="Equation.DSMT4">
                  <p:embed/>
                </p:oleObj>
              </mc:Choice>
              <mc:Fallback>
                <p:oleObj name="Equation" r:id="rId2" imgW="1619401" imgH="457216" progId="Equation.DSMT4">
                  <p:embed/>
                  <p:pic>
                    <p:nvPicPr>
                      <p:cNvPr id="6" name="Nesne 5">
                        <a:extLst>
                          <a:ext uri="{FF2B5EF4-FFF2-40B4-BE49-F238E27FC236}">
                            <a16:creationId xmlns:a16="http://schemas.microsoft.com/office/drawing/2014/main" id="{E970BA40-845F-C35B-B79A-8E63625166F2}"/>
                          </a:ext>
                        </a:extLst>
                      </p:cNvPr>
                      <p:cNvPicPr/>
                      <p:nvPr/>
                    </p:nvPicPr>
                    <p:blipFill>
                      <a:blip r:embed="rId3"/>
                      <a:stretch>
                        <a:fillRect/>
                      </a:stretch>
                    </p:blipFill>
                    <p:spPr>
                      <a:xfrm>
                        <a:off x="1069649" y="4528733"/>
                        <a:ext cx="6417001" cy="1811859"/>
                      </a:xfrm>
                      <a:prstGeom prst="rect">
                        <a:avLst/>
                      </a:prstGeom>
                    </p:spPr>
                  </p:pic>
                </p:oleObj>
              </mc:Fallback>
            </mc:AlternateContent>
          </a:graphicData>
        </a:graphic>
      </p:graphicFrame>
      <p:sp>
        <p:nvSpPr>
          <p:cNvPr id="2" name="Başlık 1">
            <a:extLst>
              <a:ext uri="{FF2B5EF4-FFF2-40B4-BE49-F238E27FC236}">
                <a16:creationId xmlns:a16="http://schemas.microsoft.com/office/drawing/2014/main" id="{8EB4C08A-2D1D-D059-251F-A5272B433DF6}"/>
              </a:ext>
            </a:extLst>
          </p:cNvPr>
          <p:cNvSpPr>
            <a:spLocks noGrp="1"/>
          </p:cNvSpPr>
          <p:nvPr>
            <p:ph type="title"/>
          </p:nvPr>
        </p:nvSpPr>
        <p:spPr>
          <a:xfrm>
            <a:off x="683568" y="284038"/>
            <a:ext cx="8335838" cy="1325563"/>
          </a:xfrm>
        </p:spPr>
        <p:txBody>
          <a:bodyPr/>
          <a:lstStyle/>
          <a:p>
            <a:r>
              <a:rPr lang="tr-TR" b="1" dirty="0">
                <a:latin typeface="Arial" panose="020B0604020202020204" pitchFamily="34" charset="0"/>
                <a:cs typeface="Arial" panose="020B0604020202020204" pitchFamily="34" charset="0"/>
              </a:rPr>
              <a:t>Simetrik belirsizlik katsayısı (SU)</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4453163"/>
      </p:ext>
    </p:extLst>
  </p:cSld>
  <p:clrMapOvr>
    <a:masterClrMapping/>
  </p:clrMapOvr>
  <p:transition spd="med">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79B97C6-D88E-1724-FBFC-86CD8A0866DE}"/>
              </a:ext>
            </a:extLst>
          </p:cNvPr>
          <p:cNvSpPr>
            <a:spLocks noGrp="1"/>
          </p:cNvSpPr>
          <p:nvPr>
            <p:ph type="title"/>
          </p:nvPr>
        </p:nvSpPr>
        <p:spPr/>
        <p:txBody>
          <a:bodyPr/>
          <a:lstStyle/>
          <a:p>
            <a:r>
              <a:rPr lang="tr-TR" b="1" dirty="0">
                <a:latin typeface="Arial" panose="020B0604020202020204" pitchFamily="34" charset="0"/>
                <a:cs typeface="Arial" panose="020B0604020202020204" pitchFamily="34" charset="0"/>
              </a:rPr>
              <a:t>K Komşu Sayısı</a:t>
            </a:r>
            <a:endParaRPr lang="en-US" b="1"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F4E5DD63-B349-1A3F-7C62-402DF8199E40}"/>
              </a:ext>
            </a:extLst>
          </p:cNvPr>
          <p:cNvSpPr>
            <a:spLocks noGrp="1"/>
          </p:cNvSpPr>
          <p:nvPr>
            <p:ph idx="1"/>
          </p:nvPr>
        </p:nvSpPr>
        <p:spPr>
          <a:xfrm>
            <a:off x="628650" y="1825625"/>
            <a:ext cx="8263830" cy="4351338"/>
          </a:xfrm>
        </p:spPr>
        <p:txBody>
          <a:bodyPr>
            <a:normAutofit/>
          </a:bodyPr>
          <a:lstStyle/>
          <a:p>
            <a:pPr algn="l"/>
            <a:r>
              <a:rPr lang="en-US" b="0" i="0" dirty="0">
                <a:solidFill>
                  <a:srgbClr val="0D0D0D"/>
                </a:solidFill>
                <a:effectLst/>
                <a:latin typeface="Arial" panose="020B0604020202020204" pitchFamily="34" charset="0"/>
                <a:cs typeface="Arial" panose="020B0604020202020204" pitchFamily="34" charset="0"/>
              </a:rPr>
              <a:t>K-En </a:t>
            </a:r>
            <a:r>
              <a:rPr lang="en-US" b="0" i="0" dirty="0" err="1">
                <a:solidFill>
                  <a:srgbClr val="0D0D0D"/>
                </a:solidFill>
                <a:effectLst/>
                <a:latin typeface="Arial" panose="020B0604020202020204" pitchFamily="34" charset="0"/>
                <a:cs typeface="Arial" panose="020B0604020202020204" pitchFamily="34" charset="0"/>
              </a:rPr>
              <a:t>Yakın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a:t>
            </a:r>
            <a:r>
              <a:rPr lang="en-US" b="0" i="0" dirty="0">
                <a:solidFill>
                  <a:srgbClr val="0D0D0D"/>
                </a:solidFill>
                <a:effectLst/>
                <a:latin typeface="Arial" panose="020B0604020202020204" pitchFamily="34" charset="0"/>
                <a:cs typeface="Arial" panose="020B0604020202020204" pitchFamily="34" charset="0"/>
              </a:rPr>
              <a:t> (KNN) </a:t>
            </a:r>
            <a:r>
              <a:rPr lang="en-US" b="0" i="0" dirty="0" err="1">
                <a:solidFill>
                  <a:srgbClr val="0D0D0D"/>
                </a:solidFill>
                <a:effectLst/>
                <a:latin typeface="Arial" panose="020B0604020202020204" pitchFamily="34" charset="0"/>
                <a:cs typeface="Arial" panose="020B0604020202020204" pitchFamily="34" charset="0"/>
              </a:rPr>
              <a:t>algoritmasında</a:t>
            </a:r>
            <a:r>
              <a:rPr lang="en-US" b="0" i="0" dirty="0">
                <a:solidFill>
                  <a:srgbClr val="0D0D0D"/>
                </a:solidFill>
                <a:effectLst/>
                <a:latin typeface="Arial" panose="020B0604020202020204" pitchFamily="34" charset="0"/>
                <a:cs typeface="Arial" panose="020B0604020202020204" pitchFamily="34" charset="0"/>
              </a:rPr>
              <a:t>, 'k' </a:t>
            </a:r>
            <a:r>
              <a:rPr lang="en-US" b="0" i="0" dirty="0" err="1">
                <a:solidFill>
                  <a:srgbClr val="0D0D0D"/>
                </a:solidFill>
                <a:effectLst/>
                <a:latin typeface="Arial" panose="020B0604020202020204" pitchFamily="34" charset="0"/>
                <a:cs typeface="Arial" panose="020B0604020202020204" pitchFamily="34" charset="0"/>
              </a:rPr>
              <a:t>değeri</a:t>
            </a:r>
            <a:r>
              <a:rPr lang="en-US" b="0" i="0" dirty="0">
                <a:solidFill>
                  <a:srgbClr val="0D0D0D"/>
                </a:solidFill>
                <a:effectLst/>
                <a:latin typeface="Arial" panose="020B0604020202020204" pitchFamily="34" charset="0"/>
                <a:cs typeface="Arial" panose="020B0604020202020204" pitchFamily="34" charset="0"/>
              </a:rPr>
              <a:t>, her </a:t>
            </a:r>
            <a:r>
              <a:rPr lang="en-US" b="0" i="0" dirty="0" err="1">
                <a:solidFill>
                  <a:srgbClr val="0D0D0D"/>
                </a:solidFill>
                <a:effectLst/>
                <a:latin typeface="Arial" panose="020B0604020202020204" pitchFamily="34" charset="0"/>
                <a:cs typeface="Arial" panose="020B0604020202020204" pitchFamily="34" charset="0"/>
              </a:rPr>
              <a:t>bir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tahmin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için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kullanılacak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olan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sayısını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belirtir</a:t>
            </a:r>
            <a:r>
              <a:rPr lang="en-US" b="0" i="0" dirty="0">
                <a:solidFill>
                  <a:srgbClr val="0D0D0D"/>
                </a:solidFill>
                <a:effectLst/>
                <a:latin typeface="Arial" panose="020B0604020202020204" pitchFamily="34" charset="0"/>
                <a:cs typeface="Arial" panose="020B0604020202020204" pitchFamily="34" charset="0"/>
              </a:rPr>
              <a:t>. Bir </a:t>
            </a:r>
            <a:r>
              <a:rPr lang="en-US" b="0" i="0" dirty="0" err="1">
                <a:solidFill>
                  <a:srgbClr val="0D0D0D"/>
                </a:solidFill>
                <a:effectLst/>
                <a:latin typeface="Arial" panose="020B0604020202020204" pitchFamily="34" charset="0"/>
                <a:cs typeface="Arial" panose="020B0604020202020204" pitchFamily="34" charset="0"/>
              </a:rPr>
              <a:t>veri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noktasını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sınıflandırmak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veya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tahmin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etmek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için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algoritma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noktanın</a:t>
            </a:r>
            <a:r>
              <a:rPr lang="en-US" b="0" i="0" dirty="0">
                <a:solidFill>
                  <a:srgbClr val="0D0D0D"/>
                </a:solidFill>
                <a:effectLst/>
                <a:latin typeface="Arial" panose="020B0604020202020204" pitchFamily="34" charset="0"/>
                <a:cs typeface="Arial" panose="020B0604020202020204" pitchFamily="34" charset="0"/>
              </a:rPr>
              <a:t> 'k' </a:t>
            </a:r>
            <a:r>
              <a:rPr lang="en-US" b="0" i="0" dirty="0" err="1">
                <a:solidFill>
                  <a:srgbClr val="0D0D0D"/>
                </a:solidFill>
                <a:effectLst/>
                <a:latin typeface="Arial" panose="020B0604020202020204" pitchFamily="34" charset="0"/>
                <a:cs typeface="Arial" panose="020B0604020202020204" pitchFamily="34" charset="0"/>
              </a:rPr>
              <a:t>en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yakın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komşusunu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bulur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komşuların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etiketlerini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veya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değerlerini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kullanarak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tahmin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yapar</a:t>
            </a:r>
            <a:r>
              <a:rPr lang="en-US" b="0" i="0" dirty="0">
                <a:solidFill>
                  <a:srgbClr val="0D0D0D"/>
                </a:solidFill>
                <a:effectLst/>
                <a:latin typeface="Arial" panose="020B0604020202020204" pitchFamily="34" charset="0"/>
                <a:cs typeface="Arial" panose="020B0604020202020204" pitchFamily="34" charset="0"/>
              </a:rPr>
              <a:t>. </a:t>
            </a:r>
            <a:endParaRPr lang="tr-TR" b="0" i="0" dirty="0">
              <a:solidFill>
                <a:srgbClr val="0D0D0D"/>
              </a:solidFill>
              <a:effectLst/>
              <a:latin typeface="Arial" panose="020B0604020202020204" pitchFamily="34" charset="0"/>
              <a:cs typeface="Arial" panose="020B0604020202020204" pitchFamily="34" charset="0"/>
            </a:endParaRPr>
          </a:p>
          <a:p>
            <a:pPr algn="l"/>
            <a:r>
              <a:rPr lang="en-US" b="0" i="0" dirty="0" err="1">
                <a:solidFill>
                  <a:srgbClr val="0D0D0D"/>
                </a:solidFill>
                <a:effectLst/>
                <a:latin typeface="Arial" panose="020B0604020202020204" pitchFamily="34" charset="0"/>
                <a:cs typeface="Arial" panose="020B0604020202020204" pitchFamily="34" charset="0"/>
              </a:rPr>
              <a:t>Dolayısıyla</a:t>
            </a:r>
            <a:r>
              <a:rPr lang="en-US" b="0" i="0" dirty="0">
                <a:solidFill>
                  <a:srgbClr val="0D0D0D"/>
                </a:solidFill>
                <a:effectLst/>
                <a:latin typeface="Arial" panose="020B0604020202020204" pitchFamily="34" charset="0"/>
                <a:cs typeface="Arial" panose="020B0604020202020204" pitchFamily="34" charset="0"/>
              </a:rPr>
              <a:t>, 'k' </a:t>
            </a:r>
            <a:r>
              <a:rPr lang="en-US" b="0" i="0" dirty="0" err="1">
                <a:solidFill>
                  <a:srgbClr val="0D0D0D"/>
                </a:solidFill>
                <a:effectLst/>
                <a:latin typeface="Arial" panose="020B0604020202020204" pitchFamily="34" charset="0"/>
                <a:cs typeface="Arial" panose="020B0604020202020204" pitchFamily="34" charset="0"/>
              </a:rPr>
              <a:t>değeri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bir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noktasının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etrafındaki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sayısını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kontrol</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eder</a:t>
            </a:r>
            <a:r>
              <a:rPr lang="en-US" b="0" i="0" dirty="0">
                <a:solidFill>
                  <a:srgbClr val="0D0D0D"/>
                </a:solidFill>
                <a:effectLst/>
                <a:latin typeface="Arial" panose="020B0604020202020204" pitchFamily="34" charset="0"/>
                <a:cs typeface="Arial" panose="020B0604020202020204" pitchFamily="34" charset="0"/>
              </a:rPr>
              <a:t>.</a:t>
            </a:r>
          </a:p>
          <a:p>
            <a:pPr algn="l"/>
            <a:r>
              <a:rPr lang="en-US" b="0" i="0" dirty="0" err="1">
                <a:solidFill>
                  <a:srgbClr val="0D0D0D"/>
                </a:solidFill>
                <a:effectLst/>
                <a:latin typeface="Arial" panose="020B0604020202020204" pitchFamily="34" charset="0"/>
                <a:cs typeface="Arial" panose="020B0604020202020204" pitchFamily="34" charset="0"/>
              </a:rPr>
              <a:t>Örneğin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bir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sınıflandırma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problemi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için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bir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noktasının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sınıfını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tahmin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etmek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için</a:t>
            </a:r>
            <a:r>
              <a:rPr lang="en-US" b="0" i="0" dirty="0">
                <a:solidFill>
                  <a:srgbClr val="0D0D0D"/>
                </a:solidFill>
                <a:effectLst/>
                <a:latin typeface="Arial" panose="020B0604020202020204" pitchFamily="34" charset="0"/>
                <a:cs typeface="Arial" panose="020B0604020202020204" pitchFamily="34" charset="0"/>
              </a:rPr>
              <a:t> 'k' </a:t>
            </a:r>
            <a:r>
              <a:rPr lang="en-US" b="0" i="0" dirty="0" err="1">
                <a:solidFill>
                  <a:srgbClr val="0D0D0D"/>
                </a:solidFill>
                <a:effectLst/>
                <a:latin typeface="Arial" panose="020B0604020202020204" pitchFamily="34" charset="0"/>
                <a:cs typeface="Arial" panose="020B0604020202020204" pitchFamily="34" charset="0"/>
              </a:rPr>
              <a:t>en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yakın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komşusu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alınır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komşuların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sınıfları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arasında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çoğunluk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oyu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kullanılarak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tahmin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yapılır</a:t>
            </a:r>
            <a:r>
              <a:rPr lang="en-US" b="0" i="0" dirty="0">
                <a:solidFill>
                  <a:srgbClr val="0D0D0D"/>
                </a:solidFill>
                <a:effectLst/>
                <a:latin typeface="Arial" panose="020B0604020202020204" pitchFamily="34" charset="0"/>
                <a:cs typeface="Arial" panose="020B0604020202020204" pitchFamily="34" charset="0"/>
              </a:rPr>
              <a:t>. 'k' </a:t>
            </a:r>
            <a:r>
              <a:rPr lang="en-US" b="0" i="0" dirty="0" err="1">
                <a:solidFill>
                  <a:srgbClr val="0D0D0D"/>
                </a:solidFill>
                <a:effectLst/>
                <a:latin typeface="Arial" panose="020B0604020202020204" pitchFamily="34" charset="0"/>
                <a:cs typeface="Arial" panose="020B0604020202020204" pitchFamily="34" charset="0"/>
              </a:rPr>
              <a:t>değeri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bu</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komşuların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sayısını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belirler</a:t>
            </a:r>
            <a:r>
              <a:rPr lang="en-US" b="0" i="0" dirty="0">
                <a:solidFill>
                  <a:srgbClr val="0D0D0D"/>
                </a:solidFill>
                <a:effectLst/>
                <a:latin typeface="Arial" panose="020B0604020202020204" pitchFamily="34" charset="0"/>
                <a:cs typeface="Arial" panose="020B0604020202020204" pitchFamily="34" charset="0"/>
              </a:rPr>
              <a:t>.</a:t>
            </a:r>
            <a:endParaRPr lang="tr-TR" b="0" i="0" dirty="0">
              <a:solidFill>
                <a:srgbClr val="0D0D0D"/>
              </a:solidFill>
              <a:effectLst/>
              <a:latin typeface="Arial" panose="020B0604020202020204" pitchFamily="34" charset="0"/>
              <a:cs typeface="Arial" panose="020B0604020202020204" pitchFamily="34" charset="0"/>
            </a:endParaRPr>
          </a:p>
          <a:p>
            <a:r>
              <a:rPr lang="en-US" b="1" u="sng" dirty="0">
                <a:latin typeface="Arial" panose="020B0604020202020204" pitchFamily="34" charset="0"/>
                <a:cs typeface="Arial" panose="020B0604020202020204" pitchFamily="34" charset="0"/>
              </a:rPr>
              <a:t>K</a:t>
            </a:r>
            <a:r>
              <a:rPr lang="tr-TR" b="1" u="sng" dirty="0">
                <a:latin typeface="Arial" panose="020B0604020202020204" pitchFamily="34" charset="0"/>
                <a:cs typeface="Arial" panose="020B0604020202020204" pitchFamily="34" charset="0"/>
              </a:rPr>
              <a:t>=</a:t>
            </a:r>
            <a:r>
              <a:rPr lang="en-US" b="1" u="sng" dirty="0">
                <a:latin typeface="Arial" panose="020B0604020202020204" pitchFamily="34" charset="0"/>
                <a:cs typeface="Arial" panose="020B0604020202020204" pitchFamily="34" charset="0"/>
              </a:rPr>
              <a:t>1 </a:t>
            </a:r>
            <a:r>
              <a:rPr lang="en-US" b="1" u="sng" dirty="0" err="1">
                <a:latin typeface="Arial" panose="020B0604020202020204" pitchFamily="34" charset="0"/>
                <a:cs typeface="Arial" panose="020B0604020202020204" pitchFamily="34" charset="0"/>
              </a:rPr>
              <a:t>olursa</a:t>
            </a:r>
            <a:r>
              <a:rPr lang="en-US" b="1" u="sng" dirty="0">
                <a:latin typeface="Arial" panose="020B0604020202020204" pitchFamily="34" charset="0"/>
                <a:cs typeface="Arial" panose="020B0604020202020204" pitchFamily="34" charset="0"/>
              </a:rPr>
              <a:t> overfit </a:t>
            </a:r>
            <a:r>
              <a:rPr lang="en-US" b="1" u="sng" dirty="0" err="1">
                <a:latin typeface="Arial" panose="020B0604020202020204" pitchFamily="34" charset="0"/>
                <a:cs typeface="Arial" panose="020B0604020202020204" pitchFamily="34" charset="0"/>
              </a:rPr>
              <a:t>etme</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olasılığı</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çok</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yüksek</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olacaktır</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Çok</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büyük</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olursa</a:t>
            </a:r>
            <a:r>
              <a:rPr lang="en-US" b="1" u="sng" dirty="0">
                <a:latin typeface="Arial" panose="020B0604020202020204" pitchFamily="34" charset="0"/>
                <a:cs typeface="Arial" panose="020B0604020202020204" pitchFamily="34" charset="0"/>
              </a:rPr>
              <a:t> da </a:t>
            </a:r>
            <a:r>
              <a:rPr lang="en-US" b="1" u="sng" dirty="0" err="1">
                <a:latin typeface="Arial" panose="020B0604020202020204" pitchFamily="34" charset="0"/>
                <a:cs typeface="Arial" panose="020B0604020202020204" pitchFamily="34" charset="0"/>
              </a:rPr>
              <a:t>çok</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genel</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sonuçlar</a:t>
            </a:r>
            <a:r>
              <a:rPr lang="en-US" b="1" u="sng" dirty="0">
                <a:latin typeface="Arial" panose="020B0604020202020204" pitchFamily="34" charset="0"/>
                <a:cs typeface="Arial" panose="020B0604020202020204" pitchFamily="34" charset="0"/>
              </a:rPr>
              <a:t> </a:t>
            </a:r>
            <a:r>
              <a:rPr lang="en-US" b="1" u="sng" dirty="0" err="1">
                <a:latin typeface="Arial" panose="020B0604020202020204" pitchFamily="34" charset="0"/>
                <a:cs typeface="Arial" panose="020B0604020202020204" pitchFamily="34" charset="0"/>
              </a:rPr>
              <a:t>verecektir</a:t>
            </a:r>
            <a:r>
              <a:rPr lang="en-US" b="1" u="sng" dirty="0">
                <a:latin typeface="Arial" panose="020B0604020202020204" pitchFamily="34" charset="0"/>
                <a:cs typeface="Arial" panose="020B0604020202020204" pitchFamily="34" charset="0"/>
              </a:rPr>
              <a:t>. </a:t>
            </a:r>
          </a:p>
          <a:p>
            <a:pPr algn="l"/>
            <a:endParaRPr lang="en-US" b="0" i="0" dirty="0">
              <a:solidFill>
                <a:srgbClr val="0D0D0D"/>
              </a:solidFill>
              <a:effectLst/>
              <a:latin typeface="Söhne"/>
            </a:endParaRPr>
          </a:p>
          <a:p>
            <a:endParaRPr lang="en-US" dirty="0"/>
          </a:p>
        </p:txBody>
      </p:sp>
      <p:sp>
        <p:nvSpPr>
          <p:cNvPr id="5" name="Slayt Numarası Yer Tutucusu 4">
            <a:extLst>
              <a:ext uri="{FF2B5EF4-FFF2-40B4-BE49-F238E27FC236}">
                <a16:creationId xmlns:a16="http://schemas.microsoft.com/office/drawing/2014/main" id="{D822DE5B-29B1-284A-F031-4352668578E2}"/>
              </a:ext>
            </a:extLst>
          </p:cNvPr>
          <p:cNvSpPr>
            <a:spLocks noGrp="1"/>
          </p:cNvSpPr>
          <p:nvPr>
            <p:ph type="sldNum" sz="quarter" idx="12"/>
          </p:nvPr>
        </p:nvSpPr>
        <p:spPr/>
        <p:txBody>
          <a:bodyPr/>
          <a:lstStyle/>
          <a:p>
            <a:pPr>
              <a:defRPr/>
            </a:pPr>
            <a:fld id="{1E09EE13-7A4C-43FA-BBE8-D81D5C0B929E}" type="slidenum">
              <a:rPr lang="tr-TR" smtClean="0"/>
              <a:pPr>
                <a:defRPr/>
              </a:pPr>
              <a:t>14</a:t>
            </a:fld>
            <a:endParaRPr lang="tr-TR"/>
          </a:p>
        </p:txBody>
      </p:sp>
    </p:spTree>
    <p:extLst>
      <p:ext uri="{BB962C8B-B14F-4D97-AF65-F5344CB8AC3E}">
        <p14:creationId xmlns:p14="http://schemas.microsoft.com/office/powerpoint/2010/main" val="3616960615"/>
      </p:ext>
    </p:extLst>
  </p:cSld>
  <p:clrMapOvr>
    <a:masterClrMapping/>
  </p:clrMapOvr>
  <p:transition spd="med">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79B97C6-D88E-1724-FBFC-86CD8A0866DE}"/>
              </a:ext>
            </a:extLst>
          </p:cNvPr>
          <p:cNvSpPr>
            <a:spLocks noGrp="1"/>
          </p:cNvSpPr>
          <p:nvPr>
            <p:ph type="title"/>
          </p:nvPr>
        </p:nvSpPr>
        <p:spPr/>
        <p:txBody>
          <a:bodyPr/>
          <a:lstStyle/>
          <a:p>
            <a:r>
              <a:rPr lang="tr-TR" b="1" dirty="0">
                <a:latin typeface="Arial" panose="020B0604020202020204" pitchFamily="34" charset="0"/>
                <a:cs typeface="Arial" panose="020B0604020202020204" pitchFamily="34" charset="0"/>
              </a:rPr>
              <a:t>K Komşu Sayısı</a:t>
            </a:r>
            <a:endParaRPr lang="en-US" b="1"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F4E5DD63-B349-1A3F-7C62-402DF8199E40}"/>
              </a:ext>
            </a:extLst>
          </p:cNvPr>
          <p:cNvSpPr>
            <a:spLocks noGrp="1"/>
          </p:cNvSpPr>
          <p:nvPr>
            <p:ph idx="1"/>
          </p:nvPr>
        </p:nvSpPr>
        <p:spPr/>
        <p:txBody>
          <a:bodyPr>
            <a:normAutofit/>
          </a:bodyPr>
          <a:lstStyle/>
          <a:p>
            <a:pPr algn="just"/>
            <a:r>
              <a:rPr lang="en-US" b="0" i="0" dirty="0" err="1">
                <a:solidFill>
                  <a:srgbClr val="0D0D0D"/>
                </a:solidFill>
                <a:effectLst/>
                <a:latin typeface="Arial" panose="020B0604020202020204" pitchFamily="34" charset="0"/>
                <a:cs typeface="Arial" panose="020B0604020202020204" pitchFamily="34" charset="0"/>
              </a:rPr>
              <a:t>Regresyon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problemleri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için</a:t>
            </a:r>
            <a:r>
              <a:rPr lang="en-US" b="0" i="0" dirty="0">
                <a:solidFill>
                  <a:srgbClr val="0D0D0D"/>
                </a:solidFill>
                <a:effectLst/>
                <a:latin typeface="Arial" panose="020B0604020202020204" pitchFamily="34" charset="0"/>
                <a:cs typeface="Arial" panose="020B0604020202020204" pitchFamily="34" charset="0"/>
              </a:rPr>
              <a:t>, 'k' </a:t>
            </a:r>
            <a:r>
              <a:rPr lang="en-US" b="0" i="0" dirty="0" err="1">
                <a:solidFill>
                  <a:srgbClr val="0D0D0D"/>
                </a:solidFill>
                <a:effectLst/>
                <a:latin typeface="Arial" panose="020B0604020202020204" pitchFamily="34" charset="0"/>
                <a:cs typeface="Arial" panose="020B0604020202020204" pitchFamily="34" charset="0"/>
              </a:rPr>
              <a:t>en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yakın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komşunun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etiketlerinin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veya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değerlerinin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bir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tür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ortalama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genellikle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ortalama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veya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medyan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alınarak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tahmin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yapılır</a:t>
            </a:r>
            <a:r>
              <a:rPr lang="en-US" b="0" i="0" dirty="0">
                <a:solidFill>
                  <a:srgbClr val="0D0D0D"/>
                </a:solidFill>
                <a:effectLst/>
                <a:latin typeface="Arial" panose="020B0604020202020204" pitchFamily="34" charset="0"/>
                <a:cs typeface="Arial" panose="020B0604020202020204" pitchFamily="34" charset="0"/>
              </a:rPr>
              <a:t>.</a:t>
            </a:r>
            <a:endParaRPr lang="tr-TR" b="0" i="0" dirty="0">
              <a:solidFill>
                <a:srgbClr val="0D0D0D"/>
              </a:solidFill>
              <a:effectLst/>
              <a:latin typeface="Arial" panose="020B0604020202020204" pitchFamily="34" charset="0"/>
              <a:cs typeface="Arial" panose="020B0604020202020204" pitchFamily="34" charset="0"/>
            </a:endParaRPr>
          </a:p>
          <a:p>
            <a:pPr algn="just"/>
            <a:endParaRPr lang="en-US" b="0" i="0" dirty="0">
              <a:solidFill>
                <a:srgbClr val="0D0D0D"/>
              </a:solidFill>
              <a:effectLst/>
              <a:latin typeface="Arial" panose="020B0604020202020204" pitchFamily="34" charset="0"/>
              <a:cs typeface="Arial" panose="020B0604020202020204" pitchFamily="34" charset="0"/>
            </a:endParaRPr>
          </a:p>
          <a:p>
            <a:pPr algn="just"/>
            <a:r>
              <a:rPr lang="en-US" b="0" i="0" dirty="0">
                <a:solidFill>
                  <a:srgbClr val="0D0D0D"/>
                </a:solidFill>
                <a:effectLst/>
                <a:latin typeface="Arial" panose="020B0604020202020204" pitchFamily="34" charset="0"/>
                <a:cs typeface="Arial" panose="020B0604020202020204" pitchFamily="34" charset="0"/>
              </a:rPr>
              <a:t>Yani, 'k' </a:t>
            </a:r>
            <a:r>
              <a:rPr lang="en-US" b="0" i="0" dirty="0" err="1">
                <a:solidFill>
                  <a:srgbClr val="0D0D0D"/>
                </a:solidFill>
                <a:effectLst/>
                <a:latin typeface="Arial" panose="020B0604020202020204" pitchFamily="34" charset="0"/>
                <a:cs typeface="Arial" panose="020B0604020202020204" pitchFamily="34" charset="0"/>
              </a:rPr>
              <a:t>değeri</a:t>
            </a:r>
            <a:r>
              <a:rPr lang="en-US" b="0" i="0" dirty="0">
                <a:solidFill>
                  <a:srgbClr val="0D0D0D"/>
                </a:solidFill>
                <a:effectLst/>
                <a:latin typeface="Arial" panose="020B0604020202020204" pitchFamily="34" charset="0"/>
                <a:cs typeface="Arial" panose="020B0604020202020204" pitchFamily="34" charset="0"/>
              </a:rPr>
              <a:t> KNN </a:t>
            </a:r>
            <a:r>
              <a:rPr lang="en-US" b="0" i="0" dirty="0" err="1">
                <a:solidFill>
                  <a:srgbClr val="0D0D0D"/>
                </a:solidFill>
                <a:effectLst/>
                <a:latin typeface="Arial" panose="020B0604020202020204" pitchFamily="34" charset="0"/>
                <a:cs typeface="Arial" panose="020B0604020202020204" pitchFamily="34" charset="0"/>
              </a:rPr>
              <a:t>algoritmasında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oldukça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önemlidir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çünkü</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algoritmanın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performansını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etkiler</a:t>
            </a:r>
            <a:r>
              <a:rPr lang="en-US" b="0" i="0" dirty="0">
                <a:solidFill>
                  <a:srgbClr val="0D0D0D"/>
                </a:solidFill>
                <a:effectLst/>
                <a:latin typeface="Arial" panose="020B0604020202020204" pitchFamily="34" charset="0"/>
                <a:cs typeface="Arial" panose="020B0604020202020204" pitchFamily="34" charset="0"/>
              </a:rPr>
              <a:t>. </a:t>
            </a:r>
            <a:endParaRPr lang="tr-TR" b="0" i="0" dirty="0">
              <a:solidFill>
                <a:srgbClr val="0D0D0D"/>
              </a:solidFill>
              <a:effectLst/>
              <a:latin typeface="Arial" panose="020B0604020202020204" pitchFamily="34" charset="0"/>
              <a:cs typeface="Arial" panose="020B0604020202020204" pitchFamily="34" charset="0"/>
            </a:endParaRPr>
          </a:p>
          <a:p>
            <a:pPr algn="just"/>
            <a:endParaRPr lang="tr-TR" dirty="0">
              <a:solidFill>
                <a:srgbClr val="0D0D0D"/>
              </a:solidFill>
              <a:latin typeface="Arial" panose="020B0604020202020204" pitchFamily="34" charset="0"/>
              <a:cs typeface="Arial" panose="020B0604020202020204" pitchFamily="34" charset="0"/>
            </a:endParaRPr>
          </a:p>
          <a:p>
            <a:pPr algn="just"/>
            <a:r>
              <a:rPr lang="en-US" b="0" i="0" dirty="0">
                <a:solidFill>
                  <a:srgbClr val="0D0D0D"/>
                </a:solidFill>
                <a:effectLst/>
                <a:latin typeface="Arial" panose="020B0604020202020204" pitchFamily="34" charset="0"/>
                <a:cs typeface="Arial" panose="020B0604020202020204" pitchFamily="34" charset="0"/>
              </a:rPr>
              <a:t>'k' </a:t>
            </a:r>
            <a:r>
              <a:rPr lang="en-US" b="0" i="0" dirty="0" err="1">
                <a:solidFill>
                  <a:srgbClr val="0D0D0D"/>
                </a:solidFill>
                <a:effectLst/>
                <a:latin typeface="Arial" panose="020B0604020202020204" pitchFamily="34" charset="0"/>
                <a:cs typeface="Arial" panose="020B0604020202020204" pitchFamily="34" charset="0"/>
              </a:rPr>
              <a:t>değeri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genellikle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uygulayıcı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tarafından</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belirlenir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deneme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yanılma</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yöntemiyle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ayarlanır</a:t>
            </a:r>
            <a:r>
              <a:rPr lang="en-US" b="0" i="0" dirty="0">
                <a:solidFill>
                  <a:srgbClr val="0D0D0D"/>
                </a:solidFill>
                <a:effectLst/>
                <a:latin typeface="Arial" panose="020B0604020202020204" pitchFamily="34" charset="0"/>
                <a:cs typeface="Arial" panose="020B0604020202020204" pitchFamily="34" charset="0"/>
              </a:rPr>
              <a:t>. </a:t>
            </a:r>
            <a:endParaRPr lang="tr-TR" b="0" i="0" dirty="0">
              <a:solidFill>
                <a:srgbClr val="0D0D0D"/>
              </a:solidFill>
              <a:effectLst/>
              <a:latin typeface="Arial" panose="020B0604020202020204" pitchFamily="34" charset="0"/>
              <a:cs typeface="Arial" panose="020B0604020202020204" pitchFamily="34" charset="0"/>
            </a:endParaRPr>
          </a:p>
          <a:p>
            <a:pPr algn="just"/>
            <a:endParaRPr lang="tr-TR" dirty="0">
              <a:solidFill>
                <a:srgbClr val="0D0D0D"/>
              </a:solidFill>
              <a:latin typeface="Arial" panose="020B0604020202020204" pitchFamily="34" charset="0"/>
              <a:cs typeface="Arial" panose="020B0604020202020204" pitchFamily="34" charset="0"/>
            </a:endParaRPr>
          </a:p>
          <a:p>
            <a:pPr algn="just"/>
            <a:r>
              <a:rPr lang="en-US" b="0" i="0" dirty="0">
                <a:solidFill>
                  <a:srgbClr val="0D0D0D"/>
                </a:solidFill>
                <a:effectLst/>
                <a:latin typeface="Arial" panose="020B0604020202020204" pitchFamily="34" charset="0"/>
                <a:cs typeface="Arial" panose="020B0604020202020204" pitchFamily="34" charset="0"/>
              </a:rPr>
              <a:t>Bu </a:t>
            </a:r>
            <a:r>
              <a:rPr lang="en-US" b="0" i="0" dirty="0" err="1">
                <a:solidFill>
                  <a:srgbClr val="0D0D0D"/>
                </a:solidFill>
                <a:effectLst/>
                <a:latin typeface="Arial" panose="020B0604020202020204" pitchFamily="34" charset="0"/>
                <a:cs typeface="Arial" panose="020B0604020202020204" pitchFamily="34" charset="0"/>
              </a:rPr>
              <a:t>değer</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veri</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setine</a:t>
            </a:r>
            <a:r>
              <a:rPr lang="en-US" b="0" i="0" dirty="0">
                <a:solidFill>
                  <a:srgbClr val="0D0D0D"/>
                </a:solidFill>
                <a:effectLst/>
                <a:latin typeface="Arial" panose="020B0604020202020204" pitchFamily="34" charset="0"/>
                <a:cs typeface="Arial" panose="020B0604020202020204" pitchFamily="34" charset="0"/>
              </a:rPr>
              <a:t>, problem </a:t>
            </a:r>
            <a:r>
              <a:rPr lang="en-US" b="0" i="0" dirty="0" err="1">
                <a:solidFill>
                  <a:srgbClr val="0D0D0D"/>
                </a:solidFill>
                <a:effectLst/>
                <a:latin typeface="Arial" panose="020B0604020202020204" pitchFamily="34" charset="0"/>
                <a:cs typeface="Arial" panose="020B0604020202020204" pitchFamily="34" charset="0"/>
              </a:rPr>
              <a:t>türüne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ve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performans</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gereksinimlerine</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bağlı</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olarak</a:t>
            </a:r>
            <a:r>
              <a:rPr lang="en-US" b="0" i="0" dirty="0">
                <a:solidFill>
                  <a:srgbClr val="0D0D0D"/>
                </a:solidFill>
                <a:effectLst/>
                <a:latin typeface="Arial" panose="020B0604020202020204" pitchFamily="34" charset="0"/>
                <a:cs typeface="Arial" panose="020B0604020202020204" pitchFamily="34" charset="0"/>
              </a:rPr>
              <a:t> </a:t>
            </a:r>
            <a:r>
              <a:rPr lang="en-US" b="0" i="0" dirty="0" err="1">
                <a:solidFill>
                  <a:srgbClr val="0D0D0D"/>
                </a:solidFill>
                <a:effectLst/>
                <a:latin typeface="Arial" panose="020B0604020202020204" pitchFamily="34" charset="0"/>
                <a:cs typeface="Arial" panose="020B0604020202020204" pitchFamily="34" charset="0"/>
              </a:rPr>
              <a:t>değişebilir</a:t>
            </a:r>
            <a:r>
              <a:rPr lang="en-US" b="0" i="0" dirty="0">
                <a:solidFill>
                  <a:srgbClr val="0D0D0D"/>
                </a:solidFill>
                <a:effectLst/>
                <a:latin typeface="Arial" panose="020B0604020202020204" pitchFamily="34" charset="0"/>
                <a:cs typeface="Arial" panose="020B0604020202020204" pitchFamily="34" charset="0"/>
              </a:rPr>
              <a:t>.</a:t>
            </a:r>
          </a:p>
          <a:p>
            <a:endParaRPr lang="en-US" dirty="0"/>
          </a:p>
        </p:txBody>
      </p:sp>
      <p:sp>
        <p:nvSpPr>
          <p:cNvPr id="5" name="Slayt Numarası Yer Tutucusu 4">
            <a:extLst>
              <a:ext uri="{FF2B5EF4-FFF2-40B4-BE49-F238E27FC236}">
                <a16:creationId xmlns:a16="http://schemas.microsoft.com/office/drawing/2014/main" id="{D822DE5B-29B1-284A-F031-4352668578E2}"/>
              </a:ext>
            </a:extLst>
          </p:cNvPr>
          <p:cNvSpPr>
            <a:spLocks noGrp="1"/>
          </p:cNvSpPr>
          <p:nvPr>
            <p:ph type="sldNum" sz="quarter" idx="12"/>
          </p:nvPr>
        </p:nvSpPr>
        <p:spPr/>
        <p:txBody>
          <a:bodyPr/>
          <a:lstStyle/>
          <a:p>
            <a:pPr>
              <a:defRPr/>
            </a:pPr>
            <a:fld id="{1E09EE13-7A4C-43FA-BBE8-D81D5C0B929E}" type="slidenum">
              <a:rPr lang="tr-TR" smtClean="0"/>
              <a:pPr>
                <a:defRPr/>
              </a:pPr>
              <a:t>15</a:t>
            </a:fld>
            <a:endParaRPr lang="tr-TR"/>
          </a:p>
        </p:txBody>
      </p:sp>
    </p:spTree>
    <p:extLst>
      <p:ext uri="{BB962C8B-B14F-4D97-AF65-F5344CB8AC3E}">
        <p14:creationId xmlns:p14="http://schemas.microsoft.com/office/powerpoint/2010/main" val="3418389419"/>
      </p:ext>
    </p:extLst>
  </p:cSld>
  <p:clrMapOvr>
    <a:masterClrMapping/>
  </p:clrMapOvr>
  <p:transition spd="med">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076BB8F-6E51-70F2-2779-946900DDA395}"/>
              </a:ext>
            </a:extLst>
          </p:cNvPr>
          <p:cNvSpPr>
            <a:spLocks noGrp="1"/>
          </p:cNvSpPr>
          <p:nvPr>
            <p:ph idx="1"/>
          </p:nvPr>
        </p:nvSpPr>
        <p:spPr>
          <a:xfrm>
            <a:off x="628650" y="620688"/>
            <a:ext cx="7886700" cy="5556275"/>
          </a:xfrm>
        </p:spPr>
        <p:txBody>
          <a:bodyPr>
            <a:normAutofit/>
          </a:bodyPr>
          <a:lstStyle/>
          <a:p>
            <a:pPr algn="just"/>
            <a:r>
              <a:rPr lang="en-US" sz="3200" b="1" i="0" u="sng" dirty="0">
                <a:solidFill>
                  <a:srgbClr val="0D0D0D"/>
                </a:solidFill>
                <a:effectLst/>
                <a:latin typeface="Arial" panose="020B0604020202020204" pitchFamily="34" charset="0"/>
                <a:cs typeface="Arial" panose="020B0604020202020204" pitchFamily="34" charset="0"/>
              </a:rPr>
              <a:t>K </a:t>
            </a:r>
            <a:r>
              <a:rPr lang="en-US" sz="3200" b="1" i="0" u="sng" dirty="0" err="1">
                <a:solidFill>
                  <a:srgbClr val="0D0D0D"/>
                </a:solidFill>
                <a:effectLst/>
                <a:latin typeface="Arial" panose="020B0604020202020204" pitchFamily="34" charset="0"/>
                <a:cs typeface="Arial" panose="020B0604020202020204" pitchFamily="34" charset="0"/>
              </a:rPr>
              <a:t>değerini</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seçerken</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şu</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faktörlere</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dikkat</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etmek</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önemlidir</a:t>
            </a:r>
            <a:r>
              <a:rPr lang="en-US" sz="3200" b="1" i="0" u="sng" dirty="0">
                <a:solidFill>
                  <a:srgbClr val="0D0D0D"/>
                </a:solidFill>
                <a:effectLst/>
                <a:latin typeface="Arial" panose="020B0604020202020204" pitchFamily="34" charset="0"/>
                <a:cs typeface="Arial" panose="020B0604020202020204" pitchFamily="34" charset="0"/>
              </a:rPr>
              <a:t>:</a:t>
            </a:r>
            <a:endParaRPr lang="tr-TR" sz="3200" b="1" i="0" u="sng" dirty="0">
              <a:solidFill>
                <a:srgbClr val="0D0D0D"/>
              </a:solidFill>
              <a:effectLst/>
              <a:latin typeface="Arial" panose="020B0604020202020204" pitchFamily="34" charset="0"/>
              <a:cs typeface="Arial" panose="020B0604020202020204" pitchFamily="34" charset="0"/>
            </a:endParaRPr>
          </a:p>
          <a:p>
            <a:pPr algn="just"/>
            <a:endParaRPr lang="en-US" sz="3200" b="1" i="0" dirty="0">
              <a:solidFill>
                <a:srgbClr val="0D0D0D"/>
              </a:solidFill>
              <a:effectLst/>
              <a:latin typeface="Arial" panose="020B0604020202020204" pitchFamily="34" charset="0"/>
              <a:cs typeface="Arial" panose="020B0604020202020204" pitchFamily="34" charset="0"/>
            </a:endParaRPr>
          </a:p>
          <a:p>
            <a:pPr algn="just">
              <a:buFont typeface="+mj-lt"/>
              <a:buAutoNum type="arabicPeriod"/>
            </a:pPr>
            <a:r>
              <a:rPr lang="en-US" sz="3200" b="1" i="0" dirty="0">
                <a:solidFill>
                  <a:srgbClr val="0D0D0D"/>
                </a:solidFill>
                <a:effectLst/>
                <a:latin typeface="Arial" panose="020B0604020202020204" pitchFamily="34" charset="0"/>
                <a:cs typeface="Arial" panose="020B0604020202020204" pitchFamily="34" charset="0"/>
              </a:rPr>
              <a:t>Veri </a:t>
            </a:r>
            <a:r>
              <a:rPr lang="en-US" sz="3200" b="1" i="0" dirty="0" err="1">
                <a:solidFill>
                  <a:srgbClr val="0D0D0D"/>
                </a:solidFill>
                <a:effectLst/>
                <a:latin typeface="Arial" panose="020B0604020202020204" pitchFamily="34" charset="0"/>
                <a:cs typeface="Arial" panose="020B0604020202020204" pitchFamily="34" charset="0"/>
              </a:rPr>
              <a:t>setinin</a:t>
            </a:r>
            <a:r>
              <a:rPr lang="en-US" sz="3200" b="1" i="0" dirty="0">
                <a:solidFill>
                  <a:srgbClr val="0D0D0D"/>
                </a:solidFill>
                <a:effectLst/>
                <a:latin typeface="Arial" panose="020B0604020202020204" pitchFamily="34" charset="0"/>
                <a:cs typeface="Arial" panose="020B0604020202020204" pitchFamily="34" charset="0"/>
              </a:rPr>
              <a:t> </a:t>
            </a:r>
            <a:r>
              <a:rPr lang="en-US" sz="3200" b="1" i="0" dirty="0" err="1">
                <a:solidFill>
                  <a:srgbClr val="0D0D0D"/>
                </a:solidFill>
                <a:effectLst/>
                <a:latin typeface="Arial" panose="020B0604020202020204" pitchFamily="34" charset="0"/>
                <a:cs typeface="Arial" panose="020B0604020202020204" pitchFamily="34" charset="0"/>
              </a:rPr>
              <a:t>büyüklüğü</a:t>
            </a:r>
            <a:r>
              <a:rPr lang="en-US" sz="3200" b="1" i="0" dirty="0">
                <a:solidFill>
                  <a:srgbClr val="0D0D0D"/>
                </a:solidFill>
                <a:effectLst/>
                <a:latin typeface="Arial" panose="020B0604020202020204" pitchFamily="34" charset="0"/>
                <a:cs typeface="Arial" panose="020B0604020202020204" pitchFamily="34" charset="0"/>
              </a:rPr>
              <a:t>: </a:t>
            </a:r>
            <a:endParaRPr lang="tr-TR" sz="3200" b="1" i="0" dirty="0">
              <a:solidFill>
                <a:srgbClr val="0D0D0D"/>
              </a:solidFill>
              <a:effectLst/>
              <a:latin typeface="Arial" panose="020B0604020202020204" pitchFamily="34" charset="0"/>
              <a:cs typeface="Arial" panose="020B0604020202020204" pitchFamily="34" charset="0"/>
            </a:endParaRPr>
          </a:p>
          <a:p>
            <a:pPr algn="just"/>
            <a:r>
              <a:rPr lang="en-US" sz="3200" b="0" i="0" dirty="0">
                <a:solidFill>
                  <a:srgbClr val="0D0D0D"/>
                </a:solidFill>
                <a:effectLst/>
                <a:latin typeface="Arial" panose="020B0604020202020204" pitchFamily="34" charset="0"/>
                <a:cs typeface="Arial" panose="020B0604020202020204" pitchFamily="34" charset="0"/>
              </a:rPr>
              <a:t>Daha </a:t>
            </a:r>
            <a:r>
              <a:rPr lang="en-US" sz="3200" b="0" i="0" dirty="0" err="1">
                <a:solidFill>
                  <a:srgbClr val="0D0D0D"/>
                </a:solidFill>
                <a:effectLst/>
                <a:latin typeface="Arial" panose="020B0604020202020204" pitchFamily="34" charset="0"/>
                <a:cs typeface="Arial" panose="020B0604020202020204" pitchFamily="34" charset="0"/>
              </a:rPr>
              <a:t>büyük</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veri</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setleri</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genellikle</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daha</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yüksek</a:t>
            </a:r>
            <a:r>
              <a:rPr lang="en-US" sz="3200" b="0" i="0" dirty="0">
                <a:solidFill>
                  <a:srgbClr val="0D0D0D"/>
                </a:solidFill>
                <a:effectLst/>
                <a:latin typeface="Arial" panose="020B0604020202020204" pitchFamily="34" charset="0"/>
                <a:cs typeface="Arial" panose="020B0604020202020204" pitchFamily="34" charset="0"/>
              </a:rPr>
              <a:t> k </a:t>
            </a:r>
            <a:r>
              <a:rPr lang="en-US" sz="3200" b="0" i="0" dirty="0" err="1">
                <a:solidFill>
                  <a:srgbClr val="0D0D0D"/>
                </a:solidFill>
                <a:effectLst/>
                <a:latin typeface="Arial" panose="020B0604020202020204" pitchFamily="34" charset="0"/>
                <a:cs typeface="Arial" panose="020B0604020202020204" pitchFamily="34" charset="0"/>
              </a:rPr>
              <a:t>değerlerini</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gerektirir</a:t>
            </a:r>
            <a:r>
              <a:rPr lang="en-US" sz="3200" b="0" i="0" dirty="0">
                <a:solidFill>
                  <a:srgbClr val="0D0D0D"/>
                </a:solidFill>
                <a:effectLst/>
                <a:latin typeface="Arial" panose="020B0604020202020204" pitchFamily="34" charset="0"/>
                <a:cs typeface="Arial" panose="020B0604020202020204" pitchFamily="34" charset="0"/>
              </a:rPr>
              <a:t>. </a:t>
            </a:r>
            <a:endParaRPr lang="tr-TR" sz="3200" b="0" i="0" dirty="0">
              <a:solidFill>
                <a:srgbClr val="0D0D0D"/>
              </a:solidFill>
              <a:effectLst/>
              <a:latin typeface="Arial" panose="020B0604020202020204" pitchFamily="34" charset="0"/>
              <a:cs typeface="Arial" panose="020B0604020202020204" pitchFamily="34" charset="0"/>
            </a:endParaRPr>
          </a:p>
          <a:p>
            <a:pPr algn="just"/>
            <a:endParaRPr lang="tr-TR" sz="3200" b="0" i="0" dirty="0">
              <a:solidFill>
                <a:srgbClr val="0D0D0D"/>
              </a:solidFill>
              <a:effectLst/>
              <a:latin typeface="Arial" panose="020B0604020202020204" pitchFamily="34" charset="0"/>
              <a:cs typeface="Arial" panose="020B0604020202020204" pitchFamily="34" charset="0"/>
            </a:endParaRPr>
          </a:p>
          <a:p>
            <a:pPr algn="just"/>
            <a:r>
              <a:rPr lang="en-US" sz="3200" b="0" i="0" dirty="0" err="1">
                <a:solidFill>
                  <a:srgbClr val="0D0D0D"/>
                </a:solidFill>
                <a:effectLst/>
                <a:latin typeface="Arial" panose="020B0604020202020204" pitchFamily="34" charset="0"/>
                <a:cs typeface="Arial" panose="020B0604020202020204" pitchFamily="34" charset="0"/>
              </a:rPr>
              <a:t>Küçük</a:t>
            </a:r>
            <a:r>
              <a:rPr lang="en-US" sz="3200" b="0" i="0" dirty="0">
                <a:solidFill>
                  <a:srgbClr val="0D0D0D"/>
                </a:solidFill>
                <a:effectLst/>
                <a:latin typeface="Arial" panose="020B0604020202020204" pitchFamily="34" charset="0"/>
                <a:cs typeface="Arial" panose="020B0604020202020204" pitchFamily="34" charset="0"/>
              </a:rPr>
              <a:t> k </a:t>
            </a:r>
            <a:r>
              <a:rPr lang="en-US" sz="3200" b="0" i="0" dirty="0" err="1">
                <a:solidFill>
                  <a:srgbClr val="0D0D0D"/>
                </a:solidFill>
                <a:effectLst/>
                <a:latin typeface="Arial" panose="020B0604020202020204" pitchFamily="34" charset="0"/>
                <a:cs typeface="Arial" panose="020B0604020202020204" pitchFamily="34" charset="0"/>
              </a:rPr>
              <a:t>değerleri</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küçük</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veri</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setlerinde</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aşırı</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uydurmaya</a:t>
            </a:r>
            <a:r>
              <a:rPr lang="en-US" sz="3200" b="0" i="0" dirty="0">
                <a:solidFill>
                  <a:srgbClr val="0D0D0D"/>
                </a:solidFill>
                <a:effectLst/>
                <a:latin typeface="Arial" panose="020B0604020202020204" pitchFamily="34" charset="0"/>
                <a:cs typeface="Arial" panose="020B0604020202020204" pitchFamily="34" charset="0"/>
              </a:rPr>
              <a:t> (overfitting) </a:t>
            </a:r>
            <a:r>
              <a:rPr lang="en-US" sz="3200" b="0" i="0" dirty="0" err="1">
                <a:solidFill>
                  <a:srgbClr val="0D0D0D"/>
                </a:solidFill>
                <a:effectLst/>
                <a:latin typeface="Arial" panose="020B0604020202020204" pitchFamily="34" charset="0"/>
                <a:cs typeface="Arial" panose="020B0604020202020204" pitchFamily="34" charset="0"/>
              </a:rPr>
              <a:t>yol</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açabilirken</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büyük</a:t>
            </a:r>
            <a:r>
              <a:rPr lang="en-US" sz="3200" b="0" i="0" dirty="0">
                <a:solidFill>
                  <a:srgbClr val="0D0D0D"/>
                </a:solidFill>
                <a:effectLst/>
                <a:latin typeface="Arial" panose="020B0604020202020204" pitchFamily="34" charset="0"/>
                <a:cs typeface="Arial" panose="020B0604020202020204" pitchFamily="34" charset="0"/>
              </a:rPr>
              <a:t> k </a:t>
            </a:r>
            <a:r>
              <a:rPr lang="en-US" sz="3200" b="0" i="0" dirty="0" err="1">
                <a:solidFill>
                  <a:srgbClr val="0D0D0D"/>
                </a:solidFill>
                <a:effectLst/>
                <a:latin typeface="Arial" panose="020B0604020202020204" pitchFamily="34" charset="0"/>
                <a:cs typeface="Arial" panose="020B0604020202020204" pitchFamily="34" charset="0"/>
              </a:rPr>
              <a:t>değerleri</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daha</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genelleyici</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sonuçlar</a:t>
            </a:r>
            <a:r>
              <a:rPr lang="en-US" sz="3200" b="0" i="0" dirty="0">
                <a:solidFill>
                  <a:srgbClr val="0D0D0D"/>
                </a:solidFill>
                <a:effectLst/>
                <a:latin typeface="Arial" panose="020B0604020202020204" pitchFamily="34" charset="0"/>
                <a:cs typeface="Arial" panose="020B0604020202020204" pitchFamily="34" charset="0"/>
              </a:rPr>
              <a:t> </a:t>
            </a:r>
            <a:r>
              <a:rPr lang="en-US" sz="3200" b="0" i="0" dirty="0" err="1">
                <a:solidFill>
                  <a:srgbClr val="0D0D0D"/>
                </a:solidFill>
                <a:effectLst/>
                <a:latin typeface="Arial" panose="020B0604020202020204" pitchFamily="34" charset="0"/>
                <a:cs typeface="Arial" panose="020B0604020202020204" pitchFamily="34" charset="0"/>
              </a:rPr>
              <a:t>üretebilir</a:t>
            </a:r>
            <a:r>
              <a:rPr lang="en-US" sz="3200" b="0" i="0" dirty="0">
                <a:solidFill>
                  <a:srgbClr val="0D0D0D"/>
                </a:solidFill>
                <a:effectLst/>
                <a:latin typeface="Arial" panose="020B0604020202020204" pitchFamily="34" charset="0"/>
                <a:cs typeface="Arial" panose="020B0604020202020204" pitchFamily="34" charset="0"/>
              </a:rPr>
              <a:t>.</a:t>
            </a:r>
          </a:p>
          <a:p>
            <a:endParaRPr lang="en-US" dirty="0"/>
          </a:p>
        </p:txBody>
      </p:sp>
      <p:sp>
        <p:nvSpPr>
          <p:cNvPr id="5" name="Slayt Numarası Yer Tutucusu 4">
            <a:extLst>
              <a:ext uri="{FF2B5EF4-FFF2-40B4-BE49-F238E27FC236}">
                <a16:creationId xmlns:a16="http://schemas.microsoft.com/office/drawing/2014/main" id="{211C58A7-CC5A-08C6-8FEE-0D154A97F4BC}"/>
              </a:ext>
            </a:extLst>
          </p:cNvPr>
          <p:cNvSpPr>
            <a:spLocks noGrp="1"/>
          </p:cNvSpPr>
          <p:nvPr>
            <p:ph type="sldNum" sz="quarter" idx="12"/>
          </p:nvPr>
        </p:nvSpPr>
        <p:spPr/>
        <p:txBody>
          <a:bodyPr/>
          <a:lstStyle/>
          <a:p>
            <a:pPr>
              <a:defRPr/>
            </a:pPr>
            <a:fld id="{1E09EE13-7A4C-43FA-BBE8-D81D5C0B929E}" type="slidenum">
              <a:rPr lang="tr-TR" smtClean="0"/>
              <a:pPr>
                <a:defRPr/>
              </a:pPr>
              <a:t>16</a:t>
            </a:fld>
            <a:endParaRPr lang="tr-TR"/>
          </a:p>
        </p:txBody>
      </p:sp>
    </p:spTree>
    <p:extLst>
      <p:ext uri="{BB962C8B-B14F-4D97-AF65-F5344CB8AC3E}">
        <p14:creationId xmlns:p14="http://schemas.microsoft.com/office/powerpoint/2010/main" val="669501726"/>
      </p:ext>
    </p:extLst>
  </p:cSld>
  <p:clrMapOvr>
    <a:masterClrMapping/>
  </p:clrMapOvr>
  <p:transition spd="med">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A4A0C-B284-2AE2-7856-17DDB7C17119}"/>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5F68894-C0EF-2621-5D94-CA2182A48D80}"/>
              </a:ext>
            </a:extLst>
          </p:cNvPr>
          <p:cNvSpPr>
            <a:spLocks noGrp="1"/>
          </p:cNvSpPr>
          <p:nvPr>
            <p:ph idx="1"/>
          </p:nvPr>
        </p:nvSpPr>
        <p:spPr>
          <a:xfrm>
            <a:off x="628650" y="620688"/>
            <a:ext cx="7886700" cy="5556275"/>
          </a:xfrm>
        </p:spPr>
        <p:txBody>
          <a:bodyPr>
            <a:normAutofit/>
          </a:bodyPr>
          <a:lstStyle/>
          <a:p>
            <a:pPr algn="just"/>
            <a:r>
              <a:rPr lang="en-US" sz="3200" b="1" i="0" u="sng" dirty="0">
                <a:solidFill>
                  <a:srgbClr val="0D0D0D"/>
                </a:solidFill>
                <a:effectLst/>
                <a:latin typeface="Arial" panose="020B0604020202020204" pitchFamily="34" charset="0"/>
                <a:cs typeface="Arial" panose="020B0604020202020204" pitchFamily="34" charset="0"/>
              </a:rPr>
              <a:t>K </a:t>
            </a:r>
            <a:r>
              <a:rPr lang="en-US" sz="3200" b="1" i="0" u="sng" dirty="0" err="1">
                <a:solidFill>
                  <a:srgbClr val="0D0D0D"/>
                </a:solidFill>
                <a:effectLst/>
                <a:latin typeface="Arial" panose="020B0604020202020204" pitchFamily="34" charset="0"/>
                <a:cs typeface="Arial" panose="020B0604020202020204" pitchFamily="34" charset="0"/>
              </a:rPr>
              <a:t>değerini</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seçerken</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şu</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faktörlere</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dikkat</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etmek</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önemlidir</a:t>
            </a:r>
            <a:r>
              <a:rPr lang="en-US" sz="3200" b="1" i="0" u="sng" dirty="0">
                <a:solidFill>
                  <a:srgbClr val="0D0D0D"/>
                </a:solidFill>
                <a:effectLst/>
                <a:latin typeface="Arial" panose="020B0604020202020204" pitchFamily="34" charset="0"/>
                <a:cs typeface="Arial" panose="020B0604020202020204" pitchFamily="34" charset="0"/>
              </a:rPr>
              <a:t>:</a:t>
            </a:r>
            <a:endParaRPr lang="tr-TR" sz="3200" b="1" i="0" u="sng" dirty="0">
              <a:solidFill>
                <a:srgbClr val="0D0D0D"/>
              </a:solidFill>
              <a:effectLst/>
              <a:latin typeface="Arial" panose="020B0604020202020204" pitchFamily="34" charset="0"/>
              <a:cs typeface="Arial" panose="020B0604020202020204" pitchFamily="34" charset="0"/>
            </a:endParaRPr>
          </a:p>
          <a:p>
            <a:pPr algn="just"/>
            <a:endParaRPr lang="en-US" sz="4000" b="1" i="0" u="sng" dirty="0">
              <a:solidFill>
                <a:srgbClr val="0D0D0D"/>
              </a:solidFill>
              <a:effectLst/>
              <a:latin typeface="Arial" panose="020B0604020202020204" pitchFamily="34" charset="0"/>
              <a:cs typeface="Arial" panose="020B0604020202020204" pitchFamily="34" charset="0"/>
            </a:endParaRPr>
          </a:p>
          <a:p>
            <a:pPr marL="0" indent="0" algn="just">
              <a:buNone/>
            </a:pPr>
            <a:r>
              <a:rPr lang="tr-TR" sz="2800" b="1" i="0" dirty="0">
                <a:solidFill>
                  <a:srgbClr val="0D0D0D"/>
                </a:solidFill>
                <a:effectLst/>
                <a:latin typeface="Söhne"/>
              </a:rPr>
              <a:t>2. </a:t>
            </a:r>
            <a:r>
              <a:rPr lang="en-US" sz="2800" b="1" i="0" dirty="0" err="1">
                <a:solidFill>
                  <a:srgbClr val="0D0D0D"/>
                </a:solidFill>
                <a:effectLst/>
                <a:latin typeface="Söhne"/>
              </a:rPr>
              <a:t>Modelin</a:t>
            </a:r>
            <a:r>
              <a:rPr lang="en-US" sz="2800" b="1" i="0" dirty="0">
                <a:solidFill>
                  <a:srgbClr val="0D0D0D"/>
                </a:solidFill>
                <a:effectLst/>
                <a:latin typeface="Söhne"/>
              </a:rPr>
              <a:t> </a:t>
            </a:r>
            <a:r>
              <a:rPr lang="en-US" sz="2800" b="1" i="0" dirty="0" err="1">
                <a:solidFill>
                  <a:srgbClr val="0D0D0D"/>
                </a:solidFill>
                <a:effectLst/>
                <a:latin typeface="Söhne"/>
              </a:rPr>
              <a:t>karmaşıklığı</a:t>
            </a:r>
            <a:r>
              <a:rPr lang="en-US" sz="2800" b="1" i="0" dirty="0">
                <a:solidFill>
                  <a:srgbClr val="0D0D0D"/>
                </a:solidFill>
                <a:effectLst/>
                <a:latin typeface="Söhne"/>
              </a:rPr>
              <a:t>: </a:t>
            </a:r>
            <a:r>
              <a:rPr lang="en-US" sz="2800" b="0" i="0" dirty="0" err="1">
                <a:solidFill>
                  <a:srgbClr val="0D0D0D"/>
                </a:solidFill>
                <a:effectLst/>
                <a:latin typeface="Söhne"/>
              </a:rPr>
              <a:t>Küçük</a:t>
            </a:r>
            <a:r>
              <a:rPr lang="en-US" sz="2800" b="0" i="0" dirty="0">
                <a:solidFill>
                  <a:srgbClr val="0D0D0D"/>
                </a:solidFill>
                <a:effectLst/>
                <a:latin typeface="Söhne"/>
              </a:rPr>
              <a:t> k </a:t>
            </a:r>
            <a:r>
              <a:rPr lang="en-US" sz="2800" b="0" i="0" dirty="0" err="1">
                <a:solidFill>
                  <a:srgbClr val="0D0D0D"/>
                </a:solidFill>
                <a:effectLst/>
                <a:latin typeface="Söhne"/>
              </a:rPr>
              <a:t>değerleri</a:t>
            </a:r>
            <a:r>
              <a:rPr lang="en-US" sz="2800" b="0" i="0" dirty="0">
                <a:solidFill>
                  <a:srgbClr val="0D0D0D"/>
                </a:solidFill>
                <a:effectLst/>
                <a:latin typeface="Söhne"/>
              </a:rPr>
              <a:t>, </a:t>
            </a:r>
            <a:r>
              <a:rPr lang="en-US" sz="2800" b="0" i="0" dirty="0" err="1">
                <a:solidFill>
                  <a:srgbClr val="0D0D0D"/>
                </a:solidFill>
                <a:effectLst/>
                <a:latin typeface="Söhne"/>
              </a:rPr>
              <a:t>modelin</a:t>
            </a:r>
            <a:r>
              <a:rPr lang="en-US" sz="2800" b="0" i="0" dirty="0">
                <a:solidFill>
                  <a:srgbClr val="0D0D0D"/>
                </a:solidFill>
                <a:effectLst/>
                <a:latin typeface="Söhne"/>
              </a:rPr>
              <a:t> </a:t>
            </a:r>
            <a:r>
              <a:rPr lang="en-US" sz="2800" b="0" i="0" dirty="0" err="1">
                <a:solidFill>
                  <a:srgbClr val="0D0D0D"/>
                </a:solidFill>
                <a:effectLst/>
                <a:latin typeface="Söhne"/>
              </a:rPr>
              <a:t>karmaşıklığını</a:t>
            </a:r>
            <a:r>
              <a:rPr lang="en-US" sz="2800" b="0" i="0" dirty="0">
                <a:solidFill>
                  <a:srgbClr val="0D0D0D"/>
                </a:solidFill>
                <a:effectLst/>
                <a:latin typeface="Söhne"/>
              </a:rPr>
              <a:t> </a:t>
            </a:r>
            <a:r>
              <a:rPr lang="en-US" sz="2800" b="0" i="0" dirty="0" err="1">
                <a:solidFill>
                  <a:srgbClr val="0D0D0D"/>
                </a:solidFill>
                <a:effectLst/>
                <a:latin typeface="Söhne"/>
              </a:rPr>
              <a:t>artırırken</a:t>
            </a:r>
            <a:r>
              <a:rPr lang="en-US" sz="2800" b="0" i="0" dirty="0">
                <a:solidFill>
                  <a:srgbClr val="0D0D0D"/>
                </a:solidFill>
                <a:effectLst/>
                <a:latin typeface="Söhne"/>
              </a:rPr>
              <a:t>, </a:t>
            </a:r>
            <a:r>
              <a:rPr lang="en-US" sz="2800" b="0" i="0" dirty="0" err="1">
                <a:solidFill>
                  <a:srgbClr val="0D0D0D"/>
                </a:solidFill>
                <a:effectLst/>
                <a:latin typeface="Söhne"/>
              </a:rPr>
              <a:t>büyük</a:t>
            </a:r>
            <a:r>
              <a:rPr lang="en-US" sz="2800" b="0" i="0" dirty="0">
                <a:solidFill>
                  <a:srgbClr val="0D0D0D"/>
                </a:solidFill>
                <a:effectLst/>
                <a:latin typeface="Söhne"/>
              </a:rPr>
              <a:t> k </a:t>
            </a:r>
            <a:r>
              <a:rPr lang="en-US" sz="2800" b="0" i="0" dirty="0" err="1">
                <a:solidFill>
                  <a:srgbClr val="0D0D0D"/>
                </a:solidFill>
                <a:effectLst/>
                <a:latin typeface="Söhne"/>
              </a:rPr>
              <a:t>değerleri</a:t>
            </a:r>
            <a:r>
              <a:rPr lang="en-US" sz="2800" b="0" i="0" dirty="0">
                <a:solidFill>
                  <a:srgbClr val="0D0D0D"/>
                </a:solidFill>
                <a:effectLst/>
                <a:latin typeface="Söhne"/>
              </a:rPr>
              <a:t> </a:t>
            </a:r>
            <a:r>
              <a:rPr lang="en-US" sz="2800" b="0" i="0" dirty="0" err="1">
                <a:solidFill>
                  <a:srgbClr val="0D0D0D"/>
                </a:solidFill>
                <a:effectLst/>
                <a:latin typeface="Söhne"/>
              </a:rPr>
              <a:t>modelin</a:t>
            </a:r>
            <a:r>
              <a:rPr lang="en-US" sz="2800" b="0" i="0" dirty="0">
                <a:solidFill>
                  <a:srgbClr val="0D0D0D"/>
                </a:solidFill>
                <a:effectLst/>
                <a:latin typeface="Söhne"/>
              </a:rPr>
              <a:t> </a:t>
            </a:r>
            <a:r>
              <a:rPr lang="en-US" sz="2800" b="0" i="0" dirty="0" err="1">
                <a:solidFill>
                  <a:srgbClr val="0D0D0D"/>
                </a:solidFill>
                <a:effectLst/>
                <a:latin typeface="Söhne"/>
              </a:rPr>
              <a:t>basitliğini</a:t>
            </a:r>
            <a:r>
              <a:rPr lang="en-US" sz="2800" b="0" i="0" dirty="0">
                <a:solidFill>
                  <a:srgbClr val="0D0D0D"/>
                </a:solidFill>
                <a:effectLst/>
                <a:latin typeface="Söhne"/>
              </a:rPr>
              <a:t> </a:t>
            </a:r>
            <a:r>
              <a:rPr lang="en-US" sz="2800" b="0" i="0" dirty="0" err="1">
                <a:solidFill>
                  <a:srgbClr val="0D0D0D"/>
                </a:solidFill>
                <a:effectLst/>
                <a:latin typeface="Söhne"/>
              </a:rPr>
              <a:t>artırır</a:t>
            </a:r>
            <a:r>
              <a:rPr lang="en-US" sz="2800" b="0" i="0" dirty="0">
                <a:solidFill>
                  <a:srgbClr val="0D0D0D"/>
                </a:solidFill>
                <a:effectLst/>
                <a:latin typeface="Söhne"/>
              </a:rPr>
              <a:t>. </a:t>
            </a:r>
            <a:endParaRPr lang="tr-TR" sz="2800" b="0" i="0" dirty="0">
              <a:solidFill>
                <a:srgbClr val="0D0D0D"/>
              </a:solidFill>
              <a:effectLst/>
              <a:latin typeface="Söhne"/>
            </a:endParaRPr>
          </a:p>
          <a:p>
            <a:pPr marL="0" indent="0" algn="just">
              <a:buNone/>
            </a:pPr>
            <a:endParaRPr lang="tr-TR" sz="2800" dirty="0">
              <a:solidFill>
                <a:srgbClr val="0D0D0D"/>
              </a:solidFill>
              <a:latin typeface="Söhne"/>
            </a:endParaRPr>
          </a:p>
          <a:p>
            <a:pPr marL="0" indent="0" algn="just">
              <a:buNone/>
            </a:pPr>
            <a:r>
              <a:rPr lang="en-US" sz="2800" b="0" i="0" dirty="0">
                <a:solidFill>
                  <a:srgbClr val="0D0D0D"/>
                </a:solidFill>
                <a:effectLst/>
                <a:latin typeface="Söhne"/>
              </a:rPr>
              <a:t>Problem </a:t>
            </a:r>
            <a:r>
              <a:rPr lang="en-US" sz="2800" b="0" i="0" dirty="0" err="1">
                <a:solidFill>
                  <a:srgbClr val="0D0D0D"/>
                </a:solidFill>
                <a:effectLst/>
                <a:latin typeface="Söhne"/>
              </a:rPr>
              <a:t>alanına</a:t>
            </a:r>
            <a:r>
              <a:rPr lang="en-US" sz="2800" b="0" i="0" dirty="0">
                <a:solidFill>
                  <a:srgbClr val="0D0D0D"/>
                </a:solidFill>
                <a:effectLst/>
                <a:latin typeface="Söhne"/>
              </a:rPr>
              <a:t> </a:t>
            </a:r>
            <a:r>
              <a:rPr lang="en-US" sz="2800" b="0" i="0" dirty="0" err="1">
                <a:solidFill>
                  <a:srgbClr val="0D0D0D"/>
                </a:solidFill>
                <a:effectLst/>
                <a:latin typeface="Söhne"/>
              </a:rPr>
              <a:t>ve</a:t>
            </a:r>
            <a:r>
              <a:rPr lang="en-US" sz="2800" b="0" i="0" dirty="0">
                <a:solidFill>
                  <a:srgbClr val="0D0D0D"/>
                </a:solidFill>
                <a:effectLst/>
                <a:latin typeface="Söhne"/>
              </a:rPr>
              <a:t> </a:t>
            </a:r>
            <a:r>
              <a:rPr lang="en-US" sz="2800" b="0" i="0" dirty="0" err="1">
                <a:solidFill>
                  <a:srgbClr val="0D0D0D"/>
                </a:solidFill>
                <a:effectLst/>
                <a:latin typeface="Söhne"/>
              </a:rPr>
              <a:t>veri</a:t>
            </a:r>
            <a:r>
              <a:rPr lang="en-US" sz="2800" b="0" i="0" dirty="0">
                <a:solidFill>
                  <a:srgbClr val="0D0D0D"/>
                </a:solidFill>
                <a:effectLst/>
                <a:latin typeface="Söhne"/>
              </a:rPr>
              <a:t> </a:t>
            </a:r>
            <a:r>
              <a:rPr lang="en-US" sz="2800" b="0" i="0" dirty="0" err="1">
                <a:solidFill>
                  <a:srgbClr val="0D0D0D"/>
                </a:solidFill>
                <a:effectLst/>
                <a:latin typeface="Söhne"/>
              </a:rPr>
              <a:t>setine</a:t>
            </a:r>
            <a:r>
              <a:rPr lang="en-US" sz="2800" b="0" i="0" dirty="0">
                <a:solidFill>
                  <a:srgbClr val="0D0D0D"/>
                </a:solidFill>
                <a:effectLst/>
                <a:latin typeface="Söhne"/>
              </a:rPr>
              <a:t> </a:t>
            </a:r>
            <a:r>
              <a:rPr lang="en-US" sz="2800" b="0" i="0" dirty="0" err="1">
                <a:solidFill>
                  <a:srgbClr val="0D0D0D"/>
                </a:solidFill>
                <a:effectLst/>
                <a:latin typeface="Söhne"/>
              </a:rPr>
              <a:t>bağlı</a:t>
            </a:r>
            <a:r>
              <a:rPr lang="en-US" sz="2800" b="0" i="0" dirty="0">
                <a:solidFill>
                  <a:srgbClr val="0D0D0D"/>
                </a:solidFill>
                <a:effectLst/>
                <a:latin typeface="Söhne"/>
              </a:rPr>
              <a:t> </a:t>
            </a:r>
            <a:r>
              <a:rPr lang="en-US" sz="2800" b="0" i="0" dirty="0" err="1">
                <a:solidFill>
                  <a:srgbClr val="0D0D0D"/>
                </a:solidFill>
                <a:effectLst/>
                <a:latin typeface="Söhne"/>
              </a:rPr>
              <a:t>olarak</a:t>
            </a:r>
            <a:r>
              <a:rPr lang="en-US" sz="2800" b="0" i="0" dirty="0">
                <a:solidFill>
                  <a:srgbClr val="0D0D0D"/>
                </a:solidFill>
                <a:effectLst/>
                <a:latin typeface="Söhne"/>
              </a:rPr>
              <a:t>, </a:t>
            </a:r>
            <a:r>
              <a:rPr lang="en-US" sz="2800" b="0" i="0" dirty="0" err="1">
                <a:solidFill>
                  <a:srgbClr val="0D0D0D"/>
                </a:solidFill>
                <a:effectLst/>
                <a:latin typeface="Söhne"/>
              </a:rPr>
              <a:t>karmaşıklık</a:t>
            </a:r>
            <a:r>
              <a:rPr lang="en-US" sz="2800" b="0" i="0" dirty="0">
                <a:solidFill>
                  <a:srgbClr val="0D0D0D"/>
                </a:solidFill>
                <a:effectLst/>
                <a:latin typeface="Söhne"/>
              </a:rPr>
              <a:t> </a:t>
            </a:r>
            <a:r>
              <a:rPr lang="en-US" sz="2800" b="0" i="0" dirty="0" err="1">
                <a:solidFill>
                  <a:srgbClr val="0D0D0D"/>
                </a:solidFill>
                <a:effectLst/>
                <a:latin typeface="Söhne"/>
              </a:rPr>
              <a:t>tercih</a:t>
            </a:r>
            <a:r>
              <a:rPr lang="en-US" sz="2800" b="0" i="0" dirty="0">
                <a:solidFill>
                  <a:srgbClr val="0D0D0D"/>
                </a:solidFill>
                <a:effectLst/>
                <a:latin typeface="Söhne"/>
              </a:rPr>
              <a:t> </a:t>
            </a:r>
            <a:r>
              <a:rPr lang="en-US" sz="2800" b="0" i="0" dirty="0" err="1">
                <a:solidFill>
                  <a:srgbClr val="0D0D0D"/>
                </a:solidFill>
                <a:effectLst/>
                <a:latin typeface="Söhne"/>
              </a:rPr>
              <a:t>edilen</a:t>
            </a:r>
            <a:r>
              <a:rPr lang="en-US" sz="2800" b="0" i="0" dirty="0">
                <a:solidFill>
                  <a:srgbClr val="0D0D0D"/>
                </a:solidFill>
                <a:effectLst/>
                <a:latin typeface="Söhne"/>
              </a:rPr>
              <a:t> </a:t>
            </a:r>
            <a:r>
              <a:rPr lang="en-US" sz="2800" b="0" i="0" dirty="0" err="1">
                <a:solidFill>
                  <a:srgbClr val="0D0D0D"/>
                </a:solidFill>
                <a:effectLst/>
                <a:latin typeface="Söhne"/>
              </a:rPr>
              <a:t>sonuçları</a:t>
            </a:r>
            <a:r>
              <a:rPr lang="en-US" sz="2800" b="0" i="0" dirty="0">
                <a:solidFill>
                  <a:srgbClr val="0D0D0D"/>
                </a:solidFill>
                <a:effectLst/>
                <a:latin typeface="Söhne"/>
              </a:rPr>
              <a:t> </a:t>
            </a:r>
            <a:r>
              <a:rPr lang="en-US" sz="2800" b="0" i="0" dirty="0" err="1">
                <a:solidFill>
                  <a:srgbClr val="0D0D0D"/>
                </a:solidFill>
                <a:effectLst/>
                <a:latin typeface="Söhne"/>
              </a:rPr>
              <a:t>elde</a:t>
            </a:r>
            <a:r>
              <a:rPr lang="en-US" sz="2800" b="0" i="0" dirty="0">
                <a:solidFill>
                  <a:srgbClr val="0D0D0D"/>
                </a:solidFill>
                <a:effectLst/>
                <a:latin typeface="Söhne"/>
              </a:rPr>
              <a:t> </a:t>
            </a:r>
            <a:r>
              <a:rPr lang="en-US" sz="2800" b="0" i="0" dirty="0" err="1">
                <a:solidFill>
                  <a:srgbClr val="0D0D0D"/>
                </a:solidFill>
                <a:effectLst/>
                <a:latin typeface="Söhne"/>
              </a:rPr>
              <a:t>etmek</a:t>
            </a:r>
            <a:r>
              <a:rPr lang="en-US" sz="2800" b="0" i="0" dirty="0">
                <a:solidFill>
                  <a:srgbClr val="0D0D0D"/>
                </a:solidFill>
                <a:effectLst/>
                <a:latin typeface="Söhne"/>
              </a:rPr>
              <a:t> </a:t>
            </a:r>
            <a:r>
              <a:rPr lang="en-US" sz="2800" b="0" i="0" dirty="0" err="1">
                <a:solidFill>
                  <a:srgbClr val="0D0D0D"/>
                </a:solidFill>
                <a:effectLst/>
                <a:latin typeface="Söhne"/>
              </a:rPr>
              <a:t>için</a:t>
            </a:r>
            <a:r>
              <a:rPr lang="en-US" sz="2800" b="0" i="0" dirty="0">
                <a:solidFill>
                  <a:srgbClr val="0D0D0D"/>
                </a:solidFill>
                <a:effectLst/>
                <a:latin typeface="Söhne"/>
              </a:rPr>
              <a:t> </a:t>
            </a:r>
            <a:r>
              <a:rPr lang="en-US" sz="2800" b="0" i="0" dirty="0" err="1">
                <a:solidFill>
                  <a:srgbClr val="0D0D0D"/>
                </a:solidFill>
                <a:effectLst/>
                <a:latin typeface="Söhne"/>
              </a:rPr>
              <a:t>ayarlanmalıdır</a:t>
            </a:r>
            <a:r>
              <a:rPr lang="en-US" sz="2800" b="0" i="0" dirty="0">
                <a:solidFill>
                  <a:srgbClr val="0D0D0D"/>
                </a:solidFill>
                <a:effectLst/>
                <a:latin typeface="Söhne"/>
              </a:rPr>
              <a:t>.</a:t>
            </a:r>
          </a:p>
          <a:p>
            <a:endParaRPr lang="en-US" dirty="0"/>
          </a:p>
        </p:txBody>
      </p:sp>
      <p:sp>
        <p:nvSpPr>
          <p:cNvPr id="5" name="Slayt Numarası Yer Tutucusu 4">
            <a:extLst>
              <a:ext uri="{FF2B5EF4-FFF2-40B4-BE49-F238E27FC236}">
                <a16:creationId xmlns:a16="http://schemas.microsoft.com/office/drawing/2014/main" id="{429C5915-E529-8FF2-5E28-9A0595A6F64F}"/>
              </a:ext>
            </a:extLst>
          </p:cNvPr>
          <p:cNvSpPr>
            <a:spLocks noGrp="1"/>
          </p:cNvSpPr>
          <p:nvPr>
            <p:ph type="sldNum" sz="quarter" idx="12"/>
          </p:nvPr>
        </p:nvSpPr>
        <p:spPr/>
        <p:txBody>
          <a:bodyPr/>
          <a:lstStyle/>
          <a:p>
            <a:pPr>
              <a:defRPr/>
            </a:pPr>
            <a:fld id="{1E09EE13-7A4C-43FA-BBE8-D81D5C0B929E}" type="slidenum">
              <a:rPr lang="tr-TR" smtClean="0"/>
              <a:pPr>
                <a:defRPr/>
              </a:pPr>
              <a:t>17</a:t>
            </a:fld>
            <a:endParaRPr lang="tr-TR"/>
          </a:p>
        </p:txBody>
      </p:sp>
    </p:spTree>
    <p:extLst>
      <p:ext uri="{BB962C8B-B14F-4D97-AF65-F5344CB8AC3E}">
        <p14:creationId xmlns:p14="http://schemas.microsoft.com/office/powerpoint/2010/main" val="2659065384"/>
      </p:ext>
    </p:extLst>
  </p:cSld>
  <p:clrMapOvr>
    <a:masterClrMapping/>
  </p:clrMapOvr>
  <p:transition spd="med">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1D235-3E26-E733-ECCC-C7AEACE988DB}"/>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94FE9B1-7086-EC27-A0DA-822E0DFAD2BF}"/>
              </a:ext>
            </a:extLst>
          </p:cNvPr>
          <p:cNvSpPr>
            <a:spLocks noGrp="1"/>
          </p:cNvSpPr>
          <p:nvPr>
            <p:ph idx="1"/>
          </p:nvPr>
        </p:nvSpPr>
        <p:spPr>
          <a:xfrm>
            <a:off x="628650" y="620688"/>
            <a:ext cx="7886700" cy="5556275"/>
          </a:xfrm>
        </p:spPr>
        <p:txBody>
          <a:bodyPr>
            <a:normAutofit/>
          </a:bodyPr>
          <a:lstStyle/>
          <a:p>
            <a:pPr algn="just"/>
            <a:r>
              <a:rPr lang="en-US" sz="3200" b="1" i="0" u="sng" dirty="0">
                <a:solidFill>
                  <a:srgbClr val="0D0D0D"/>
                </a:solidFill>
                <a:effectLst/>
                <a:latin typeface="Arial" panose="020B0604020202020204" pitchFamily="34" charset="0"/>
                <a:cs typeface="Arial" panose="020B0604020202020204" pitchFamily="34" charset="0"/>
              </a:rPr>
              <a:t>K </a:t>
            </a:r>
            <a:r>
              <a:rPr lang="en-US" sz="3200" b="1" i="0" u="sng" dirty="0" err="1">
                <a:solidFill>
                  <a:srgbClr val="0D0D0D"/>
                </a:solidFill>
                <a:effectLst/>
                <a:latin typeface="Arial" panose="020B0604020202020204" pitchFamily="34" charset="0"/>
                <a:cs typeface="Arial" panose="020B0604020202020204" pitchFamily="34" charset="0"/>
              </a:rPr>
              <a:t>değerini</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seçerken</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şu</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faktörlere</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dikkat</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etmek</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önemlidir</a:t>
            </a:r>
            <a:r>
              <a:rPr lang="en-US" sz="3200" b="1" i="0" u="sng" dirty="0">
                <a:solidFill>
                  <a:srgbClr val="0D0D0D"/>
                </a:solidFill>
                <a:effectLst/>
                <a:latin typeface="Arial" panose="020B0604020202020204" pitchFamily="34" charset="0"/>
                <a:cs typeface="Arial" panose="020B0604020202020204" pitchFamily="34" charset="0"/>
              </a:rPr>
              <a:t>:</a:t>
            </a:r>
            <a:endParaRPr lang="tr-TR" sz="3200" b="1" i="0" u="sng" dirty="0">
              <a:solidFill>
                <a:srgbClr val="0D0D0D"/>
              </a:solidFill>
              <a:effectLst/>
              <a:latin typeface="Arial" panose="020B0604020202020204" pitchFamily="34" charset="0"/>
              <a:cs typeface="Arial" panose="020B0604020202020204" pitchFamily="34" charset="0"/>
            </a:endParaRPr>
          </a:p>
          <a:p>
            <a:pPr algn="just"/>
            <a:endParaRPr lang="en-US" sz="3200" b="1" i="0" u="sng" dirty="0">
              <a:solidFill>
                <a:srgbClr val="0D0D0D"/>
              </a:solidFill>
              <a:effectLst/>
              <a:latin typeface="Arial" panose="020B0604020202020204" pitchFamily="34" charset="0"/>
              <a:cs typeface="Arial" panose="020B0604020202020204" pitchFamily="34" charset="0"/>
            </a:endParaRPr>
          </a:p>
          <a:p>
            <a:pPr marL="0" indent="0" algn="just">
              <a:buNone/>
            </a:pPr>
            <a:r>
              <a:rPr lang="tr-TR" sz="2800" b="1" dirty="0">
                <a:solidFill>
                  <a:srgbClr val="0D0D0D"/>
                </a:solidFill>
                <a:latin typeface="Arial" panose="020B0604020202020204" pitchFamily="34" charset="0"/>
                <a:cs typeface="Arial" panose="020B0604020202020204" pitchFamily="34" charset="0"/>
              </a:rPr>
              <a:t>3</a:t>
            </a:r>
            <a:r>
              <a:rPr lang="tr-TR" sz="2800" b="1" i="0" dirty="0">
                <a:solidFill>
                  <a:srgbClr val="0D0D0D"/>
                </a:solidFill>
                <a:effectLst/>
                <a:latin typeface="Arial" panose="020B0604020202020204" pitchFamily="34" charset="0"/>
                <a:cs typeface="Arial" panose="020B0604020202020204" pitchFamily="34" charset="0"/>
              </a:rPr>
              <a:t>.</a:t>
            </a:r>
            <a:r>
              <a:rPr lang="en-US" sz="2800" b="1" i="0" dirty="0" err="1">
                <a:solidFill>
                  <a:srgbClr val="0D0D0D"/>
                </a:solidFill>
                <a:effectLst/>
                <a:latin typeface="Arial" panose="020B0604020202020204" pitchFamily="34" charset="0"/>
                <a:cs typeface="Arial" panose="020B0604020202020204" pitchFamily="34" charset="0"/>
              </a:rPr>
              <a:t>Çapraz</a:t>
            </a:r>
            <a:r>
              <a:rPr lang="en-US" sz="2800" b="1" i="0" dirty="0">
                <a:solidFill>
                  <a:srgbClr val="0D0D0D"/>
                </a:solidFill>
                <a:effectLst/>
                <a:latin typeface="Arial" panose="020B0604020202020204" pitchFamily="34" charset="0"/>
                <a:cs typeface="Arial" panose="020B0604020202020204" pitchFamily="34" charset="0"/>
              </a:rPr>
              <a:t> </a:t>
            </a:r>
            <a:r>
              <a:rPr lang="en-US" sz="2800" b="1" i="0" dirty="0" err="1">
                <a:solidFill>
                  <a:srgbClr val="0D0D0D"/>
                </a:solidFill>
                <a:effectLst/>
                <a:latin typeface="Arial" panose="020B0604020202020204" pitchFamily="34" charset="0"/>
                <a:cs typeface="Arial" panose="020B0604020202020204" pitchFamily="34" charset="0"/>
              </a:rPr>
              <a:t>doğrulama</a:t>
            </a:r>
            <a:r>
              <a:rPr lang="en-US" sz="2800" b="1" i="0" dirty="0">
                <a:solidFill>
                  <a:srgbClr val="0D0D0D"/>
                </a:solidFill>
                <a:effectLst/>
                <a:latin typeface="Arial" panose="020B0604020202020204" pitchFamily="34" charset="0"/>
                <a:cs typeface="Arial" panose="020B0604020202020204" pitchFamily="34" charset="0"/>
              </a:rPr>
              <a:t> (cross-validation): </a:t>
            </a:r>
            <a:endParaRPr lang="tr-TR" sz="2800" b="1" i="0" dirty="0">
              <a:solidFill>
                <a:srgbClr val="0D0D0D"/>
              </a:solidFill>
              <a:effectLst/>
              <a:latin typeface="Arial" panose="020B0604020202020204" pitchFamily="34" charset="0"/>
              <a:cs typeface="Arial" panose="020B0604020202020204" pitchFamily="34" charset="0"/>
            </a:endParaRPr>
          </a:p>
          <a:p>
            <a:pPr algn="just"/>
            <a:r>
              <a:rPr lang="en-US" sz="2800" b="0" i="0" dirty="0">
                <a:solidFill>
                  <a:srgbClr val="0D0D0D"/>
                </a:solidFill>
                <a:effectLst/>
                <a:latin typeface="Arial" panose="020B0604020202020204" pitchFamily="34" charset="0"/>
                <a:cs typeface="Arial" panose="020B0604020202020204" pitchFamily="34" charset="0"/>
              </a:rPr>
              <a:t>K </a:t>
            </a:r>
            <a:r>
              <a:rPr lang="en-US" sz="2800" b="0" i="0" dirty="0" err="1">
                <a:solidFill>
                  <a:srgbClr val="0D0D0D"/>
                </a:solidFill>
                <a:effectLst/>
                <a:latin typeface="Arial" panose="020B0604020202020204" pitchFamily="34" charset="0"/>
                <a:cs typeface="Arial" panose="020B0604020202020204" pitchFamily="34" charset="0"/>
              </a:rPr>
              <a:t>değerini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belirlemek</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için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çapraz</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doğrulama</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yöntemleri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kullanılabilir</a:t>
            </a:r>
            <a:r>
              <a:rPr lang="en-US" sz="2800" b="0" i="0" dirty="0">
                <a:solidFill>
                  <a:srgbClr val="0D0D0D"/>
                </a:solidFill>
                <a:effectLst/>
                <a:latin typeface="Arial" panose="020B0604020202020204" pitchFamily="34" charset="0"/>
                <a:cs typeface="Arial" panose="020B0604020202020204" pitchFamily="34" charset="0"/>
              </a:rPr>
              <a:t>.</a:t>
            </a:r>
            <a:endParaRPr lang="tr-TR" sz="2800" b="0" i="0" dirty="0">
              <a:solidFill>
                <a:srgbClr val="0D0D0D"/>
              </a:solidFill>
              <a:effectLst/>
              <a:latin typeface="Arial" panose="020B0604020202020204" pitchFamily="34" charset="0"/>
              <a:cs typeface="Arial" panose="020B0604020202020204" pitchFamily="34" charset="0"/>
            </a:endParaRPr>
          </a:p>
          <a:p>
            <a:pPr algn="just"/>
            <a:endParaRPr lang="tr-TR" sz="2800" b="0" i="0" dirty="0">
              <a:solidFill>
                <a:srgbClr val="0D0D0D"/>
              </a:solidFill>
              <a:effectLst/>
              <a:latin typeface="Arial" panose="020B0604020202020204" pitchFamily="34" charset="0"/>
              <a:cs typeface="Arial" panose="020B0604020202020204" pitchFamily="34" charset="0"/>
            </a:endParaRPr>
          </a:p>
          <a:p>
            <a:pPr algn="just"/>
            <a:r>
              <a:rPr lang="en-US" sz="2800" b="0" i="0" dirty="0">
                <a:solidFill>
                  <a:srgbClr val="0D0D0D"/>
                </a:solidFill>
                <a:effectLst/>
                <a:latin typeface="Arial" panose="020B0604020202020204" pitchFamily="34" charset="0"/>
                <a:cs typeface="Arial" panose="020B0604020202020204" pitchFamily="34" charset="0"/>
              </a:rPr>
              <a:t>Veri </a:t>
            </a:r>
            <a:r>
              <a:rPr lang="en-US" sz="2800" b="0" i="0" dirty="0" err="1">
                <a:solidFill>
                  <a:srgbClr val="0D0D0D"/>
                </a:solidFill>
                <a:effectLst/>
                <a:latin typeface="Arial" panose="020B0604020202020204" pitchFamily="34" charset="0"/>
                <a:cs typeface="Arial" panose="020B0604020202020204" pitchFamily="34" charset="0"/>
              </a:rPr>
              <a:t>seti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eğitim</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ve</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doğrulama</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kümelerine</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ayrılır</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ve</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farklı</a:t>
            </a:r>
            <a:r>
              <a:rPr lang="en-US" sz="2800" b="0" i="0" dirty="0">
                <a:solidFill>
                  <a:srgbClr val="0D0D0D"/>
                </a:solidFill>
                <a:effectLst/>
                <a:latin typeface="Arial" panose="020B0604020202020204" pitchFamily="34" charset="0"/>
                <a:cs typeface="Arial" panose="020B0604020202020204" pitchFamily="34" charset="0"/>
              </a:rPr>
              <a:t> k </a:t>
            </a:r>
            <a:r>
              <a:rPr lang="en-US" sz="2800" b="0" i="0" dirty="0" err="1">
                <a:solidFill>
                  <a:srgbClr val="0D0D0D"/>
                </a:solidFill>
                <a:effectLst/>
                <a:latin typeface="Arial" panose="020B0604020202020204" pitchFamily="34" charset="0"/>
                <a:cs typeface="Arial" panose="020B0604020202020204" pitchFamily="34" charset="0"/>
              </a:rPr>
              <a:t>değerleri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için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modelin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performansı</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değerlendirilir</a:t>
            </a:r>
            <a:r>
              <a:rPr lang="en-US" sz="2800" b="0" i="0" dirty="0">
                <a:solidFill>
                  <a:srgbClr val="0D0D0D"/>
                </a:solidFill>
                <a:effectLst/>
                <a:latin typeface="Arial" panose="020B0604020202020204" pitchFamily="34" charset="0"/>
                <a:cs typeface="Arial" panose="020B0604020202020204" pitchFamily="34" charset="0"/>
              </a:rPr>
              <a:t>. Bu </a:t>
            </a:r>
            <a:r>
              <a:rPr lang="en-US" sz="2800" b="0" i="0" dirty="0" err="1">
                <a:solidFill>
                  <a:srgbClr val="0D0D0D"/>
                </a:solidFill>
                <a:effectLst/>
                <a:latin typeface="Arial" panose="020B0604020202020204" pitchFamily="34" charset="0"/>
                <a:cs typeface="Arial" panose="020B0604020202020204" pitchFamily="34" charset="0"/>
              </a:rPr>
              <a:t>yöntem</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en</a:t>
            </a:r>
            <a:r>
              <a:rPr lang="en-US" sz="2800" b="0" i="0" dirty="0">
                <a:solidFill>
                  <a:srgbClr val="0D0D0D"/>
                </a:solidFill>
                <a:effectLst/>
                <a:latin typeface="Arial" panose="020B0604020202020204" pitchFamily="34" charset="0"/>
                <a:cs typeface="Arial" panose="020B0604020202020204" pitchFamily="34" charset="0"/>
              </a:rPr>
              <a:t> iyi k </a:t>
            </a:r>
            <a:r>
              <a:rPr lang="en-US" sz="2800" b="0" i="0" dirty="0" err="1">
                <a:solidFill>
                  <a:srgbClr val="0D0D0D"/>
                </a:solidFill>
                <a:effectLst/>
                <a:latin typeface="Arial" panose="020B0604020202020204" pitchFamily="34" charset="0"/>
                <a:cs typeface="Arial" panose="020B0604020202020204" pitchFamily="34" charset="0"/>
              </a:rPr>
              <a:t>değerini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seçmek</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için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bir</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rehber</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sağlayabilir</a:t>
            </a:r>
            <a:r>
              <a:rPr lang="en-US" sz="2800" b="0" i="0" dirty="0">
                <a:solidFill>
                  <a:srgbClr val="0D0D0D"/>
                </a:solidFill>
                <a:effectLst/>
                <a:latin typeface="Arial" panose="020B0604020202020204" pitchFamily="34" charset="0"/>
                <a:cs typeface="Arial" panose="020B0604020202020204" pitchFamily="34" charset="0"/>
              </a:rPr>
              <a:t>.</a:t>
            </a:r>
          </a:p>
          <a:p>
            <a:endParaRPr lang="en-US" dirty="0"/>
          </a:p>
        </p:txBody>
      </p:sp>
      <p:sp>
        <p:nvSpPr>
          <p:cNvPr id="5" name="Slayt Numarası Yer Tutucusu 4">
            <a:extLst>
              <a:ext uri="{FF2B5EF4-FFF2-40B4-BE49-F238E27FC236}">
                <a16:creationId xmlns:a16="http://schemas.microsoft.com/office/drawing/2014/main" id="{81F03909-0C73-4FC7-063D-9ADEE7BA7EBC}"/>
              </a:ext>
            </a:extLst>
          </p:cNvPr>
          <p:cNvSpPr>
            <a:spLocks noGrp="1"/>
          </p:cNvSpPr>
          <p:nvPr>
            <p:ph type="sldNum" sz="quarter" idx="12"/>
          </p:nvPr>
        </p:nvSpPr>
        <p:spPr/>
        <p:txBody>
          <a:bodyPr/>
          <a:lstStyle/>
          <a:p>
            <a:pPr>
              <a:defRPr/>
            </a:pPr>
            <a:fld id="{1E09EE13-7A4C-43FA-BBE8-D81D5C0B929E}" type="slidenum">
              <a:rPr lang="tr-TR" smtClean="0"/>
              <a:pPr>
                <a:defRPr/>
              </a:pPr>
              <a:t>18</a:t>
            </a:fld>
            <a:endParaRPr lang="tr-TR"/>
          </a:p>
        </p:txBody>
      </p:sp>
    </p:spTree>
    <p:extLst>
      <p:ext uri="{BB962C8B-B14F-4D97-AF65-F5344CB8AC3E}">
        <p14:creationId xmlns:p14="http://schemas.microsoft.com/office/powerpoint/2010/main" val="3760127275"/>
      </p:ext>
    </p:extLst>
  </p:cSld>
  <p:clrMapOvr>
    <a:masterClrMapping/>
  </p:clrMapOvr>
  <p:transition spd="med">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0F09E-9BDD-37A8-7933-F45DC5CCF871}"/>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2DFC6E5-0738-EE99-6611-FEE72A8C6700}"/>
              </a:ext>
            </a:extLst>
          </p:cNvPr>
          <p:cNvSpPr>
            <a:spLocks noGrp="1"/>
          </p:cNvSpPr>
          <p:nvPr>
            <p:ph idx="1"/>
          </p:nvPr>
        </p:nvSpPr>
        <p:spPr>
          <a:xfrm>
            <a:off x="628650" y="620688"/>
            <a:ext cx="7886700" cy="5556275"/>
          </a:xfrm>
        </p:spPr>
        <p:txBody>
          <a:bodyPr>
            <a:normAutofit/>
          </a:bodyPr>
          <a:lstStyle/>
          <a:p>
            <a:pPr algn="just"/>
            <a:r>
              <a:rPr lang="en-US" sz="3200" b="1" i="0" u="sng" dirty="0">
                <a:solidFill>
                  <a:srgbClr val="0D0D0D"/>
                </a:solidFill>
                <a:effectLst/>
                <a:latin typeface="Arial" panose="020B0604020202020204" pitchFamily="34" charset="0"/>
                <a:cs typeface="Arial" panose="020B0604020202020204" pitchFamily="34" charset="0"/>
              </a:rPr>
              <a:t>K </a:t>
            </a:r>
            <a:r>
              <a:rPr lang="en-US" sz="3200" b="1" i="0" u="sng" dirty="0" err="1">
                <a:solidFill>
                  <a:srgbClr val="0D0D0D"/>
                </a:solidFill>
                <a:effectLst/>
                <a:latin typeface="Arial" panose="020B0604020202020204" pitchFamily="34" charset="0"/>
                <a:cs typeface="Arial" panose="020B0604020202020204" pitchFamily="34" charset="0"/>
              </a:rPr>
              <a:t>değerini</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seçerken</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şu</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faktörlere</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dikkat</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etmek</a:t>
            </a:r>
            <a:r>
              <a:rPr lang="en-US" sz="3200" b="1" i="0" u="sng" dirty="0">
                <a:solidFill>
                  <a:srgbClr val="0D0D0D"/>
                </a:solidFill>
                <a:effectLst/>
                <a:latin typeface="Arial" panose="020B0604020202020204" pitchFamily="34" charset="0"/>
                <a:cs typeface="Arial" panose="020B0604020202020204" pitchFamily="34" charset="0"/>
              </a:rPr>
              <a:t> </a:t>
            </a:r>
            <a:r>
              <a:rPr lang="en-US" sz="3200" b="1" i="0" u="sng" dirty="0" err="1">
                <a:solidFill>
                  <a:srgbClr val="0D0D0D"/>
                </a:solidFill>
                <a:effectLst/>
                <a:latin typeface="Arial" panose="020B0604020202020204" pitchFamily="34" charset="0"/>
                <a:cs typeface="Arial" panose="020B0604020202020204" pitchFamily="34" charset="0"/>
              </a:rPr>
              <a:t>önemlidir</a:t>
            </a:r>
            <a:r>
              <a:rPr lang="en-US" sz="3200" b="1" i="0" u="sng" dirty="0">
                <a:solidFill>
                  <a:srgbClr val="0D0D0D"/>
                </a:solidFill>
                <a:effectLst/>
                <a:latin typeface="Arial" panose="020B0604020202020204" pitchFamily="34" charset="0"/>
                <a:cs typeface="Arial" panose="020B0604020202020204" pitchFamily="34" charset="0"/>
              </a:rPr>
              <a:t>:</a:t>
            </a:r>
            <a:endParaRPr lang="tr-TR" sz="3200" b="1" i="0" u="sng" dirty="0">
              <a:solidFill>
                <a:srgbClr val="0D0D0D"/>
              </a:solidFill>
              <a:effectLst/>
              <a:latin typeface="Arial" panose="020B0604020202020204" pitchFamily="34" charset="0"/>
              <a:cs typeface="Arial" panose="020B0604020202020204" pitchFamily="34" charset="0"/>
            </a:endParaRPr>
          </a:p>
          <a:p>
            <a:pPr algn="just"/>
            <a:endParaRPr lang="en-US" sz="3200" b="1" i="0" u="sng" dirty="0">
              <a:solidFill>
                <a:srgbClr val="0D0D0D"/>
              </a:solidFill>
              <a:effectLst/>
              <a:latin typeface="Arial" panose="020B0604020202020204" pitchFamily="34" charset="0"/>
              <a:cs typeface="Arial" panose="020B0604020202020204" pitchFamily="34" charset="0"/>
            </a:endParaRPr>
          </a:p>
          <a:p>
            <a:pPr marL="0" indent="0" algn="just">
              <a:buNone/>
            </a:pPr>
            <a:r>
              <a:rPr lang="tr-TR" sz="2800" b="1" i="0" dirty="0">
                <a:solidFill>
                  <a:srgbClr val="0D0D0D"/>
                </a:solidFill>
                <a:effectLst/>
                <a:latin typeface="Arial" panose="020B0604020202020204" pitchFamily="34" charset="0"/>
                <a:cs typeface="Arial" panose="020B0604020202020204" pitchFamily="34" charset="0"/>
              </a:rPr>
              <a:t>4.</a:t>
            </a:r>
            <a:r>
              <a:rPr lang="en-US" sz="2800" b="1" i="0" dirty="0" err="1">
                <a:solidFill>
                  <a:srgbClr val="0D0D0D"/>
                </a:solidFill>
                <a:effectLst/>
                <a:latin typeface="Arial" panose="020B0604020202020204" pitchFamily="34" charset="0"/>
                <a:cs typeface="Arial" panose="020B0604020202020204" pitchFamily="34" charset="0"/>
              </a:rPr>
              <a:t>Problemin</a:t>
            </a:r>
            <a:r>
              <a:rPr lang="en-US" sz="2800" b="1" i="0" dirty="0">
                <a:solidFill>
                  <a:srgbClr val="0D0D0D"/>
                </a:solidFill>
                <a:effectLst/>
                <a:latin typeface="Arial" panose="020B0604020202020204" pitchFamily="34" charset="0"/>
                <a:cs typeface="Arial" panose="020B0604020202020204" pitchFamily="34" charset="0"/>
              </a:rPr>
              <a:t> </a:t>
            </a:r>
            <a:r>
              <a:rPr lang="en-US" sz="2800" b="1" i="0" dirty="0" err="1">
                <a:solidFill>
                  <a:srgbClr val="0D0D0D"/>
                </a:solidFill>
                <a:effectLst/>
                <a:latin typeface="Arial" panose="020B0604020202020204" pitchFamily="34" charset="0"/>
                <a:cs typeface="Arial" panose="020B0604020202020204" pitchFamily="34" charset="0"/>
              </a:rPr>
              <a:t>doğası</a:t>
            </a:r>
            <a:r>
              <a:rPr lang="en-US" sz="2800" b="1" i="0" dirty="0">
                <a:solidFill>
                  <a:srgbClr val="0D0D0D"/>
                </a:solidFill>
                <a:effectLst/>
                <a:latin typeface="Arial" panose="020B0604020202020204" pitchFamily="34" charset="0"/>
                <a:cs typeface="Arial" panose="020B0604020202020204" pitchFamily="34" charset="0"/>
              </a:rPr>
              <a:t>: </a:t>
            </a:r>
            <a:r>
              <a:rPr lang="en-US" sz="2800" b="0" i="0" dirty="0">
                <a:solidFill>
                  <a:srgbClr val="0D0D0D"/>
                </a:solidFill>
                <a:effectLst/>
                <a:latin typeface="Arial" panose="020B0604020202020204" pitchFamily="34" charset="0"/>
                <a:cs typeface="Arial" panose="020B0604020202020204" pitchFamily="34" charset="0"/>
              </a:rPr>
              <a:t>Veri </a:t>
            </a:r>
            <a:r>
              <a:rPr lang="en-US" sz="2800" b="0" i="0" dirty="0" err="1">
                <a:solidFill>
                  <a:srgbClr val="0D0D0D"/>
                </a:solidFill>
                <a:effectLst/>
                <a:latin typeface="Arial" panose="020B0604020202020204" pitchFamily="34" charset="0"/>
                <a:cs typeface="Arial" panose="020B0604020202020204" pitchFamily="34" charset="0"/>
              </a:rPr>
              <a:t>setinin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yapısına</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ve</a:t>
            </a:r>
            <a:r>
              <a:rPr lang="en-US" sz="2800" b="0" i="0" dirty="0">
                <a:solidFill>
                  <a:srgbClr val="0D0D0D"/>
                </a:solidFill>
                <a:effectLst/>
                <a:latin typeface="Arial" panose="020B0604020202020204" pitchFamily="34" charset="0"/>
                <a:cs typeface="Arial" panose="020B0604020202020204" pitchFamily="34" charset="0"/>
              </a:rPr>
              <a:t> problem </a:t>
            </a:r>
            <a:r>
              <a:rPr lang="en-US" sz="2800" b="0" i="0" dirty="0" err="1">
                <a:solidFill>
                  <a:srgbClr val="0D0D0D"/>
                </a:solidFill>
                <a:effectLst/>
                <a:latin typeface="Arial" panose="020B0604020202020204" pitchFamily="34" charset="0"/>
                <a:cs typeface="Arial" panose="020B0604020202020204" pitchFamily="34" charset="0"/>
              </a:rPr>
              <a:t>türüne</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bağlı</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olarak</a:t>
            </a:r>
            <a:r>
              <a:rPr lang="en-US" sz="2800" b="0" i="0" dirty="0">
                <a:solidFill>
                  <a:srgbClr val="0D0D0D"/>
                </a:solidFill>
                <a:effectLst/>
                <a:latin typeface="Arial" panose="020B0604020202020204" pitchFamily="34" charset="0"/>
                <a:cs typeface="Arial" panose="020B0604020202020204" pitchFamily="34" charset="0"/>
              </a:rPr>
              <a:t>, optimal k </a:t>
            </a:r>
            <a:r>
              <a:rPr lang="en-US" sz="2800" b="0" i="0" dirty="0" err="1">
                <a:solidFill>
                  <a:srgbClr val="0D0D0D"/>
                </a:solidFill>
                <a:effectLst/>
                <a:latin typeface="Arial" panose="020B0604020202020204" pitchFamily="34" charset="0"/>
                <a:cs typeface="Arial" panose="020B0604020202020204" pitchFamily="34" charset="0"/>
              </a:rPr>
              <a:t>değeri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değişebilir</a:t>
            </a:r>
            <a:r>
              <a:rPr lang="en-US" sz="2800" b="0" i="0" dirty="0">
                <a:solidFill>
                  <a:srgbClr val="0D0D0D"/>
                </a:solidFill>
                <a:effectLst/>
                <a:latin typeface="Arial" panose="020B0604020202020204" pitchFamily="34" charset="0"/>
                <a:cs typeface="Arial" panose="020B0604020202020204" pitchFamily="34" charset="0"/>
              </a:rPr>
              <a:t>. </a:t>
            </a:r>
            <a:endParaRPr lang="tr-TR" sz="2800" b="0" i="0" dirty="0">
              <a:solidFill>
                <a:srgbClr val="0D0D0D"/>
              </a:solidFill>
              <a:effectLst/>
              <a:latin typeface="Arial" panose="020B0604020202020204" pitchFamily="34" charset="0"/>
              <a:cs typeface="Arial" panose="020B0604020202020204" pitchFamily="34" charset="0"/>
            </a:endParaRPr>
          </a:p>
          <a:p>
            <a:pPr marL="0" indent="0" algn="just">
              <a:buNone/>
            </a:pPr>
            <a:endParaRPr lang="tr-TR" sz="2800" dirty="0">
              <a:solidFill>
                <a:srgbClr val="0D0D0D"/>
              </a:solidFill>
              <a:latin typeface="Arial" panose="020B0604020202020204" pitchFamily="34" charset="0"/>
              <a:cs typeface="Arial" panose="020B0604020202020204" pitchFamily="34" charset="0"/>
            </a:endParaRPr>
          </a:p>
          <a:p>
            <a:pPr marL="0" indent="0" algn="just">
              <a:buNone/>
            </a:pPr>
            <a:r>
              <a:rPr lang="en-US" sz="2800" b="0" i="0" dirty="0" err="1">
                <a:solidFill>
                  <a:srgbClr val="0D0D0D"/>
                </a:solidFill>
                <a:effectLst/>
                <a:latin typeface="Arial" panose="020B0604020202020204" pitchFamily="34" charset="0"/>
                <a:cs typeface="Arial" panose="020B0604020202020204" pitchFamily="34" charset="0"/>
              </a:rPr>
              <a:t>Örneğin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gürültülü</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veri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setleri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genellikle</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daha</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büyük</a:t>
            </a:r>
            <a:r>
              <a:rPr lang="en-US" sz="2800" b="0" i="0" dirty="0">
                <a:solidFill>
                  <a:srgbClr val="0D0D0D"/>
                </a:solidFill>
                <a:effectLst/>
                <a:latin typeface="Arial" panose="020B0604020202020204" pitchFamily="34" charset="0"/>
                <a:cs typeface="Arial" panose="020B0604020202020204" pitchFamily="34" charset="0"/>
              </a:rPr>
              <a:t> k </a:t>
            </a:r>
            <a:r>
              <a:rPr lang="en-US" sz="2800" b="0" i="0" dirty="0" err="1">
                <a:solidFill>
                  <a:srgbClr val="0D0D0D"/>
                </a:solidFill>
                <a:effectLst/>
                <a:latin typeface="Arial" panose="020B0604020202020204" pitchFamily="34" charset="0"/>
                <a:cs typeface="Arial" panose="020B0604020202020204" pitchFamily="34" charset="0"/>
              </a:rPr>
              <a:t>değerlerini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gerektirirken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daha</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az</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gürültülü</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veri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setleri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için</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daha</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küçük</a:t>
            </a:r>
            <a:r>
              <a:rPr lang="en-US" sz="2800" b="0" i="0" dirty="0">
                <a:solidFill>
                  <a:srgbClr val="0D0D0D"/>
                </a:solidFill>
                <a:effectLst/>
                <a:latin typeface="Arial" panose="020B0604020202020204" pitchFamily="34" charset="0"/>
                <a:cs typeface="Arial" panose="020B0604020202020204" pitchFamily="34" charset="0"/>
              </a:rPr>
              <a:t> k </a:t>
            </a:r>
            <a:r>
              <a:rPr lang="en-US" sz="2800" b="0" i="0" dirty="0" err="1">
                <a:solidFill>
                  <a:srgbClr val="0D0D0D"/>
                </a:solidFill>
                <a:effectLst/>
                <a:latin typeface="Arial" panose="020B0604020202020204" pitchFamily="34" charset="0"/>
                <a:cs typeface="Arial" panose="020B0604020202020204" pitchFamily="34" charset="0"/>
              </a:rPr>
              <a:t>değerleri</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daha</a:t>
            </a:r>
            <a:r>
              <a:rPr lang="en-US" sz="2800" b="0" i="0" dirty="0">
                <a:solidFill>
                  <a:srgbClr val="0D0D0D"/>
                </a:solidFill>
                <a:effectLst/>
                <a:latin typeface="Arial" panose="020B0604020202020204" pitchFamily="34" charset="0"/>
                <a:cs typeface="Arial" panose="020B0604020202020204" pitchFamily="34" charset="0"/>
              </a:rPr>
              <a:t> iyi </a:t>
            </a:r>
            <a:r>
              <a:rPr lang="en-US" sz="2800" b="0" i="0" dirty="0" err="1">
                <a:solidFill>
                  <a:srgbClr val="0D0D0D"/>
                </a:solidFill>
                <a:effectLst/>
                <a:latin typeface="Arial" panose="020B0604020202020204" pitchFamily="34" charset="0"/>
                <a:cs typeface="Arial" panose="020B0604020202020204" pitchFamily="34" charset="0"/>
              </a:rPr>
              <a:t>sonuçlar</a:t>
            </a:r>
            <a:r>
              <a:rPr lang="en-US" sz="2800" b="0" i="0" dirty="0">
                <a:solidFill>
                  <a:srgbClr val="0D0D0D"/>
                </a:solidFill>
                <a:effectLst/>
                <a:latin typeface="Arial" panose="020B0604020202020204" pitchFamily="34" charset="0"/>
                <a:cs typeface="Arial" panose="020B0604020202020204" pitchFamily="34" charset="0"/>
              </a:rPr>
              <a:t> </a:t>
            </a:r>
            <a:r>
              <a:rPr lang="en-US" sz="2800" b="0" i="0" dirty="0" err="1">
                <a:solidFill>
                  <a:srgbClr val="0D0D0D"/>
                </a:solidFill>
                <a:effectLst/>
                <a:latin typeface="Arial" panose="020B0604020202020204" pitchFamily="34" charset="0"/>
                <a:cs typeface="Arial" panose="020B0604020202020204" pitchFamily="34" charset="0"/>
              </a:rPr>
              <a:t>verebilir</a:t>
            </a:r>
            <a:r>
              <a:rPr lang="en-US" sz="2800" b="0" i="0" dirty="0">
                <a:solidFill>
                  <a:srgbClr val="0D0D0D"/>
                </a:solidFill>
                <a:effectLst/>
                <a:latin typeface="Arial" panose="020B0604020202020204" pitchFamily="34" charset="0"/>
                <a:cs typeface="Arial" panose="020B0604020202020204" pitchFamily="34" charset="0"/>
              </a:rPr>
              <a:t>.</a:t>
            </a:r>
          </a:p>
          <a:p>
            <a:pPr marL="0" indent="0">
              <a:buNone/>
            </a:pPr>
            <a:endParaRPr lang="en-US" dirty="0"/>
          </a:p>
        </p:txBody>
      </p:sp>
      <p:sp>
        <p:nvSpPr>
          <p:cNvPr id="5" name="Slayt Numarası Yer Tutucusu 4">
            <a:extLst>
              <a:ext uri="{FF2B5EF4-FFF2-40B4-BE49-F238E27FC236}">
                <a16:creationId xmlns:a16="http://schemas.microsoft.com/office/drawing/2014/main" id="{61799E8E-D613-3B96-A84F-A0467902C7D0}"/>
              </a:ext>
            </a:extLst>
          </p:cNvPr>
          <p:cNvSpPr>
            <a:spLocks noGrp="1"/>
          </p:cNvSpPr>
          <p:nvPr>
            <p:ph type="sldNum" sz="quarter" idx="12"/>
          </p:nvPr>
        </p:nvSpPr>
        <p:spPr/>
        <p:txBody>
          <a:bodyPr/>
          <a:lstStyle/>
          <a:p>
            <a:pPr>
              <a:defRPr/>
            </a:pPr>
            <a:fld id="{1E09EE13-7A4C-43FA-BBE8-D81D5C0B929E}" type="slidenum">
              <a:rPr lang="tr-TR" smtClean="0"/>
              <a:pPr>
                <a:defRPr/>
              </a:pPr>
              <a:t>19</a:t>
            </a:fld>
            <a:endParaRPr lang="tr-TR"/>
          </a:p>
        </p:txBody>
      </p:sp>
    </p:spTree>
    <p:extLst>
      <p:ext uri="{BB962C8B-B14F-4D97-AF65-F5344CB8AC3E}">
        <p14:creationId xmlns:p14="http://schemas.microsoft.com/office/powerpoint/2010/main" val="272714007"/>
      </p:ext>
    </p:extLst>
  </p:cSld>
  <p:clrMapOvr>
    <a:masterClrMapping/>
  </p:clrMapOvr>
  <p:transition spd="med">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B1CC06-1EBB-7311-351B-C3EF85EAEA2A}"/>
              </a:ext>
            </a:extLst>
          </p:cNvPr>
          <p:cNvSpPr>
            <a:spLocks noGrp="1"/>
          </p:cNvSpPr>
          <p:nvPr>
            <p:ph type="title"/>
          </p:nvPr>
        </p:nvSpPr>
        <p:spPr/>
        <p:txBody>
          <a:bodyPr/>
          <a:lstStyle/>
          <a:p>
            <a:r>
              <a:rPr lang="tr-TR" dirty="0">
                <a:latin typeface="Arial" panose="020B0604020202020204" pitchFamily="34" charset="0"/>
                <a:cs typeface="Arial" panose="020B0604020202020204" pitchFamily="34" charset="0"/>
              </a:rPr>
              <a:t>K-NN Nasıl Çalışır?</a:t>
            </a:r>
            <a:endParaRPr lang="en-US"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85EED73A-45D2-343E-C06A-E5C58028CBED}"/>
              </a:ext>
            </a:extLst>
          </p:cNvPr>
          <p:cNvSpPr>
            <a:spLocks noGrp="1"/>
          </p:cNvSpPr>
          <p:nvPr>
            <p:ph idx="1"/>
          </p:nvPr>
        </p:nvSpPr>
        <p:spPr/>
        <p:txBody>
          <a:bodyPr/>
          <a:lstStyle/>
          <a:p>
            <a:pPr algn="just"/>
            <a:r>
              <a:rPr lang="en-US" b="0" i="0" dirty="0">
                <a:solidFill>
                  <a:srgbClr val="333333"/>
                </a:solidFill>
                <a:effectLst/>
                <a:latin typeface="Arial" panose="020B0604020202020204" pitchFamily="34" charset="0"/>
                <a:cs typeface="Arial" panose="020B0604020202020204" pitchFamily="34" charset="0"/>
              </a:rPr>
              <a:t>K-</a:t>
            </a:r>
            <a:r>
              <a:rPr lang="en-US" b="0" i="0" dirty="0" err="1">
                <a:solidFill>
                  <a:srgbClr val="333333"/>
                </a:solidFill>
                <a:effectLst/>
                <a:latin typeface="Arial" panose="020B0604020202020204" pitchFamily="34" charset="0"/>
                <a:cs typeface="Arial" panose="020B0604020202020204" pitchFamily="34" charset="0"/>
              </a:rPr>
              <a:t>NN'nin</a:t>
            </a:r>
            <a:r>
              <a:rPr lang="en-US" b="0" i="0" dirty="0">
                <a:solidFill>
                  <a:srgbClr val="333333"/>
                </a:solidFill>
                <a:effectLst/>
                <a:latin typeface="Arial" panose="020B0604020202020204" pitchFamily="34" charset="0"/>
                <a:cs typeface="Arial" panose="020B0604020202020204" pitchFamily="34" charset="0"/>
              </a:rPr>
              <a:t> </a:t>
            </a:r>
            <a:r>
              <a:rPr lang="en-US" b="0" i="0" dirty="0" err="1">
                <a:solidFill>
                  <a:srgbClr val="333333"/>
                </a:solidFill>
                <a:effectLst/>
                <a:latin typeface="Arial" panose="020B0604020202020204" pitchFamily="34" charset="0"/>
                <a:cs typeface="Arial" panose="020B0604020202020204" pitchFamily="34" charset="0"/>
              </a:rPr>
              <a:t>çalışması</a:t>
            </a:r>
            <a:r>
              <a:rPr lang="en-US" b="0" i="0" dirty="0">
                <a:solidFill>
                  <a:srgbClr val="333333"/>
                </a:solidFill>
                <a:effectLst/>
                <a:latin typeface="Arial" panose="020B0604020202020204" pitchFamily="34" charset="0"/>
                <a:cs typeface="Arial" panose="020B0604020202020204" pitchFamily="34" charset="0"/>
              </a:rPr>
              <a:t> </a:t>
            </a:r>
            <a:r>
              <a:rPr lang="en-US" b="0" i="0" dirty="0" err="1">
                <a:solidFill>
                  <a:srgbClr val="333333"/>
                </a:solidFill>
                <a:effectLst/>
                <a:latin typeface="Arial" panose="020B0604020202020204" pitchFamily="34" charset="0"/>
                <a:cs typeface="Arial" panose="020B0604020202020204" pitchFamily="34" charset="0"/>
              </a:rPr>
              <a:t>aşağıdaki</a:t>
            </a:r>
            <a:r>
              <a:rPr lang="en-US" b="0" i="0" dirty="0">
                <a:solidFill>
                  <a:srgbClr val="333333"/>
                </a:solidFill>
                <a:effectLst/>
                <a:latin typeface="Arial" panose="020B0604020202020204" pitchFamily="34" charset="0"/>
                <a:cs typeface="Arial" panose="020B0604020202020204" pitchFamily="34" charset="0"/>
              </a:rPr>
              <a:t> </a:t>
            </a:r>
            <a:r>
              <a:rPr lang="en-US" b="0" i="0" dirty="0" err="1">
                <a:solidFill>
                  <a:srgbClr val="333333"/>
                </a:solidFill>
                <a:effectLst/>
                <a:latin typeface="Arial" panose="020B0604020202020204" pitchFamily="34" charset="0"/>
                <a:cs typeface="Arial" panose="020B0604020202020204" pitchFamily="34" charset="0"/>
              </a:rPr>
              <a:t>algoritmaya</a:t>
            </a:r>
            <a:r>
              <a:rPr lang="en-US" b="0" i="0" dirty="0">
                <a:solidFill>
                  <a:srgbClr val="333333"/>
                </a:solidFill>
                <a:effectLst/>
                <a:latin typeface="Arial" panose="020B0604020202020204" pitchFamily="34" charset="0"/>
                <a:cs typeface="Arial" panose="020B0604020202020204" pitchFamily="34" charset="0"/>
              </a:rPr>
              <a:t> </a:t>
            </a:r>
            <a:r>
              <a:rPr lang="en-US" b="0" i="0" dirty="0" err="1">
                <a:solidFill>
                  <a:srgbClr val="333333"/>
                </a:solidFill>
                <a:effectLst/>
                <a:latin typeface="Arial" panose="020B0604020202020204" pitchFamily="34" charset="0"/>
                <a:cs typeface="Arial" panose="020B0604020202020204" pitchFamily="34" charset="0"/>
              </a:rPr>
              <a:t>dayanarak</a:t>
            </a:r>
            <a:r>
              <a:rPr lang="en-US" b="0" i="0" dirty="0">
                <a:solidFill>
                  <a:srgbClr val="333333"/>
                </a:solidFill>
                <a:effectLst/>
                <a:latin typeface="Arial" panose="020B0604020202020204" pitchFamily="34" charset="0"/>
                <a:cs typeface="Arial" panose="020B0604020202020204" pitchFamily="34" charset="0"/>
              </a:rPr>
              <a:t> </a:t>
            </a:r>
            <a:r>
              <a:rPr lang="en-US" b="0" i="0" dirty="0" err="1">
                <a:solidFill>
                  <a:srgbClr val="333333"/>
                </a:solidFill>
                <a:effectLst/>
                <a:latin typeface="Arial" panose="020B0604020202020204" pitchFamily="34" charset="0"/>
                <a:cs typeface="Arial" panose="020B0604020202020204" pitchFamily="34" charset="0"/>
              </a:rPr>
              <a:t>açıklanabilir</a:t>
            </a:r>
            <a:r>
              <a:rPr lang="en-US" b="0" i="0" dirty="0">
                <a:solidFill>
                  <a:srgbClr val="333333"/>
                </a:solidFill>
                <a:effectLst/>
                <a:latin typeface="Arial" panose="020B0604020202020204" pitchFamily="34" charset="0"/>
                <a:cs typeface="Arial" panose="020B0604020202020204" pitchFamily="34" charset="0"/>
              </a:rPr>
              <a:t>:</a:t>
            </a:r>
            <a:endParaRPr lang="tr-TR" b="0" i="0" dirty="0">
              <a:solidFill>
                <a:srgbClr val="333333"/>
              </a:solidFill>
              <a:effectLst/>
              <a:latin typeface="Arial" panose="020B0604020202020204" pitchFamily="34" charset="0"/>
              <a:cs typeface="Arial" panose="020B0604020202020204" pitchFamily="34" charset="0"/>
            </a:endParaRPr>
          </a:p>
          <a:p>
            <a:pPr algn="just"/>
            <a:endParaRPr lang="en-US" b="0" i="0" dirty="0">
              <a:solidFill>
                <a:srgbClr val="333333"/>
              </a:solidFill>
              <a:effectLst/>
              <a:latin typeface="Arial" panose="020B0604020202020204" pitchFamily="34" charset="0"/>
              <a:cs typeface="Arial" panose="020B0604020202020204" pitchFamily="34" charset="0"/>
            </a:endParaRPr>
          </a:p>
          <a:p>
            <a:pPr algn="just">
              <a:buFont typeface="Arial" panose="020B0604020202020204" pitchFamily="34" charset="0"/>
              <a:buChar char="•"/>
            </a:pPr>
            <a:r>
              <a:rPr lang="en-US" b="1" i="0" dirty="0">
                <a:solidFill>
                  <a:srgbClr val="000000"/>
                </a:solidFill>
                <a:effectLst/>
                <a:latin typeface="Arial" panose="020B0604020202020204" pitchFamily="34" charset="0"/>
                <a:cs typeface="Arial" panose="020B0604020202020204" pitchFamily="34" charset="0"/>
              </a:rPr>
              <a:t>Adım-1:</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Komşuların</a:t>
            </a:r>
            <a:r>
              <a:rPr lang="en-US" b="0" i="0" dirty="0">
                <a:solidFill>
                  <a:srgbClr val="000000"/>
                </a:solidFill>
                <a:effectLst/>
                <a:latin typeface="Arial" panose="020B0604020202020204" pitchFamily="34" charset="0"/>
                <a:cs typeface="Arial" panose="020B0604020202020204" pitchFamily="34" charset="0"/>
              </a:rPr>
              <a:t> </a:t>
            </a:r>
            <a:r>
              <a:rPr lang="en-US" b="1" i="0" dirty="0">
                <a:solidFill>
                  <a:srgbClr val="000000"/>
                </a:solidFill>
                <a:effectLst/>
                <a:latin typeface="Arial" panose="020B0604020202020204" pitchFamily="34" charset="0"/>
                <a:cs typeface="Arial" panose="020B0604020202020204" pitchFamily="34" charset="0"/>
              </a:rPr>
              <a:t>K</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sayısını</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seçin</a:t>
            </a:r>
            <a:endParaRPr lang="en-US" b="0" i="0" dirty="0">
              <a:solidFill>
                <a:srgbClr val="000000"/>
              </a:solidFill>
              <a:effectLst/>
              <a:latin typeface="Arial" panose="020B0604020202020204" pitchFamily="34" charset="0"/>
              <a:cs typeface="Arial" panose="020B0604020202020204" pitchFamily="34" charset="0"/>
            </a:endParaRPr>
          </a:p>
          <a:p>
            <a:pPr algn="just">
              <a:buFont typeface="Arial" panose="020B0604020202020204" pitchFamily="34" charset="0"/>
              <a:buChar char="•"/>
            </a:pPr>
            <a:r>
              <a:rPr lang="en-US" b="1" i="0" dirty="0">
                <a:solidFill>
                  <a:srgbClr val="000000"/>
                </a:solidFill>
                <a:effectLst/>
                <a:latin typeface="Arial" panose="020B0604020202020204" pitchFamily="34" charset="0"/>
                <a:cs typeface="Arial" panose="020B0604020202020204" pitchFamily="34" charset="0"/>
              </a:rPr>
              <a:t>Adım-2: K </a:t>
            </a:r>
            <a:r>
              <a:rPr lang="en-US" b="1" i="0" dirty="0" err="1">
                <a:solidFill>
                  <a:srgbClr val="000000"/>
                </a:solidFill>
                <a:effectLst/>
                <a:latin typeface="Arial" panose="020B0604020202020204" pitchFamily="34" charset="0"/>
                <a:cs typeface="Arial" panose="020B0604020202020204" pitchFamily="34" charset="0"/>
              </a:rPr>
              <a:t>sayıda</a:t>
            </a:r>
            <a:r>
              <a:rPr lang="en-US" b="1" i="0" dirty="0">
                <a:solidFill>
                  <a:srgbClr val="000000"/>
                </a:solidFill>
                <a:effectLst/>
                <a:latin typeface="Arial" panose="020B0604020202020204" pitchFamily="34" charset="0"/>
                <a:cs typeface="Arial" panose="020B0604020202020204" pitchFamily="34" charset="0"/>
              </a:rPr>
              <a:t> </a:t>
            </a:r>
            <a:r>
              <a:rPr lang="en-US" b="1" i="0" dirty="0" err="1">
                <a:solidFill>
                  <a:srgbClr val="000000"/>
                </a:solidFill>
                <a:effectLst/>
                <a:latin typeface="Arial" panose="020B0604020202020204" pitchFamily="34" charset="0"/>
                <a:cs typeface="Arial" panose="020B0604020202020204" pitchFamily="34" charset="0"/>
              </a:rPr>
              <a:t>komşunun</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Öklid</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uzaklığını</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hesaplayın</a:t>
            </a:r>
            <a:endParaRPr lang="en-US" b="0" i="0" dirty="0">
              <a:solidFill>
                <a:srgbClr val="000000"/>
              </a:solidFill>
              <a:effectLst/>
              <a:latin typeface="Arial" panose="020B0604020202020204" pitchFamily="34" charset="0"/>
              <a:cs typeface="Arial" panose="020B0604020202020204" pitchFamily="34" charset="0"/>
            </a:endParaRPr>
          </a:p>
          <a:p>
            <a:pPr algn="just">
              <a:buFont typeface="Arial" panose="020B0604020202020204" pitchFamily="34" charset="0"/>
              <a:buChar char="•"/>
            </a:pPr>
            <a:r>
              <a:rPr lang="en-US" b="1" i="0" dirty="0">
                <a:solidFill>
                  <a:srgbClr val="000000"/>
                </a:solidFill>
                <a:effectLst/>
                <a:latin typeface="Arial" panose="020B0604020202020204" pitchFamily="34" charset="0"/>
                <a:cs typeface="Arial" panose="020B0604020202020204" pitchFamily="34" charset="0"/>
              </a:rPr>
              <a:t>Adım-3:</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Hesaplanan</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Öklid</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mesafesine</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göre</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en</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yakın</a:t>
            </a:r>
            <a:r>
              <a:rPr lang="en-US" b="0" i="0" dirty="0">
                <a:solidFill>
                  <a:srgbClr val="000000"/>
                </a:solidFill>
                <a:effectLst/>
                <a:latin typeface="Arial" panose="020B0604020202020204" pitchFamily="34" charset="0"/>
                <a:cs typeface="Arial" panose="020B0604020202020204" pitchFamily="34" charset="0"/>
              </a:rPr>
              <a:t> K </a:t>
            </a:r>
            <a:r>
              <a:rPr lang="en-US" b="0" i="0" dirty="0" err="1">
                <a:solidFill>
                  <a:srgbClr val="000000"/>
                </a:solidFill>
                <a:effectLst/>
                <a:latin typeface="Arial" panose="020B0604020202020204" pitchFamily="34" charset="0"/>
                <a:cs typeface="Arial" panose="020B0604020202020204" pitchFamily="34" charset="0"/>
              </a:rPr>
              <a:t>komşuyu</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alın</a:t>
            </a:r>
            <a:r>
              <a:rPr lang="en-US" b="0" i="0" dirty="0">
                <a:solidFill>
                  <a:srgbClr val="000000"/>
                </a:solidFill>
                <a:effectLst/>
                <a:latin typeface="Arial" panose="020B0604020202020204" pitchFamily="34" charset="0"/>
                <a:cs typeface="Arial" panose="020B0604020202020204" pitchFamily="34" charset="0"/>
              </a:rPr>
              <a:t>.</a:t>
            </a:r>
          </a:p>
          <a:p>
            <a:pPr algn="just">
              <a:buFont typeface="Arial" panose="020B0604020202020204" pitchFamily="34" charset="0"/>
              <a:buChar char="•"/>
            </a:pPr>
            <a:r>
              <a:rPr lang="en-US" b="1" i="0" dirty="0">
                <a:solidFill>
                  <a:srgbClr val="000000"/>
                </a:solidFill>
                <a:effectLst/>
                <a:latin typeface="Arial" panose="020B0604020202020204" pitchFamily="34" charset="0"/>
                <a:cs typeface="Arial" panose="020B0604020202020204" pitchFamily="34" charset="0"/>
              </a:rPr>
              <a:t>Adım-4:</a:t>
            </a:r>
            <a:r>
              <a:rPr lang="en-US" b="0" i="0" dirty="0">
                <a:solidFill>
                  <a:srgbClr val="000000"/>
                </a:solidFill>
                <a:effectLst/>
                <a:latin typeface="Arial" panose="020B0604020202020204" pitchFamily="34" charset="0"/>
                <a:cs typeface="Arial" panose="020B0604020202020204" pitchFamily="34" charset="0"/>
              </a:rPr>
              <a:t> Bu k </a:t>
            </a:r>
            <a:r>
              <a:rPr lang="en-US" b="0" i="0" dirty="0" err="1">
                <a:solidFill>
                  <a:srgbClr val="000000"/>
                </a:solidFill>
                <a:effectLst/>
                <a:latin typeface="Arial" panose="020B0604020202020204" pitchFamily="34" charset="0"/>
                <a:cs typeface="Arial" panose="020B0604020202020204" pitchFamily="34" charset="0"/>
              </a:rPr>
              <a:t>komşu</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arasında</a:t>
            </a:r>
            <a:r>
              <a:rPr lang="en-US" b="0" i="0" dirty="0">
                <a:solidFill>
                  <a:srgbClr val="000000"/>
                </a:solidFill>
                <a:effectLst/>
                <a:latin typeface="Arial" panose="020B0604020202020204" pitchFamily="34" charset="0"/>
                <a:cs typeface="Arial" panose="020B0604020202020204" pitchFamily="34" charset="0"/>
              </a:rPr>
              <a:t>, her </a:t>
            </a:r>
            <a:r>
              <a:rPr lang="en-US" b="0" i="0" dirty="0" err="1">
                <a:solidFill>
                  <a:srgbClr val="000000"/>
                </a:solidFill>
                <a:effectLst/>
                <a:latin typeface="Arial" panose="020B0604020202020204" pitchFamily="34" charset="0"/>
                <a:cs typeface="Arial" panose="020B0604020202020204" pitchFamily="34" charset="0"/>
              </a:rPr>
              <a:t>kategorideki</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veri</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noktalarının</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sayısını</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sayın</a:t>
            </a:r>
            <a:r>
              <a:rPr lang="en-US" b="0" i="0" dirty="0">
                <a:solidFill>
                  <a:srgbClr val="000000"/>
                </a:solidFill>
                <a:effectLst/>
                <a:latin typeface="Arial" panose="020B0604020202020204" pitchFamily="34" charset="0"/>
                <a:cs typeface="Arial" panose="020B0604020202020204" pitchFamily="34" charset="0"/>
              </a:rPr>
              <a:t>.</a:t>
            </a:r>
          </a:p>
          <a:p>
            <a:pPr algn="just">
              <a:buFont typeface="Arial" panose="020B0604020202020204" pitchFamily="34" charset="0"/>
              <a:buChar char="•"/>
            </a:pPr>
            <a:r>
              <a:rPr lang="en-US" b="1" i="0" dirty="0">
                <a:solidFill>
                  <a:srgbClr val="000000"/>
                </a:solidFill>
                <a:effectLst/>
                <a:latin typeface="Arial" panose="020B0604020202020204" pitchFamily="34" charset="0"/>
                <a:cs typeface="Arial" panose="020B0604020202020204" pitchFamily="34" charset="0"/>
              </a:rPr>
              <a:t>Adım-5:</a:t>
            </a:r>
            <a:r>
              <a:rPr lang="en-US" b="0" i="0" dirty="0">
                <a:solidFill>
                  <a:srgbClr val="000000"/>
                </a:solidFill>
                <a:effectLst/>
                <a:latin typeface="Arial" panose="020B0604020202020204" pitchFamily="34" charset="0"/>
                <a:cs typeface="Arial" panose="020B0604020202020204" pitchFamily="34" charset="0"/>
              </a:rPr>
              <a:t> Yeni </a:t>
            </a:r>
            <a:r>
              <a:rPr lang="en-US" b="0" i="0" dirty="0" err="1">
                <a:solidFill>
                  <a:srgbClr val="000000"/>
                </a:solidFill>
                <a:effectLst/>
                <a:latin typeface="Arial" panose="020B0604020202020204" pitchFamily="34" charset="0"/>
                <a:cs typeface="Arial" panose="020B0604020202020204" pitchFamily="34" charset="0"/>
              </a:rPr>
              <a:t>veri</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noktalarını</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komşu</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sayısının</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maksimum</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olduğu</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kategoriye</a:t>
            </a:r>
            <a:r>
              <a:rPr lang="en-US" b="0" i="0" dirty="0">
                <a:solidFill>
                  <a:srgbClr val="000000"/>
                </a:solidFill>
                <a:effectLst/>
                <a:latin typeface="Arial" panose="020B0604020202020204" pitchFamily="34" charset="0"/>
                <a:cs typeface="Arial" panose="020B0604020202020204" pitchFamily="34" charset="0"/>
              </a:rPr>
              <a:t> </a:t>
            </a:r>
            <a:r>
              <a:rPr lang="en-US" b="0" i="0" dirty="0" err="1">
                <a:solidFill>
                  <a:srgbClr val="000000"/>
                </a:solidFill>
                <a:effectLst/>
                <a:latin typeface="Arial" panose="020B0604020202020204" pitchFamily="34" charset="0"/>
                <a:cs typeface="Arial" panose="020B0604020202020204" pitchFamily="34" charset="0"/>
              </a:rPr>
              <a:t>atayın</a:t>
            </a:r>
            <a:r>
              <a:rPr lang="en-US" b="0" i="0" dirty="0">
                <a:solidFill>
                  <a:srgbClr val="000000"/>
                </a:solidFill>
                <a:effectLst/>
                <a:latin typeface="Arial" panose="020B0604020202020204" pitchFamily="34" charset="0"/>
                <a:cs typeface="Arial" panose="020B0604020202020204" pitchFamily="34" charset="0"/>
              </a:rPr>
              <a:t>.</a:t>
            </a:r>
          </a:p>
          <a:p>
            <a:pPr algn="just">
              <a:buFont typeface="Arial" panose="020B0604020202020204" pitchFamily="34" charset="0"/>
              <a:buChar char="•"/>
            </a:pPr>
            <a:r>
              <a:rPr lang="en-US" b="1" i="0" dirty="0">
                <a:solidFill>
                  <a:srgbClr val="000000"/>
                </a:solidFill>
                <a:effectLst/>
                <a:latin typeface="Arial" panose="020B0604020202020204" pitchFamily="34" charset="0"/>
                <a:cs typeface="Arial" panose="020B0604020202020204" pitchFamily="34" charset="0"/>
              </a:rPr>
              <a:t>Adım-6:</a:t>
            </a:r>
            <a:r>
              <a:rPr lang="en-US" b="0" i="0" dirty="0">
                <a:solidFill>
                  <a:srgbClr val="000000"/>
                </a:solidFill>
                <a:effectLst/>
                <a:latin typeface="Arial" panose="020B0604020202020204" pitchFamily="34" charset="0"/>
                <a:cs typeface="Arial" panose="020B0604020202020204" pitchFamily="34" charset="0"/>
              </a:rPr>
              <a:t> Model </a:t>
            </a:r>
            <a:r>
              <a:rPr lang="en-US" b="0" i="0" dirty="0" err="1">
                <a:solidFill>
                  <a:srgbClr val="000000"/>
                </a:solidFill>
                <a:effectLst/>
                <a:latin typeface="Arial" panose="020B0604020202020204" pitchFamily="34" charset="0"/>
                <a:cs typeface="Arial" panose="020B0604020202020204" pitchFamily="34" charset="0"/>
              </a:rPr>
              <a:t>hazır</a:t>
            </a:r>
            <a:r>
              <a:rPr lang="en-US" b="0" i="0" dirty="0">
                <a:solidFill>
                  <a:srgbClr val="000000"/>
                </a:solidFill>
                <a:effectLst/>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1779808624"/>
      </p:ext>
    </p:extLst>
  </p:cSld>
  <p:clrMapOvr>
    <a:masterClrMapping/>
  </p:clrMapOvr>
  <p:transition spd="med">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çerik Yer Tutucusu 7" descr="ekran görüntüsü içeren bir resim&#10;&#10;Yapay zeka tarafından oluşturulan içerik yanlış olabilir.">
            <a:extLst>
              <a:ext uri="{FF2B5EF4-FFF2-40B4-BE49-F238E27FC236}">
                <a16:creationId xmlns:a16="http://schemas.microsoft.com/office/drawing/2014/main" id="{53BCC91D-00E8-1B9A-03A6-33EE7BF9C3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576" y="548680"/>
            <a:ext cx="7872875" cy="5904656"/>
          </a:xfrm>
        </p:spPr>
      </p:pic>
    </p:spTree>
    <p:extLst>
      <p:ext uri="{BB962C8B-B14F-4D97-AF65-F5344CB8AC3E}">
        <p14:creationId xmlns:p14="http://schemas.microsoft.com/office/powerpoint/2010/main" val="1784282929"/>
      </p:ext>
    </p:extLst>
  </p:cSld>
  <p:clrMapOvr>
    <a:masterClrMapping/>
  </p:clrMapOvr>
  <p:transition spd="med">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04620D-A027-C00C-77B2-9F9EA8205DBA}"/>
              </a:ext>
            </a:extLst>
          </p:cNvPr>
          <p:cNvSpPr>
            <a:spLocks noGrp="1"/>
          </p:cNvSpPr>
          <p:nvPr>
            <p:ph type="title"/>
          </p:nvPr>
        </p:nvSpPr>
        <p:spPr/>
        <p:txBody>
          <a:bodyPr/>
          <a:lstStyle/>
          <a:p>
            <a:endParaRPr lang="en-US" dirty="0"/>
          </a:p>
        </p:txBody>
      </p:sp>
      <p:sp>
        <p:nvSpPr>
          <p:cNvPr id="3" name="İçerik Yer Tutucusu 2">
            <a:extLst>
              <a:ext uri="{FF2B5EF4-FFF2-40B4-BE49-F238E27FC236}">
                <a16:creationId xmlns:a16="http://schemas.microsoft.com/office/drawing/2014/main" id="{BB50CFC5-DD6A-364E-A232-DF4CA9704DFB}"/>
              </a:ext>
            </a:extLst>
          </p:cNvPr>
          <p:cNvSpPr>
            <a:spLocks noGrp="1"/>
          </p:cNvSpPr>
          <p:nvPr>
            <p:ph idx="1"/>
          </p:nvPr>
        </p:nvSpPr>
        <p:spPr/>
        <p:txBody>
          <a:bodyPr/>
          <a:lstStyle/>
          <a:p>
            <a:pPr algn="just">
              <a:buFont typeface="Arial" panose="020B0604020202020204" pitchFamily="34" charset="0"/>
              <a:buChar char="•"/>
            </a:pPr>
            <a:r>
              <a:rPr lang="en-US" b="0" i="0" dirty="0" err="1">
                <a:solidFill>
                  <a:srgbClr val="000000"/>
                </a:solidFill>
                <a:effectLst/>
                <a:latin typeface="inter-regular"/>
              </a:rPr>
              <a:t>Öncelikle</a:t>
            </a:r>
            <a:r>
              <a:rPr lang="en-US" b="0" i="0" dirty="0">
                <a:solidFill>
                  <a:srgbClr val="000000"/>
                </a:solidFill>
                <a:effectLst/>
                <a:latin typeface="inter-regular"/>
              </a:rPr>
              <a:t> </a:t>
            </a:r>
            <a:r>
              <a:rPr lang="en-US" b="0" i="0" dirty="0" err="1">
                <a:solidFill>
                  <a:srgbClr val="000000"/>
                </a:solidFill>
                <a:effectLst/>
                <a:latin typeface="inter-regular"/>
              </a:rPr>
              <a:t>komşu</a:t>
            </a:r>
            <a:r>
              <a:rPr lang="en-US" b="0" i="0" dirty="0">
                <a:solidFill>
                  <a:srgbClr val="000000"/>
                </a:solidFill>
                <a:effectLst/>
                <a:latin typeface="inter-regular"/>
              </a:rPr>
              <a:t> </a:t>
            </a:r>
            <a:r>
              <a:rPr lang="en-US" b="0" i="0" dirty="0" err="1">
                <a:solidFill>
                  <a:srgbClr val="000000"/>
                </a:solidFill>
                <a:effectLst/>
                <a:latin typeface="inter-regular"/>
              </a:rPr>
              <a:t>sayısını</a:t>
            </a:r>
            <a:r>
              <a:rPr lang="en-US" b="0" i="0" dirty="0">
                <a:solidFill>
                  <a:srgbClr val="000000"/>
                </a:solidFill>
                <a:effectLst/>
                <a:latin typeface="inter-regular"/>
              </a:rPr>
              <a:t> </a:t>
            </a:r>
            <a:r>
              <a:rPr lang="en-US" b="0" i="0" dirty="0" err="1">
                <a:solidFill>
                  <a:srgbClr val="000000"/>
                </a:solidFill>
                <a:effectLst/>
                <a:latin typeface="inter-regular"/>
              </a:rPr>
              <a:t>seçeceğiz</a:t>
            </a:r>
            <a:r>
              <a:rPr lang="en-US" b="0" i="0" dirty="0">
                <a:solidFill>
                  <a:srgbClr val="000000"/>
                </a:solidFill>
                <a:effectLst/>
                <a:latin typeface="inter-regular"/>
              </a:rPr>
              <a:t> </a:t>
            </a:r>
            <a:r>
              <a:rPr lang="en-US" b="0" i="0" dirty="0" err="1">
                <a:solidFill>
                  <a:srgbClr val="000000"/>
                </a:solidFill>
                <a:effectLst/>
                <a:latin typeface="inter-regular"/>
              </a:rPr>
              <a:t>yani</a:t>
            </a:r>
            <a:r>
              <a:rPr lang="en-US" b="0" i="0" dirty="0">
                <a:solidFill>
                  <a:srgbClr val="000000"/>
                </a:solidFill>
                <a:effectLst/>
                <a:latin typeface="inter-regular"/>
              </a:rPr>
              <a:t> k=5'i </a:t>
            </a:r>
            <a:r>
              <a:rPr lang="en-US" b="0" i="0" dirty="0" err="1">
                <a:solidFill>
                  <a:srgbClr val="000000"/>
                </a:solidFill>
                <a:effectLst/>
                <a:latin typeface="inter-regular"/>
              </a:rPr>
              <a:t>seçeceğiz</a:t>
            </a:r>
            <a:r>
              <a:rPr lang="en-US" b="0" i="0" dirty="0">
                <a:solidFill>
                  <a:srgbClr val="000000"/>
                </a:solidFill>
                <a:effectLst/>
                <a:latin typeface="inter-regular"/>
              </a:rPr>
              <a:t>.</a:t>
            </a:r>
          </a:p>
          <a:p>
            <a:pPr algn="just">
              <a:buFont typeface="Arial" panose="020B0604020202020204" pitchFamily="34" charset="0"/>
              <a:buChar char="•"/>
            </a:pPr>
            <a:r>
              <a:rPr lang="en-US" b="0" i="0" dirty="0" err="1">
                <a:solidFill>
                  <a:srgbClr val="000000"/>
                </a:solidFill>
                <a:effectLst/>
                <a:latin typeface="inter-regular"/>
              </a:rPr>
              <a:t>Daha</a:t>
            </a:r>
            <a:r>
              <a:rPr lang="en-US" b="0" i="0" dirty="0">
                <a:solidFill>
                  <a:srgbClr val="000000"/>
                </a:solidFill>
                <a:effectLst/>
                <a:latin typeface="inter-regular"/>
              </a:rPr>
              <a:t> </a:t>
            </a:r>
            <a:r>
              <a:rPr lang="en-US" b="0" i="0" dirty="0" err="1">
                <a:solidFill>
                  <a:srgbClr val="000000"/>
                </a:solidFill>
                <a:effectLst/>
                <a:latin typeface="inter-regular"/>
              </a:rPr>
              <a:t>sonra</a:t>
            </a:r>
            <a:r>
              <a:rPr lang="en-US" b="0" i="0" dirty="0">
                <a:solidFill>
                  <a:srgbClr val="000000"/>
                </a:solidFill>
                <a:effectLst/>
                <a:latin typeface="inter-regular"/>
              </a:rPr>
              <a:t> </a:t>
            </a:r>
            <a:r>
              <a:rPr lang="en-US" b="0" i="0" dirty="0" err="1">
                <a:solidFill>
                  <a:srgbClr val="000000"/>
                </a:solidFill>
                <a:effectLst/>
                <a:latin typeface="inter-regular"/>
              </a:rPr>
              <a:t>veri</a:t>
            </a:r>
            <a:r>
              <a:rPr lang="en-US" b="0" i="0" dirty="0">
                <a:solidFill>
                  <a:srgbClr val="000000"/>
                </a:solidFill>
                <a:effectLst/>
                <a:latin typeface="inter-regular"/>
              </a:rPr>
              <a:t> </a:t>
            </a:r>
            <a:r>
              <a:rPr lang="en-US" b="0" i="0" dirty="0" err="1">
                <a:solidFill>
                  <a:srgbClr val="000000"/>
                </a:solidFill>
                <a:effectLst/>
                <a:latin typeface="inter-regular"/>
              </a:rPr>
              <a:t>noktaları</a:t>
            </a:r>
            <a:r>
              <a:rPr lang="en-US" b="0" i="0" dirty="0">
                <a:solidFill>
                  <a:srgbClr val="000000"/>
                </a:solidFill>
                <a:effectLst/>
                <a:latin typeface="inter-regular"/>
              </a:rPr>
              <a:t> </a:t>
            </a:r>
            <a:r>
              <a:rPr lang="en-US" b="0" i="0" dirty="0" err="1">
                <a:solidFill>
                  <a:srgbClr val="000000"/>
                </a:solidFill>
                <a:effectLst/>
                <a:latin typeface="inter-regular"/>
              </a:rPr>
              <a:t>arasındaki</a:t>
            </a:r>
            <a:r>
              <a:rPr lang="en-US" b="0" i="0" dirty="0">
                <a:solidFill>
                  <a:srgbClr val="000000"/>
                </a:solidFill>
                <a:effectLst/>
                <a:latin typeface="inter-regular"/>
              </a:rPr>
              <a:t> </a:t>
            </a:r>
            <a:r>
              <a:rPr lang="en-US" b="1" i="0" dirty="0" err="1">
                <a:solidFill>
                  <a:srgbClr val="000000"/>
                </a:solidFill>
                <a:effectLst/>
                <a:latin typeface="inter-bold"/>
              </a:rPr>
              <a:t>Öklid</a:t>
            </a:r>
            <a:r>
              <a:rPr lang="en-US" b="1" i="0" dirty="0">
                <a:solidFill>
                  <a:srgbClr val="000000"/>
                </a:solidFill>
                <a:effectLst/>
                <a:latin typeface="inter-bold"/>
              </a:rPr>
              <a:t> </a:t>
            </a:r>
            <a:r>
              <a:rPr lang="en-US" b="1" i="0" dirty="0" err="1">
                <a:solidFill>
                  <a:srgbClr val="000000"/>
                </a:solidFill>
                <a:effectLst/>
                <a:latin typeface="inter-bold"/>
              </a:rPr>
              <a:t>mesafesini</a:t>
            </a:r>
            <a:r>
              <a:rPr lang="en-US" b="0" i="0" dirty="0">
                <a:solidFill>
                  <a:srgbClr val="000000"/>
                </a:solidFill>
                <a:effectLst/>
                <a:latin typeface="inter-regular"/>
              </a:rPr>
              <a:t> </a:t>
            </a:r>
            <a:r>
              <a:rPr lang="en-US" b="0" i="0" dirty="0" err="1">
                <a:solidFill>
                  <a:srgbClr val="000000"/>
                </a:solidFill>
                <a:effectLst/>
                <a:latin typeface="inter-regular"/>
              </a:rPr>
              <a:t>hesaplayacağız</a:t>
            </a:r>
            <a:r>
              <a:rPr lang="tr-TR" dirty="0">
                <a:solidFill>
                  <a:srgbClr val="000000"/>
                </a:solidFill>
                <a:latin typeface="inter-regular"/>
              </a:rPr>
              <a:t>. </a:t>
            </a:r>
            <a:endParaRPr lang="en-US" b="0" i="0" dirty="0">
              <a:solidFill>
                <a:srgbClr val="000000"/>
              </a:solidFill>
              <a:effectLst/>
              <a:latin typeface="inter-regular"/>
            </a:endParaRPr>
          </a:p>
        </p:txBody>
      </p:sp>
      <p:pic>
        <p:nvPicPr>
          <p:cNvPr id="7" name="Resim 6">
            <a:extLst>
              <a:ext uri="{FF2B5EF4-FFF2-40B4-BE49-F238E27FC236}">
                <a16:creationId xmlns:a16="http://schemas.microsoft.com/office/drawing/2014/main" id="{E5A7FA43-211A-93C7-9453-FDFAFD6AC065}"/>
              </a:ext>
            </a:extLst>
          </p:cNvPr>
          <p:cNvPicPr>
            <a:picLocks noChangeAspect="1"/>
          </p:cNvPicPr>
          <p:nvPr/>
        </p:nvPicPr>
        <p:blipFill>
          <a:blip r:embed="rId2"/>
          <a:stretch>
            <a:fillRect/>
          </a:stretch>
        </p:blipFill>
        <p:spPr>
          <a:xfrm>
            <a:off x="2231740" y="2618745"/>
            <a:ext cx="4680520" cy="3851442"/>
          </a:xfrm>
          <a:prstGeom prst="rect">
            <a:avLst/>
          </a:prstGeom>
        </p:spPr>
      </p:pic>
    </p:spTree>
    <p:extLst>
      <p:ext uri="{BB962C8B-B14F-4D97-AF65-F5344CB8AC3E}">
        <p14:creationId xmlns:p14="http://schemas.microsoft.com/office/powerpoint/2010/main" val="3444753243"/>
      </p:ext>
    </p:extLst>
  </p:cSld>
  <p:clrMapOvr>
    <a:masterClrMapping/>
  </p:clrMapOvr>
  <p:transition spd="med">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494FE0-A312-4C99-754F-A8A21429268D}"/>
              </a:ext>
            </a:extLst>
          </p:cNvPr>
          <p:cNvSpPr>
            <a:spLocks noGrp="1"/>
          </p:cNvSpPr>
          <p:nvPr>
            <p:ph type="title"/>
          </p:nvPr>
        </p:nvSpPr>
        <p:spPr/>
        <p:txBody>
          <a:bodyPr/>
          <a:lstStyle/>
          <a:p>
            <a:endParaRPr lang="en-US"/>
          </a:p>
        </p:txBody>
      </p:sp>
      <p:sp>
        <p:nvSpPr>
          <p:cNvPr id="3" name="İçerik Yer Tutucusu 2">
            <a:extLst>
              <a:ext uri="{FF2B5EF4-FFF2-40B4-BE49-F238E27FC236}">
                <a16:creationId xmlns:a16="http://schemas.microsoft.com/office/drawing/2014/main" id="{EED9407E-174D-4FB7-BD0D-E79D560EEDBD}"/>
              </a:ext>
            </a:extLst>
          </p:cNvPr>
          <p:cNvSpPr>
            <a:spLocks noGrp="1"/>
          </p:cNvSpPr>
          <p:nvPr>
            <p:ph idx="1"/>
          </p:nvPr>
        </p:nvSpPr>
        <p:spPr/>
        <p:txBody>
          <a:bodyPr/>
          <a:lstStyle/>
          <a:p>
            <a:r>
              <a:rPr lang="tr-TR" dirty="0"/>
              <a:t>Öklid Uzaklıkları hesaplama</a:t>
            </a:r>
          </a:p>
          <a:p>
            <a:endParaRPr lang="en-US" dirty="0"/>
          </a:p>
        </p:txBody>
      </p:sp>
      <p:sp>
        <p:nvSpPr>
          <p:cNvPr id="5" name="Slayt Numarası Yer Tutucusu 4">
            <a:extLst>
              <a:ext uri="{FF2B5EF4-FFF2-40B4-BE49-F238E27FC236}">
                <a16:creationId xmlns:a16="http://schemas.microsoft.com/office/drawing/2014/main" id="{A40DF316-CA7A-1DC2-64B5-B2A0A83798F0}"/>
              </a:ext>
            </a:extLst>
          </p:cNvPr>
          <p:cNvSpPr>
            <a:spLocks noGrp="1"/>
          </p:cNvSpPr>
          <p:nvPr>
            <p:ph type="sldNum" sz="quarter" idx="12"/>
          </p:nvPr>
        </p:nvSpPr>
        <p:spPr/>
        <p:txBody>
          <a:bodyPr/>
          <a:lstStyle/>
          <a:p>
            <a:pPr>
              <a:defRPr/>
            </a:pPr>
            <a:fld id="{1E09EE13-7A4C-43FA-BBE8-D81D5C0B929E}" type="slidenum">
              <a:rPr lang="tr-TR" smtClean="0"/>
              <a:pPr>
                <a:defRPr/>
              </a:pPr>
              <a:t>23</a:t>
            </a:fld>
            <a:endParaRPr lang="tr-TR"/>
          </a:p>
        </p:txBody>
      </p:sp>
      <p:pic>
        <p:nvPicPr>
          <p:cNvPr id="6" name="Resim 5">
            <a:extLst>
              <a:ext uri="{FF2B5EF4-FFF2-40B4-BE49-F238E27FC236}">
                <a16:creationId xmlns:a16="http://schemas.microsoft.com/office/drawing/2014/main" id="{67C86E78-7C62-A59A-0B6E-601D44D3C2A0}"/>
              </a:ext>
            </a:extLst>
          </p:cNvPr>
          <p:cNvPicPr>
            <a:picLocks noChangeAspect="1"/>
          </p:cNvPicPr>
          <p:nvPr/>
        </p:nvPicPr>
        <p:blipFill>
          <a:blip r:embed="rId2"/>
          <a:stretch>
            <a:fillRect/>
          </a:stretch>
        </p:blipFill>
        <p:spPr>
          <a:xfrm>
            <a:off x="1115616" y="2273894"/>
            <a:ext cx="5098270" cy="4218980"/>
          </a:xfrm>
          <a:prstGeom prst="rect">
            <a:avLst/>
          </a:prstGeom>
        </p:spPr>
      </p:pic>
    </p:spTree>
    <p:extLst>
      <p:ext uri="{BB962C8B-B14F-4D97-AF65-F5344CB8AC3E}">
        <p14:creationId xmlns:p14="http://schemas.microsoft.com/office/powerpoint/2010/main" val="1181916676"/>
      </p:ext>
    </p:extLst>
  </p:cSld>
  <p:clrMapOvr>
    <a:masterClrMapping/>
  </p:clrMapOvr>
  <p:transition spd="med">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1FD1F3D-7E87-CE91-3228-69BDA63159FA}"/>
              </a:ext>
            </a:extLst>
          </p:cNvPr>
          <p:cNvSpPr>
            <a:spLocks noGrp="1"/>
          </p:cNvSpPr>
          <p:nvPr>
            <p:ph idx="1"/>
          </p:nvPr>
        </p:nvSpPr>
        <p:spPr>
          <a:xfrm>
            <a:off x="524227" y="638101"/>
            <a:ext cx="7886700" cy="4351338"/>
          </a:xfrm>
        </p:spPr>
        <p:txBody>
          <a:bodyPr/>
          <a:lstStyle/>
          <a:p>
            <a:r>
              <a:rPr lang="en-US" b="0" i="0" dirty="0" err="1">
                <a:solidFill>
                  <a:srgbClr val="000000"/>
                </a:solidFill>
                <a:effectLst/>
                <a:latin typeface="inter-regular"/>
              </a:rPr>
              <a:t>Öklid</a:t>
            </a:r>
            <a:r>
              <a:rPr lang="en-US" b="0" i="0" dirty="0">
                <a:solidFill>
                  <a:srgbClr val="000000"/>
                </a:solidFill>
                <a:effectLst/>
                <a:latin typeface="inter-regular"/>
              </a:rPr>
              <a:t> </a:t>
            </a:r>
            <a:r>
              <a:rPr lang="en-US" b="0" i="0" dirty="0" err="1">
                <a:solidFill>
                  <a:srgbClr val="000000"/>
                </a:solidFill>
                <a:effectLst/>
                <a:latin typeface="inter-regular"/>
              </a:rPr>
              <a:t>mesafesini</a:t>
            </a:r>
            <a:r>
              <a:rPr lang="en-US" b="0" i="0" dirty="0">
                <a:solidFill>
                  <a:srgbClr val="000000"/>
                </a:solidFill>
                <a:effectLst/>
                <a:latin typeface="inter-regular"/>
              </a:rPr>
              <a:t> </a:t>
            </a:r>
            <a:r>
              <a:rPr lang="en-US" b="0" i="0" dirty="0" err="1">
                <a:solidFill>
                  <a:srgbClr val="000000"/>
                </a:solidFill>
                <a:effectLst/>
                <a:latin typeface="inter-regular"/>
              </a:rPr>
              <a:t>hesaplayarak</a:t>
            </a:r>
            <a:r>
              <a:rPr lang="en-US" b="0" i="0" dirty="0">
                <a:solidFill>
                  <a:srgbClr val="000000"/>
                </a:solidFill>
                <a:effectLst/>
                <a:latin typeface="inter-regular"/>
              </a:rPr>
              <a:t>, A </a:t>
            </a:r>
            <a:r>
              <a:rPr lang="en-US" b="0" i="0" dirty="0" err="1">
                <a:solidFill>
                  <a:srgbClr val="000000"/>
                </a:solidFill>
                <a:effectLst/>
                <a:latin typeface="inter-regular"/>
              </a:rPr>
              <a:t>kategorisinde</a:t>
            </a:r>
            <a:r>
              <a:rPr lang="en-US" b="0" i="0" dirty="0">
                <a:solidFill>
                  <a:srgbClr val="000000"/>
                </a:solidFill>
                <a:effectLst/>
                <a:latin typeface="inter-regular"/>
              </a:rPr>
              <a:t> </a:t>
            </a:r>
            <a:r>
              <a:rPr lang="en-US" b="0" i="0" dirty="0" err="1">
                <a:solidFill>
                  <a:srgbClr val="000000"/>
                </a:solidFill>
                <a:effectLst/>
                <a:latin typeface="inter-regular"/>
              </a:rPr>
              <a:t>en</a:t>
            </a:r>
            <a:r>
              <a:rPr lang="en-US" b="0" i="0" dirty="0">
                <a:solidFill>
                  <a:srgbClr val="000000"/>
                </a:solidFill>
                <a:effectLst/>
                <a:latin typeface="inter-regular"/>
              </a:rPr>
              <a:t> </a:t>
            </a:r>
            <a:r>
              <a:rPr lang="en-US" b="0" i="0" dirty="0" err="1">
                <a:solidFill>
                  <a:srgbClr val="000000"/>
                </a:solidFill>
                <a:effectLst/>
                <a:latin typeface="inter-regular"/>
              </a:rPr>
              <a:t>yakın</a:t>
            </a:r>
            <a:r>
              <a:rPr lang="en-US" b="0" i="0" dirty="0">
                <a:solidFill>
                  <a:srgbClr val="000000"/>
                </a:solidFill>
                <a:effectLst/>
                <a:latin typeface="inter-regular"/>
              </a:rPr>
              <a:t> </a:t>
            </a:r>
            <a:r>
              <a:rPr lang="en-US" b="0" i="0" dirty="0" err="1">
                <a:solidFill>
                  <a:srgbClr val="000000"/>
                </a:solidFill>
                <a:effectLst/>
                <a:latin typeface="inter-regular"/>
              </a:rPr>
              <a:t>üç</a:t>
            </a:r>
            <a:r>
              <a:rPr lang="en-US" b="0" i="0" dirty="0">
                <a:solidFill>
                  <a:srgbClr val="000000"/>
                </a:solidFill>
                <a:effectLst/>
                <a:latin typeface="inter-regular"/>
              </a:rPr>
              <a:t> </a:t>
            </a:r>
            <a:r>
              <a:rPr lang="en-US" b="0" i="0" dirty="0" err="1">
                <a:solidFill>
                  <a:srgbClr val="000000"/>
                </a:solidFill>
                <a:effectLst/>
                <a:latin typeface="inter-regular"/>
              </a:rPr>
              <a:t>komşu</a:t>
            </a:r>
            <a:r>
              <a:rPr lang="en-US" b="0" i="0" dirty="0">
                <a:solidFill>
                  <a:srgbClr val="000000"/>
                </a:solidFill>
                <a:effectLst/>
                <a:latin typeface="inter-regular"/>
              </a:rPr>
              <a:t> </a:t>
            </a:r>
            <a:r>
              <a:rPr lang="en-US" b="0" i="0" dirty="0" err="1">
                <a:solidFill>
                  <a:srgbClr val="000000"/>
                </a:solidFill>
                <a:effectLst/>
                <a:latin typeface="inter-regular"/>
              </a:rPr>
              <a:t>ve</a:t>
            </a:r>
            <a:r>
              <a:rPr lang="en-US" b="0" i="0" dirty="0">
                <a:solidFill>
                  <a:srgbClr val="000000"/>
                </a:solidFill>
                <a:effectLst/>
                <a:latin typeface="inter-regular"/>
              </a:rPr>
              <a:t> B </a:t>
            </a:r>
            <a:r>
              <a:rPr lang="en-US" b="0" i="0" dirty="0" err="1">
                <a:solidFill>
                  <a:srgbClr val="000000"/>
                </a:solidFill>
                <a:effectLst/>
                <a:latin typeface="inter-regular"/>
              </a:rPr>
              <a:t>kategorisinde</a:t>
            </a:r>
            <a:r>
              <a:rPr lang="en-US" b="0" i="0" dirty="0">
                <a:solidFill>
                  <a:srgbClr val="000000"/>
                </a:solidFill>
                <a:effectLst/>
                <a:latin typeface="inter-regular"/>
              </a:rPr>
              <a:t> </a:t>
            </a:r>
            <a:r>
              <a:rPr lang="en-US" b="0" i="0" dirty="0" err="1">
                <a:solidFill>
                  <a:srgbClr val="000000"/>
                </a:solidFill>
                <a:effectLst/>
                <a:latin typeface="inter-regular"/>
              </a:rPr>
              <a:t>en</a:t>
            </a:r>
            <a:r>
              <a:rPr lang="en-US" b="0" i="0" dirty="0">
                <a:solidFill>
                  <a:srgbClr val="000000"/>
                </a:solidFill>
                <a:effectLst/>
                <a:latin typeface="inter-regular"/>
              </a:rPr>
              <a:t> </a:t>
            </a:r>
            <a:r>
              <a:rPr lang="en-US" b="0" i="0" dirty="0" err="1">
                <a:solidFill>
                  <a:srgbClr val="000000"/>
                </a:solidFill>
                <a:effectLst/>
                <a:latin typeface="inter-regular"/>
              </a:rPr>
              <a:t>yakın</a:t>
            </a:r>
            <a:r>
              <a:rPr lang="en-US" b="0" i="0" dirty="0">
                <a:solidFill>
                  <a:srgbClr val="000000"/>
                </a:solidFill>
                <a:effectLst/>
                <a:latin typeface="inter-regular"/>
              </a:rPr>
              <a:t> </a:t>
            </a:r>
            <a:r>
              <a:rPr lang="en-US" b="0" i="0" dirty="0" err="1">
                <a:solidFill>
                  <a:srgbClr val="000000"/>
                </a:solidFill>
                <a:effectLst/>
                <a:latin typeface="inter-regular"/>
              </a:rPr>
              <a:t>iki</a:t>
            </a:r>
            <a:r>
              <a:rPr lang="en-US" b="0" i="0" dirty="0">
                <a:solidFill>
                  <a:srgbClr val="000000"/>
                </a:solidFill>
                <a:effectLst/>
                <a:latin typeface="inter-regular"/>
              </a:rPr>
              <a:t> </a:t>
            </a:r>
            <a:r>
              <a:rPr lang="en-US" b="0" i="0" dirty="0" err="1">
                <a:solidFill>
                  <a:srgbClr val="000000"/>
                </a:solidFill>
                <a:effectLst/>
                <a:latin typeface="inter-regular"/>
              </a:rPr>
              <a:t>komşu</a:t>
            </a:r>
            <a:r>
              <a:rPr lang="en-US" b="0" i="0" dirty="0">
                <a:solidFill>
                  <a:srgbClr val="000000"/>
                </a:solidFill>
                <a:effectLst/>
                <a:latin typeface="inter-regular"/>
              </a:rPr>
              <a:t> </a:t>
            </a:r>
            <a:r>
              <a:rPr lang="en-US" b="0" i="0" dirty="0" err="1">
                <a:solidFill>
                  <a:srgbClr val="000000"/>
                </a:solidFill>
                <a:effectLst/>
                <a:latin typeface="inter-regular"/>
              </a:rPr>
              <a:t>olmak</a:t>
            </a:r>
            <a:r>
              <a:rPr lang="en-US" b="0" i="0" dirty="0">
                <a:solidFill>
                  <a:srgbClr val="000000"/>
                </a:solidFill>
                <a:effectLst/>
                <a:latin typeface="inter-regular"/>
              </a:rPr>
              <a:t> </a:t>
            </a:r>
            <a:r>
              <a:rPr lang="en-US" b="0" i="0" dirty="0" err="1">
                <a:solidFill>
                  <a:srgbClr val="000000"/>
                </a:solidFill>
                <a:effectLst/>
                <a:latin typeface="inter-regular"/>
              </a:rPr>
              <a:t>üzere</a:t>
            </a:r>
            <a:r>
              <a:rPr lang="en-US" b="0" i="0" dirty="0">
                <a:solidFill>
                  <a:srgbClr val="000000"/>
                </a:solidFill>
                <a:effectLst/>
                <a:latin typeface="inter-regular"/>
              </a:rPr>
              <a:t> </a:t>
            </a:r>
            <a:r>
              <a:rPr lang="en-US" b="0" i="0" dirty="0" err="1">
                <a:solidFill>
                  <a:srgbClr val="000000"/>
                </a:solidFill>
                <a:effectLst/>
                <a:latin typeface="inter-regular"/>
              </a:rPr>
              <a:t>en</a:t>
            </a:r>
            <a:r>
              <a:rPr lang="en-US" b="0" i="0" dirty="0">
                <a:solidFill>
                  <a:srgbClr val="000000"/>
                </a:solidFill>
                <a:effectLst/>
                <a:latin typeface="inter-regular"/>
              </a:rPr>
              <a:t> </a:t>
            </a:r>
            <a:r>
              <a:rPr lang="en-US" b="0" i="0" dirty="0" err="1">
                <a:solidFill>
                  <a:srgbClr val="000000"/>
                </a:solidFill>
                <a:effectLst/>
                <a:latin typeface="inter-regular"/>
              </a:rPr>
              <a:t>yakın</a:t>
            </a:r>
            <a:r>
              <a:rPr lang="en-US" b="0" i="0" dirty="0">
                <a:solidFill>
                  <a:srgbClr val="000000"/>
                </a:solidFill>
                <a:effectLst/>
                <a:latin typeface="inter-regular"/>
              </a:rPr>
              <a:t> </a:t>
            </a:r>
            <a:r>
              <a:rPr lang="en-US" b="0" i="0" dirty="0" err="1">
                <a:solidFill>
                  <a:srgbClr val="000000"/>
                </a:solidFill>
                <a:effectLst/>
                <a:latin typeface="inter-regular"/>
              </a:rPr>
              <a:t>komşuları</a:t>
            </a:r>
            <a:r>
              <a:rPr lang="en-US" b="0" i="0" dirty="0">
                <a:solidFill>
                  <a:srgbClr val="000000"/>
                </a:solidFill>
                <a:effectLst/>
                <a:latin typeface="inter-regular"/>
              </a:rPr>
              <a:t> </a:t>
            </a:r>
            <a:r>
              <a:rPr lang="en-US" b="0" i="0" dirty="0" err="1">
                <a:solidFill>
                  <a:srgbClr val="000000"/>
                </a:solidFill>
                <a:effectLst/>
                <a:latin typeface="inter-regular"/>
              </a:rPr>
              <a:t>elde</a:t>
            </a:r>
            <a:r>
              <a:rPr lang="en-US" b="0" i="0" dirty="0">
                <a:solidFill>
                  <a:srgbClr val="000000"/>
                </a:solidFill>
                <a:effectLst/>
                <a:latin typeface="inter-regular"/>
              </a:rPr>
              <a:t> </a:t>
            </a:r>
            <a:r>
              <a:rPr lang="en-US" b="0" i="0" dirty="0" err="1">
                <a:solidFill>
                  <a:srgbClr val="000000"/>
                </a:solidFill>
                <a:effectLst/>
                <a:latin typeface="inter-regular"/>
              </a:rPr>
              <a:t>ettik</a:t>
            </a:r>
            <a:r>
              <a:rPr lang="en-US" b="0" i="0" dirty="0">
                <a:solidFill>
                  <a:srgbClr val="000000"/>
                </a:solidFill>
                <a:effectLst/>
                <a:latin typeface="inter-regular"/>
              </a:rPr>
              <a:t>. </a:t>
            </a:r>
            <a:endParaRPr lang="en-US" dirty="0"/>
          </a:p>
        </p:txBody>
      </p:sp>
      <p:pic>
        <p:nvPicPr>
          <p:cNvPr id="6" name="Resim 5">
            <a:extLst>
              <a:ext uri="{FF2B5EF4-FFF2-40B4-BE49-F238E27FC236}">
                <a16:creationId xmlns:a16="http://schemas.microsoft.com/office/drawing/2014/main" id="{16822657-DC4D-5F41-2461-E7132D2CF43F}"/>
              </a:ext>
            </a:extLst>
          </p:cNvPr>
          <p:cNvPicPr>
            <a:picLocks noChangeAspect="1"/>
          </p:cNvPicPr>
          <p:nvPr/>
        </p:nvPicPr>
        <p:blipFill>
          <a:blip r:embed="rId2"/>
          <a:stretch>
            <a:fillRect/>
          </a:stretch>
        </p:blipFill>
        <p:spPr>
          <a:xfrm>
            <a:off x="107504" y="1965217"/>
            <a:ext cx="5447347" cy="4254682"/>
          </a:xfrm>
          <a:prstGeom prst="rect">
            <a:avLst/>
          </a:prstGeom>
        </p:spPr>
      </p:pic>
      <p:sp>
        <p:nvSpPr>
          <p:cNvPr id="8" name="Metin kutusu 7">
            <a:extLst>
              <a:ext uri="{FF2B5EF4-FFF2-40B4-BE49-F238E27FC236}">
                <a16:creationId xmlns:a16="http://schemas.microsoft.com/office/drawing/2014/main" id="{CD65E9A6-7DAC-2122-BE4B-4EB6F08B47E1}"/>
              </a:ext>
            </a:extLst>
          </p:cNvPr>
          <p:cNvSpPr txBox="1"/>
          <p:nvPr/>
        </p:nvSpPr>
        <p:spPr>
          <a:xfrm>
            <a:off x="5700372" y="3041406"/>
            <a:ext cx="3192108" cy="1200329"/>
          </a:xfrm>
          <a:prstGeom prst="rect">
            <a:avLst/>
          </a:prstGeom>
          <a:noFill/>
        </p:spPr>
        <p:txBody>
          <a:bodyPr wrap="square">
            <a:spAutoFit/>
          </a:bodyPr>
          <a:lstStyle/>
          <a:p>
            <a:pPr algn="just">
              <a:buFont typeface="Arial" panose="020B0604020202020204" pitchFamily="34" charset="0"/>
              <a:buChar char="•"/>
            </a:pPr>
            <a:r>
              <a:rPr lang="en-US" b="0" i="0" dirty="0" err="1">
                <a:solidFill>
                  <a:srgbClr val="000000"/>
                </a:solidFill>
                <a:effectLst/>
                <a:latin typeface="inter-regular"/>
              </a:rPr>
              <a:t>Görebildiğimiz</a:t>
            </a:r>
            <a:r>
              <a:rPr lang="en-US" b="0" i="0" dirty="0">
                <a:solidFill>
                  <a:srgbClr val="000000"/>
                </a:solidFill>
                <a:effectLst/>
                <a:latin typeface="inter-regular"/>
              </a:rPr>
              <a:t> </a:t>
            </a:r>
            <a:r>
              <a:rPr lang="en-US" b="0" i="0" dirty="0" err="1">
                <a:solidFill>
                  <a:srgbClr val="000000"/>
                </a:solidFill>
                <a:effectLst/>
                <a:latin typeface="inter-regular"/>
              </a:rPr>
              <a:t>gibi</a:t>
            </a:r>
            <a:r>
              <a:rPr lang="en-US" b="0" i="0" dirty="0">
                <a:solidFill>
                  <a:srgbClr val="000000"/>
                </a:solidFill>
                <a:effectLst/>
                <a:latin typeface="inter-regular"/>
              </a:rPr>
              <a:t> </a:t>
            </a:r>
            <a:r>
              <a:rPr lang="en-US" b="0" i="0" dirty="0" err="1">
                <a:solidFill>
                  <a:srgbClr val="000000"/>
                </a:solidFill>
                <a:effectLst/>
                <a:latin typeface="inter-regular"/>
              </a:rPr>
              <a:t>en</a:t>
            </a:r>
            <a:r>
              <a:rPr lang="en-US" b="0" i="0" dirty="0">
                <a:solidFill>
                  <a:srgbClr val="000000"/>
                </a:solidFill>
                <a:effectLst/>
                <a:latin typeface="inter-regular"/>
              </a:rPr>
              <a:t> </a:t>
            </a:r>
            <a:r>
              <a:rPr lang="en-US" b="0" i="0" dirty="0" err="1">
                <a:solidFill>
                  <a:srgbClr val="000000"/>
                </a:solidFill>
                <a:effectLst/>
                <a:latin typeface="inter-regular"/>
              </a:rPr>
              <a:t>yakın</a:t>
            </a:r>
            <a:r>
              <a:rPr lang="en-US" b="0" i="0" dirty="0">
                <a:solidFill>
                  <a:srgbClr val="000000"/>
                </a:solidFill>
                <a:effectLst/>
                <a:latin typeface="inter-regular"/>
              </a:rPr>
              <a:t> 3 </a:t>
            </a:r>
            <a:r>
              <a:rPr lang="en-US" b="0" i="0" dirty="0" err="1">
                <a:solidFill>
                  <a:srgbClr val="000000"/>
                </a:solidFill>
                <a:effectLst/>
                <a:latin typeface="inter-regular"/>
              </a:rPr>
              <a:t>komşu</a:t>
            </a:r>
            <a:r>
              <a:rPr lang="en-US" b="0" i="0" dirty="0">
                <a:solidFill>
                  <a:srgbClr val="000000"/>
                </a:solidFill>
                <a:effectLst/>
                <a:latin typeface="inter-regular"/>
              </a:rPr>
              <a:t> A </a:t>
            </a:r>
            <a:r>
              <a:rPr lang="en-US" b="0" i="0" dirty="0" err="1">
                <a:solidFill>
                  <a:srgbClr val="000000"/>
                </a:solidFill>
                <a:effectLst/>
                <a:latin typeface="inter-regular"/>
              </a:rPr>
              <a:t>kategorisindedir</a:t>
            </a:r>
            <a:r>
              <a:rPr lang="en-US" b="0" i="0" dirty="0">
                <a:solidFill>
                  <a:srgbClr val="000000"/>
                </a:solidFill>
                <a:effectLst/>
                <a:latin typeface="inter-regular"/>
              </a:rPr>
              <a:t>,</a:t>
            </a:r>
            <a:r>
              <a:rPr lang="tr-TR" b="0" i="0" dirty="0">
                <a:solidFill>
                  <a:srgbClr val="000000"/>
                </a:solidFill>
                <a:effectLst/>
                <a:latin typeface="inter-regular"/>
              </a:rPr>
              <a:t> </a:t>
            </a:r>
            <a:r>
              <a:rPr lang="en-US" b="0" i="0" dirty="0" err="1">
                <a:solidFill>
                  <a:srgbClr val="000000"/>
                </a:solidFill>
                <a:effectLst/>
                <a:latin typeface="inter-regular"/>
              </a:rPr>
              <a:t>dolayısıyla</a:t>
            </a:r>
            <a:r>
              <a:rPr lang="en-US" b="0" i="0" dirty="0">
                <a:solidFill>
                  <a:srgbClr val="000000"/>
                </a:solidFill>
                <a:effectLst/>
                <a:latin typeface="inter-regular"/>
              </a:rPr>
              <a:t> </a:t>
            </a:r>
            <a:r>
              <a:rPr lang="en-US" b="0" i="0" dirty="0" err="1">
                <a:solidFill>
                  <a:srgbClr val="000000"/>
                </a:solidFill>
                <a:effectLst/>
                <a:latin typeface="inter-regular"/>
              </a:rPr>
              <a:t>bu</a:t>
            </a:r>
            <a:r>
              <a:rPr lang="en-US" b="0" i="0" dirty="0">
                <a:solidFill>
                  <a:srgbClr val="000000"/>
                </a:solidFill>
                <a:effectLst/>
                <a:latin typeface="inter-regular"/>
              </a:rPr>
              <a:t> yeni </a:t>
            </a:r>
            <a:r>
              <a:rPr lang="en-US" b="0" i="0" dirty="0" err="1">
                <a:solidFill>
                  <a:srgbClr val="000000"/>
                </a:solidFill>
                <a:effectLst/>
                <a:latin typeface="inter-regular"/>
              </a:rPr>
              <a:t>veri</a:t>
            </a:r>
            <a:r>
              <a:rPr lang="en-US" b="0" i="0" dirty="0">
                <a:solidFill>
                  <a:srgbClr val="000000"/>
                </a:solidFill>
                <a:effectLst/>
                <a:latin typeface="inter-regular"/>
              </a:rPr>
              <a:t> </a:t>
            </a:r>
            <a:r>
              <a:rPr lang="en-US" b="0" i="0" dirty="0" err="1">
                <a:solidFill>
                  <a:srgbClr val="000000"/>
                </a:solidFill>
                <a:effectLst/>
                <a:latin typeface="inter-regular"/>
              </a:rPr>
              <a:t>noktası</a:t>
            </a:r>
            <a:r>
              <a:rPr lang="en-US" b="0" i="0" dirty="0">
                <a:solidFill>
                  <a:srgbClr val="000000"/>
                </a:solidFill>
                <a:effectLst/>
                <a:latin typeface="inter-regular"/>
              </a:rPr>
              <a:t> A </a:t>
            </a:r>
            <a:r>
              <a:rPr lang="en-US" b="0" i="0" dirty="0" err="1">
                <a:solidFill>
                  <a:srgbClr val="000000"/>
                </a:solidFill>
                <a:effectLst/>
                <a:latin typeface="inter-regular"/>
              </a:rPr>
              <a:t>kategorisine</a:t>
            </a:r>
            <a:r>
              <a:rPr lang="en-US" b="0" i="0" dirty="0">
                <a:solidFill>
                  <a:srgbClr val="000000"/>
                </a:solidFill>
                <a:effectLst/>
                <a:latin typeface="inter-regular"/>
              </a:rPr>
              <a:t> </a:t>
            </a:r>
            <a:r>
              <a:rPr lang="en-US" b="0" i="0" dirty="0" err="1">
                <a:solidFill>
                  <a:srgbClr val="000000"/>
                </a:solidFill>
                <a:effectLst/>
                <a:latin typeface="inter-regular"/>
              </a:rPr>
              <a:t>ait</a:t>
            </a:r>
            <a:r>
              <a:rPr lang="en-US" b="0" i="0" dirty="0">
                <a:solidFill>
                  <a:srgbClr val="000000"/>
                </a:solidFill>
                <a:effectLst/>
                <a:latin typeface="inter-regular"/>
              </a:rPr>
              <a:t> </a:t>
            </a:r>
            <a:r>
              <a:rPr lang="en-US" b="0" i="0" dirty="0" err="1">
                <a:solidFill>
                  <a:srgbClr val="000000"/>
                </a:solidFill>
                <a:effectLst/>
                <a:latin typeface="inter-regular"/>
              </a:rPr>
              <a:t>olmalıdır</a:t>
            </a:r>
            <a:r>
              <a:rPr lang="en-US" b="0" i="0" dirty="0">
                <a:solidFill>
                  <a:srgbClr val="000000"/>
                </a:solidFill>
                <a:effectLst/>
                <a:latin typeface="inter-regular"/>
              </a:rPr>
              <a:t>.</a:t>
            </a:r>
          </a:p>
        </p:txBody>
      </p:sp>
    </p:spTree>
    <p:extLst>
      <p:ext uri="{BB962C8B-B14F-4D97-AF65-F5344CB8AC3E}">
        <p14:creationId xmlns:p14="http://schemas.microsoft.com/office/powerpoint/2010/main" val="1929003776"/>
      </p:ext>
    </p:extLst>
  </p:cSld>
  <p:clrMapOvr>
    <a:masterClrMapping/>
  </p:clrMapOvr>
  <p:transition spd="med">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ayt Numarası Yer Tutucusu 6"/>
          <p:cNvSpPr>
            <a:spLocks noGrp="1"/>
          </p:cNvSpPr>
          <p:nvPr>
            <p:ph type="sldNum" sz="quarter" idx="12"/>
          </p:nvPr>
        </p:nvSpPr>
        <p:spPr/>
        <p:txBody>
          <a:bodyPr/>
          <a:lstStyle/>
          <a:p>
            <a:fld id="{B1DEFA8C-F947-479F-BE07-76B6B3F80BF1}" type="slidenum">
              <a:rPr lang="tr-TR" smtClean="0"/>
              <a:pPr/>
              <a:t>25</a:t>
            </a:fld>
            <a:endParaRPr lang="tr-TR" dirty="0"/>
          </a:p>
        </p:txBody>
      </p:sp>
      <p:pic>
        <p:nvPicPr>
          <p:cNvPr id="8" name="Resim 7" descr="KNN_final_a1mrv9"/>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207108"/>
            <a:ext cx="4896544" cy="3514368"/>
          </a:xfrm>
          <a:prstGeom prst="rect">
            <a:avLst/>
          </a:prstGeom>
          <a:noFill/>
          <a:ln>
            <a:noFill/>
          </a:ln>
        </p:spPr>
      </p:pic>
      <p:sp>
        <p:nvSpPr>
          <p:cNvPr id="3" name="Dikdörtgen 2"/>
          <p:cNvSpPr/>
          <p:nvPr/>
        </p:nvSpPr>
        <p:spPr>
          <a:xfrm>
            <a:off x="467544" y="476672"/>
            <a:ext cx="7704856" cy="3170099"/>
          </a:xfrm>
          <a:prstGeom prst="rect">
            <a:avLst/>
          </a:prstGeom>
        </p:spPr>
        <p:txBody>
          <a:bodyPr wrap="square">
            <a:spAutoFit/>
          </a:bodyPr>
          <a:lstStyle/>
          <a:p>
            <a:r>
              <a:rPr lang="tr-TR" b="1" u="sng" dirty="0">
                <a:latin typeface="Arial" panose="020B0604020202020204" pitchFamily="34" charset="0"/>
                <a:cs typeface="Arial" panose="020B0604020202020204" pitchFamily="34" charset="0"/>
              </a:rPr>
              <a:t>Örnek:</a:t>
            </a:r>
          </a:p>
          <a:p>
            <a:endParaRPr lang="tr-TR" u="sng"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 işareti ile gösterilen yeni test örneği  hangi sınıf?</a:t>
            </a:r>
          </a:p>
          <a:p>
            <a:r>
              <a:rPr lang="tr-TR" dirty="0">
                <a:latin typeface="Arial" panose="020B0604020202020204" pitchFamily="34" charset="0"/>
                <a:cs typeface="Arial" panose="020B0604020202020204" pitchFamily="34" charset="0"/>
              </a:rPr>
              <a:t>Kırmızı yıldız: Sınıf1 , Yeşil üçgen: Sınıf2</a:t>
            </a:r>
          </a:p>
          <a:p>
            <a:endParaRPr lang="tr-TR"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k=3 için </a:t>
            </a:r>
            <a:r>
              <a:rPr lang="tr-TR" dirty="0">
                <a:latin typeface="Arial" panose="020B0604020202020204" pitchFamily="34" charset="0"/>
                <a:cs typeface="Arial" panose="020B0604020202020204" pitchFamily="34" charset="0"/>
                <a:sym typeface="Wingdings" pitchFamily="2" charset="2"/>
              </a:rPr>
              <a:t></a:t>
            </a:r>
            <a:r>
              <a:rPr lang="tr-TR" dirty="0">
                <a:latin typeface="Arial" panose="020B0604020202020204" pitchFamily="34" charset="0"/>
                <a:cs typeface="Arial" panose="020B0604020202020204" pitchFamily="34" charset="0"/>
              </a:rPr>
              <a:t> Yeni test örneği = Sınıf2</a:t>
            </a:r>
          </a:p>
          <a:p>
            <a:endParaRPr lang="tr-TR"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k=7 için </a:t>
            </a:r>
            <a:r>
              <a:rPr lang="tr-TR" dirty="0">
                <a:latin typeface="Arial" panose="020B0604020202020204" pitchFamily="34" charset="0"/>
                <a:cs typeface="Arial" panose="020B0604020202020204" pitchFamily="34" charset="0"/>
                <a:sym typeface="Wingdings" pitchFamily="2" charset="2"/>
              </a:rPr>
              <a:t></a:t>
            </a:r>
            <a:r>
              <a:rPr lang="tr-TR" dirty="0">
                <a:latin typeface="Arial" panose="020B0604020202020204" pitchFamily="34" charset="0"/>
                <a:cs typeface="Arial" panose="020B0604020202020204" pitchFamily="34" charset="0"/>
              </a:rPr>
              <a:t> Yeni test örneği = Sınıf1</a:t>
            </a:r>
          </a:p>
          <a:p>
            <a:endParaRPr lang="tr-TR" sz="1400" dirty="0"/>
          </a:p>
          <a:p>
            <a:endParaRPr lang="tr-TR" sz="1400" dirty="0"/>
          </a:p>
          <a:p>
            <a:endParaRPr lang="tr-TR" sz="1400" dirty="0"/>
          </a:p>
          <a:p>
            <a:endParaRPr lang="tr-TR" sz="1400" dirty="0"/>
          </a:p>
        </p:txBody>
      </p:sp>
    </p:spTree>
    <p:extLst>
      <p:ext uri="{BB962C8B-B14F-4D97-AF65-F5344CB8AC3E}">
        <p14:creationId xmlns:p14="http://schemas.microsoft.com/office/powerpoint/2010/main" val="3066839915"/>
      </p:ext>
    </p:extLst>
  </p:cSld>
  <p:clrMapOvr>
    <a:masterClrMapping/>
  </p:clrMapOvr>
  <p:transition spd="med">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5F717D8-19C8-C6C6-6C81-5BC1E7EB12AB}"/>
              </a:ext>
            </a:extLst>
          </p:cNvPr>
          <p:cNvSpPr>
            <a:spLocks noGrp="1"/>
          </p:cNvSpPr>
          <p:nvPr>
            <p:ph type="title"/>
          </p:nvPr>
        </p:nvSpPr>
        <p:spPr/>
        <p:txBody>
          <a:bodyPr/>
          <a:lstStyle/>
          <a:p>
            <a:r>
              <a:rPr lang="tr-TR" b="1" dirty="0">
                <a:latin typeface="Arial" panose="020B0604020202020204" pitchFamily="34" charset="0"/>
                <a:cs typeface="Arial" panose="020B0604020202020204" pitchFamily="34" charset="0"/>
              </a:rPr>
              <a:t>Eşit Sayıda Komşu Olması</a:t>
            </a:r>
            <a:endParaRPr lang="en-US" b="1" dirty="0">
              <a:latin typeface="Arial" panose="020B0604020202020204" pitchFamily="34" charset="0"/>
              <a:cs typeface="Arial" panose="020B0604020202020204" pitchFamily="34" charset="0"/>
            </a:endParaRPr>
          </a:p>
        </p:txBody>
      </p:sp>
      <p:pic>
        <p:nvPicPr>
          <p:cNvPr id="6" name="İçerik Yer Tutucusu 5">
            <a:extLst>
              <a:ext uri="{FF2B5EF4-FFF2-40B4-BE49-F238E27FC236}">
                <a16:creationId xmlns:a16="http://schemas.microsoft.com/office/drawing/2014/main" id="{1734F2C8-5263-7C94-C8CB-8AF824FDD34F}"/>
              </a:ext>
            </a:extLst>
          </p:cNvPr>
          <p:cNvPicPr>
            <a:picLocks noGrp="1" noChangeAspect="1"/>
          </p:cNvPicPr>
          <p:nvPr>
            <p:ph idx="1"/>
          </p:nvPr>
        </p:nvPicPr>
        <p:blipFill>
          <a:blip r:embed="rId2"/>
          <a:stretch>
            <a:fillRect/>
          </a:stretch>
        </p:blipFill>
        <p:spPr>
          <a:xfrm>
            <a:off x="4752660" y="1847851"/>
            <a:ext cx="4063959" cy="4029421"/>
          </a:xfrm>
          <a:prstGeom prst="rect">
            <a:avLst/>
          </a:prstGeom>
        </p:spPr>
      </p:pic>
      <p:sp>
        <p:nvSpPr>
          <p:cNvPr id="7" name="Metin kutusu 6">
            <a:extLst>
              <a:ext uri="{FF2B5EF4-FFF2-40B4-BE49-F238E27FC236}">
                <a16:creationId xmlns:a16="http://schemas.microsoft.com/office/drawing/2014/main" id="{F3B003CA-A855-E768-6B9C-B6338CA5922E}"/>
              </a:ext>
            </a:extLst>
          </p:cNvPr>
          <p:cNvSpPr txBox="1"/>
          <p:nvPr/>
        </p:nvSpPr>
        <p:spPr>
          <a:xfrm>
            <a:off x="183366" y="1999676"/>
            <a:ext cx="4388634" cy="4278094"/>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Rastgele</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Seçim</a:t>
            </a:r>
            <a:r>
              <a:rPr lang="en-US" sz="1600" b="1" dirty="0">
                <a:latin typeface="Arial" panose="020B0604020202020204" pitchFamily="34" charset="0"/>
                <a:cs typeface="Arial" panose="020B0604020202020204" pitchFamily="34" charset="0"/>
              </a:rPr>
              <a:t> (Random Tie-breaking)</a:t>
            </a:r>
            <a:endParaRPr lang="tr-TR" sz="1600" b="1"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Ø"/>
            </a:pPr>
            <a:endParaRPr lang="tr-TR" sz="1600" dirty="0">
              <a:latin typeface="Arial" panose="020B0604020202020204" pitchFamily="34" charset="0"/>
              <a:cs typeface="Arial" panose="020B0604020202020204" pitchFamily="34" charset="0"/>
            </a:endParaRPr>
          </a:p>
          <a:p>
            <a:pPr marL="742950" lvl="1" indent="-285750" algn="just">
              <a:buFont typeface="Wingdings" panose="05000000000000000000" pitchFamily="2" charset="2"/>
              <a:buChar char="Ø"/>
            </a:pPr>
            <a:r>
              <a:rPr lang="en-US" sz="1600" dirty="0" err="1">
                <a:latin typeface="Arial" panose="020B0604020202020204" pitchFamily="34" charset="0"/>
                <a:cs typeface="Arial" panose="020B0604020202020204" pitchFamily="34" charset="0"/>
              </a:rPr>
              <a:t>Eşitlik</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durumunda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rastgele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bir</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sınıf</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seçme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yöntemi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kullanılabilir</a:t>
            </a:r>
            <a:r>
              <a:rPr lang="en-US" sz="1600" dirty="0">
                <a:latin typeface="Arial" panose="020B0604020202020204" pitchFamily="34" charset="0"/>
                <a:cs typeface="Arial" panose="020B0604020202020204" pitchFamily="34" charset="0"/>
              </a:rPr>
              <a:t>. Bu, </a:t>
            </a:r>
            <a:r>
              <a:rPr lang="en-US" sz="1600" dirty="0" err="1">
                <a:latin typeface="Arial" panose="020B0604020202020204" pitchFamily="34" charset="0"/>
                <a:cs typeface="Arial" panose="020B0604020202020204" pitchFamily="34" charset="0"/>
              </a:rPr>
              <a:t>eşit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sayıda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komşuya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sahip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iki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sınıf</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varsa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birini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rastgele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seçmek</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anlamına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gelir</a:t>
            </a:r>
            <a:r>
              <a:rPr lang="en-US" sz="1600" dirty="0">
                <a:latin typeface="Arial" panose="020B0604020202020204" pitchFamily="34" charset="0"/>
                <a:cs typeface="Arial" panose="020B0604020202020204" pitchFamily="34" charset="0"/>
              </a:rPr>
              <a:t>.</a:t>
            </a:r>
            <a:endParaRPr lang="tr-TR" sz="1600" dirty="0">
              <a:latin typeface="Arial" panose="020B0604020202020204" pitchFamily="34" charset="0"/>
              <a:cs typeface="Arial" panose="020B0604020202020204" pitchFamily="34" charset="0"/>
            </a:endParaRPr>
          </a:p>
          <a:p>
            <a:pPr marL="742950" lvl="1" indent="-285750" algn="just">
              <a:buFont typeface="Wingdings" panose="05000000000000000000" pitchFamily="2" charset="2"/>
              <a:buChar char="Ø"/>
            </a:pPr>
            <a:endParaRPr lang="tr-TR"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Ø"/>
            </a:pPr>
            <a:r>
              <a:rPr lang="tr-TR" sz="1600" b="1" dirty="0">
                <a:latin typeface="Arial" panose="020B0604020202020204" pitchFamily="34" charset="0"/>
                <a:cs typeface="Arial" panose="020B0604020202020204" pitchFamily="34" charset="0"/>
              </a:rPr>
              <a:t>Sınıfların Ağırlıklı Oylaması</a:t>
            </a:r>
          </a:p>
          <a:p>
            <a:pPr marL="285750" indent="-285750" algn="just">
              <a:buFont typeface="Wingdings" panose="05000000000000000000" pitchFamily="2" charset="2"/>
              <a:buChar char="Ø"/>
            </a:pPr>
            <a:endParaRPr lang="tr-TR" sz="1600" dirty="0">
              <a:latin typeface="Arial" panose="020B0604020202020204" pitchFamily="34" charset="0"/>
              <a:cs typeface="Arial" panose="020B0604020202020204" pitchFamily="34" charset="0"/>
            </a:endParaRPr>
          </a:p>
          <a:p>
            <a:pPr marL="742950" lvl="1" indent="-285750" algn="just">
              <a:buFont typeface="Wingdings" panose="05000000000000000000" pitchFamily="2" charset="2"/>
              <a:buChar char="Ø"/>
            </a:pPr>
            <a:r>
              <a:rPr lang="tr-TR" sz="1600" dirty="0">
                <a:latin typeface="Arial" panose="020B0604020202020204" pitchFamily="34" charset="0"/>
                <a:cs typeface="Arial" panose="020B0604020202020204" pitchFamily="34" charset="0"/>
              </a:rPr>
              <a:t>Bazı durumlarda, komşuların mesafelerine dayalı ağırlıklı oylama kullanılabilir. Bu, daha yakın komşulara daha fazla ağırlık vererek karar verme sürecini etkiler. Eğer eşit sayıda komşu farklı sınıflara aitse, daha yakın olan komşuların sınıfı seçilebilir.</a:t>
            </a:r>
          </a:p>
        </p:txBody>
      </p:sp>
    </p:spTree>
    <p:extLst>
      <p:ext uri="{BB962C8B-B14F-4D97-AF65-F5344CB8AC3E}">
        <p14:creationId xmlns:p14="http://schemas.microsoft.com/office/powerpoint/2010/main" val="1257167965"/>
      </p:ext>
    </p:extLst>
  </p:cSld>
  <p:clrMapOvr>
    <a:masterClrMapping/>
  </p:clrMapOvr>
  <p:transition spd="med">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A8AA702-46D1-8C51-8B88-21FB2B6B3C7F}"/>
              </a:ext>
            </a:extLst>
          </p:cNvPr>
          <p:cNvSpPr>
            <a:spLocks noGrp="1"/>
          </p:cNvSpPr>
          <p:nvPr>
            <p:ph type="title"/>
          </p:nvPr>
        </p:nvSpPr>
        <p:spPr/>
        <p:txBody>
          <a:bodyPr/>
          <a:lstStyle/>
          <a:p>
            <a:r>
              <a:rPr lang="tr-TR" dirty="0"/>
              <a:t>Örnek</a:t>
            </a:r>
            <a:endParaRPr lang="en-US" dirty="0"/>
          </a:p>
        </p:txBody>
      </p:sp>
      <p:pic>
        <p:nvPicPr>
          <p:cNvPr id="6" name="İçerik Yer Tutucusu 5">
            <a:extLst>
              <a:ext uri="{FF2B5EF4-FFF2-40B4-BE49-F238E27FC236}">
                <a16:creationId xmlns:a16="http://schemas.microsoft.com/office/drawing/2014/main" id="{CE6E5486-47D1-ACA9-C062-9E5594869BF7}"/>
              </a:ext>
            </a:extLst>
          </p:cNvPr>
          <p:cNvPicPr>
            <a:picLocks noGrp="1" noChangeAspect="1"/>
          </p:cNvPicPr>
          <p:nvPr>
            <p:ph idx="1"/>
          </p:nvPr>
        </p:nvPicPr>
        <p:blipFill>
          <a:blip r:embed="rId2"/>
          <a:stretch>
            <a:fillRect/>
          </a:stretch>
        </p:blipFill>
        <p:spPr>
          <a:xfrm>
            <a:off x="755576" y="1844824"/>
            <a:ext cx="4905375" cy="4067175"/>
          </a:xfrm>
          <a:prstGeom prst="rect">
            <a:avLst/>
          </a:prstGeom>
        </p:spPr>
      </p:pic>
      <p:sp>
        <p:nvSpPr>
          <p:cNvPr id="7" name="Metin kutusu 6">
            <a:extLst>
              <a:ext uri="{FF2B5EF4-FFF2-40B4-BE49-F238E27FC236}">
                <a16:creationId xmlns:a16="http://schemas.microsoft.com/office/drawing/2014/main" id="{9D3CA4F3-615C-C860-A45A-E66C6D0D8E61}"/>
              </a:ext>
            </a:extLst>
          </p:cNvPr>
          <p:cNvSpPr txBox="1"/>
          <p:nvPr/>
        </p:nvSpPr>
        <p:spPr>
          <a:xfrm>
            <a:off x="5940152" y="2420888"/>
            <a:ext cx="2575198" cy="954107"/>
          </a:xfrm>
          <a:prstGeom prst="rect">
            <a:avLst/>
          </a:prstGeom>
          <a:noFill/>
        </p:spPr>
        <p:txBody>
          <a:bodyPr wrap="square" rtlCol="0">
            <a:spAutoFit/>
          </a:bodyPr>
          <a:lstStyle/>
          <a:p>
            <a:r>
              <a:rPr lang="tr-TR" sz="2800" dirty="0"/>
              <a:t>K=3 seçilirse ?</a:t>
            </a:r>
          </a:p>
          <a:p>
            <a:r>
              <a:rPr lang="tr-TR" sz="2800" dirty="0"/>
              <a:t>K=5 seçilirse ?</a:t>
            </a:r>
            <a:endParaRPr lang="en-US" sz="2800" dirty="0"/>
          </a:p>
        </p:txBody>
      </p:sp>
    </p:spTree>
    <p:extLst>
      <p:ext uri="{BB962C8B-B14F-4D97-AF65-F5344CB8AC3E}">
        <p14:creationId xmlns:p14="http://schemas.microsoft.com/office/powerpoint/2010/main" val="3320564507"/>
      </p:ext>
    </p:extLst>
  </p:cSld>
  <p:clrMapOvr>
    <a:masterClrMapping/>
  </p:clrMapOvr>
  <p:transition spd="med">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309798" y="1412776"/>
            <a:ext cx="8524403" cy="4647426"/>
          </a:xfrm>
          <a:prstGeom prst="rect">
            <a:avLst/>
          </a:prstGeom>
        </p:spPr>
        <p:txBody>
          <a:bodyPr wrap="square">
            <a:spAutoFit/>
          </a:bodyPr>
          <a:lstStyle/>
          <a:p>
            <a:pPr marL="285750" indent="-285750">
              <a:buFont typeface="Arial" panose="020B0604020202020204" pitchFamily="34" charset="0"/>
              <a:buChar char="•"/>
            </a:pPr>
            <a:r>
              <a:rPr lang="tr-TR" sz="2400" dirty="0">
                <a:latin typeface="Arial" panose="020B0604020202020204" pitchFamily="34" charset="0"/>
                <a:cs typeface="Arial" panose="020B0604020202020204" pitchFamily="34" charset="0"/>
              </a:rPr>
              <a:t>Bu yöntemde sabit bir ‘k’ değeri yoktur!</a:t>
            </a:r>
          </a:p>
          <a:p>
            <a:pPr marL="285750" indent="-285750">
              <a:buFont typeface="Arial" panose="020B0604020202020204" pitchFamily="34" charset="0"/>
              <a:buChar char="•"/>
            </a:pPr>
            <a:endParaRPr lang="tr-TR"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tr-TR" sz="2400" dirty="0">
                <a:latin typeface="Arial" panose="020B0604020202020204" pitchFamily="34" charset="0"/>
                <a:cs typeface="Arial" panose="020B0604020202020204" pitchFamily="34" charset="0"/>
              </a:rPr>
              <a:t>Optimal ‘k’ değerinin seçilmesi sınıflandırma başarısı için çok önemlidir.</a:t>
            </a:r>
          </a:p>
          <a:p>
            <a:pPr marL="285750" indent="-285750">
              <a:buFont typeface="Arial" panose="020B0604020202020204" pitchFamily="34" charset="0"/>
              <a:buChar char="•"/>
            </a:pPr>
            <a:endParaRPr lang="tr-TR"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tr-TR" sz="2400" dirty="0">
                <a:latin typeface="Arial" panose="020B0604020202020204" pitchFamily="34" charset="0"/>
                <a:cs typeface="Arial" panose="020B0604020202020204" pitchFamily="34" charset="0"/>
              </a:rPr>
              <a:t>En uygun ‘k’ değerinin seçilmesi için : Çapraz Doğrulama (Cross </a:t>
            </a:r>
            <a:r>
              <a:rPr lang="tr-TR" sz="2400" dirty="0" err="1">
                <a:latin typeface="Arial" panose="020B0604020202020204" pitchFamily="34" charset="0"/>
                <a:cs typeface="Arial" panose="020B0604020202020204" pitchFamily="34" charset="0"/>
              </a:rPr>
              <a:t>Validation</a:t>
            </a:r>
            <a:r>
              <a:rPr lang="tr-TR" sz="24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tr-TR"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tr-TR" sz="2400" dirty="0">
                <a:latin typeface="Arial" panose="020B0604020202020204" pitchFamily="34" charset="0"/>
                <a:cs typeface="Arial" panose="020B0604020202020204" pitchFamily="34" charset="0"/>
              </a:rPr>
              <a:t>Rasgele alt örnekleme çapraz doğrulama (</a:t>
            </a:r>
            <a:r>
              <a:rPr lang="tr-TR" sz="2400" dirty="0" err="1">
                <a:latin typeface="Arial" panose="020B0604020202020204" pitchFamily="34" charset="0"/>
                <a:cs typeface="Arial" panose="020B0604020202020204" pitchFamily="34" charset="0"/>
              </a:rPr>
              <a:t>random</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subsampling</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cross</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validation</a:t>
            </a:r>
            <a:r>
              <a:rPr lang="tr-TR" sz="2400" dirty="0">
                <a:latin typeface="Arial" panose="020B0604020202020204" pitchFamily="34" charset="0"/>
                <a:cs typeface="Arial" panose="020B0604020202020204" pitchFamily="34" charset="0"/>
              </a:rPr>
              <a:t>)</a:t>
            </a:r>
          </a:p>
          <a:p>
            <a:endParaRPr lang="tr-TR" sz="1400" dirty="0"/>
          </a:p>
          <a:p>
            <a:endParaRPr lang="tr-TR" sz="1400" dirty="0"/>
          </a:p>
          <a:p>
            <a:endParaRPr lang="tr-TR" sz="1400" dirty="0"/>
          </a:p>
          <a:p>
            <a:endParaRPr lang="tr-TR" sz="1400" dirty="0"/>
          </a:p>
        </p:txBody>
      </p:sp>
    </p:spTree>
    <p:extLst>
      <p:ext uri="{BB962C8B-B14F-4D97-AF65-F5344CB8AC3E}">
        <p14:creationId xmlns:p14="http://schemas.microsoft.com/office/powerpoint/2010/main" val="3414247688"/>
      </p:ext>
    </p:extLst>
  </p:cSld>
  <p:clrMapOvr>
    <a:masterClrMapping/>
  </p:clrMapOvr>
  <p:transition spd="med">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7260EC1-0F32-4F32-BA4F-17A9BC34D47D}"/>
              </a:ext>
            </a:extLst>
          </p:cNvPr>
          <p:cNvSpPr>
            <a:spLocks noGrp="1"/>
          </p:cNvSpPr>
          <p:nvPr>
            <p:ph idx="1"/>
          </p:nvPr>
        </p:nvSpPr>
        <p:spPr>
          <a:xfrm>
            <a:off x="628650" y="1253331"/>
            <a:ext cx="7886700" cy="4351338"/>
          </a:xfrm>
        </p:spPr>
        <p:txBody>
          <a:bodyPr>
            <a:normAutofit fontScale="92500"/>
          </a:bodyPr>
          <a:lstStyle/>
          <a:p>
            <a:pPr algn="just"/>
            <a:r>
              <a:rPr lang="en-US" sz="2400" dirty="0">
                <a:latin typeface="Arial" panose="020B0604020202020204" pitchFamily="34" charset="0"/>
                <a:cs typeface="Arial" panose="020B0604020202020204" pitchFamily="34" charset="0"/>
              </a:rPr>
              <a:t>Bu </a:t>
            </a:r>
            <a:r>
              <a:rPr lang="en-US" sz="2400" dirty="0" err="1">
                <a:latin typeface="Arial" panose="020B0604020202020204" pitchFamily="34" charset="0"/>
                <a:cs typeface="Arial" panose="020B0604020202020204" pitchFamily="34" charset="0"/>
              </a:rPr>
              <a:t>teknikte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tüm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örneklemler</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bir</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örüntü</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uzayında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saklanır</a:t>
            </a:r>
            <a:r>
              <a:rPr lang="en-US" sz="2400" dirty="0">
                <a:latin typeface="Arial" panose="020B0604020202020204" pitchFamily="34" charset="0"/>
                <a:cs typeface="Arial" panose="020B0604020202020204" pitchFamily="34" charset="0"/>
              </a:rPr>
              <a:t>. </a:t>
            </a:r>
          </a:p>
          <a:p>
            <a:pPr algn="just"/>
            <a:endParaRPr lang="en-US" sz="2400" dirty="0">
              <a:latin typeface="Arial" panose="020B0604020202020204" pitchFamily="34" charset="0"/>
              <a:cs typeface="Arial" panose="020B0604020202020204" pitchFamily="34" charset="0"/>
            </a:endParaRPr>
          </a:p>
          <a:p>
            <a:pPr algn="just"/>
            <a:r>
              <a:rPr lang="en-US" sz="2400" dirty="0" err="1">
                <a:latin typeface="Arial" panose="020B0604020202020204" pitchFamily="34" charset="0"/>
                <a:cs typeface="Arial" panose="020B0604020202020204" pitchFamily="34" charset="0"/>
              </a:rPr>
              <a:t>Algoritma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bilinmeyen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bir</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örneklemin</a:t>
            </a:r>
            <a:r>
              <a:rPr lang="en-US" sz="2400" dirty="0">
                <a:latin typeface="Arial" panose="020B0604020202020204" pitchFamily="34" charset="0"/>
                <a:cs typeface="Arial" panose="020B0604020202020204" pitchFamily="34" charset="0"/>
              </a:rPr>
              <a:t> hangi </a:t>
            </a:r>
            <a:r>
              <a:rPr lang="en-US" sz="2400" dirty="0" err="1">
                <a:latin typeface="Arial" panose="020B0604020202020204" pitchFamily="34" charset="0"/>
                <a:cs typeface="Arial" panose="020B0604020202020204" pitchFamily="34" charset="0"/>
              </a:rPr>
              <a:t>sınıfa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dahil</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olduğunu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belirlemek</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için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örüntü</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uzayını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araştırarak</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bilinmeyen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örnekleme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yakın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olan</a:t>
            </a:r>
            <a:r>
              <a:rPr lang="en-US" sz="2400" dirty="0">
                <a:latin typeface="Arial" panose="020B0604020202020204" pitchFamily="34" charset="0"/>
                <a:cs typeface="Arial" panose="020B0604020202020204" pitchFamily="34" charset="0"/>
              </a:rPr>
              <a:t> k </a:t>
            </a:r>
            <a:r>
              <a:rPr lang="en-US" sz="2400" dirty="0" err="1">
                <a:latin typeface="Arial" panose="020B0604020202020204" pitchFamily="34" charset="0"/>
                <a:cs typeface="Arial" panose="020B0604020202020204" pitchFamily="34" charset="0"/>
              </a:rPr>
              <a:t>örneklemi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bulur</a:t>
            </a:r>
            <a:r>
              <a:rPr lang="en-US" sz="2400" dirty="0">
                <a:latin typeface="Arial" panose="020B0604020202020204" pitchFamily="34" charset="0"/>
                <a:cs typeface="Arial" panose="020B0604020202020204" pitchFamily="34" charset="0"/>
              </a:rPr>
              <a:t>. </a:t>
            </a:r>
          </a:p>
          <a:p>
            <a:pPr algn="just"/>
            <a:endParaRPr lang="en-US" sz="2400" dirty="0">
              <a:latin typeface="Arial" panose="020B0604020202020204" pitchFamily="34" charset="0"/>
              <a:cs typeface="Arial" panose="020B0604020202020204" pitchFamily="34" charset="0"/>
            </a:endParaRPr>
          </a:p>
          <a:p>
            <a:pPr algn="just"/>
            <a:r>
              <a:rPr lang="en-US" sz="2400" dirty="0" err="1">
                <a:latin typeface="Arial" panose="020B0604020202020204" pitchFamily="34" charset="0"/>
                <a:cs typeface="Arial" panose="020B0604020202020204" pitchFamily="34" charset="0"/>
              </a:rPr>
              <a:t>Yakınlık</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Öklid</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uzaklığı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ile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tanımlanır</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Daha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sonra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bilinmeyen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örneklem</a:t>
            </a:r>
            <a:r>
              <a:rPr lang="en-US" sz="2400" dirty="0">
                <a:latin typeface="Arial" panose="020B0604020202020204" pitchFamily="34" charset="0"/>
                <a:cs typeface="Arial" panose="020B0604020202020204" pitchFamily="34" charset="0"/>
              </a:rPr>
              <a:t>, k </a:t>
            </a:r>
            <a:r>
              <a:rPr lang="en-US" sz="2400" dirty="0" err="1">
                <a:latin typeface="Arial" panose="020B0604020202020204" pitchFamily="34" charset="0"/>
                <a:cs typeface="Arial" panose="020B0604020202020204" pitchFamily="34" charset="0"/>
              </a:rPr>
              <a:t>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yakın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komşu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içinden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çok</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benzediği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sınıfa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atanır</a:t>
            </a:r>
            <a:r>
              <a:rPr lang="en-US" sz="2400" dirty="0">
                <a:latin typeface="Arial" panose="020B0604020202020204" pitchFamily="34" charset="0"/>
                <a:cs typeface="Arial" panose="020B0604020202020204" pitchFamily="34" charset="0"/>
              </a:rPr>
              <a:t>. </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k-</a:t>
            </a:r>
            <a:r>
              <a:rPr lang="en-US" sz="2400" dirty="0" err="1">
                <a:latin typeface="Arial" panose="020B0604020202020204" pitchFamily="34" charset="0"/>
                <a:cs typeface="Arial" panose="020B0604020202020204" pitchFamily="34" charset="0"/>
              </a:rPr>
              <a:t>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yakın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komşu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algoritması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aynı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zamanda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bilinmeyen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örneklem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için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bir</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gerçek</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değerin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tahmininde</a:t>
            </a:r>
            <a:r>
              <a:rPr lang="en-US" sz="2400" dirty="0">
                <a:latin typeface="Arial" panose="020B0604020202020204" pitchFamily="34" charset="0"/>
                <a:cs typeface="Arial" panose="020B0604020202020204" pitchFamily="34" charset="0"/>
              </a:rPr>
              <a:t> de </a:t>
            </a:r>
            <a:r>
              <a:rPr lang="en-US" sz="2400" dirty="0" err="1">
                <a:latin typeface="Arial" panose="020B0604020202020204" pitchFamily="34" charset="0"/>
                <a:cs typeface="Arial" panose="020B0604020202020204" pitchFamily="34" charset="0"/>
              </a:rPr>
              <a:t>kullanılabilir</a:t>
            </a:r>
            <a:r>
              <a:rPr lang="en-US" sz="2400" dirty="0">
                <a:latin typeface="Arial" panose="020B0604020202020204" pitchFamily="34" charset="0"/>
                <a:cs typeface="Arial" panose="020B0604020202020204" pitchFamily="34" charset="0"/>
              </a:rPr>
              <a:t>.</a:t>
            </a:r>
          </a:p>
          <a:p>
            <a:endParaRPr lang="en-US" dirty="0"/>
          </a:p>
        </p:txBody>
      </p:sp>
      <p:sp>
        <p:nvSpPr>
          <p:cNvPr id="5" name="Slayt Numarası Yer Tutucusu 4">
            <a:extLst>
              <a:ext uri="{FF2B5EF4-FFF2-40B4-BE49-F238E27FC236}">
                <a16:creationId xmlns:a16="http://schemas.microsoft.com/office/drawing/2014/main" id="{05C1256D-9199-E30C-1806-6654BC1527BF}"/>
              </a:ext>
            </a:extLst>
          </p:cNvPr>
          <p:cNvSpPr>
            <a:spLocks noGrp="1"/>
          </p:cNvSpPr>
          <p:nvPr>
            <p:ph type="sldNum" sz="quarter" idx="12"/>
          </p:nvPr>
        </p:nvSpPr>
        <p:spPr/>
        <p:txBody>
          <a:bodyPr/>
          <a:lstStyle/>
          <a:p>
            <a:pPr>
              <a:defRPr/>
            </a:pPr>
            <a:fld id="{1E09EE13-7A4C-43FA-BBE8-D81D5C0B929E}" type="slidenum">
              <a:rPr lang="tr-TR" smtClean="0"/>
              <a:pPr>
                <a:defRPr/>
              </a:pPr>
              <a:t>29</a:t>
            </a:fld>
            <a:endParaRPr lang="tr-TR" dirty="0"/>
          </a:p>
        </p:txBody>
      </p:sp>
    </p:spTree>
    <p:extLst>
      <p:ext uri="{BB962C8B-B14F-4D97-AF65-F5344CB8AC3E}">
        <p14:creationId xmlns:p14="http://schemas.microsoft.com/office/powerpoint/2010/main" val="3095938790"/>
      </p:ext>
    </p:extLst>
  </p:cSld>
  <p:clrMapOvr>
    <a:masterClrMapping/>
  </p:clrMapOvr>
  <p:transition spd="med">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4FB070F-123E-F234-7BF6-80C137CB06CE}"/>
              </a:ext>
            </a:extLst>
          </p:cNvPr>
          <p:cNvSpPr>
            <a:spLocks noGrp="1"/>
          </p:cNvSpPr>
          <p:nvPr>
            <p:ph idx="1"/>
          </p:nvPr>
        </p:nvSpPr>
        <p:spPr>
          <a:xfrm>
            <a:off x="395536" y="650862"/>
            <a:ext cx="8496944" cy="5556275"/>
          </a:xfrm>
        </p:spPr>
        <p:txBody>
          <a:bodyPr>
            <a:normAutofit fontScale="62500" lnSpcReduction="20000"/>
          </a:bodyPr>
          <a:lstStyle/>
          <a:p>
            <a:pPr>
              <a:spcAft>
                <a:spcPts val="600"/>
              </a:spcAft>
            </a:pPr>
            <a:r>
              <a:rPr lang="en-US" sz="3600" dirty="0" err="1">
                <a:latin typeface="Arial" panose="020B0604020202020204" pitchFamily="34" charset="0"/>
                <a:cs typeface="Arial" panose="020B0604020202020204" pitchFamily="34" charset="0"/>
              </a:rPr>
              <a:t>Eğitim</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örnekleri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yerleştirildikleri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özellik</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uzayında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birer</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nokta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ile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temsil</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edilirler</a:t>
            </a:r>
            <a:r>
              <a:rPr lang="en-US" sz="3600" dirty="0">
                <a:latin typeface="Arial" panose="020B0604020202020204" pitchFamily="34" charset="0"/>
                <a:cs typeface="Arial" panose="020B0604020202020204" pitchFamily="34" charset="0"/>
              </a:rPr>
              <a:t>. </a:t>
            </a:r>
          </a:p>
          <a:p>
            <a:pPr>
              <a:spcAft>
                <a:spcPts val="600"/>
              </a:spcAft>
            </a:pPr>
            <a:r>
              <a:rPr lang="en-US" sz="3600" dirty="0" err="1">
                <a:latin typeface="Arial" panose="020B0604020202020204" pitchFamily="34" charset="0"/>
                <a:cs typeface="Arial" panose="020B0604020202020204" pitchFamily="34" charset="0"/>
              </a:rPr>
              <a:t>Sınıfı</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bulunacak</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olan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örnek</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bu</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uzayda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kendine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en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yakın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sayıca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belirli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bir</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örneklemin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sınıf</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değerini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alır</a:t>
            </a:r>
            <a:r>
              <a:rPr lang="en-US" sz="3600" dirty="0">
                <a:latin typeface="Arial" panose="020B0604020202020204" pitchFamily="34" charset="0"/>
                <a:cs typeface="Arial" panose="020B0604020202020204" pitchFamily="34" charset="0"/>
              </a:rPr>
              <a:t>. </a:t>
            </a:r>
          </a:p>
          <a:p>
            <a:pPr>
              <a:spcAft>
                <a:spcPts val="600"/>
              </a:spcAft>
            </a:pPr>
            <a:r>
              <a:rPr lang="en-US" sz="3600" dirty="0" err="1">
                <a:latin typeface="Arial" panose="020B0604020202020204" pitchFamily="34" charset="0"/>
                <a:cs typeface="Arial" panose="020B0604020202020204" pitchFamily="34" charset="0"/>
              </a:rPr>
              <a:t>Söz</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konusu</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yöntem</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örnek</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kümedeki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gözlemlerin</a:t>
            </a:r>
            <a:r>
              <a:rPr lang="en-US" sz="3600" dirty="0">
                <a:latin typeface="Arial" panose="020B0604020202020204" pitchFamily="34" charset="0"/>
                <a:cs typeface="Arial" panose="020B0604020202020204" pitchFamily="34" charset="0"/>
              </a:rPr>
              <a:t> her </a:t>
            </a:r>
            <a:r>
              <a:rPr lang="en-US" sz="3600" dirty="0" err="1">
                <a:latin typeface="Arial" panose="020B0604020202020204" pitchFamily="34" charset="0"/>
                <a:cs typeface="Arial" panose="020B0604020202020204" pitchFamily="34" charset="0"/>
              </a:rPr>
              <a:t>birinin</a:t>
            </a:r>
            <a:r>
              <a:rPr lang="en-US" sz="3600" dirty="0">
                <a:latin typeface="Arial" panose="020B0604020202020204" pitchFamily="34" charset="0"/>
                <a:cs typeface="Arial" panose="020B0604020202020204" pitchFamily="34" charset="0"/>
              </a:rPr>
              <a:t> , </a:t>
            </a:r>
            <a:r>
              <a:rPr lang="en-US" sz="3600" dirty="0" err="1">
                <a:latin typeface="Arial" panose="020B0604020202020204" pitchFamily="34" charset="0"/>
                <a:cs typeface="Arial" panose="020B0604020202020204" pitchFamily="34" charset="0"/>
              </a:rPr>
              <a:t>sonradan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belirlenen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bir</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gözlem</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değerine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olan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uzaklıklarının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hesaplanması</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en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küçük</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uzaklığa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sahip</a:t>
            </a:r>
            <a:r>
              <a:rPr lang="en-US" sz="3600" dirty="0">
                <a:latin typeface="Arial" panose="020B0604020202020204" pitchFamily="34" charset="0"/>
                <a:cs typeface="Arial" panose="020B0604020202020204" pitchFamily="34" charset="0"/>
              </a:rPr>
              <a:t> </a:t>
            </a:r>
            <a:r>
              <a:rPr lang="en-US" sz="3600" b="1" dirty="0">
                <a:latin typeface="Arial" panose="020B0604020202020204" pitchFamily="34" charset="0"/>
                <a:cs typeface="Arial" panose="020B0604020202020204" pitchFamily="34" charset="0"/>
              </a:rPr>
              <a:t>k</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sayıda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gözlemin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seçilmesi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esasına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dayanmaktadır</a:t>
            </a:r>
            <a:r>
              <a:rPr lang="en-US" sz="3600" dirty="0">
                <a:latin typeface="Arial" panose="020B0604020202020204" pitchFamily="34" charset="0"/>
                <a:cs typeface="Arial" panose="020B0604020202020204" pitchFamily="34" charset="0"/>
              </a:rPr>
              <a:t>. </a:t>
            </a:r>
          </a:p>
          <a:p>
            <a:endParaRPr lang="en-US" sz="3600" dirty="0">
              <a:latin typeface="Arial" panose="020B0604020202020204" pitchFamily="34" charset="0"/>
              <a:cs typeface="Arial" panose="020B0604020202020204" pitchFamily="34" charset="0"/>
            </a:endParaRPr>
          </a:p>
          <a:p>
            <a:r>
              <a:rPr lang="en-US" sz="3600" dirty="0" err="1">
                <a:latin typeface="Arial" panose="020B0604020202020204" pitchFamily="34" charset="0"/>
                <a:cs typeface="Arial" panose="020B0604020202020204" pitchFamily="34" charset="0"/>
              </a:rPr>
              <a:t>Uzaklıkların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hesaplanmasında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aşağıdaki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öklit</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uzaklık</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formülü</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ile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hesaplanır</a:t>
            </a:r>
            <a:r>
              <a:rPr lang="en-US" sz="3600" dirty="0">
                <a:latin typeface="Arial" panose="020B0604020202020204" pitchFamily="34" charset="0"/>
                <a:cs typeface="Arial" panose="020B0604020202020204" pitchFamily="34" charset="0"/>
              </a:rPr>
              <a:t>. </a:t>
            </a:r>
          </a:p>
          <a:p>
            <a:endParaRPr lang="en-US" sz="4500" dirty="0">
              <a:latin typeface="Arial" panose="020B0604020202020204" pitchFamily="34" charset="0"/>
              <a:cs typeface="Arial" panose="020B0604020202020204" pitchFamily="34" charset="0"/>
            </a:endParaRPr>
          </a:p>
          <a:p>
            <a:pPr marL="0" indent="0">
              <a:buNone/>
            </a:pPr>
            <a:endParaRPr lang="en-US" sz="4500" dirty="0">
              <a:latin typeface="Arial" panose="020B0604020202020204" pitchFamily="34" charset="0"/>
              <a:cs typeface="Arial" panose="020B0604020202020204" pitchFamily="34" charset="0"/>
            </a:endParaRPr>
          </a:p>
          <a:p>
            <a:endParaRPr lang="en-US" sz="4500" dirty="0">
              <a:latin typeface="Arial" panose="020B0604020202020204" pitchFamily="34" charset="0"/>
              <a:cs typeface="Arial" panose="020B0604020202020204" pitchFamily="34" charset="0"/>
            </a:endParaRPr>
          </a:p>
          <a:p>
            <a:endParaRPr lang="en-US" sz="4500" dirty="0">
              <a:latin typeface="Arial" panose="020B0604020202020204" pitchFamily="34" charset="0"/>
              <a:cs typeface="Arial" panose="020B0604020202020204" pitchFamily="34" charset="0"/>
            </a:endParaRPr>
          </a:p>
          <a:p>
            <a:r>
              <a:rPr lang="en-US" sz="3600" dirty="0">
                <a:latin typeface="Arial" panose="020B0604020202020204" pitchFamily="34" charset="0"/>
                <a:cs typeface="Arial" panose="020B0604020202020204" pitchFamily="34" charset="0"/>
              </a:rPr>
              <a:t>k </a:t>
            </a:r>
            <a:r>
              <a:rPr lang="en-US" sz="3600" dirty="0" err="1">
                <a:latin typeface="Arial" panose="020B0604020202020204" pitchFamily="34" charset="0"/>
                <a:cs typeface="Arial" panose="020B0604020202020204" pitchFamily="34" charset="0"/>
              </a:rPr>
              <a:t>değeri</a:t>
            </a:r>
            <a:r>
              <a:rPr lang="en-US" sz="3600" dirty="0">
                <a:latin typeface="Arial" panose="020B0604020202020204" pitchFamily="34" charset="0"/>
                <a:cs typeface="Arial" panose="020B0604020202020204" pitchFamily="34" charset="0"/>
              </a:rPr>
              <a:t> iyi </a:t>
            </a:r>
            <a:r>
              <a:rPr lang="en-US" sz="3600" dirty="0" err="1">
                <a:latin typeface="Arial" panose="020B0604020202020204" pitchFamily="34" charset="0"/>
                <a:cs typeface="Arial" panose="020B0604020202020204" pitchFamily="34" charset="0"/>
              </a:rPr>
              <a:t>belirlendiği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takdirde</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olumlu</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sonuçlar</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verir</a:t>
            </a:r>
            <a:r>
              <a:rPr lang="en-US" sz="3600" dirty="0">
                <a:latin typeface="Arial" panose="020B0604020202020204" pitchFamily="34" charset="0"/>
                <a:cs typeface="Arial" panose="020B0604020202020204" pitchFamily="34" charset="0"/>
              </a:rPr>
              <a:t>.</a:t>
            </a:r>
          </a:p>
          <a:p>
            <a:endParaRPr lang="en-US" dirty="0"/>
          </a:p>
          <a:p>
            <a:endParaRPr lang="en-US" dirty="0"/>
          </a:p>
        </p:txBody>
      </p:sp>
      <p:pic>
        <p:nvPicPr>
          <p:cNvPr id="6" name="Picture 4" descr="C:\Documents and Settings\Administrator\Desktop\oklid.wmf">
            <a:extLst>
              <a:ext uri="{FF2B5EF4-FFF2-40B4-BE49-F238E27FC236}">
                <a16:creationId xmlns:a16="http://schemas.microsoft.com/office/drawing/2014/main" id="{D72AE4DC-9610-AC1F-E789-EF0B14140A0C}"/>
              </a:ext>
            </a:extLst>
          </p:cNvPr>
          <p:cNvPicPr>
            <a:picLocks noChangeAspect="1" noChangeArrowheads="1"/>
          </p:cNvPicPr>
          <p:nvPr/>
        </p:nvPicPr>
        <p:blipFill>
          <a:blip r:embed="rId2"/>
          <a:srcRect/>
          <a:stretch>
            <a:fillRect/>
          </a:stretch>
        </p:blipFill>
        <p:spPr bwMode="auto">
          <a:xfrm>
            <a:off x="1259632" y="4437112"/>
            <a:ext cx="5878512" cy="857250"/>
          </a:xfrm>
          <a:prstGeom prst="rect">
            <a:avLst/>
          </a:prstGeom>
          <a:noFill/>
          <a:ln w="9525">
            <a:noFill/>
            <a:miter lim="800000"/>
            <a:headEnd/>
            <a:tailEnd/>
          </a:ln>
        </p:spPr>
      </p:pic>
    </p:spTree>
    <p:extLst>
      <p:ext uri="{BB962C8B-B14F-4D97-AF65-F5344CB8AC3E}">
        <p14:creationId xmlns:p14="http://schemas.microsoft.com/office/powerpoint/2010/main" val="2556431647"/>
      </p:ext>
    </p:extLst>
  </p:cSld>
  <p:clrMapOvr>
    <a:masterClrMapping/>
  </p:clrMapOvr>
  <p:transition spd="med">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8720" name="Object 3"/>
          <p:cNvGraphicFramePr>
            <a:graphicFrameLocks noGrp="1" noChangeAspect="1"/>
          </p:cNvGraphicFramePr>
          <p:nvPr>
            <p:ph/>
          </p:nvPr>
        </p:nvGraphicFramePr>
        <p:xfrm>
          <a:off x="4260850" y="3067050"/>
          <a:ext cx="622300" cy="190500"/>
        </p:xfrm>
        <a:graphic>
          <a:graphicData uri="http://schemas.openxmlformats.org/presentationml/2006/ole">
            <mc:AlternateContent xmlns:mc="http://schemas.openxmlformats.org/markup-compatibility/2006">
              <mc:Choice xmlns:v="urn:schemas-microsoft-com:vml" Requires="v">
                <p:oleObj name="Equation" r:id="rId2" imgW="622080" imgH="190440" progId="">
                  <p:embed/>
                </p:oleObj>
              </mc:Choice>
              <mc:Fallback>
                <p:oleObj name="Equation" r:id="rId2" imgW="622080" imgH="190440" progId="">
                  <p:embed/>
                  <p:pic>
                    <p:nvPicPr>
                      <p:cNvPr id="57872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0850" y="3067050"/>
                        <a:ext cx="622300"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8564" name="Group 4"/>
          <p:cNvGraphicFramePr>
            <a:graphicFrameLocks noGrp="1"/>
          </p:cNvGraphicFramePr>
          <p:nvPr/>
        </p:nvGraphicFramePr>
        <p:xfrm>
          <a:off x="573088" y="2932113"/>
          <a:ext cx="2952750" cy="3097214"/>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590550">
                  <a:extLst>
                    <a:ext uri="{9D8B030D-6E8A-4147-A177-3AD203B41FA5}">
                      <a16:colId xmlns:a16="http://schemas.microsoft.com/office/drawing/2014/main" val="20004"/>
                    </a:ext>
                  </a:extLst>
                </a:gridCol>
              </a:tblGrid>
              <a:tr h="6207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dirty="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dirty="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91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07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9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07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dirty="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78602" name="Text Box 42"/>
          <p:cNvSpPr txBox="1">
            <a:spLocks noChangeArrowheads="1"/>
          </p:cNvSpPr>
          <p:nvPr/>
        </p:nvSpPr>
        <p:spPr bwMode="auto">
          <a:xfrm>
            <a:off x="668338" y="4948238"/>
            <a:ext cx="336550" cy="457200"/>
          </a:xfrm>
          <a:prstGeom prst="rect">
            <a:avLst/>
          </a:prstGeom>
          <a:noFill/>
          <a:ln w="0">
            <a:noFill/>
            <a:miter lim="800000"/>
            <a:headEnd/>
            <a:tailEnd/>
          </a:ln>
        </p:spPr>
        <p:txBody>
          <a:bodyPr wrap="none">
            <a:spAutoFit/>
          </a:bodyPr>
          <a:lstStyle/>
          <a:p>
            <a:r>
              <a:rPr lang="en-US" sz="2400" b="1">
                <a:solidFill>
                  <a:srgbClr val="0000FF"/>
                </a:solidFill>
                <a:latin typeface="Times New Roman" pitchFamily="18" charset="0"/>
              </a:rPr>
              <a:t>1</a:t>
            </a:r>
          </a:p>
        </p:txBody>
      </p:sp>
      <p:sp>
        <p:nvSpPr>
          <p:cNvPr id="578603" name="Text Box 43"/>
          <p:cNvSpPr txBox="1">
            <a:spLocks noChangeArrowheads="1"/>
          </p:cNvSpPr>
          <p:nvPr/>
        </p:nvSpPr>
        <p:spPr bwMode="auto">
          <a:xfrm>
            <a:off x="1101725" y="4995863"/>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2</a:t>
            </a:r>
            <a:endParaRPr lang="en-US" sz="2400" b="1">
              <a:solidFill>
                <a:srgbClr val="0000FF"/>
              </a:solidFill>
              <a:latin typeface="Times New Roman" pitchFamily="18" charset="0"/>
            </a:endParaRPr>
          </a:p>
        </p:txBody>
      </p:sp>
      <p:sp>
        <p:nvSpPr>
          <p:cNvPr id="578604" name="Text Box 44"/>
          <p:cNvSpPr txBox="1">
            <a:spLocks noChangeArrowheads="1"/>
          </p:cNvSpPr>
          <p:nvPr/>
        </p:nvSpPr>
        <p:spPr bwMode="auto">
          <a:xfrm>
            <a:off x="1220788" y="3122613"/>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3</a:t>
            </a:r>
            <a:endParaRPr lang="en-US" sz="2400" b="1">
              <a:solidFill>
                <a:srgbClr val="0000FF"/>
              </a:solidFill>
              <a:latin typeface="Times New Roman" pitchFamily="18" charset="0"/>
            </a:endParaRPr>
          </a:p>
        </p:txBody>
      </p:sp>
      <p:sp>
        <p:nvSpPr>
          <p:cNvPr id="578605" name="Text Box 45"/>
          <p:cNvSpPr txBox="1">
            <a:spLocks noChangeArrowheads="1"/>
          </p:cNvSpPr>
          <p:nvPr/>
        </p:nvSpPr>
        <p:spPr bwMode="auto">
          <a:xfrm>
            <a:off x="1365250" y="3436938"/>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4</a:t>
            </a:r>
            <a:endParaRPr lang="en-US" sz="2400" b="1">
              <a:solidFill>
                <a:srgbClr val="0000FF"/>
              </a:solidFill>
              <a:latin typeface="Times New Roman" pitchFamily="18" charset="0"/>
            </a:endParaRPr>
          </a:p>
        </p:txBody>
      </p:sp>
      <p:sp>
        <p:nvSpPr>
          <p:cNvPr id="578606" name="Text Box 46"/>
          <p:cNvSpPr txBox="1">
            <a:spLocks noChangeArrowheads="1"/>
          </p:cNvSpPr>
          <p:nvPr/>
        </p:nvSpPr>
        <p:spPr bwMode="auto">
          <a:xfrm>
            <a:off x="2662238" y="4059238"/>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5</a:t>
            </a:r>
            <a:endParaRPr lang="en-US" sz="2400" b="1">
              <a:solidFill>
                <a:srgbClr val="0000FF"/>
              </a:solidFill>
              <a:latin typeface="Times New Roman" pitchFamily="18" charset="0"/>
            </a:endParaRPr>
          </a:p>
        </p:txBody>
      </p:sp>
      <p:sp>
        <p:nvSpPr>
          <p:cNvPr id="578607" name="Text Box 47"/>
          <p:cNvSpPr txBox="1">
            <a:spLocks noChangeArrowheads="1"/>
          </p:cNvSpPr>
          <p:nvPr/>
        </p:nvSpPr>
        <p:spPr bwMode="auto">
          <a:xfrm>
            <a:off x="2878138" y="4706938"/>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6</a:t>
            </a:r>
            <a:endParaRPr lang="en-US" sz="2400" b="1">
              <a:solidFill>
                <a:srgbClr val="0000FF"/>
              </a:solidFill>
              <a:latin typeface="Times New Roman" pitchFamily="18" charset="0"/>
            </a:endParaRPr>
          </a:p>
        </p:txBody>
      </p:sp>
      <p:graphicFrame>
        <p:nvGraphicFramePr>
          <p:cNvPr id="578712" name="Group 152"/>
          <p:cNvGraphicFramePr>
            <a:graphicFrameLocks noGrp="1"/>
          </p:cNvGraphicFramePr>
          <p:nvPr/>
        </p:nvGraphicFramePr>
        <p:xfrm>
          <a:off x="4103688" y="2932113"/>
          <a:ext cx="2951162" cy="3149601"/>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88962">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590550">
                  <a:extLst>
                    <a:ext uri="{9D8B030D-6E8A-4147-A177-3AD203B41FA5}">
                      <a16:colId xmlns:a16="http://schemas.microsoft.com/office/drawing/2014/main" val="20004"/>
                    </a:ext>
                  </a:extLst>
                </a:gridCol>
              </a:tblGrid>
              <a:tr h="6191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78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91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436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91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78670" name="Line 110"/>
          <p:cNvSpPr>
            <a:spLocks noChangeShapeType="1"/>
          </p:cNvSpPr>
          <p:nvPr/>
        </p:nvSpPr>
        <p:spPr bwMode="auto">
          <a:xfrm flipH="1" flipV="1">
            <a:off x="788988" y="3076575"/>
            <a:ext cx="576262" cy="77788"/>
          </a:xfrm>
          <a:prstGeom prst="line">
            <a:avLst/>
          </a:prstGeom>
          <a:noFill/>
          <a:ln w="19050">
            <a:solidFill>
              <a:srgbClr val="FF0000"/>
            </a:solidFill>
            <a:round/>
            <a:headEnd/>
            <a:tailEnd type="triangle" w="med" len="med"/>
          </a:ln>
        </p:spPr>
        <p:txBody>
          <a:bodyPr/>
          <a:lstStyle/>
          <a:p>
            <a:endParaRPr lang="tr-TR"/>
          </a:p>
        </p:txBody>
      </p:sp>
      <p:sp>
        <p:nvSpPr>
          <p:cNvPr id="578671" name="Oval 111"/>
          <p:cNvSpPr>
            <a:spLocks noChangeArrowheads="1"/>
          </p:cNvSpPr>
          <p:nvPr/>
        </p:nvSpPr>
        <p:spPr bwMode="auto">
          <a:xfrm>
            <a:off x="1293813" y="3074988"/>
            <a:ext cx="144462" cy="144462"/>
          </a:xfrm>
          <a:prstGeom prst="ellipse">
            <a:avLst/>
          </a:prstGeom>
          <a:solidFill>
            <a:schemeClr val="tx1"/>
          </a:solidFill>
          <a:ln w="9525" algn="ctr">
            <a:solidFill>
              <a:schemeClr val="tx1"/>
            </a:solidFill>
            <a:round/>
            <a:headEnd/>
            <a:tailEnd/>
          </a:ln>
        </p:spPr>
        <p:txBody>
          <a:bodyPr wrap="none" anchor="ctr"/>
          <a:lstStyle/>
          <a:p>
            <a:endParaRPr lang="tr-TR">
              <a:latin typeface="Verdana" pitchFamily="34" charset="0"/>
            </a:endParaRPr>
          </a:p>
        </p:txBody>
      </p:sp>
      <p:sp>
        <p:nvSpPr>
          <p:cNvPr id="578672" name="Oval 112"/>
          <p:cNvSpPr>
            <a:spLocks noChangeArrowheads="1"/>
          </p:cNvSpPr>
          <p:nvPr/>
        </p:nvSpPr>
        <p:spPr bwMode="auto">
          <a:xfrm>
            <a:off x="717550" y="2500313"/>
            <a:ext cx="1295400" cy="1368425"/>
          </a:xfrm>
          <a:prstGeom prst="ellipse">
            <a:avLst/>
          </a:prstGeom>
          <a:noFill/>
          <a:ln w="19050" algn="ctr">
            <a:solidFill>
              <a:schemeClr val="tx1"/>
            </a:solidFill>
            <a:prstDash val="dash"/>
            <a:round/>
            <a:headEnd/>
            <a:tailEnd/>
          </a:ln>
        </p:spPr>
        <p:txBody>
          <a:bodyPr wrap="none" anchor="ctr"/>
          <a:lstStyle/>
          <a:p>
            <a:endParaRPr lang="tr-TR">
              <a:latin typeface="Verdana" pitchFamily="34" charset="0"/>
            </a:endParaRPr>
          </a:p>
        </p:txBody>
      </p:sp>
      <p:sp>
        <p:nvSpPr>
          <p:cNvPr id="578673" name="Line 113"/>
          <p:cNvSpPr>
            <a:spLocks noChangeShapeType="1"/>
          </p:cNvSpPr>
          <p:nvPr/>
        </p:nvSpPr>
        <p:spPr bwMode="auto">
          <a:xfrm>
            <a:off x="1725613" y="3586163"/>
            <a:ext cx="431800" cy="427037"/>
          </a:xfrm>
          <a:prstGeom prst="line">
            <a:avLst/>
          </a:prstGeom>
          <a:noFill/>
          <a:ln w="19050">
            <a:solidFill>
              <a:srgbClr val="FF0000"/>
            </a:solidFill>
            <a:round/>
            <a:headEnd/>
            <a:tailEnd type="triangle" w="med" len="med"/>
          </a:ln>
        </p:spPr>
        <p:txBody>
          <a:bodyPr/>
          <a:lstStyle/>
          <a:p>
            <a:endParaRPr lang="tr-TR"/>
          </a:p>
        </p:txBody>
      </p:sp>
      <p:sp>
        <p:nvSpPr>
          <p:cNvPr id="578674" name="Oval 114"/>
          <p:cNvSpPr>
            <a:spLocks noChangeArrowheads="1"/>
          </p:cNvSpPr>
          <p:nvPr/>
        </p:nvSpPr>
        <p:spPr bwMode="auto">
          <a:xfrm>
            <a:off x="1654175" y="3506788"/>
            <a:ext cx="144463" cy="144462"/>
          </a:xfrm>
          <a:prstGeom prst="ellipse">
            <a:avLst/>
          </a:prstGeom>
          <a:solidFill>
            <a:schemeClr val="tx1"/>
          </a:solidFill>
          <a:ln w="9525" algn="ctr">
            <a:solidFill>
              <a:schemeClr val="tx1"/>
            </a:solidFill>
            <a:round/>
            <a:headEnd/>
            <a:tailEnd/>
          </a:ln>
        </p:spPr>
        <p:txBody>
          <a:bodyPr wrap="none" anchor="ctr"/>
          <a:lstStyle/>
          <a:p>
            <a:endParaRPr lang="tr-TR">
              <a:latin typeface="Verdana" pitchFamily="34" charset="0"/>
            </a:endParaRPr>
          </a:p>
        </p:txBody>
      </p:sp>
      <p:sp>
        <p:nvSpPr>
          <p:cNvPr id="578676" name="Line 116"/>
          <p:cNvSpPr>
            <a:spLocks noChangeShapeType="1"/>
          </p:cNvSpPr>
          <p:nvPr/>
        </p:nvSpPr>
        <p:spPr bwMode="auto">
          <a:xfrm flipV="1">
            <a:off x="1293813" y="4445000"/>
            <a:ext cx="71437" cy="581025"/>
          </a:xfrm>
          <a:prstGeom prst="line">
            <a:avLst/>
          </a:prstGeom>
          <a:noFill/>
          <a:ln w="19050">
            <a:solidFill>
              <a:srgbClr val="FF0000"/>
            </a:solidFill>
            <a:round/>
            <a:headEnd/>
            <a:tailEnd type="triangle" w="med" len="med"/>
          </a:ln>
        </p:spPr>
        <p:txBody>
          <a:bodyPr/>
          <a:lstStyle/>
          <a:p>
            <a:endParaRPr lang="tr-TR"/>
          </a:p>
        </p:txBody>
      </p:sp>
      <p:sp>
        <p:nvSpPr>
          <p:cNvPr id="578677" name="Oval 117"/>
          <p:cNvSpPr>
            <a:spLocks noChangeArrowheads="1"/>
          </p:cNvSpPr>
          <p:nvPr/>
        </p:nvSpPr>
        <p:spPr bwMode="auto">
          <a:xfrm>
            <a:off x="1222375" y="4946650"/>
            <a:ext cx="144463" cy="144463"/>
          </a:xfrm>
          <a:prstGeom prst="ellipse">
            <a:avLst/>
          </a:prstGeom>
          <a:solidFill>
            <a:schemeClr val="tx1"/>
          </a:solidFill>
          <a:ln w="9525" algn="ctr">
            <a:solidFill>
              <a:schemeClr val="tx1"/>
            </a:solidFill>
            <a:round/>
            <a:headEnd/>
            <a:tailEnd/>
          </a:ln>
        </p:spPr>
        <p:txBody>
          <a:bodyPr wrap="none" anchor="ctr"/>
          <a:lstStyle/>
          <a:p>
            <a:endParaRPr lang="tr-TR">
              <a:latin typeface="Verdana" pitchFamily="34" charset="0"/>
            </a:endParaRPr>
          </a:p>
        </p:txBody>
      </p:sp>
      <p:sp>
        <p:nvSpPr>
          <p:cNvPr id="578679" name="Line 119"/>
          <p:cNvSpPr>
            <a:spLocks noChangeShapeType="1"/>
          </p:cNvSpPr>
          <p:nvPr/>
        </p:nvSpPr>
        <p:spPr bwMode="auto">
          <a:xfrm flipH="1">
            <a:off x="212725" y="5459413"/>
            <a:ext cx="576263" cy="209550"/>
          </a:xfrm>
          <a:prstGeom prst="line">
            <a:avLst/>
          </a:prstGeom>
          <a:noFill/>
          <a:ln w="19050">
            <a:solidFill>
              <a:srgbClr val="FF0000"/>
            </a:solidFill>
            <a:round/>
            <a:headEnd/>
            <a:tailEnd type="triangle" w="med" len="med"/>
          </a:ln>
        </p:spPr>
        <p:txBody>
          <a:bodyPr/>
          <a:lstStyle/>
          <a:p>
            <a:endParaRPr lang="tr-TR"/>
          </a:p>
        </p:txBody>
      </p:sp>
      <p:sp>
        <p:nvSpPr>
          <p:cNvPr id="578680" name="Oval 120"/>
          <p:cNvSpPr>
            <a:spLocks noChangeArrowheads="1"/>
          </p:cNvSpPr>
          <p:nvPr/>
        </p:nvSpPr>
        <p:spPr bwMode="auto">
          <a:xfrm>
            <a:off x="717550" y="5380038"/>
            <a:ext cx="144463" cy="144462"/>
          </a:xfrm>
          <a:prstGeom prst="ellipse">
            <a:avLst/>
          </a:prstGeom>
          <a:solidFill>
            <a:schemeClr val="tx1"/>
          </a:solidFill>
          <a:ln w="9525" algn="ctr">
            <a:solidFill>
              <a:schemeClr val="tx1"/>
            </a:solidFill>
            <a:round/>
            <a:headEnd/>
            <a:tailEnd/>
          </a:ln>
        </p:spPr>
        <p:txBody>
          <a:bodyPr wrap="none" anchor="ctr"/>
          <a:lstStyle/>
          <a:p>
            <a:endParaRPr lang="tr-TR">
              <a:latin typeface="Verdana" pitchFamily="34" charset="0"/>
            </a:endParaRPr>
          </a:p>
        </p:txBody>
      </p:sp>
      <p:sp>
        <p:nvSpPr>
          <p:cNvPr id="578682" name="Line 122"/>
          <p:cNvSpPr>
            <a:spLocks noChangeShapeType="1"/>
          </p:cNvSpPr>
          <p:nvPr/>
        </p:nvSpPr>
        <p:spPr bwMode="auto">
          <a:xfrm flipV="1">
            <a:off x="3021013" y="3868738"/>
            <a:ext cx="288925" cy="581025"/>
          </a:xfrm>
          <a:prstGeom prst="line">
            <a:avLst/>
          </a:prstGeom>
          <a:noFill/>
          <a:ln w="19050">
            <a:solidFill>
              <a:srgbClr val="FF0000"/>
            </a:solidFill>
            <a:round/>
            <a:headEnd/>
            <a:tailEnd type="triangle" w="med" len="med"/>
          </a:ln>
        </p:spPr>
        <p:txBody>
          <a:bodyPr/>
          <a:lstStyle/>
          <a:p>
            <a:endParaRPr lang="tr-TR"/>
          </a:p>
        </p:txBody>
      </p:sp>
      <p:sp>
        <p:nvSpPr>
          <p:cNvPr id="578683" name="Oval 123"/>
          <p:cNvSpPr>
            <a:spLocks noChangeArrowheads="1"/>
          </p:cNvSpPr>
          <p:nvPr/>
        </p:nvSpPr>
        <p:spPr bwMode="auto">
          <a:xfrm>
            <a:off x="2951163" y="4370388"/>
            <a:ext cx="144462" cy="144462"/>
          </a:xfrm>
          <a:prstGeom prst="ellipse">
            <a:avLst/>
          </a:prstGeom>
          <a:solidFill>
            <a:schemeClr val="tx1"/>
          </a:solidFill>
          <a:ln w="9525" algn="ctr">
            <a:solidFill>
              <a:schemeClr val="tx1"/>
            </a:solidFill>
            <a:round/>
            <a:headEnd/>
            <a:tailEnd/>
          </a:ln>
        </p:spPr>
        <p:txBody>
          <a:bodyPr wrap="none" anchor="ctr"/>
          <a:lstStyle/>
          <a:p>
            <a:endParaRPr lang="tr-TR">
              <a:latin typeface="Verdana" pitchFamily="34" charset="0"/>
            </a:endParaRPr>
          </a:p>
        </p:txBody>
      </p:sp>
      <p:sp>
        <p:nvSpPr>
          <p:cNvPr id="578685" name="Line 125"/>
          <p:cNvSpPr>
            <a:spLocks noChangeShapeType="1"/>
          </p:cNvSpPr>
          <p:nvPr/>
        </p:nvSpPr>
        <p:spPr bwMode="auto">
          <a:xfrm flipH="1">
            <a:off x="3236913" y="5099050"/>
            <a:ext cx="0" cy="569913"/>
          </a:xfrm>
          <a:prstGeom prst="line">
            <a:avLst/>
          </a:prstGeom>
          <a:noFill/>
          <a:ln w="19050">
            <a:solidFill>
              <a:srgbClr val="FF0000"/>
            </a:solidFill>
            <a:round/>
            <a:headEnd/>
            <a:tailEnd type="triangle" w="med" len="med"/>
          </a:ln>
        </p:spPr>
        <p:txBody>
          <a:bodyPr/>
          <a:lstStyle/>
          <a:p>
            <a:endParaRPr lang="tr-TR"/>
          </a:p>
        </p:txBody>
      </p:sp>
      <p:sp>
        <p:nvSpPr>
          <p:cNvPr id="578686" name="Oval 126"/>
          <p:cNvSpPr>
            <a:spLocks noChangeArrowheads="1"/>
          </p:cNvSpPr>
          <p:nvPr/>
        </p:nvSpPr>
        <p:spPr bwMode="auto">
          <a:xfrm>
            <a:off x="3165475" y="5019675"/>
            <a:ext cx="144463" cy="144463"/>
          </a:xfrm>
          <a:prstGeom prst="ellipse">
            <a:avLst/>
          </a:prstGeom>
          <a:solidFill>
            <a:schemeClr val="tx1"/>
          </a:solidFill>
          <a:ln w="9525" algn="ctr">
            <a:solidFill>
              <a:schemeClr val="tx1"/>
            </a:solidFill>
            <a:round/>
            <a:headEnd/>
            <a:tailEnd/>
          </a:ln>
        </p:spPr>
        <p:txBody>
          <a:bodyPr wrap="none" anchor="ctr"/>
          <a:lstStyle/>
          <a:p>
            <a:endParaRPr lang="tr-TR">
              <a:latin typeface="Verdana" pitchFamily="34" charset="0"/>
            </a:endParaRPr>
          </a:p>
        </p:txBody>
      </p:sp>
      <p:sp>
        <p:nvSpPr>
          <p:cNvPr id="578689" name="Oval 129"/>
          <p:cNvSpPr>
            <a:spLocks noChangeArrowheads="1"/>
          </p:cNvSpPr>
          <p:nvPr/>
        </p:nvSpPr>
        <p:spPr bwMode="auto">
          <a:xfrm>
            <a:off x="1077913" y="2860675"/>
            <a:ext cx="1295400" cy="1368425"/>
          </a:xfrm>
          <a:prstGeom prst="ellipse">
            <a:avLst/>
          </a:prstGeom>
          <a:noFill/>
          <a:ln w="19050" algn="ctr">
            <a:solidFill>
              <a:schemeClr val="tx1"/>
            </a:solidFill>
            <a:prstDash val="dash"/>
            <a:round/>
            <a:headEnd/>
            <a:tailEnd/>
          </a:ln>
        </p:spPr>
        <p:txBody>
          <a:bodyPr wrap="none" anchor="ctr"/>
          <a:lstStyle/>
          <a:p>
            <a:endParaRPr lang="tr-TR">
              <a:latin typeface="Verdana" pitchFamily="34" charset="0"/>
            </a:endParaRPr>
          </a:p>
        </p:txBody>
      </p:sp>
      <p:sp>
        <p:nvSpPr>
          <p:cNvPr id="578690" name="Oval 130"/>
          <p:cNvSpPr>
            <a:spLocks noChangeArrowheads="1"/>
          </p:cNvSpPr>
          <p:nvPr/>
        </p:nvSpPr>
        <p:spPr bwMode="auto">
          <a:xfrm>
            <a:off x="142875" y="4732338"/>
            <a:ext cx="1295400" cy="1368425"/>
          </a:xfrm>
          <a:prstGeom prst="ellipse">
            <a:avLst/>
          </a:prstGeom>
          <a:noFill/>
          <a:ln w="19050" algn="ctr">
            <a:solidFill>
              <a:schemeClr val="tx1"/>
            </a:solidFill>
            <a:prstDash val="dash"/>
            <a:round/>
            <a:headEnd/>
            <a:tailEnd/>
          </a:ln>
        </p:spPr>
        <p:txBody>
          <a:bodyPr wrap="none" anchor="ctr"/>
          <a:lstStyle/>
          <a:p>
            <a:endParaRPr lang="tr-TR">
              <a:latin typeface="Verdana" pitchFamily="34" charset="0"/>
            </a:endParaRPr>
          </a:p>
        </p:txBody>
      </p:sp>
      <p:sp>
        <p:nvSpPr>
          <p:cNvPr id="578691" name="Oval 131"/>
          <p:cNvSpPr>
            <a:spLocks noChangeArrowheads="1"/>
          </p:cNvSpPr>
          <p:nvPr/>
        </p:nvSpPr>
        <p:spPr bwMode="auto">
          <a:xfrm>
            <a:off x="646113" y="4371975"/>
            <a:ext cx="1295400" cy="1368425"/>
          </a:xfrm>
          <a:prstGeom prst="ellipse">
            <a:avLst/>
          </a:prstGeom>
          <a:noFill/>
          <a:ln w="19050" algn="ctr">
            <a:solidFill>
              <a:schemeClr val="tx1"/>
            </a:solidFill>
            <a:prstDash val="dash"/>
            <a:round/>
            <a:headEnd/>
            <a:tailEnd/>
          </a:ln>
        </p:spPr>
        <p:txBody>
          <a:bodyPr wrap="none" anchor="ctr"/>
          <a:lstStyle/>
          <a:p>
            <a:endParaRPr lang="tr-TR">
              <a:latin typeface="Verdana" pitchFamily="34" charset="0"/>
            </a:endParaRPr>
          </a:p>
        </p:txBody>
      </p:sp>
      <p:sp>
        <p:nvSpPr>
          <p:cNvPr id="578692" name="Oval 132"/>
          <p:cNvSpPr>
            <a:spLocks noChangeArrowheads="1"/>
          </p:cNvSpPr>
          <p:nvPr/>
        </p:nvSpPr>
        <p:spPr bwMode="auto">
          <a:xfrm>
            <a:off x="2374900" y="3724275"/>
            <a:ext cx="1295400" cy="1368425"/>
          </a:xfrm>
          <a:prstGeom prst="ellipse">
            <a:avLst/>
          </a:prstGeom>
          <a:noFill/>
          <a:ln w="19050" algn="ctr">
            <a:solidFill>
              <a:schemeClr val="tx1"/>
            </a:solidFill>
            <a:prstDash val="dash"/>
            <a:round/>
            <a:headEnd/>
            <a:tailEnd/>
          </a:ln>
        </p:spPr>
        <p:txBody>
          <a:bodyPr wrap="none" anchor="ctr"/>
          <a:lstStyle/>
          <a:p>
            <a:endParaRPr lang="tr-TR">
              <a:latin typeface="Verdana" pitchFamily="34" charset="0"/>
            </a:endParaRPr>
          </a:p>
        </p:txBody>
      </p:sp>
      <p:sp>
        <p:nvSpPr>
          <p:cNvPr id="578693" name="Oval 133"/>
          <p:cNvSpPr>
            <a:spLocks noChangeArrowheads="1"/>
          </p:cNvSpPr>
          <p:nvPr/>
        </p:nvSpPr>
        <p:spPr bwMode="auto">
          <a:xfrm>
            <a:off x="2590800" y="4371975"/>
            <a:ext cx="1295400" cy="1368425"/>
          </a:xfrm>
          <a:prstGeom prst="ellipse">
            <a:avLst/>
          </a:prstGeom>
          <a:noFill/>
          <a:ln w="19050" algn="ctr">
            <a:solidFill>
              <a:schemeClr val="tx1"/>
            </a:solidFill>
            <a:prstDash val="dash"/>
            <a:round/>
            <a:headEnd/>
            <a:tailEnd/>
          </a:ln>
        </p:spPr>
        <p:txBody>
          <a:bodyPr wrap="none" anchor="ctr"/>
          <a:lstStyle/>
          <a:p>
            <a:endParaRPr lang="tr-TR">
              <a:latin typeface="Verdana" pitchFamily="34" charset="0"/>
            </a:endParaRPr>
          </a:p>
        </p:txBody>
      </p:sp>
      <p:sp>
        <p:nvSpPr>
          <p:cNvPr id="578694" name="Text Box 134"/>
          <p:cNvSpPr txBox="1">
            <a:spLocks noChangeArrowheads="1"/>
          </p:cNvSpPr>
          <p:nvPr/>
        </p:nvSpPr>
        <p:spPr bwMode="auto">
          <a:xfrm>
            <a:off x="4198938" y="4948238"/>
            <a:ext cx="336550" cy="457200"/>
          </a:xfrm>
          <a:prstGeom prst="rect">
            <a:avLst/>
          </a:prstGeom>
          <a:noFill/>
          <a:ln w="0">
            <a:noFill/>
            <a:miter lim="800000"/>
            <a:headEnd/>
            <a:tailEnd/>
          </a:ln>
        </p:spPr>
        <p:txBody>
          <a:bodyPr wrap="none">
            <a:spAutoFit/>
          </a:bodyPr>
          <a:lstStyle/>
          <a:p>
            <a:r>
              <a:rPr lang="en-US" sz="2400" b="1">
                <a:solidFill>
                  <a:srgbClr val="0000FF"/>
                </a:solidFill>
                <a:latin typeface="Times New Roman" pitchFamily="18" charset="0"/>
              </a:rPr>
              <a:t>1</a:t>
            </a:r>
          </a:p>
        </p:txBody>
      </p:sp>
      <p:sp>
        <p:nvSpPr>
          <p:cNvPr id="578695" name="Text Box 135"/>
          <p:cNvSpPr txBox="1">
            <a:spLocks noChangeArrowheads="1"/>
          </p:cNvSpPr>
          <p:nvPr/>
        </p:nvSpPr>
        <p:spPr bwMode="auto">
          <a:xfrm>
            <a:off x="4632325" y="4995863"/>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2</a:t>
            </a:r>
            <a:endParaRPr lang="en-US" sz="2400" b="1">
              <a:solidFill>
                <a:srgbClr val="0000FF"/>
              </a:solidFill>
              <a:latin typeface="Times New Roman" pitchFamily="18" charset="0"/>
            </a:endParaRPr>
          </a:p>
        </p:txBody>
      </p:sp>
      <p:sp>
        <p:nvSpPr>
          <p:cNvPr id="578696" name="Text Box 136"/>
          <p:cNvSpPr txBox="1">
            <a:spLocks noChangeArrowheads="1"/>
          </p:cNvSpPr>
          <p:nvPr/>
        </p:nvSpPr>
        <p:spPr bwMode="auto">
          <a:xfrm>
            <a:off x="4751388" y="3122613"/>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3</a:t>
            </a:r>
            <a:endParaRPr lang="en-US" sz="2400" b="1">
              <a:solidFill>
                <a:srgbClr val="0000FF"/>
              </a:solidFill>
              <a:latin typeface="Times New Roman" pitchFamily="18" charset="0"/>
            </a:endParaRPr>
          </a:p>
        </p:txBody>
      </p:sp>
      <p:sp>
        <p:nvSpPr>
          <p:cNvPr id="578697" name="Text Box 137"/>
          <p:cNvSpPr txBox="1">
            <a:spLocks noChangeArrowheads="1"/>
          </p:cNvSpPr>
          <p:nvPr/>
        </p:nvSpPr>
        <p:spPr bwMode="auto">
          <a:xfrm>
            <a:off x="4895850" y="3436938"/>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4</a:t>
            </a:r>
            <a:endParaRPr lang="en-US" sz="2400" b="1">
              <a:solidFill>
                <a:srgbClr val="0000FF"/>
              </a:solidFill>
              <a:latin typeface="Times New Roman" pitchFamily="18" charset="0"/>
            </a:endParaRPr>
          </a:p>
        </p:txBody>
      </p:sp>
      <p:sp>
        <p:nvSpPr>
          <p:cNvPr id="578698" name="Text Box 138"/>
          <p:cNvSpPr txBox="1">
            <a:spLocks noChangeArrowheads="1"/>
          </p:cNvSpPr>
          <p:nvPr/>
        </p:nvSpPr>
        <p:spPr bwMode="auto">
          <a:xfrm>
            <a:off x="6192838" y="4059238"/>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5</a:t>
            </a:r>
            <a:endParaRPr lang="en-US" sz="2400" b="1">
              <a:solidFill>
                <a:srgbClr val="0000FF"/>
              </a:solidFill>
              <a:latin typeface="Times New Roman" pitchFamily="18" charset="0"/>
            </a:endParaRPr>
          </a:p>
        </p:txBody>
      </p:sp>
      <p:sp>
        <p:nvSpPr>
          <p:cNvPr id="578699" name="Text Box 139"/>
          <p:cNvSpPr txBox="1">
            <a:spLocks noChangeArrowheads="1"/>
          </p:cNvSpPr>
          <p:nvPr/>
        </p:nvSpPr>
        <p:spPr bwMode="auto">
          <a:xfrm>
            <a:off x="6408738" y="4706938"/>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6</a:t>
            </a:r>
            <a:endParaRPr lang="en-US" sz="2400" b="1">
              <a:solidFill>
                <a:srgbClr val="0000FF"/>
              </a:solidFill>
              <a:latin typeface="Times New Roman" pitchFamily="18" charset="0"/>
            </a:endParaRPr>
          </a:p>
        </p:txBody>
      </p:sp>
      <p:sp>
        <p:nvSpPr>
          <p:cNvPr id="578701" name="Oval 141"/>
          <p:cNvSpPr>
            <a:spLocks noChangeArrowheads="1"/>
          </p:cNvSpPr>
          <p:nvPr/>
        </p:nvSpPr>
        <p:spPr bwMode="auto">
          <a:xfrm>
            <a:off x="4824413" y="3074988"/>
            <a:ext cx="144462" cy="144462"/>
          </a:xfrm>
          <a:prstGeom prst="ellipse">
            <a:avLst/>
          </a:prstGeom>
          <a:solidFill>
            <a:srgbClr val="FF0000"/>
          </a:solidFill>
          <a:ln w="9525" algn="ctr">
            <a:solidFill>
              <a:srgbClr val="FF0000"/>
            </a:solidFill>
            <a:round/>
            <a:headEnd/>
            <a:tailEnd/>
          </a:ln>
        </p:spPr>
        <p:txBody>
          <a:bodyPr wrap="none" anchor="ctr"/>
          <a:lstStyle/>
          <a:p>
            <a:endParaRPr lang="tr-TR">
              <a:latin typeface="Verdana" pitchFamily="34" charset="0"/>
            </a:endParaRPr>
          </a:p>
        </p:txBody>
      </p:sp>
      <p:sp>
        <p:nvSpPr>
          <p:cNvPr id="578703" name="Oval 143"/>
          <p:cNvSpPr>
            <a:spLocks noChangeArrowheads="1"/>
          </p:cNvSpPr>
          <p:nvPr/>
        </p:nvSpPr>
        <p:spPr bwMode="auto">
          <a:xfrm>
            <a:off x="5184775" y="3506788"/>
            <a:ext cx="144463" cy="144462"/>
          </a:xfrm>
          <a:prstGeom prst="ellipse">
            <a:avLst/>
          </a:prstGeom>
          <a:solidFill>
            <a:srgbClr val="FF0000"/>
          </a:solidFill>
          <a:ln w="9525" algn="ctr">
            <a:solidFill>
              <a:srgbClr val="FF0000"/>
            </a:solidFill>
            <a:round/>
            <a:headEnd/>
            <a:tailEnd/>
          </a:ln>
        </p:spPr>
        <p:txBody>
          <a:bodyPr wrap="none" anchor="ctr"/>
          <a:lstStyle/>
          <a:p>
            <a:endParaRPr lang="tr-TR">
              <a:latin typeface="Verdana" pitchFamily="34" charset="0"/>
            </a:endParaRPr>
          </a:p>
        </p:txBody>
      </p:sp>
      <p:sp>
        <p:nvSpPr>
          <p:cNvPr id="578705" name="Oval 145"/>
          <p:cNvSpPr>
            <a:spLocks noChangeArrowheads="1"/>
          </p:cNvSpPr>
          <p:nvPr/>
        </p:nvSpPr>
        <p:spPr bwMode="auto">
          <a:xfrm>
            <a:off x="4752975" y="4946650"/>
            <a:ext cx="144463" cy="144463"/>
          </a:xfrm>
          <a:prstGeom prst="ellipse">
            <a:avLst/>
          </a:prstGeom>
          <a:solidFill>
            <a:srgbClr val="FF00FF"/>
          </a:solidFill>
          <a:ln w="9525" algn="ctr">
            <a:solidFill>
              <a:srgbClr val="FF00FF"/>
            </a:solidFill>
            <a:round/>
            <a:headEnd/>
            <a:tailEnd/>
          </a:ln>
        </p:spPr>
        <p:txBody>
          <a:bodyPr wrap="none" anchor="ctr"/>
          <a:lstStyle/>
          <a:p>
            <a:endParaRPr lang="tr-TR">
              <a:latin typeface="Verdana" pitchFamily="34" charset="0"/>
            </a:endParaRPr>
          </a:p>
        </p:txBody>
      </p:sp>
      <p:sp>
        <p:nvSpPr>
          <p:cNvPr id="578706" name="Oval 146"/>
          <p:cNvSpPr>
            <a:spLocks noChangeArrowheads="1"/>
          </p:cNvSpPr>
          <p:nvPr/>
        </p:nvSpPr>
        <p:spPr bwMode="auto">
          <a:xfrm>
            <a:off x="4248150" y="5380038"/>
            <a:ext cx="144463" cy="144462"/>
          </a:xfrm>
          <a:prstGeom prst="ellipse">
            <a:avLst/>
          </a:prstGeom>
          <a:solidFill>
            <a:srgbClr val="FF00FF"/>
          </a:solidFill>
          <a:ln w="9525" algn="ctr">
            <a:solidFill>
              <a:srgbClr val="FF00FF"/>
            </a:solidFill>
            <a:round/>
            <a:headEnd/>
            <a:tailEnd/>
          </a:ln>
        </p:spPr>
        <p:txBody>
          <a:bodyPr wrap="none" anchor="ctr"/>
          <a:lstStyle/>
          <a:p>
            <a:endParaRPr lang="tr-TR">
              <a:latin typeface="Verdana" pitchFamily="34" charset="0"/>
            </a:endParaRPr>
          </a:p>
        </p:txBody>
      </p:sp>
      <p:sp>
        <p:nvSpPr>
          <p:cNvPr id="578708" name="Oval 148"/>
          <p:cNvSpPr>
            <a:spLocks noChangeArrowheads="1"/>
          </p:cNvSpPr>
          <p:nvPr/>
        </p:nvSpPr>
        <p:spPr bwMode="auto">
          <a:xfrm>
            <a:off x="6481763" y="4370388"/>
            <a:ext cx="144462" cy="144462"/>
          </a:xfrm>
          <a:prstGeom prst="ellipse">
            <a:avLst/>
          </a:prstGeom>
          <a:solidFill>
            <a:srgbClr val="00FF00"/>
          </a:solidFill>
          <a:ln w="9525" algn="ctr">
            <a:solidFill>
              <a:srgbClr val="00FF00"/>
            </a:solidFill>
            <a:round/>
            <a:headEnd/>
            <a:tailEnd/>
          </a:ln>
        </p:spPr>
        <p:txBody>
          <a:bodyPr wrap="none" anchor="ctr"/>
          <a:lstStyle/>
          <a:p>
            <a:endParaRPr lang="tr-TR">
              <a:latin typeface="Verdana" pitchFamily="34" charset="0"/>
            </a:endParaRPr>
          </a:p>
        </p:txBody>
      </p:sp>
      <p:sp>
        <p:nvSpPr>
          <p:cNvPr id="578709" name="Oval 149"/>
          <p:cNvSpPr>
            <a:spLocks noChangeArrowheads="1"/>
          </p:cNvSpPr>
          <p:nvPr/>
        </p:nvSpPr>
        <p:spPr bwMode="auto">
          <a:xfrm>
            <a:off x="6696075" y="5019675"/>
            <a:ext cx="144463" cy="144463"/>
          </a:xfrm>
          <a:prstGeom prst="ellipse">
            <a:avLst/>
          </a:prstGeom>
          <a:solidFill>
            <a:srgbClr val="00FF00"/>
          </a:solidFill>
          <a:ln w="9525" algn="ctr">
            <a:solidFill>
              <a:srgbClr val="00FF00"/>
            </a:solidFill>
            <a:round/>
            <a:headEnd/>
            <a:tailEnd/>
          </a:ln>
        </p:spPr>
        <p:txBody>
          <a:bodyPr wrap="none" anchor="ctr"/>
          <a:lstStyle/>
          <a:p>
            <a:endParaRPr lang="tr-TR">
              <a:latin typeface="Verdana" pitchFamily="34" charset="0"/>
            </a:endParaRPr>
          </a:p>
        </p:txBody>
      </p:sp>
      <p:graphicFrame>
        <p:nvGraphicFramePr>
          <p:cNvPr id="578713" name="Object 2"/>
          <p:cNvGraphicFramePr>
            <a:graphicFrameLocks noChangeAspect="1"/>
          </p:cNvGraphicFramePr>
          <p:nvPr/>
        </p:nvGraphicFramePr>
        <p:xfrm>
          <a:off x="7200900" y="4156075"/>
          <a:ext cx="588963" cy="1022350"/>
        </p:xfrm>
        <a:graphic>
          <a:graphicData uri="http://schemas.openxmlformats.org/presentationml/2006/ole">
            <mc:AlternateContent xmlns:mc="http://schemas.openxmlformats.org/markup-compatibility/2006">
              <mc:Choice xmlns:v="urn:schemas-microsoft-com:vml" Requires="v">
                <p:oleObj name="Equation" r:id="rId4" imgW="469800" imgH="711000" progId="">
                  <p:embed/>
                </p:oleObj>
              </mc:Choice>
              <mc:Fallback>
                <p:oleObj name="Equation" r:id="rId4" imgW="469800" imgH="711000" progId="">
                  <p:embed/>
                  <p:pic>
                    <p:nvPicPr>
                      <p:cNvPr id="57871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900" y="4156075"/>
                        <a:ext cx="588963"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8714" name="Line 154"/>
          <p:cNvSpPr>
            <a:spLocks noChangeShapeType="1"/>
          </p:cNvSpPr>
          <p:nvPr/>
        </p:nvSpPr>
        <p:spPr bwMode="auto">
          <a:xfrm>
            <a:off x="7786688" y="4300538"/>
            <a:ext cx="288925" cy="0"/>
          </a:xfrm>
          <a:prstGeom prst="line">
            <a:avLst/>
          </a:prstGeom>
          <a:noFill/>
          <a:ln w="9525">
            <a:solidFill>
              <a:schemeClr val="tx1"/>
            </a:solidFill>
            <a:round/>
            <a:headEnd/>
            <a:tailEnd type="triangle" w="med" len="med"/>
          </a:ln>
        </p:spPr>
        <p:txBody>
          <a:bodyPr/>
          <a:lstStyle/>
          <a:p>
            <a:endParaRPr lang="tr-TR"/>
          </a:p>
        </p:txBody>
      </p:sp>
      <p:sp>
        <p:nvSpPr>
          <p:cNvPr id="578715" name="Line 155"/>
          <p:cNvSpPr>
            <a:spLocks noChangeShapeType="1"/>
          </p:cNvSpPr>
          <p:nvPr/>
        </p:nvSpPr>
        <p:spPr bwMode="auto">
          <a:xfrm>
            <a:off x="7786688" y="4660900"/>
            <a:ext cx="288925" cy="0"/>
          </a:xfrm>
          <a:prstGeom prst="line">
            <a:avLst/>
          </a:prstGeom>
          <a:noFill/>
          <a:ln w="9525">
            <a:solidFill>
              <a:schemeClr val="tx1"/>
            </a:solidFill>
            <a:round/>
            <a:headEnd/>
            <a:tailEnd type="triangle" w="med" len="med"/>
          </a:ln>
        </p:spPr>
        <p:txBody>
          <a:bodyPr/>
          <a:lstStyle/>
          <a:p>
            <a:endParaRPr lang="tr-TR"/>
          </a:p>
        </p:txBody>
      </p:sp>
      <p:sp>
        <p:nvSpPr>
          <p:cNvPr id="578717" name="Rectangle 157"/>
          <p:cNvSpPr>
            <a:spLocks noChangeArrowheads="1"/>
          </p:cNvSpPr>
          <p:nvPr/>
        </p:nvSpPr>
        <p:spPr bwMode="auto">
          <a:xfrm>
            <a:off x="8021638" y="4097338"/>
            <a:ext cx="793750" cy="360362"/>
          </a:xfrm>
          <a:prstGeom prst="rect">
            <a:avLst/>
          </a:prstGeom>
          <a:noFill/>
          <a:ln w="9525">
            <a:noFill/>
            <a:miter lim="800000"/>
            <a:headEnd/>
            <a:tailEnd/>
          </a:ln>
          <a:effectLst/>
        </p:spPr>
        <p:txBody>
          <a:bodyPr wrap="none" anchor="ctr"/>
          <a:lstStyle/>
          <a:p>
            <a:pPr marL="342900" indent="-342900" fontAlgn="auto">
              <a:spcAft>
                <a:spcPts val="0"/>
              </a:spcAft>
              <a:defRPr/>
            </a:pPr>
            <a:r>
              <a:rPr lang="tr-TR" sz="1050">
                <a:latin typeface="+mn-lt"/>
              </a:rPr>
              <a:t>1. Küme</a:t>
            </a:r>
          </a:p>
        </p:txBody>
      </p:sp>
      <p:sp>
        <p:nvSpPr>
          <p:cNvPr id="578718" name="Rectangle 158"/>
          <p:cNvSpPr>
            <a:spLocks noChangeArrowheads="1"/>
          </p:cNvSpPr>
          <p:nvPr/>
        </p:nvSpPr>
        <p:spPr bwMode="auto">
          <a:xfrm>
            <a:off x="8021638" y="4457700"/>
            <a:ext cx="793750" cy="360363"/>
          </a:xfrm>
          <a:prstGeom prst="rect">
            <a:avLst/>
          </a:prstGeom>
          <a:noFill/>
          <a:ln w="9525">
            <a:noFill/>
            <a:miter lim="800000"/>
            <a:headEnd/>
            <a:tailEnd/>
          </a:ln>
          <a:effectLst/>
        </p:spPr>
        <p:txBody>
          <a:bodyPr wrap="none" anchor="ctr"/>
          <a:lstStyle/>
          <a:p>
            <a:pPr marL="342900" indent="-342900" fontAlgn="auto">
              <a:spcAft>
                <a:spcPts val="0"/>
              </a:spcAft>
              <a:defRPr/>
            </a:pPr>
            <a:r>
              <a:rPr lang="tr-TR" sz="1050" dirty="0">
                <a:latin typeface="+mn-lt"/>
              </a:rPr>
              <a:t>2. Küme</a:t>
            </a:r>
          </a:p>
        </p:txBody>
      </p:sp>
      <p:sp>
        <p:nvSpPr>
          <p:cNvPr id="578719" name="Rectangle 159"/>
          <p:cNvSpPr>
            <a:spLocks noChangeArrowheads="1"/>
          </p:cNvSpPr>
          <p:nvPr/>
        </p:nvSpPr>
        <p:spPr bwMode="auto">
          <a:xfrm>
            <a:off x="8020050" y="4818063"/>
            <a:ext cx="793750" cy="360362"/>
          </a:xfrm>
          <a:prstGeom prst="rect">
            <a:avLst/>
          </a:prstGeom>
          <a:noFill/>
          <a:ln w="9525">
            <a:noFill/>
            <a:miter lim="800000"/>
            <a:headEnd/>
            <a:tailEnd/>
          </a:ln>
          <a:effectLst/>
        </p:spPr>
        <p:txBody>
          <a:bodyPr wrap="none" anchor="ctr"/>
          <a:lstStyle/>
          <a:p>
            <a:pPr marL="342900" indent="-342900" fontAlgn="auto">
              <a:spcAft>
                <a:spcPts val="0"/>
              </a:spcAft>
              <a:defRPr/>
            </a:pPr>
            <a:r>
              <a:rPr lang="tr-TR" sz="1050" dirty="0">
                <a:latin typeface="+mn-lt"/>
              </a:rPr>
              <a:t>3. Küme</a:t>
            </a:r>
          </a:p>
        </p:txBody>
      </p:sp>
      <p:sp>
        <p:nvSpPr>
          <p:cNvPr id="578723" name="Rectangle 163"/>
          <p:cNvSpPr>
            <a:spLocks noChangeArrowheads="1"/>
          </p:cNvSpPr>
          <p:nvPr/>
        </p:nvSpPr>
        <p:spPr bwMode="auto">
          <a:xfrm>
            <a:off x="571500" y="714375"/>
            <a:ext cx="8135938" cy="1943100"/>
          </a:xfrm>
          <a:prstGeom prst="rect">
            <a:avLst/>
          </a:prstGeom>
          <a:noFill/>
          <a:ln w="9525">
            <a:noFill/>
            <a:miter lim="800000"/>
            <a:headEnd/>
            <a:tailEnd/>
          </a:ln>
        </p:spPr>
        <p:txBody>
          <a:bodyPr/>
          <a:lstStyle/>
          <a:p>
            <a:pPr indent="-342900">
              <a:lnSpc>
                <a:spcPct val="90000"/>
              </a:lnSpc>
              <a:buSzPct val="130000"/>
              <a:buFont typeface="Arial" charset="0"/>
              <a:buChar char="•"/>
            </a:pPr>
            <a:r>
              <a:rPr lang="tr-TR" sz="2000" dirty="0">
                <a:latin typeface="Times New Roman" pitchFamily="18" charset="0"/>
                <a:cs typeface="Times New Roman" pitchFamily="18" charset="0"/>
              </a:rPr>
              <a:t>Her nokta kendisi ile en yakın kümeye yerleştirilmelidir.</a:t>
            </a:r>
          </a:p>
          <a:p>
            <a:pPr indent="-342900">
              <a:lnSpc>
                <a:spcPct val="90000"/>
              </a:lnSpc>
              <a:buSzPct val="130000"/>
              <a:buFont typeface="Arial" charset="0"/>
              <a:buChar char="•"/>
            </a:pPr>
            <a:endParaRPr lang="tr-TR" sz="2000" dirty="0">
              <a:latin typeface="Times New Roman" pitchFamily="18" charset="0"/>
              <a:cs typeface="Times New Roman" pitchFamily="18" charset="0"/>
            </a:endParaRPr>
          </a:p>
          <a:p>
            <a:pPr indent="-342900">
              <a:lnSpc>
                <a:spcPct val="90000"/>
              </a:lnSpc>
              <a:buSzPct val="130000"/>
              <a:buFont typeface="Arial" charset="0"/>
              <a:buChar char="•"/>
            </a:pPr>
            <a:r>
              <a:rPr lang="tr-TR" sz="2000" dirty="0">
                <a:latin typeface="Times New Roman" pitchFamily="18" charset="0"/>
                <a:cs typeface="Times New Roman" pitchFamily="18" charset="0"/>
              </a:rPr>
              <a:t>Eşik değeri (</a:t>
            </a:r>
            <a:r>
              <a:rPr lang="tr-TR" sz="2000" dirty="0" err="1">
                <a:latin typeface="Times New Roman" pitchFamily="18" charset="0"/>
                <a:cs typeface="Times New Roman" pitchFamily="18" charset="0"/>
              </a:rPr>
              <a:t>threshold</a:t>
            </a:r>
            <a:r>
              <a:rPr lang="tr-TR" sz="2000" dirty="0">
                <a:latin typeface="Times New Roman" pitchFamily="18" charset="0"/>
                <a:cs typeface="Times New Roman" pitchFamily="18" charset="0"/>
              </a:rPr>
              <a:t> - t), yeni bir komşuyu veya yeni bir kümeyi belirler.</a:t>
            </a:r>
          </a:p>
          <a:p>
            <a:pPr indent="-342900">
              <a:lnSpc>
                <a:spcPct val="90000"/>
              </a:lnSpc>
              <a:buSzPct val="130000"/>
              <a:buFont typeface="Arial" charset="0"/>
              <a:buChar char="•"/>
            </a:pPr>
            <a:endParaRPr lang="tr-TR" sz="2000" dirty="0">
              <a:latin typeface="Times New Roman" pitchFamily="18" charset="0"/>
              <a:cs typeface="Times New Roman" pitchFamily="18" charset="0"/>
            </a:endParaRPr>
          </a:p>
          <a:p>
            <a:pPr indent="-342900">
              <a:lnSpc>
                <a:spcPct val="90000"/>
              </a:lnSpc>
              <a:buSzPct val="130000"/>
              <a:buFont typeface="Arial" charset="0"/>
              <a:buChar char="•"/>
            </a:pPr>
            <a:r>
              <a:rPr lang="tr-TR" sz="2000" dirty="0">
                <a:latin typeface="Times New Roman" pitchFamily="18" charset="0"/>
                <a:cs typeface="Times New Roman" pitchFamily="18" charset="0"/>
              </a:rPr>
              <a:t>Tüm noktalar herhangi bir kümeye yerleştirilinceye kadar işlemlere devam edilir.</a:t>
            </a:r>
          </a:p>
        </p:txBody>
      </p:sp>
      <p:sp>
        <p:nvSpPr>
          <p:cNvPr id="52" name="1 Başlık"/>
          <p:cNvSpPr txBox="1">
            <a:spLocks/>
          </p:cNvSpPr>
          <p:nvPr/>
        </p:nvSpPr>
        <p:spPr>
          <a:xfrm>
            <a:off x="63500" y="71438"/>
            <a:ext cx="8183563" cy="285750"/>
          </a:xfrm>
          <a:prstGeom prst="rect">
            <a:avLst/>
          </a:prstGeom>
        </p:spPr>
        <p:txBody>
          <a:bodyPr lIns="182880" tIns="91440">
            <a:normAutofit fontScale="75000" lnSpcReduction="20000"/>
          </a:bodyPr>
          <a:lstStyle/>
          <a:p>
            <a:pPr marL="265176" indent="-265176" fontAlgn="auto">
              <a:spcBef>
                <a:spcPts val="250"/>
              </a:spcBef>
              <a:spcAft>
                <a:spcPts val="0"/>
              </a:spcAft>
              <a:buClr>
                <a:schemeClr val="accent1"/>
              </a:buClr>
              <a:buSzPct val="80000"/>
              <a:defRPr/>
            </a:pPr>
            <a:r>
              <a:rPr lang="tr-TR" sz="1600" b="1" dirty="0">
                <a:solidFill>
                  <a:schemeClr val="tx1">
                    <a:lumMod val="95000"/>
                    <a:lumOff val="5000"/>
                  </a:schemeClr>
                </a:solidFill>
                <a:latin typeface="Harrington" pitchFamily="82" charset="0"/>
              </a:rPr>
              <a:t> </a:t>
            </a:r>
            <a:endParaRPr lang="tr-TR" sz="2400" b="1" dirty="0">
              <a:solidFill>
                <a:schemeClr val="tx1">
                  <a:lumMod val="95000"/>
                  <a:lumOff val="5000"/>
                </a:schemeClr>
              </a:solidFill>
              <a:latin typeface="Harrington" pitchFamily="82" charset="0"/>
              <a:cs typeface="Times New Roman" pitchFamily="18" charset="0"/>
            </a:endParaRPr>
          </a:p>
        </p:txBody>
      </p:sp>
      <p:sp>
        <p:nvSpPr>
          <p:cNvPr id="54" name="Line 155"/>
          <p:cNvSpPr>
            <a:spLocks noChangeShapeType="1"/>
          </p:cNvSpPr>
          <p:nvPr/>
        </p:nvSpPr>
        <p:spPr bwMode="auto">
          <a:xfrm>
            <a:off x="7786688" y="4994275"/>
            <a:ext cx="288925" cy="0"/>
          </a:xfrm>
          <a:prstGeom prst="line">
            <a:avLst/>
          </a:prstGeom>
          <a:noFill/>
          <a:ln w="9525">
            <a:solidFill>
              <a:schemeClr val="tx1"/>
            </a:solidFill>
            <a:round/>
            <a:headEnd/>
            <a:tailEnd type="triangle" w="med" len="med"/>
          </a:ln>
        </p:spPr>
        <p:txBody>
          <a:bodyPr/>
          <a:lstStyle/>
          <a:p>
            <a:endParaRPr lang="tr-TR"/>
          </a:p>
        </p:txBody>
      </p:sp>
    </p:spTree>
  </p:cSld>
  <p:clrMapOvr>
    <a:masterClrMapping/>
  </p:clrMapOvr>
  <p:transition spd="med">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nodeType="withEffect">
                                  <p:stCondLst>
                                    <p:cond delay="0"/>
                                  </p:stCondLst>
                                  <p:iterate type="lt">
                                    <p:tmPct val="10000"/>
                                  </p:iterate>
                                  <p:childTnLst>
                                    <p:set>
                                      <p:cBhvr>
                                        <p:cTn id="6" dur="1" fill="hold">
                                          <p:stCondLst>
                                            <p:cond delay="0"/>
                                          </p:stCondLst>
                                        </p:cTn>
                                        <p:tgtEl>
                                          <p:spTgt spid="578723">
                                            <p:txEl>
                                              <p:pRg st="0" end="0"/>
                                            </p:txEl>
                                          </p:spTgt>
                                        </p:tgtEl>
                                        <p:attrNameLst>
                                          <p:attrName>style.visibility</p:attrName>
                                        </p:attrNameLst>
                                      </p:cBhvr>
                                      <p:to>
                                        <p:strVal val="visible"/>
                                      </p:to>
                                    </p:set>
                                    <p:animEffect transition="in" filter="fade">
                                      <p:cBhvr>
                                        <p:cTn id="7" dur="500"/>
                                        <p:tgtEl>
                                          <p:spTgt spid="578723">
                                            <p:txEl>
                                              <p:pRg st="0" end="0"/>
                                            </p:txEl>
                                          </p:spTgt>
                                        </p:tgtEl>
                                      </p:cBhvr>
                                    </p:animEffect>
                                    <p:anim calcmode="lin" valueType="num">
                                      <p:cBhvr>
                                        <p:cTn id="8" dur="500" fill="hold"/>
                                        <p:tgtEl>
                                          <p:spTgt spid="578723">
                                            <p:txEl>
                                              <p:pRg st="0" end="0"/>
                                            </p:txEl>
                                          </p:spTgt>
                                        </p:tgtEl>
                                        <p:attrNameLst>
                                          <p:attrName>ppt_x</p:attrName>
                                        </p:attrNameLst>
                                      </p:cBhvr>
                                      <p:tavLst>
                                        <p:tav tm="0">
                                          <p:val>
                                            <p:strVal val="#ppt_x-.1"/>
                                          </p:val>
                                        </p:tav>
                                        <p:tav tm="100000">
                                          <p:val>
                                            <p:strVal val="#ppt_x"/>
                                          </p:val>
                                        </p:tav>
                                      </p:tavLst>
                                    </p:anim>
                                    <p:anim calcmode="lin" valueType="num">
                                      <p:cBhvr>
                                        <p:cTn id="9" dur="500" fill="hold"/>
                                        <p:tgtEl>
                                          <p:spTgt spid="578723">
                                            <p:txEl>
                                              <p:pRg st="0" end="0"/>
                                            </p:txEl>
                                          </p:spTgt>
                                        </p:tgtEl>
                                        <p:attrNameLst>
                                          <p:attrName>ppt_y</p:attrName>
                                        </p:attrNameLst>
                                      </p:cBhvr>
                                      <p:tavLst>
                                        <p:tav tm="0">
                                          <p:val>
                                            <p:strVal val="#ppt_y"/>
                                          </p:val>
                                        </p:tav>
                                        <p:tav tm="100000">
                                          <p:val>
                                            <p:strVal val="#ppt_y"/>
                                          </p:val>
                                        </p:tav>
                                      </p:tavLst>
                                    </p:anim>
                                  </p:childTnLst>
                                </p:cTn>
                              </p:par>
                              <p:par>
                                <p:cTn id="10" presetID="40" presetClass="entr" presetSubtype="0" fill="hold" nodeType="withEffect">
                                  <p:stCondLst>
                                    <p:cond delay="0"/>
                                  </p:stCondLst>
                                  <p:iterate type="lt">
                                    <p:tmPct val="10000"/>
                                  </p:iterate>
                                  <p:childTnLst>
                                    <p:set>
                                      <p:cBhvr>
                                        <p:cTn id="11" dur="1" fill="hold">
                                          <p:stCondLst>
                                            <p:cond delay="0"/>
                                          </p:stCondLst>
                                        </p:cTn>
                                        <p:tgtEl>
                                          <p:spTgt spid="578723">
                                            <p:txEl>
                                              <p:pRg st="2" end="2"/>
                                            </p:txEl>
                                          </p:spTgt>
                                        </p:tgtEl>
                                        <p:attrNameLst>
                                          <p:attrName>style.visibility</p:attrName>
                                        </p:attrNameLst>
                                      </p:cBhvr>
                                      <p:to>
                                        <p:strVal val="visible"/>
                                      </p:to>
                                    </p:set>
                                    <p:animEffect transition="in" filter="fade">
                                      <p:cBhvr>
                                        <p:cTn id="12" dur="500"/>
                                        <p:tgtEl>
                                          <p:spTgt spid="578723">
                                            <p:txEl>
                                              <p:pRg st="2" end="2"/>
                                            </p:txEl>
                                          </p:spTgt>
                                        </p:tgtEl>
                                      </p:cBhvr>
                                    </p:animEffect>
                                    <p:anim calcmode="lin" valueType="num">
                                      <p:cBhvr>
                                        <p:cTn id="13" dur="500" fill="hold"/>
                                        <p:tgtEl>
                                          <p:spTgt spid="578723">
                                            <p:txEl>
                                              <p:pRg st="2" end="2"/>
                                            </p:txEl>
                                          </p:spTgt>
                                        </p:tgtEl>
                                        <p:attrNameLst>
                                          <p:attrName>ppt_x</p:attrName>
                                        </p:attrNameLst>
                                      </p:cBhvr>
                                      <p:tavLst>
                                        <p:tav tm="0">
                                          <p:val>
                                            <p:strVal val="#ppt_x-.1"/>
                                          </p:val>
                                        </p:tav>
                                        <p:tav tm="100000">
                                          <p:val>
                                            <p:strVal val="#ppt_x"/>
                                          </p:val>
                                        </p:tav>
                                      </p:tavLst>
                                    </p:anim>
                                    <p:anim calcmode="lin" valueType="num">
                                      <p:cBhvr>
                                        <p:cTn id="14" dur="500" fill="hold"/>
                                        <p:tgtEl>
                                          <p:spTgt spid="578723">
                                            <p:txEl>
                                              <p:pRg st="2" end="2"/>
                                            </p:txEl>
                                          </p:spTgt>
                                        </p:tgtEl>
                                        <p:attrNameLst>
                                          <p:attrName>ppt_y</p:attrName>
                                        </p:attrNameLst>
                                      </p:cBhvr>
                                      <p:tavLst>
                                        <p:tav tm="0">
                                          <p:val>
                                            <p:strVal val="#ppt_y"/>
                                          </p:val>
                                        </p:tav>
                                        <p:tav tm="100000">
                                          <p:val>
                                            <p:strVal val="#ppt_y"/>
                                          </p:val>
                                        </p:tav>
                                      </p:tavLst>
                                    </p:anim>
                                  </p:childTnLst>
                                </p:cTn>
                              </p:par>
                              <p:par>
                                <p:cTn id="15" presetID="40" presetClass="entr" presetSubtype="0" fill="hold" nodeType="withEffect">
                                  <p:stCondLst>
                                    <p:cond delay="0"/>
                                  </p:stCondLst>
                                  <p:iterate type="lt">
                                    <p:tmPct val="10000"/>
                                  </p:iterate>
                                  <p:childTnLst>
                                    <p:set>
                                      <p:cBhvr>
                                        <p:cTn id="16" dur="1" fill="hold">
                                          <p:stCondLst>
                                            <p:cond delay="0"/>
                                          </p:stCondLst>
                                        </p:cTn>
                                        <p:tgtEl>
                                          <p:spTgt spid="578723">
                                            <p:txEl>
                                              <p:pRg st="4" end="4"/>
                                            </p:txEl>
                                          </p:spTgt>
                                        </p:tgtEl>
                                        <p:attrNameLst>
                                          <p:attrName>style.visibility</p:attrName>
                                        </p:attrNameLst>
                                      </p:cBhvr>
                                      <p:to>
                                        <p:strVal val="visible"/>
                                      </p:to>
                                    </p:set>
                                    <p:animEffect transition="in" filter="fade">
                                      <p:cBhvr>
                                        <p:cTn id="17" dur="500"/>
                                        <p:tgtEl>
                                          <p:spTgt spid="578723">
                                            <p:txEl>
                                              <p:pRg st="4" end="4"/>
                                            </p:txEl>
                                          </p:spTgt>
                                        </p:tgtEl>
                                      </p:cBhvr>
                                    </p:animEffect>
                                    <p:anim calcmode="lin" valueType="num">
                                      <p:cBhvr>
                                        <p:cTn id="18" dur="500" fill="hold"/>
                                        <p:tgtEl>
                                          <p:spTgt spid="578723">
                                            <p:txEl>
                                              <p:pRg st="4" end="4"/>
                                            </p:txEl>
                                          </p:spTgt>
                                        </p:tgtEl>
                                        <p:attrNameLst>
                                          <p:attrName>ppt_x</p:attrName>
                                        </p:attrNameLst>
                                      </p:cBhvr>
                                      <p:tavLst>
                                        <p:tav tm="0">
                                          <p:val>
                                            <p:strVal val="#ppt_x-.1"/>
                                          </p:val>
                                        </p:tav>
                                        <p:tav tm="100000">
                                          <p:val>
                                            <p:strVal val="#ppt_x"/>
                                          </p:val>
                                        </p:tav>
                                      </p:tavLst>
                                    </p:anim>
                                    <p:anim calcmode="lin" valueType="num">
                                      <p:cBhvr>
                                        <p:cTn id="19" dur="500" fill="hold"/>
                                        <p:tgtEl>
                                          <p:spTgt spid="578723">
                                            <p:txEl>
                                              <p:pRg st="4" end="4"/>
                                            </p:txEl>
                                          </p:spTgt>
                                        </p:tgtEl>
                                        <p:attrNameLst>
                                          <p:attrName>ppt_y</p:attrName>
                                        </p:attrNameLst>
                                      </p:cBhvr>
                                      <p:tavLst>
                                        <p:tav tm="0">
                                          <p:val>
                                            <p:strVal val="#ppt_y"/>
                                          </p:val>
                                        </p:tav>
                                        <p:tav tm="100000">
                                          <p:val>
                                            <p:strVal val="#ppt_y"/>
                                          </p:val>
                                        </p:tav>
                                      </p:tavLst>
                                    </p:anim>
                                  </p:childTnLst>
                                </p:cTn>
                              </p:par>
                            </p:childTnLst>
                          </p:cTn>
                        </p:par>
                        <p:par>
                          <p:cTn id="20" fill="hold">
                            <p:stCondLst>
                              <p:cond delay="4000"/>
                            </p:stCondLst>
                            <p:childTnLst>
                              <p:par>
                                <p:cTn id="21" presetID="9" presetClass="entr" presetSubtype="0" fill="hold" nodeType="afterEffect">
                                  <p:stCondLst>
                                    <p:cond delay="0"/>
                                  </p:stCondLst>
                                  <p:childTnLst>
                                    <p:set>
                                      <p:cBhvr>
                                        <p:cTn id="22" dur="1" fill="hold">
                                          <p:stCondLst>
                                            <p:cond delay="0"/>
                                          </p:stCondLst>
                                        </p:cTn>
                                        <p:tgtEl>
                                          <p:spTgt spid="578564"/>
                                        </p:tgtEl>
                                        <p:attrNameLst>
                                          <p:attrName>style.visibility</p:attrName>
                                        </p:attrNameLst>
                                      </p:cBhvr>
                                      <p:to>
                                        <p:strVal val="visible"/>
                                      </p:to>
                                    </p:set>
                                    <p:animEffect transition="in" filter="dissolve">
                                      <p:cBhvr>
                                        <p:cTn id="23" dur="500"/>
                                        <p:tgtEl>
                                          <p:spTgt spid="57856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78680"/>
                                        </p:tgtEl>
                                        <p:attrNameLst>
                                          <p:attrName>style.visibility</p:attrName>
                                        </p:attrNameLst>
                                      </p:cBhvr>
                                      <p:to>
                                        <p:strVal val="visible"/>
                                      </p:to>
                                    </p:set>
                                    <p:animEffect transition="in" filter="dissolve">
                                      <p:cBhvr>
                                        <p:cTn id="26" dur="1000"/>
                                        <p:tgtEl>
                                          <p:spTgt spid="578680"/>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78677"/>
                                        </p:tgtEl>
                                        <p:attrNameLst>
                                          <p:attrName>style.visibility</p:attrName>
                                        </p:attrNameLst>
                                      </p:cBhvr>
                                      <p:to>
                                        <p:strVal val="visible"/>
                                      </p:to>
                                    </p:set>
                                    <p:animEffect transition="in" filter="dissolve">
                                      <p:cBhvr>
                                        <p:cTn id="29" dur="1000"/>
                                        <p:tgtEl>
                                          <p:spTgt spid="578677"/>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78674"/>
                                        </p:tgtEl>
                                        <p:attrNameLst>
                                          <p:attrName>style.visibility</p:attrName>
                                        </p:attrNameLst>
                                      </p:cBhvr>
                                      <p:to>
                                        <p:strVal val="visible"/>
                                      </p:to>
                                    </p:set>
                                    <p:animEffect transition="in" filter="dissolve">
                                      <p:cBhvr>
                                        <p:cTn id="32" dur="1000"/>
                                        <p:tgtEl>
                                          <p:spTgt spid="578674"/>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578671"/>
                                        </p:tgtEl>
                                        <p:attrNameLst>
                                          <p:attrName>style.visibility</p:attrName>
                                        </p:attrNameLst>
                                      </p:cBhvr>
                                      <p:to>
                                        <p:strVal val="visible"/>
                                      </p:to>
                                    </p:set>
                                    <p:animEffect transition="in" filter="dissolve">
                                      <p:cBhvr>
                                        <p:cTn id="35" dur="1000"/>
                                        <p:tgtEl>
                                          <p:spTgt spid="578671"/>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78683"/>
                                        </p:tgtEl>
                                        <p:attrNameLst>
                                          <p:attrName>style.visibility</p:attrName>
                                        </p:attrNameLst>
                                      </p:cBhvr>
                                      <p:to>
                                        <p:strVal val="visible"/>
                                      </p:to>
                                    </p:set>
                                    <p:animEffect transition="in" filter="dissolve">
                                      <p:cBhvr>
                                        <p:cTn id="38" dur="1000"/>
                                        <p:tgtEl>
                                          <p:spTgt spid="578683"/>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78686"/>
                                        </p:tgtEl>
                                        <p:attrNameLst>
                                          <p:attrName>style.visibility</p:attrName>
                                        </p:attrNameLst>
                                      </p:cBhvr>
                                      <p:to>
                                        <p:strVal val="visible"/>
                                      </p:to>
                                    </p:set>
                                    <p:animEffect transition="in" filter="dissolve">
                                      <p:cBhvr>
                                        <p:cTn id="41" dur="1000"/>
                                        <p:tgtEl>
                                          <p:spTgt spid="578686"/>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578605"/>
                                        </p:tgtEl>
                                        <p:attrNameLst>
                                          <p:attrName>style.visibility</p:attrName>
                                        </p:attrNameLst>
                                      </p:cBhvr>
                                      <p:to>
                                        <p:strVal val="visible"/>
                                      </p:to>
                                    </p:set>
                                    <p:animEffect transition="in" filter="dissolve">
                                      <p:cBhvr>
                                        <p:cTn id="44" dur="1000"/>
                                        <p:tgtEl>
                                          <p:spTgt spid="578605"/>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578604"/>
                                        </p:tgtEl>
                                        <p:attrNameLst>
                                          <p:attrName>style.visibility</p:attrName>
                                        </p:attrNameLst>
                                      </p:cBhvr>
                                      <p:to>
                                        <p:strVal val="visible"/>
                                      </p:to>
                                    </p:set>
                                    <p:animEffect transition="in" filter="dissolve">
                                      <p:cBhvr>
                                        <p:cTn id="47" dur="1000"/>
                                        <p:tgtEl>
                                          <p:spTgt spid="578604"/>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578603"/>
                                        </p:tgtEl>
                                        <p:attrNameLst>
                                          <p:attrName>style.visibility</p:attrName>
                                        </p:attrNameLst>
                                      </p:cBhvr>
                                      <p:to>
                                        <p:strVal val="visible"/>
                                      </p:to>
                                    </p:set>
                                    <p:animEffect transition="in" filter="dissolve">
                                      <p:cBhvr>
                                        <p:cTn id="50" dur="1000"/>
                                        <p:tgtEl>
                                          <p:spTgt spid="578603"/>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578602"/>
                                        </p:tgtEl>
                                        <p:attrNameLst>
                                          <p:attrName>style.visibility</p:attrName>
                                        </p:attrNameLst>
                                      </p:cBhvr>
                                      <p:to>
                                        <p:strVal val="visible"/>
                                      </p:to>
                                    </p:set>
                                    <p:animEffect transition="in" filter="dissolve">
                                      <p:cBhvr>
                                        <p:cTn id="53" dur="1000"/>
                                        <p:tgtEl>
                                          <p:spTgt spid="578602"/>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578607"/>
                                        </p:tgtEl>
                                        <p:attrNameLst>
                                          <p:attrName>style.visibility</p:attrName>
                                        </p:attrNameLst>
                                      </p:cBhvr>
                                      <p:to>
                                        <p:strVal val="visible"/>
                                      </p:to>
                                    </p:set>
                                    <p:animEffect transition="in" filter="dissolve">
                                      <p:cBhvr>
                                        <p:cTn id="56" dur="1000"/>
                                        <p:tgtEl>
                                          <p:spTgt spid="578607"/>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578606"/>
                                        </p:tgtEl>
                                        <p:attrNameLst>
                                          <p:attrName>style.visibility</p:attrName>
                                        </p:attrNameLst>
                                      </p:cBhvr>
                                      <p:to>
                                        <p:strVal val="visible"/>
                                      </p:to>
                                    </p:set>
                                    <p:animEffect transition="in" filter="dissolve">
                                      <p:cBhvr>
                                        <p:cTn id="59" dur="1000"/>
                                        <p:tgtEl>
                                          <p:spTgt spid="578606"/>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578670"/>
                                        </p:tgtEl>
                                        <p:attrNameLst>
                                          <p:attrName>style.visibility</p:attrName>
                                        </p:attrNameLst>
                                      </p:cBhvr>
                                      <p:to>
                                        <p:strVal val="visible"/>
                                      </p:to>
                                    </p:set>
                                    <p:animEffect transition="in" filter="dissolve">
                                      <p:cBhvr>
                                        <p:cTn id="62" dur="2000"/>
                                        <p:tgtEl>
                                          <p:spTgt spid="578670"/>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578673"/>
                                        </p:tgtEl>
                                        <p:attrNameLst>
                                          <p:attrName>style.visibility</p:attrName>
                                        </p:attrNameLst>
                                      </p:cBhvr>
                                      <p:to>
                                        <p:strVal val="visible"/>
                                      </p:to>
                                    </p:set>
                                    <p:animEffect transition="in" filter="dissolve">
                                      <p:cBhvr>
                                        <p:cTn id="65" dur="2000"/>
                                        <p:tgtEl>
                                          <p:spTgt spid="578673"/>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578676"/>
                                        </p:tgtEl>
                                        <p:attrNameLst>
                                          <p:attrName>style.visibility</p:attrName>
                                        </p:attrNameLst>
                                      </p:cBhvr>
                                      <p:to>
                                        <p:strVal val="visible"/>
                                      </p:to>
                                    </p:set>
                                    <p:animEffect transition="in" filter="dissolve">
                                      <p:cBhvr>
                                        <p:cTn id="68" dur="2000"/>
                                        <p:tgtEl>
                                          <p:spTgt spid="578676"/>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578679"/>
                                        </p:tgtEl>
                                        <p:attrNameLst>
                                          <p:attrName>style.visibility</p:attrName>
                                        </p:attrNameLst>
                                      </p:cBhvr>
                                      <p:to>
                                        <p:strVal val="visible"/>
                                      </p:to>
                                    </p:set>
                                    <p:animEffect transition="in" filter="dissolve">
                                      <p:cBhvr>
                                        <p:cTn id="71" dur="2000"/>
                                        <p:tgtEl>
                                          <p:spTgt spid="578679"/>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578685"/>
                                        </p:tgtEl>
                                        <p:attrNameLst>
                                          <p:attrName>style.visibility</p:attrName>
                                        </p:attrNameLst>
                                      </p:cBhvr>
                                      <p:to>
                                        <p:strVal val="visible"/>
                                      </p:to>
                                    </p:set>
                                    <p:animEffect transition="in" filter="dissolve">
                                      <p:cBhvr>
                                        <p:cTn id="74" dur="2000"/>
                                        <p:tgtEl>
                                          <p:spTgt spid="578685"/>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578682"/>
                                        </p:tgtEl>
                                        <p:attrNameLst>
                                          <p:attrName>style.visibility</p:attrName>
                                        </p:attrNameLst>
                                      </p:cBhvr>
                                      <p:to>
                                        <p:strVal val="visible"/>
                                      </p:to>
                                    </p:set>
                                    <p:animEffect transition="in" filter="dissolve">
                                      <p:cBhvr>
                                        <p:cTn id="77" dur="2000"/>
                                        <p:tgtEl>
                                          <p:spTgt spid="578682"/>
                                        </p:tgtEl>
                                      </p:cBhvr>
                                    </p:animEffect>
                                  </p:childTnLst>
                                </p:cTn>
                              </p:par>
                              <p:par>
                                <p:cTn id="78" presetID="20" presetClass="entr" presetSubtype="0" fill="hold" grpId="0" nodeType="withEffect">
                                  <p:stCondLst>
                                    <p:cond delay="0"/>
                                  </p:stCondLst>
                                  <p:childTnLst>
                                    <p:set>
                                      <p:cBhvr>
                                        <p:cTn id="79" dur="1" fill="hold">
                                          <p:stCondLst>
                                            <p:cond delay="0"/>
                                          </p:stCondLst>
                                        </p:cTn>
                                        <p:tgtEl>
                                          <p:spTgt spid="578672"/>
                                        </p:tgtEl>
                                        <p:attrNameLst>
                                          <p:attrName>style.visibility</p:attrName>
                                        </p:attrNameLst>
                                      </p:cBhvr>
                                      <p:to>
                                        <p:strVal val="visible"/>
                                      </p:to>
                                    </p:set>
                                    <p:animEffect transition="in" filter="wedge">
                                      <p:cBhvr>
                                        <p:cTn id="80" dur="2000"/>
                                        <p:tgtEl>
                                          <p:spTgt spid="578672"/>
                                        </p:tgtEl>
                                      </p:cBhvr>
                                    </p:animEffect>
                                  </p:childTnLst>
                                </p:cTn>
                              </p:par>
                              <p:par>
                                <p:cTn id="81" presetID="20" presetClass="entr" presetSubtype="0" fill="hold" grpId="0" nodeType="withEffect">
                                  <p:stCondLst>
                                    <p:cond delay="0"/>
                                  </p:stCondLst>
                                  <p:childTnLst>
                                    <p:set>
                                      <p:cBhvr>
                                        <p:cTn id="82" dur="1" fill="hold">
                                          <p:stCondLst>
                                            <p:cond delay="0"/>
                                          </p:stCondLst>
                                        </p:cTn>
                                        <p:tgtEl>
                                          <p:spTgt spid="578689"/>
                                        </p:tgtEl>
                                        <p:attrNameLst>
                                          <p:attrName>style.visibility</p:attrName>
                                        </p:attrNameLst>
                                      </p:cBhvr>
                                      <p:to>
                                        <p:strVal val="visible"/>
                                      </p:to>
                                    </p:set>
                                    <p:animEffect transition="in" filter="wedge">
                                      <p:cBhvr>
                                        <p:cTn id="83" dur="2000"/>
                                        <p:tgtEl>
                                          <p:spTgt spid="578689"/>
                                        </p:tgtEl>
                                      </p:cBhvr>
                                    </p:animEffect>
                                  </p:childTnLst>
                                </p:cTn>
                              </p:par>
                              <p:par>
                                <p:cTn id="84" presetID="20" presetClass="entr" presetSubtype="0" fill="hold" grpId="0" nodeType="withEffect">
                                  <p:stCondLst>
                                    <p:cond delay="0"/>
                                  </p:stCondLst>
                                  <p:childTnLst>
                                    <p:set>
                                      <p:cBhvr>
                                        <p:cTn id="85" dur="1" fill="hold">
                                          <p:stCondLst>
                                            <p:cond delay="0"/>
                                          </p:stCondLst>
                                        </p:cTn>
                                        <p:tgtEl>
                                          <p:spTgt spid="578690"/>
                                        </p:tgtEl>
                                        <p:attrNameLst>
                                          <p:attrName>style.visibility</p:attrName>
                                        </p:attrNameLst>
                                      </p:cBhvr>
                                      <p:to>
                                        <p:strVal val="visible"/>
                                      </p:to>
                                    </p:set>
                                    <p:animEffect transition="in" filter="wedge">
                                      <p:cBhvr>
                                        <p:cTn id="86" dur="2000"/>
                                        <p:tgtEl>
                                          <p:spTgt spid="578690"/>
                                        </p:tgtEl>
                                      </p:cBhvr>
                                    </p:animEffect>
                                  </p:childTnLst>
                                </p:cTn>
                              </p:par>
                              <p:par>
                                <p:cTn id="87" presetID="20" presetClass="entr" presetSubtype="0" fill="hold" grpId="0" nodeType="withEffect">
                                  <p:stCondLst>
                                    <p:cond delay="0"/>
                                  </p:stCondLst>
                                  <p:childTnLst>
                                    <p:set>
                                      <p:cBhvr>
                                        <p:cTn id="88" dur="1" fill="hold">
                                          <p:stCondLst>
                                            <p:cond delay="0"/>
                                          </p:stCondLst>
                                        </p:cTn>
                                        <p:tgtEl>
                                          <p:spTgt spid="578691"/>
                                        </p:tgtEl>
                                        <p:attrNameLst>
                                          <p:attrName>style.visibility</p:attrName>
                                        </p:attrNameLst>
                                      </p:cBhvr>
                                      <p:to>
                                        <p:strVal val="visible"/>
                                      </p:to>
                                    </p:set>
                                    <p:animEffect transition="in" filter="wedge">
                                      <p:cBhvr>
                                        <p:cTn id="89" dur="2000"/>
                                        <p:tgtEl>
                                          <p:spTgt spid="578691"/>
                                        </p:tgtEl>
                                      </p:cBhvr>
                                    </p:animEffect>
                                  </p:childTnLst>
                                </p:cTn>
                              </p:par>
                              <p:par>
                                <p:cTn id="90" presetID="20" presetClass="entr" presetSubtype="0" fill="hold" grpId="0" nodeType="withEffect">
                                  <p:stCondLst>
                                    <p:cond delay="0"/>
                                  </p:stCondLst>
                                  <p:childTnLst>
                                    <p:set>
                                      <p:cBhvr>
                                        <p:cTn id="91" dur="1" fill="hold">
                                          <p:stCondLst>
                                            <p:cond delay="0"/>
                                          </p:stCondLst>
                                        </p:cTn>
                                        <p:tgtEl>
                                          <p:spTgt spid="578692"/>
                                        </p:tgtEl>
                                        <p:attrNameLst>
                                          <p:attrName>style.visibility</p:attrName>
                                        </p:attrNameLst>
                                      </p:cBhvr>
                                      <p:to>
                                        <p:strVal val="visible"/>
                                      </p:to>
                                    </p:set>
                                    <p:animEffect transition="in" filter="wedge">
                                      <p:cBhvr>
                                        <p:cTn id="92" dur="2000"/>
                                        <p:tgtEl>
                                          <p:spTgt spid="578692"/>
                                        </p:tgtEl>
                                      </p:cBhvr>
                                    </p:animEffect>
                                  </p:childTnLst>
                                </p:cTn>
                              </p:par>
                              <p:par>
                                <p:cTn id="93" presetID="20" presetClass="entr" presetSubtype="0" fill="hold" grpId="0" nodeType="withEffect">
                                  <p:stCondLst>
                                    <p:cond delay="0"/>
                                  </p:stCondLst>
                                  <p:childTnLst>
                                    <p:set>
                                      <p:cBhvr>
                                        <p:cTn id="94" dur="1" fill="hold">
                                          <p:stCondLst>
                                            <p:cond delay="0"/>
                                          </p:stCondLst>
                                        </p:cTn>
                                        <p:tgtEl>
                                          <p:spTgt spid="578693"/>
                                        </p:tgtEl>
                                        <p:attrNameLst>
                                          <p:attrName>style.visibility</p:attrName>
                                        </p:attrNameLst>
                                      </p:cBhvr>
                                      <p:to>
                                        <p:strVal val="visible"/>
                                      </p:to>
                                    </p:set>
                                    <p:animEffect transition="in" filter="wedge">
                                      <p:cBhvr>
                                        <p:cTn id="95" dur="2000"/>
                                        <p:tgtEl>
                                          <p:spTgt spid="578693"/>
                                        </p:tgtEl>
                                      </p:cBhvr>
                                    </p:animEffect>
                                  </p:childTnLst>
                                </p:cTn>
                              </p:par>
                            </p:childTnLst>
                          </p:cTn>
                        </p:par>
                        <p:par>
                          <p:cTn id="96" fill="hold">
                            <p:stCondLst>
                              <p:cond delay="6000"/>
                            </p:stCondLst>
                            <p:childTnLst>
                              <p:par>
                                <p:cTn id="97" presetID="9" presetClass="entr" presetSubtype="0" fill="hold" nodeType="afterEffect">
                                  <p:stCondLst>
                                    <p:cond delay="0"/>
                                  </p:stCondLst>
                                  <p:childTnLst>
                                    <p:set>
                                      <p:cBhvr>
                                        <p:cTn id="98" dur="1" fill="hold">
                                          <p:stCondLst>
                                            <p:cond delay="0"/>
                                          </p:stCondLst>
                                        </p:cTn>
                                        <p:tgtEl>
                                          <p:spTgt spid="578712"/>
                                        </p:tgtEl>
                                        <p:attrNameLst>
                                          <p:attrName>style.visibility</p:attrName>
                                        </p:attrNameLst>
                                      </p:cBhvr>
                                      <p:to>
                                        <p:strVal val="visible"/>
                                      </p:to>
                                    </p:set>
                                    <p:animEffect transition="in" filter="dissolve">
                                      <p:cBhvr>
                                        <p:cTn id="99" dur="1000"/>
                                        <p:tgtEl>
                                          <p:spTgt spid="578712"/>
                                        </p:tgtEl>
                                      </p:cBhvr>
                                    </p:animEffect>
                                  </p:childTnLst>
                                </p:cTn>
                              </p:par>
                              <p:par>
                                <p:cTn id="100" presetID="26" presetClass="entr" presetSubtype="0" fill="hold" grpId="0" nodeType="withEffect">
                                  <p:stCondLst>
                                    <p:cond delay="0"/>
                                  </p:stCondLst>
                                  <p:childTnLst>
                                    <p:set>
                                      <p:cBhvr>
                                        <p:cTn id="101" dur="1" fill="hold">
                                          <p:stCondLst>
                                            <p:cond delay="0"/>
                                          </p:stCondLst>
                                        </p:cTn>
                                        <p:tgtEl>
                                          <p:spTgt spid="578701"/>
                                        </p:tgtEl>
                                        <p:attrNameLst>
                                          <p:attrName>style.visibility</p:attrName>
                                        </p:attrNameLst>
                                      </p:cBhvr>
                                      <p:to>
                                        <p:strVal val="visible"/>
                                      </p:to>
                                    </p:set>
                                    <p:animEffect transition="in" filter="wipe(down)">
                                      <p:cBhvr>
                                        <p:cTn id="102" dur="580">
                                          <p:stCondLst>
                                            <p:cond delay="0"/>
                                          </p:stCondLst>
                                        </p:cTn>
                                        <p:tgtEl>
                                          <p:spTgt spid="578701"/>
                                        </p:tgtEl>
                                      </p:cBhvr>
                                    </p:animEffect>
                                    <p:anim calcmode="lin" valueType="num">
                                      <p:cBhvr>
                                        <p:cTn id="103" dur="1822" tmFilter="0,0; 0.14,0.36; 0.43,0.73; 0.71,0.91; 1.0,1.0">
                                          <p:stCondLst>
                                            <p:cond delay="0"/>
                                          </p:stCondLst>
                                        </p:cTn>
                                        <p:tgtEl>
                                          <p:spTgt spid="578701"/>
                                        </p:tgtEl>
                                        <p:attrNameLst>
                                          <p:attrName>ppt_x</p:attrName>
                                        </p:attrNameLst>
                                      </p:cBhvr>
                                      <p:tavLst>
                                        <p:tav tm="0">
                                          <p:val>
                                            <p:strVal val="#ppt_x-0.25"/>
                                          </p:val>
                                        </p:tav>
                                        <p:tav tm="100000">
                                          <p:val>
                                            <p:strVal val="#ppt_x"/>
                                          </p:val>
                                        </p:tav>
                                      </p:tavLst>
                                    </p:anim>
                                    <p:anim calcmode="lin" valueType="num">
                                      <p:cBhvr>
                                        <p:cTn id="104" dur="664" tmFilter="0.0,0.0; 0.25,0.07; 0.50,0.2; 0.75,0.467; 1.0,1.0">
                                          <p:stCondLst>
                                            <p:cond delay="0"/>
                                          </p:stCondLst>
                                        </p:cTn>
                                        <p:tgtEl>
                                          <p:spTgt spid="578701"/>
                                        </p:tgtEl>
                                        <p:attrNameLst>
                                          <p:attrName>ppt_y</p:attrName>
                                        </p:attrNameLst>
                                      </p:cBhvr>
                                      <p:tavLst>
                                        <p:tav tm="0" fmla="#ppt_y-sin(pi*$)/3">
                                          <p:val>
                                            <p:fltVal val="0.5"/>
                                          </p:val>
                                        </p:tav>
                                        <p:tav tm="100000">
                                          <p:val>
                                            <p:fltVal val="1"/>
                                          </p:val>
                                        </p:tav>
                                      </p:tavLst>
                                    </p:anim>
                                    <p:anim calcmode="lin" valueType="num">
                                      <p:cBhvr>
                                        <p:cTn id="105" dur="664" tmFilter="0, 0; 0.125,0.2665; 0.25,0.4; 0.375,0.465; 0.5,0.5;  0.625,0.535; 0.75,0.6; 0.875,0.7335; 1,1">
                                          <p:stCondLst>
                                            <p:cond delay="664"/>
                                          </p:stCondLst>
                                        </p:cTn>
                                        <p:tgtEl>
                                          <p:spTgt spid="578701"/>
                                        </p:tgtEl>
                                        <p:attrNameLst>
                                          <p:attrName>ppt_y</p:attrName>
                                        </p:attrNameLst>
                                      </p:cBhvr>
                                      <p:tavLst>
                                        <p:tav tm="0" fmla="#ppt_y-sin(pi*$)/9">
                                          <p:val>
                                            <p:fltVal val="0"/>
                                          </p:val>
                                        </p:tav>
                                        <p:tav tm="100000">
                                          <p:val>
                                            <p:fltVal val="1"/>
                                          </p:val>
                                        </p:tav>
                                      </p:tavLst>
                                    </p:anim>
                                    <p:anim calcmode="lin" valueType="num">
                                      <p:cBhvr>
                                        <p:cTn id="106" dur="332" tmFilter="0, 0; 0.125,0.2665; 0.25,0.4; 0.375,0.465; 0.5,0.5;  0.625,0.535; 0.75,0.6; 0.875,0.7335; 1,1">
                                          <p:stCondLst>
                                            <p:cond delay="1324"/>
                                          </p:stCondLst>
                                        </p:cTn>
                                        <p:tgtEl>
                                          <p:spTgt spid="578701"/>
                                        </p:tgtEl>
                                        <p:attrNameLst>
                                          <p:attrName>ppt_y</p:attrName>
                                        </p:attrNameLst>
                                      </p:cBhvr>
                                      <p:tavLst>
                                        <p:tav tm="0" fmla="#ppt_y-sin(pi*$)/27">
                                          <p:val>
                                            <p:fltVal val="0"/>
                                          </p:val>
                                        </p:tav>
                                        <p:tav tm="100000">
                                          <p:val>
                                            <p:fltVal val="1"/>
                                          </p:val>
                                        </p:tav>
                                      </p:tavLst>
                                    </p:anim>
                                    <p:anim calcmode="lin" valueType="num">
                                      <p:cBhvr>
                                        <p:cTn id="107" dur="164" tmFilter="0, 0; 0.125,0.2665; 0.25,0.4; 0.375,0.465; 0.5,0.5;  0.625,0.535; 0.75,0.6; 0.875,0.7335; 1,1">
                                          <p:stCondLst>
                                            <p:cond delay="1656"/>
                                          </p:stCondLst>
                                        </p:cTn>
                                        <p:tgtEl>
                                          <p:spTgt spid="578701"/>
                                        </p:tgtEl>
                                        <p:attrNameLst>
                                          <p:attrName>ppt_y</p:attrName>
                                        </p:attrNameLst>
                                      </p:cBhvr>
                                      <p:tavLst>
                                        <p:tav tm="0" fmla="#ppt_y-sin(pi*$)/81">
                                          <p:val>
                                            <p:fltVal val="0"/>
                                          </p:val>
                                        </p:tav>
                                        <p:tav tm="100000">
                                          <p:val>
                                            <p:fltVal val="1"/>
                                          </p:val>
                                        </p:tav>
                                      </p:tavLst>
                                    </p:anim>
                                    <p:animScale>
                                      <p:cBhvr>
                                        <p:cTn id="108" dur="26">
                                          <p:stCondLst>
                                            <p:cond delay="650"/>
                                          </p:stCondLst>
                                        </p:cTn>
                                        <p:tgtEl>
                                          <p:spTgt spid="578701"/>
                                        </p:tgtEl>
                                      </p:cBhvr>
                                      <p:to x="100000" y="60000"/>
                                    </p:animScale>
                                    <p:animScale>
                                      <p:cBhvr>
                                        <p:cTn id="109" dur="166" decel="50000">
                                          <p:stCondLst>
                                            <p:cond delay="676"/>
                                          </p:stCondLst>
                                        </p:cTn>
                                        <p:tgtEl>
                                          <p:spTgt spid="578701"/>
                                        </p:tgtEl>
                                      </p:cBhvr>
                                      <p:to x="100000" y="100000"/>
                                    </p:animScale>
                                    <p:animScale>
                                      <p:cBhvr>
                                        <p:cTn id="110" dur="26">
                                          <p:stCondLst>
                                            <p:cond delay="1312"/>
                                          </p:stCondLst>
                                        </p:cTn>
                                        <p:tgtEl>
                                          <p:spTgt spid="578701"/>
                                        </p:tgtEl>
                                      </p:cBhvr>
                                      <p:to x="100000" y="80000"/>
                                    </p:animScale>
                                    <p:animScale>
                                      <p:cBhvr>
                                        <p:cTn id="111" dur="166" decel="50000">
                                          <p:stCondLst>
                                            <p:cond delay="1338"/>
                                          </p:stCondLst>
                                        </p:cTn>
                                        <p:tgtEl>
                                          <p:spTgt spid="578701"/>
                                        </p:tgtEl>
                                      </p:cBhvr>
                                      <p:to x="100000" y="100000"/>
                                    </p:animScale>
                                    <p:animScale>
                                      <p:cBhvr>
                                        <p:cTn id="112" dur="26">
                                          <p:stCondLst>
                                            <p:cond delay="1642"/>
                                          </p:stCondLst>
                                        </p:cTn>
                                        <p:tgtEl>
                                          <p:spTgt spid="578701"/>
                                        </p:tgtEl>
                                      </p:cBhvr>
                                      <p:to x="100000" y="90000"/>
                                    </p:animScale>
                                    <p:animScale>
                                      <p:cBhvr>
                                        <p:cTn id="113" dur="166" decel="50000">
                                          <p:stCondLst>
                                            <p:cond delay="1668"/>
                                          </p:stCondLst>
                                        </p:cTn>
                                        <p:tgtEl>
                                          <p:spTgt spid="578701"/>
                                        </p:tgtEl>
                                      </p:cBhvr>
                                      <p:to x="100000" y="100000"/>
                                    </p:animScale>
                                    <p:animScale>
                                      <p:cBhvr>
                                        <p:cTn id="114" dur="26">
                                          <p:stCondLst>
                                            <p:cond delay="1808"/>
                                          </p:stCondLst>
                                        </p:cTn>
                                        <p:tgtEl>
                                          <p:spTgt spid="578701"/>
                                        </p:tgtEl>
                                      </p:cBhvr>
                                      <p:to x="100000" y="95000"/>
                                    </p:animScale>
                                    <p:animScale>
                                      <p:cBhvr>
                                        <p:cTn id="115" dur="166" decel="50000">
                                          <p:stCondLst>
                                            <p:cond delay="1834"/>
                                          </p:stCondLst>
                                        </p:cTn>
                                        <p:tgtEl>
                                          <p:spTgt spid="578701"/>
                                        </p:tgtEl>
                                      </p:cBhvr>
                                      <p:to x="100000" y="100000"/>
                                    </p:animScale>
                                  </p:childTnLst>
                                </p:cTn>
                              </p:par>
                              <p:par>
                                <p:cTn id="116" presetID="26" presetClass="entr" presetSubtype="0" fill="hold" grpId="0" nodeType="withEffect">
                                  <p:stCondLst>
                                    <p:cond delay="0"/>
                                  </p:stCondLst>
                                  <p:childTnLst>
                                    <p:set>
                                      <p:cBhvr>
                                        <p:cTn id="117" dur="1" fill="hold">
                                          <p:stCondLst>
                                            <p:cond delay="0"/>
                                          </p:stCondLst>
                                        </p:cTn>
                                        <p:tgtEl>
                                          <p:spTgt spid="578703"/>
                                        </p:tgtEl>
                                        <p:attrNameLst>
                                          <p:attrName>style.visibility</p:attrName>
                                        </p:attrNameLst>
                                      </p:cBhvr>
                                      <p:to>
                                        <p:strVal val="visible"/>
                                      </p:to>
                                    </p:set>
                                    <p:animEffect transition="in" filter="wipe(down)">
                                      <p:cBhvr>
                                        <p:cTn id="118" dur="580">
                                          <p:stCondLst>
                                            <p:cond delay="0"/>
                                          </p:stCondLst>
                                        </p:cTn>
                                        <p:tgtEl>
                                          <p:spTgt spid="578703"/>
                                        </p:tgtEl>
                                      </p:cBhvr>
                                    </p:animEffect>
                                    <p:anim calcmode="lin" valueType="num">
                                      <p:cBhvr>
                                        <p:cTn id="119" dur="1822" tmFilter="0,0; 0.14,0.36; 0.43,0.73; 0.71,0.91; 1.0,1.0">
                                          <p:stCondLst>
                                            <p:cond delay="0"/>
                                          </p:stCondLst>
                                        </p:cTn>
                                        <p:tgtEl>
                                          <p:spTgt spid="578703"/>
                                        </p:tgtEl>
                                        <p:attrNameLst>
                                          <p:attrName>ppt_x</p:attrName>
                                        </p:attrNameLst>
                                      </p:cBhvr>
                                      <p:tavLst>
                                        <p:tav tm="0">
                                          <p:val>
                                            <p:strVal val="#ppt_x-0.25"/>
                                          </p:val>
                                        </p:tav>
                                        <p:tav tm="100000">
                                          <p:val>
                                            <p:strVal val="#ppt_x"/>
                                          </p:val>
                                        </p:tav>
                                      </p:tavLst>
                                    </p:anim>
                                    <p:anim calcmode="lin" valueType="num">
                                      <p:cBhvr>
                                        <p:cTn id="120" dur="664" tmFilter="0.0,0.0; 0.25,0.07; 0.50,0.2; 0.75,0.467; 1.0,1.0">
                                          <p:stCondLst>
                                            <p:cond delay="0"/>
                                          </p:stCondLst>
                                        </p:cTn>
                                        <p:tgtEl>
                                          <p:spTgt spid="578703"/>
                                        </p:tgtEl>
                                        <p:attrNameLst>
                                          <p:attrName>ppt_y</p:attrName>
                                        </p:attrNameLst>
                                      </p:cBhvr>
                                      <p:tavLst>
                                        <p:tav tm="0" fmla="#ppt_y-sin(pi*$)/3">
                                          <p:val>
                                            <p:fltVal val="0.5"/>
                                          </p:val>
                                        </p:tav>
                                        <p:tav tm="100000">
                                          <p:val>
                                            <p:fltVal val="1"/>
                                          </p:val>
                                        </p:tav>
                                      </p:tavLst>
                                    </p:anim>
                                    <p:anim calcmode="lin" valueType="num">
                                      <p:cBhvr>
                                        <p:cTn id="121" dur="664" tmFilter="0, 0; 0.125,0.2665; 0.25,0.4; 0.375,0.465; 0.5,0.5;  0.625,0.535; 0.75,0.6; 0.875,0.7335; 1,1">
                                          <p:stCondLst>
                                            <p:cond delay="664"/>
                                          </p:stCondLst>
                                        </p:cTn>
                                        <p:tgtEl>
                                          <p:spTgt spid="578703"/>
                                        </p:tgtEl>
                                        <p:attrNameLst>
                                          <p:attrName>ppt_y</p:attrName>
                                        </p:attrNameLst>
                                      </p:cBhvr>
                                      <p:tavLst>
                                        <p:tav tm="0" fmla="#ppt_y-sin(pi*$)/9">
                                          <p:val>
                                            <p:fltVal val="0"/>
                                          </p:val>
                                        </p:tav>
                                        <p:tav tm="100000">
                                          <p:val>
                                            <p:fltVal val="1"/>
                                          </p:val>
                                        </p:tav>
                                      </p:tavLst>
                                    </p:anim>
                                    <p:anim calcmode="lin" valueType="num">
                                      <p:cBhvr>
                                        <p:cTn id="122" dur="332" tmFilter="0, 0; 0.125,0.2665; 0.25,0.4; 0.375,0.465; 0.5,0.5;  0.625,0.535; 0.75,0.6; 0.875,0.7335; 1,1">
                                          <p:stCondLst>
                                            <p:cond delay="1324"/>
                                          </p:stCondLst>
                                        </p:cTn>
                                        <p:tgtEl>
                                          <p:spTgt spid="578703"/>
                                        </p:tgtEl>
                                        <p:attrNameLst>
                                          <p:attrName>ppt_y</p:attrName>
                                        </p:attrNameLst>
                                      </p:cBhvr>
                                      <p:tavLst>
                                        <p:tav tm="0" fmla="#ppt_y-sin(pi*$)/27">
                                          <p:val>
                                            <p:fltVal val="0"/>
                                          </p:val>
                                        </p:tav>
                                        <p:tav tm="100000">
                                          <p:val>
                                            <p:fltVal val="1"/>
                                          </p:val>
                                        </p:tav>
                                      </p:tavLst>
                                    </p:anim>
                                    <p:anim calcmode="lin" valueType="num">
                                      <p:cBhvr>
                                        <p:cTn id="123" dur="164" tmFilter="0, 0; 0.125,0.2665; 0.25,0.4; 0.375,0.465; 0.5,0.5;  0.625,0.535; 0.75,0.6; 0.875,0.7335; 1,1">
                                          <p:stCondLst>
                                            <p:cond delay="1656"/>
                                          </p:stCondLst>
                                        </p:cTn>
                                        <p:tgtEl>
                                          <p:spTgt spid="578703"/>
                                        </p:tgtEl>
                                        <p:attrNameLst>
                                          <p:attrName>ppt_y</p:attrName>
                                        </p:attrNameLst>
                                      </p:cBhvr>
                                      <p:tavLst>
                                        <p:tav tm="0" fmla="#ppt_y-sin(pi*$)/81">
                                          <p:val>
                                            <p:fltVal val="0"/>
                                          </p:val>
                                        </p:tav>
                                        <p:tav tm="100000">
                                          <p:val>
                                            <p:fltVal val="1"/>
                                          </p:val>
                                        </p:tav>
                                      </p:tavLst>
                                    </p:anim>
                                    <p:animScale>
                                      <p:cBhvr>
                                        <p:cTn id="124" dur="26">
                                          <p:stCondLst>
                                            <p:cond delay="650"/>
                                          </p:stCondLst>
                                        </p:cTn>
                                        <p:tgtEl>
                                          <p:spTgt spid="578703"/>
                                        </p:tgtEl>
                                      </p:cBhvr>
                                      <p:to x="100000" y="60000"/>
                                    </p:animScale>
                                    <p:animScale>
                                      <p:cBhvr>
                                        <p:cTn id="125" dur="166" decel="50000">
                                          <p:stCondLst>
                                            <p:cond delay="676"/>
                                          </p:stCondLst>
                                        </p:cTn>
                                        <p:tgtEl>
                                          <p:spTgt spid="578703"/>
                                        </p:tgtEl>
                                      </p:cBhvr>
                                      <p:to x="100000" y="100000"/>
                                    </p:animScale>
                                    <p:animScale>
                                      <p:cBhvr>
                                        <p:cTn id="126" dur="26">
                                          <p:stCondLst>
                                            <p:cond delay="1312"/>
                                          </p:stCondLst>
                                        </p:cTn>
                                        <p:tgtEl>
                                          <p:spTgt spid="578703"/>
                                        </p:tgtEl>
                                      </p:cBhvr>
                                      <p:to x="100000" y="80000"/>
                                    </p:animScale>
                                    <p:animScale>
                                      <p:cBhvr>
                                        <p:cTn id="127" dur="166" decel="50000">
                                          <p:stCondLst>
                                            <p:cond delay="1338"/>
                                          </p:stCondLst>
                                        </p:cTn>
                                        <p:tgtEl>
                                          <p:spTgt spid="578703"/>
                                        </p:tgtEl>
                                      </p:cBhvr>
                                      <p:to x="100000" y="100000"/>
                                    </p:animScale>
                                    <p:animScale>
                                      <p:cBhvr>
                                        <p:cTn id="128" dur="26">
                                          <p:stCondLst>
                                            <p:cond delay="1642"/>
                                          </p:stCondLst>
                                        </p:cTn>
                                        <p:tgtEl>
                                          <p:spTgt spid="578703"/>
                                        </p:tgtEl>
                                      </p:cBhvr>
                                      <p:to x="100000" y="90000"/>
                                    </p:animScale>
                                    <p:animScale>
                                      <p:cBhvr>
                                        <p:cTn id="129" dur="166" decel="50000">
                                          <p:stCondLst>
                                            <p:cond delay="1668"/>
                                          </p:stCondLst>
                                        </p:cTn>
                                        <p:tgtEl>
                                          <p:spTgt spid="578703"/>
                                        </p:tgtEl>
                                      </p:cBhvr>
                                      <p:to x="100000" y="100000"/>
                                    </p:animScale>
                                    <p:animScale>
                                      <p:cBhvr>
                                        <p:cTn id="130" dur="26">
                                          <p:stCondLst>
                                            <p:cond delay="1808"/>
                                          </p:stCondLst>
                                        </p:cTn>
                                        <p:tgtEl>
                                          <p:spTgt spid="578703"/>
                                        </p:tgtEl>
                                      </p:cBhvr>
                                      <p:to x="100000" y="95000"/>
                                    </p:animScale>
                                    <p:animScale>
                                      <p:cBhvr>
                                        <p:cTn id="131" dur="166" decel="50000">
                                          <p:stCondLst>
                                            <p:cond delay="1834"/>
                                          </p:stCondLst>
                                        </p:cTn>
                                        <p:tgtEl>
                                          <p:spTgt spid="578703"/>
                                        </p:tgtEl>
                                      </p:cBhvr>
                                      <p:to x="100000" y="100000"/>
                                    </p:animScale>
                                  </p:childTnLst>
                                </p:cTn>
                              </p:par>
                              <p:par>
                                <p:cTn id="132" presetID="26" presetClass="entr" presetSubtype="0" fill="hold" grpId="0" nodeType="withEffect">
                                  <p:stCondLst>
                                    <p:cond delay="0"/>
                                  </p:stCondLst>
                                  <p:childTnLst>
                                    <p:set>
                                      <p:cBhvr>
                                        <p:cTn id="133" dur="1" fill="hold">
                                          <p:stCondLst>
                                            <p:cond delay="0"/>
                                          </p:stCondLst>
                                        </p:cTn>
                                        <p:tgtEl>
                                          <p:spTgt spid="578706"/>
                                        </p:tgtEl>
                                        <p:attrNameLst>
                                          <p:attrName>style.visibility</p:attrName>
                                        </p:attrNameLst>
                                      </p:cBhvr>
                                      <p:to>
                                        <p:strVal val="visible"/>
                                      </p:to>
                                    </p:set>
                                    <p:animEffect transition="in" filter="wipe(down)">
                                      <p:cBhvr>
                                        <p:cTn id="134" dur="580">
                                          <p:stCondLst>
                                            <p:cond delay="0"/>
                                          </p:stCondLst>
                                        </p:cTn>
                                        <p:tgtEl>
                                          <p:spTgt spid="578706"/>
                                        </p:tgtEl>
                                      </p:cBhvr>
                                    </p:animEffect>
                                    <p:anim calcmode="lin" valueType="num">
                                      <p:cBhvr>
                                        <p:cTn id="135" dur="1822" tmFilter="0,0; 0.14,0.36; 0.43,0.73; 0.71,0.91; 1.0,1.0">
                                          <p:stCondLst>
                                            <p:cond delay="0"/>
                                          </p:stCondLst>
                                        </p:cTn>
                                        <p:tgtEl>
                                          <p:spTgt spid="578706"/>
                                        </p:tgtEl>
                                        <p:attrNameLst>
                                          <p:attrName>ppt_x</p:attrName>
                                        </p:attrNameLst>
                                      </p:cBhvr>
                                      <p:tavLst>
                                        <p:tav tm="0">
                                          <p:val>
                                            <p:strVal val="#ppt_x-0.25"/>
                                          </p:val>
                                        </p:tav>
                                        <p:tav tm="100000">
                                          <p:val>
                                            <p:strVal val="#ppt_x"/>
                                          </p:val>
                                        </p:tav>
                                      </p:tavLst>
                                    </p:anim>
                                    <p:anim calcmode="lin" valueType="num">
                                      <p:cBhvr>
                                        <p:cTn id="136" dur="664" tmFilter="0.0,0.0; 0.25,0.07; 0.50,0.2; 0.75,0.467; 1.0,1.0">
                                          <p:stCondLst>
                                            <p:cond delay="0"/>
                                          </p:stCondLst>
                                        </p:cTn>
                                        <p:tgtEl>
                                          <p:spTgt spid="578706"/>
                                        </p:tgtEl>
                                        <p:attrNameLst>
                                          <p:attrName>ppt_y</p:attrName>
                                        </p:attrNameLst>
                                      </p:cBhvr>
                                      <p:tavLst>
                                        <p:tav tm="0" fmla="#ppt_y-sin(pi*$)/3">
                                          <p:val>
                                            <p:fltVal val="0.5"/>
                                          </p:val>
                                        </p:tav>
                                        <p:tav tm="100000">
                                          <p:val>
                                            <p:fltVal val="1"/>
                                          </p:val>
                                        </p:tav>
                                      </p:tavLst>
                                    </p:anim>
                                    <p:anim calcmode="lin" valueType="num">
                                      <p:cBhvr>
                                        <p:cTn id="137" dur="664" tmFilter="0, 0; 0.125,0.2665; 0.25,0.4; 0.375,0.465; 0.5,0.5;  0.625,0.535; 0.75,0.6; 0.875,0.7335; 1,1">
                                          <p:stCondLst>
                                            <p:cond delay="664"/>
                                          </p:stCondLst>
                                        </p:cTn>
                                        <p:tgtEl>
                                          <p:spTgt spid="578706"/>
                                        </p:tgtEl>
                                        <p:attrNameLst>
                                          <p:attrName>ppt_y</p:attrName>
                                        </p:attrNameLst>
                                      </p:cBhvr>
                                      <p:tavLst>
                                        <p:tav tm="0" fmla="#ppt_y-sin(pi*$)/9">
                                          <p:val>
                                            <p:fltVal val="0"/>
                                          </p:val>
                                        </p:tav>
                                        <p:tav tm="100000">
                                          <p:val>
                                            <p:fltVal val="1"/>
                                          </p:val>
                                        </p:tav>
                                      </p:tavLst>
                                    </p:anim>
                                    <p:anim calcmode="lin" valueType="num">
                                      <p:cBhvr>
                                        <p:cTn id="138" dur="332" tmFilter="0, 0; 0.125,0.2665; 0.25,0.4; 0.375,0.465; 0.5,0.5;  0.625,0.535; 0.75,0.6; 0.875,0.7335; 1,1">
                                          <p:stCondLst>
                                            <p:cond delay="1324"/>
                                          </p:stCondLst>
                                        </p:cTn>
                                        <p:tgtEl>
                                          <p:spTgt spid="578706"/>
                                        </p:tgtEl>
                                        <p:attrNameLst>
                                          <p:attrName>ppt_y</p:attrName>
                                        </p:attrNameLst>
                                      </p:cBhvr>
                                      <p:tavLst>
                                        <p:tav tm="0" fmla="#ppt_y-sin(pi*$)/27">
                                          <p:val>
                                            <p:fltVal val="0"/>
                                          </p:val>
                                        </p:tav>
                                        <p:tav tm="100000">
                                          <p:val>
                                            <p:fltVal val="1"/>
                                          </p:val>
                                        </p:tav>
                                      </p:tavLst>
                                    </p:anim>
                                    <p:anim calcmode="lin" valueType="num">
                                      <p:cBhvr>
                                        <p:cTn id="139" dur="164" tmFilter="0, 0; 0.125,0.2665; 0.25,0.4; 0.375,0.465; 0.5,0.5;  0.625,0.535; 0.75,0.6; 0.875,0.7335; 1,1">
                                          <p:stCondLst>
                                            <p:cond delay="1656"/>
                                          </p:stCondLst>
                                        </p:cTn>
                                        <p:tgtEl>
                                          <p:spTgt spid="578706"/>
                                        </p:tgtEl>
                                        <p:attrNameLst>
                                          <p:attrName>ppt_y</p:attrName>
                                        </p:attrNameLst>
                                      </p:cBhvr>
                                      <p:tavLst>
                                        <p:tav tm="0" fmla="#ppt_y-sin(pi*$)/81">
                                          <p:val>
                                            <p:fltVal val="0"/>
                                          </p:val>
                                        </p:tav>
                                        <p:tav tm="100000">
                                          <p:val>
                                            <p:fltVal val="1"/>
                                          </p:val>
                                        </p:tav>
                                      </p:tavLst>
                                    </p:anim>
                                    <p:animScale>
                                      <p:cBhvr>
                                        <p:cTn id="140" dur="26">
                                          <p:stCondLst>
                                            <p:cond delay="650"/>
                                          </p:stCondLst>
                                        </p:cTn>
                                        <p:tgtEl>
                                          <p:spTgt spid="578706"/>
                                        </p:tgtEl>
                                      </p:cBhvr>
                                      <p:to x="100000" y="60000"/>
                                    </p:animScale>
                                    <p:animScale>
                                      <p:cBhvr>
                                        <p:cTn id="141" dur="166" decel="50000">
                                          <p:stCondLst>
                                            <p:cond delay="676"/>
                                          </p:stCondLst>
                                        </p:cTn>
                                        <p:tgtEl>
                                          <p:spTgt spid="578706"/>
                                        </p:tgtEl>
                                      </p:cBhvr>
                                      <p:to x="100000" y="100000"/>
                                    </p:animScale>
                                    <p:animScale>
                                      <p:cBhvr>
                                        <p:cTn id="142" dur="26">
                                          <p:stCondLst>
                                            <p:cond delay="1312"/>
                                          </p:stCondLst>
                                        </p:cTn>
                                        <p:tgtEl>
                                          <p:spTgt spid="578706"/>
                                        </p:tgtEl>
                                      </p:cBhvr>
                                      <p:to x="100000" y="80000"/>
                                    </p:animScale>
                                    <p:animScale>
                                      <p:cBhvr>
                                        <p:cTn id="143" dur="166" decel="50000">
                                          <p:stCondLst>
                                            <p:cond delay="1338"/>
                                          </p:stCondLst>
                                        </p:cTn>
                                        <p:tgtEl>
                                          <p:spTgt spid="578706"/>
                                        </p:tgtEl>
                                      </p:cBhvr>
                                      <p:to x="100000" y="100000"/>
                                    </p:animScale>
                                    <p:animScale>
                                      <p:cBhvr>
                                        <p:cTn id="144" dur="26">
                                          <p:stCondLst>
                                            <p:cond delay="1642"/>
                                          </p:stCondLst>
                                        </p:cTn>
                                        <p:tgtEl>
                                          <p:spTgt spid="578706"/>
                                        </p:tgtEl>
                                      </p:cBhvr>
                                      <p:to x="100000" y="90000"/>
                                    </p:animScale>
                                    <p:animScale>
                                      <p:cBhvr>
                                        <p:cTn id="145" dur="166" decel="50000">
                                          <p:stCondLst>
                                            <p:cond delay="1668"/>
                                          </p:stCondLst>
                                        </p:cTn>
                                        <p:tgtEl>
                                          <p:spTgt spid="578706"/>
                                        </p:tgtEl>
                                      </p:cBhvr>
                                      <p:to x="100000" y="100000"/>
                                    </p:animScale>
                                    <p:animScale>
                                      <p:cBhvr>
                                        <p:cTn id="146" dur="26">
                                          <p:stCondLst>
                                            <p:cond delay="1808"/>
                                          </p:stCondLst>
                                        </p:cTn>
                                        <p:tgtEl>
                                          <p:spTgt spid="578706"/>
                                        </p:tgtEl>
                                      </p:cBhvr>
                                      <p:to x="100000" y="95000"/>
                                    </p:animScale>
                                    <p:animScale>
                                      <p:cBhvr>
                                        <p:cTn id="147" dur="166" decel="50000">
                                          <p:stCondLst>
                                            <p:cond delay="1834"/>
                                          </p:stCondLst>
                                        </p:cTn>
                                        <p:tgtEl>
                                          <p:spTgt spid="578706"/>
                                        </p:tgtEl>
                                      </p:cBhvr>
                                      <p:to x="100000" y="100000"/>
                                    </p:animScale>
                                  </p:childTnLst>
                                </p:cTn>
                              </p:par>
                              <p:par>
                                <p:cTn id="148" presetID="26" presetClass="entr" presetSubtype="0" fill="hold" grpId="0" nodeType="withEffect">
                                  <p:stCondLst>
                                    <p:cond delay="0"/>
                                  </p:stCondLst>
                                  <p:childTnLst>
                                    <p:set>
                                      <p:cBhvr>
                                        <p:cTn id="149" dur="1" fill="hold">
                                          <p:stCondLst>
                                            <p:cond delay="0"/>
                                          </p:stCondLst>
                                        </p:cTn>
                                        <p:tgtEl>
                                          <p:spTgt spid="578705"/>
                                        </p:tgtEl>
                                        <p:attrNameLst>
                                          <p:attrName>style.visibility</p:attrName>
                                        </p:attrNameLst>
                                      </p:cBhvr>
                                      <p:to>
                                        <p:strVal val="visible"/>
                                      </p:to>
                                    </p:set>
                                    <p:animEffect transition="in" filter="wipe(down)">
                                      <p:cBhvr>
                                        <p:cTn id="150" dur="580">
                                          <p:stCondLst>
                                            <p:cond delay="0"/>
                                          </p:stCondLst>
                                        </p:cTn>
                                        <p:tgtEl>
                                          <p:spTgt spid="578705"/>
                                        </p:tgtEl>
                                      </p:cBhvr>
                                    </p:animEffect>
                                    <p:anim calcmode="lin" valueType="num">
                                      <p:cBhvr>
                                        <p:cTn id="151" dur="1822" tmFilter="0,0; 0.14,0.36; 0.43,0.73; 0.71,0.91; 1.0,1.0">
                                          <p:stCondLst>
                                            <p:cond delay="0"/>
                                          </p:stCondLst>
                                        </p:cTn>
                                        <p:tgtEl>
                                          <p:spTgt spid="578705"/>
                                        </p:tgtEl>
                                        <p:attrNameLst>
                                          <p:attrName>ppt_x</p:attrName>
                                        </p:attrNameLst>
                                      </p:cBhvr>
                                      <p:tavLst>
                                        <p:tav tm="0">
                                          <p:val>
                                            <p:strVal val="#ppt_x-0.25"/>
                                          </p:val>
                                        </p:tav>
                                        <p:tav tm="100000">
                                          <p:val>
                                            <p:strVal val="#ppt_x"/>
                                          </p:val>
                                        </p:tav>
                                      </p:tavLst>
                                    </p:anim>
                                    <p:anim calcmode="lin" valueType="num">
                                      <p:cBhvr>
                                        <p:cTn id="152" dur="664" tmFilter="0.0,0.0; 0.25,0.07; 0.50,0.2; 0.75,0.467; 1.0,1.0">
                                          <p:stCondLst>
                                            <p:cond delay="0"/>
                                          </p:stCondLst>
                                        </p:cTn>
                                        <p:tgtEl>
                                          <p:spTgt spid="578705"/>
                                        </p:tgtEl>
                                        <p:attrNameLst>
                                          <p:attrName>ppt_y</p:attrName>
                                        </p:attrNameLst>
                                      </p:cBhvr>
                                      <p:tavLst>
                                        <p:tav tm="0" fmla="#ppt_y-sin(pi*$)/3">
                                          <p:val>
                                            <p:fltVal val="0.5"/>
                                          </p:val>
                                        </p:tav>
                                        <p:tav tm="100000">
                                          <p:val>
                                            <p:fltVal val="1"/>
                                          </p:val>
                                        </p:tav>
                                      </p:tavLst>
                                    </p:anim>
                                    <p:anim calcmode="lin" valueType="num">
                                      <p:cBhvr>
                                        <p:cTn id="153" dur="664" tmFilter="0, 0; 0.125,0.2665; 0.25,0.4; 0.375,0.465; 0.5,0.5;  0.625,0.535; 0.75,0.6; 0.875,0.7335; 1,1">
                                          <p:stCondLst>
                                            <p:cond delay="664"/>
                                          </p:stCondLst>
                                        </p:cTn>
                                        <p:tgtEl>
                                          <p:spTgt spid="578705"/>
                                        </p:tgtEl>
                                        <p:attrNameLst>
                                          <p:attrName>ppt_y</p:attrName>
                                        </p:attrNameLst>
                                      </p:cBhvr>
                                      <p:tavLst>
                                        <p:tav tm="0" fmla="#ppt_y-sin(pi*$)/9">
                                          <p:val>
                                            <p:fltVal val="0"/>
                                          </p:val>
                                        </p:tav>
                                        <p:tav tm="100000">
                                          <p:val>
                                            <p:fltVal val="1"/>
                                          </p:val>
                                        </p:tav>
                                      </p:tavLst>
                                    </p:anim>
                                    <p:anim calcmode="lin" valueType="num">
                                      <p:cBhvr>
                                        <p:cTn id="154" dur="332" tmFilter="0, 0; 0.125,0.2665; 0.25,0.4; 0.375,0.465; 0.5,0.5;  0.625,0.535; 0.75,0.6; 0.875,0.7335; 1,1">
                                          <p:stCondLst>
                                            <p:cond delay="1324"/>
                                          </p:stCondLst>
                                        </p:cTn>
                                        <p:tgtEl>
                                          <p:spTgt spid="578705"/>
                                        </p:tgtEl>
                                        <p:attrNameLst>
                                          <p:attrName>ppt_y</p:attrName>
                                        </p:attrNameLst>
                                      </p:cBhvr>
                                      <p:tavLst>
                                        <p:tav tm="0" fmla="#ppt_y-sin(pi*$)/27">
                                          <p:val>
                                            <p:fltVal val="0"/>
                                          </p:val>
                                        </p:tav>
                                        <p:tav tm="100000">
                                          <p:val>
                                            <p:fltVal val="1"/>
                                          </p:val>
                                        </p:tav>
                                      </p:tavLst>
                                    </p:anim>
                                    <p:anim calcmode="lin" valueType="num">
                                      <p:cBhvr>
                                        <p:cTn id="155" dur="164" tmFilter="0, 0; 0.125,0.2665; 0.25,0.4; 0.375,0.465; 0.5,0.5;  0.625,0.535; 0.75,0.6; 0.875,0.7335; 1,1">
                                          <p:stCondLst>
                                            <p:cond delay="1656"/>
                                          </p:stCondLst>
                                        </p:cTn>
                                        <p:tgtEl>
                                          <p:spTgt spid="578705"/>
                                        </p:tgtEl>
                                        <p:attrNameLst>
                                          <p:attrName>ppt_y</p:attrName>
                                        </p:attrNameLst>
                                      </p:cBhvr>
                                      <p:tavLst>
                                        <p:tav tm="0" fmla="#ppt_y-sin(pi*$)/81">
                                          <p:val>
                                            <p:fltVal val="0"/>
                                          </p:val>
                                        </p:tav>
                                        <p:tav tm="100000">
                                          <p:val>
                                            <p:fltVal val="1"/>
                                          </p:val>
                                        </p:tav>
                                      </p:tavLst>
                                    </p:anim>
                                    <p:animScale>
                                      <p:cBhvr>
                                        <p:cTn id="156" dur="26">
                                          <p:stCondLst>
                                            <p:cond delay="650"/>
                                          </p:stCondLst>
                                        </p:cTn>
                                        <p:tgtEl>
                                          <p:spTgt spid="578705"/>
                                        </p:tgtEl>
                                      </p:cBhvr>
                                      <p:to x="100000" y="60000"/>
                                    </p:animScale>
                                    <p:animScale>
                                      <p:cBhvr>
                                        <p:cTn id="157" dur="166" decel="50000">
                                          <p:stCondLst>
                                            <p:cond delay="676"/>
                                          </p:stCondLst>
                                        </p:cTn>
                                        <p:tgtEl>
                                          <p:spTgt spid="578705"/>
                                        </p:tgtEl>
                                      </p:cBhvr>
                                      <p:to x="100000" y="100000"/>
                                    </p:animScale>
                                    <p:animScale>
                                      <p:cBhvr>
                                        <p:cTn id="158" dur="26">
                                          <p:stCondLst>
                                            <p:cond delay="1312"/>
                                          </p:stCondLst>
                                        </p:cTn>
                                        <p:tgtEl>
                                          <p:spTgt spid="578705"/>
                                        </p:tgtEl>
                                      </p:cBhvr>
                                      <p:to x="100000" y="80000"/>
                                    </p:animScale>
                                    <p:animScale>
                                      <p:cBhvr>
                                        <p:cTn id="159" dur="166" decel="50000">
                                          <p:stCondLst>
                                            <p:cond delay="1338"/>
                                          </p:stCondLst>
                                        </p:cTn>
                                        <p:tgtEl>
                                          <p:spTgt spid="578705"/>
                                        </p:tgtEl>
                                      </p:cBhvr>
                                      <p:to x="100000" y="100000"/>
                                    </p:animScale>
                                    <p:animScale>
                                      <p:cBhvr>
                                        <p:cTn id="160" dur="26">
                                          <p:stCondLst>
                                            <p:cond delay="1642"/>
                                          </p:stCondLst>
                                        </p:cTn>
                                        <p:tgtEl>
                                          <p:spTgt spid="578705"/>
                                        </p:tgtEl>
                                      </p:cBhvr>
                                      <p:to x="100000" y="90000"/>
                                    </p:animScale>
                                    <p:animScale>
                                      <p:cBhvr>
                                        <p:cTn id="161" dur="166" decel="50000">
                                          <p:stCondLst>
                                            <p:cond delay="1668"/>
                                          </p:stCondLst>
                                        </p:cTn>
                                        <p:tgtEl>
                                          <p:spTgt spid="578705"/>
                                        </p:tgtEl>
                                      </p:cBhvr>
                                      <p:to x="100000" y="100000"/>
                                    </p:animScale>
                                    <p:animScale>
                                      <p:cBhvr>
                                        <p:cTn id="162" dur="26">
                                          <p:stCondLst>
                                            <p:cond delay="1808"/>
                                          </p:stCondLst>
                                        </p:cTn>
                                        <p:tgtEl>
                                          <p:spTgt spid="578705"/>
                                        </p:tgtEl>
                                      </p:cBhvr>
                                      <p:to x="100000" y="95000"/>
                                    </p:animScale>
                                    <p:animScale>
                                      <p:cBhvr>
                                        <p:cTn id="163" dur="166" decel="50000">
                                          <p:stCondLst>
                                            <p:cond delay="1834"/>
                                          </p:stCondLst>
                                        </p:cTn>
                                        <p:tgtEl>
                                          <p:spTgt spid="578705"/>
                                        </p:tgtEl>
                                      </p:cBhvr>
                                      <p:to x="100000" y="100000"/>
                                    </p:animScale>
                                  </p:childTnLst>
                                </p:cTn>
                              </p:par>
                              <p:par>
                                <p:cTn id="164" presetID="26" presetClass="entr" presetSubtype="0" fill="hold" grpId="0" nodeType="withEffect">
                                  <p:stCondLst>
                                    <p:cond delay="0"/>
                                  </p:stCondLst>
                                  <p:childTnLst>
                                    <p:set>
                                      <p:cBhvr>
                                        <p:cTn id="165" dur="1" fill="hold">
                                          <p:stCondLst>
                                            <p:cond delay="0"/>
                                          </p:stCondLst>
                                        </p:cTn>
                                        <p:tgtEl>
                                          <p:spTgt spid="578708"/>
                                        </p:tgtEl>
                                        <p:attrNameLst>
                                          <p:attrName>style.visibility</p:attrName>
                                        </p:attrNameLst>
                                      </p:cBhvr>
                                      <p:to>
                                        <p:strVal val="visible"/>
                                      </p:to>
                                    </p:set>
                                    <p:animEffect transition="in" filter="wipe(down)">
                                      <p:cBhvr>
                                        <p:cTn id="166" dur="580">
                                          <p:stCondLst>
                                            <p:cond delay="0"/>
                                          </p:stCondLst>
                                        </p:cTn>
                                        <p:tgtEl>
                                          <p:spTgt spid="578708"/>
                                        </p:tgtEl>
                                      </p:cBhvr>
                                    </p:animEffect>
                                    <p:anim calcmode="lin" valueType="num">
                                      <p:cBhvr>
                                        <p:cTn id="167" dur="1822" tmFilter="0,0; 0.14,0.36; 0.43,0.73; 0.71,0.91; 1.0,1.0">
                                          <p:stCondLst>
                                            <p:cond delay="0"/>
                                          </p:stCondLst>
                                        </p:cTn>
                                        <p:tgtEl>
                                          <p:spTgt spid="578708"/>
                                        </p:tgtEl>
                                        <p:attrNameLst>
                                          <p:attrName>ppt_x</p:attrName>
                                        </p:attrNameLst>
                                      </p:cBhvr>
                                      <p:tavLst>
                                        <p:tav tm="0">
                                          <p:val>
                                            <p:strVal val="#ppt_x-0.25"/>
                                          </p:val>
                                        </p:tav>
                                        <p:tav tm="100000">
                                          <p:val>
                                            <p:strVal val="#ppt_x"/>
                                          </p:val>
                                        </p:tav>
                                      </p:tavLst>
                                    </p:anim>
                                    <p:anim calcmode="lin" valueType="num">
                                      <p:cBhvr>
                                        <p:cTn id="168" dur="664" tmFilter="0.0,0.0; 0.25,0.07; 0.50,0.2; 0.75,0.467; 1.0,1.0">
                                          <p:stCondLst>
                                            <p:cond delay="0"/>
                                          </p:stCondLst>
                                        </p:cTn>
                                        <p:tgtEl>
                                          <p:spTgt spid="578708"/>
                                        </p:tgtEl>
                                        <p:attrNameLst>
                                          <p:attrName>ppt_y</p:attrName>
                                        </p:attrNameLst>
                                      </p:cBhvr>
                                      <p:tavLst>
                                        <p:tav tm="0" fmla="#ppt_y-sin(pi*$)/3">
                                          <p:val>
                                            <p:fltVal val="0.5"/>
                                          </p:val>
                                        </p:tav>
                                        <p:tav tm="100000">
                                          <p:val>
                                            <p:fltVal val="1"/>
                                          </p:val>
                                        </p:tav>
                                      </p:tavLst>
                                    </p:anim>
                                    <p:anim calcmode="lin" valueType="num">
                                      <p:cBhvr>
                                        <p:cTn id="169" dur="664" tmFilter="0, 0; 0.125,0.2665; 0.25,0.4; 0.375,0.465; 0.5,0.5;  0.625,0.535; 0.75,0.6; 0.875,0.7335; 1,1">
                                          <p:stCondLst>
                                            <p:cond delay="664"/>
                                          </p:stCondLst>
                                        </p:cTn>
                                        <p:tgtEl>
                                          <p:spTgt spid="578708"/>
                                        </p:tgtEl>
                                        <p:attrNameLst>
                                          <p:attrName>ppt_y</p:attrName>
                                        </p:attrNameLst>
                                      </p:cBhvr>
                                      <p:tavLst>
                                        <p:tav tm="0" fmla="#ppt_y-sin(pi*$)/9">
                                          <p:val>
                                            <p:fltVal val="0"/>
                                          </p:val>
                                        </p:tav>
                                        <p:tav tm="100000">
                                          <p:val>
                                            <p:fltVal val="1"/>
                                          </p:val>
                                        </p:tav>
                                      </p:tavLst>
                                    </p:anim>
                                    <p:anim calcmode="lin" valueType="num">
                                      <p:cBhvr>
                                        <p:cTn id="170" dur="332" tmFilter="0, 0; 0.125,0.2665; 0.25,0.4; 0.375,0.465; 0.5,0.5;  0.625,0.535; 0.75,0.6; 0.875,0.7335; 1,1">
                                          <p:stCondLst>
                                            <p:cond delay="1324"/>
                                          </p:stCondLst>
                                        </p:cTn>
                                        <p:tgtEl>
                                          <p:spTgt spid="578708"/>
                                        </p:tgtEl>
                                        <p:attrNameLst>
                                          <p:attrName>ppt_y</p:attrName>
                                        </p:attrNameLst>
                                      </p:cBhvr>
                                      <p:tavLst>
                                        <p:tav tm="0" fmla="#ppt_y-sin(pi*$)/27">
                                          <p:val>
                                            <p:fltVal val="0"/>
                                          </p:val>
                                        </p:tav>
                                        <p:tav tm="100000">
                                          <p:val>
                                            <p:fltVal val="1"/>
                                          </p:val>
                                        </p:tav>
                                      </p:tavLst>
                                    </p:anim>
                                    <p:anim calcmode="lin" valueType="num">
                                      <p:cBhvr>
                                        <p:cTn id="171" dur="164" tmFilter="0, 0; 0.125,0.2665; 0.25,0.4; 0.375,0.465; 0.5,0.5;  0.625,0.535; 0.75,0.6; 0.875,0.7335; 1,1">
                                          <p:stCondLst>
                                            <p:cond delay="1656"/>
                                          </p:stCondLst>
                                        </p:cTn>
                                        <p:tgtEl>
                                          <p:spTgt spid="578708"/>
                                        </p:tgtEl>
                                        <p:attrNameLst>
                                          <p:attrName>ppt_y</p:attrName>
                                        </p:attrNameLst>
                                      </p:cBhvr>
                                      <p:tavLst>
                                        <p:tav tm="0" fmla="#ppt_y-sin(pi*$)/81">
                                          <p:val>
                                            <p:fltVal val="0"/>
                                          </p:val>
                                        </p:tav>
                                        <p:tav tm="100000">
                                          <p:val>
                                            <p:fltVal val="1"/>
                                          </p:val>
                                        </p:tav>
                                      </p:tavLst>
                                    </p:anim>
                                    <p:animScale>
                                      <p:cBhvr>
                                        <p:cTn id="172" dur="26">
                                          <p:stCondLst>
                                            <p:cond delay="650"/>
                                          </p:stCondLst>
                                        </p:cTn>
                                        <p:tgtEl>
                                          <p:spTgt spid="578708"/>
                                        </p:tgtEl>
                                      </p:cBhvr>
                                      <p:to x="100000" y="60000"/>
                                    </p:animScale>
                                    <p:animScale>
                                      <p:cBhvr>
                                        <p:cTn id="173" dur="166" decel="50000">
                                          <p:stCondLst>
                                            <p:cond delay="676"/>
                                          </p:stCondLst>
                                        </p:cTn>
                                        <p:tgtEl>
                                          <p:spTgt spid="578708"/>
                                        </p:tgtEl>
                                      </p:cBhvr>
                                      <p:to x="100000" y="100000"/>
                                    </p:animScale>
                                    <p:animScale>
                                      <p:cBhvr>
                                        <p:cTn id="174" dur="26">
                                          <p:stCondLst>
                                            <p:cond delay="1312"/>
                                          </p:stCondLst>
                                        </p:cTn>
                                        <p:tgtEl>
                                          <p:spTgt spid="578708"/>
                                        </p:tgtEl>
                                      </p:cBhvr>
                                      <p:to x="100000" y="80000"/>
                                    </p:animScale>
                                    <p:animScale>
                                      <p:cBhvr>
                                        <p:cTn id="175" dur="166" decel="50000">
                                          <p:stCondLst>
                                            <p:cond delay="1338"/>
                                          </p:stCondLst>
                                        </p:cTn>
                                        <p:tgtEl>
                                          <p:spTgt spid="578708"/>
                                        </p:tgtEl>
                                      </p:cBhvr>
                                      <p:to x="100000" y="100000"/>
                                    </p:animScale>
                                    <p:animScale>
                                      <p:cBhvr>
                                        <p:cTn id="176" dur="26">
                                          <p:stCondLst>
                                            <p:cond delay="1642"/>
                                          </p:stCondLst>
                                        </p:cTn>
                                        <p:tgtEl>
                                          <p:spTgt spid="578708"/>
                                        </p:tgtEl>
                                      </p:cBhvr>
                                      <p:to x="100000" y="90000"/>
                                    </p:animScale>
                                    <p:animScale>
                                      <p:cBhvr>
                                        <p:cTn id="177" dur="166" decel="50000">
                                          <p:stCondLst>
                                            <p:cond delay="1668"/>
                                          </p:stCondLst>
                                        </p:cTn>
                                        <p:tgtEl>
                                          <p:spTgt spid="578708"/>
                                        </p:tgtEl>
                                      </p:cBhvr>
                                      <p:to x="100000" y="100000"/>
                                    </p:animScale>
                                    <p:animScale>
                                      <p:cBhvr>
                                        <p:cTn id="178" dur="26">
                                          <p:stCondLst>
                                            <p:cond delay="1808"/>
                                          </p:stCondLst>
                                        </p:cTn>
                                        <p:tgtEl>
                                          <p:spTgt spid="578708"/>
                                        </p:tgtEl>
                                      </p:cBhvr>
                                      <p:to x="100000" y="95000"/>
                                    </p:animScale>
                                    <p:animScale>
                                      <p:cBhvr>
                                        <p:cTn id="179" dur="166" decel="50000">
                                          <p:stCondLst>
                                            <p:cond delay="1834"/>
                                          </p:stCondLst>
                                        </p:cTn>
                                        <p:tgtEl>
                                          <p:spTgt spid="578708"/>
                                        </p:tgtEl>
                                      </p:cBhvr>
                                      <p:to x="100000" y="100000"/>
                                    </p:animScale>
                                  </p:childTnLst>
                                </p:cTn>
                              </p:par>
                              <p:par>
                                <p:cTn id="180" presetID="26" presetClass="entr" presetSubtype="0" fill="hold" grpId="0" nodeType="withEffect">
                                  <p:stCondLst>
                                    <p:cond delay="0"/>
                                  </p:stCondLst>
                                  <p:childTnLst>
                                    <p:set>
                                      <p:cBhvr>
                                        <p:cTn id="181" dur="1" fill="hold">
                                          <p:stCondLst>
                                            <p:cond delay="0"/>
                                          </p:stCondLst>
                                        </p:cTn>
                                        <p:tgtEl>
                                          <p:spTgt spid="578709"/>
                                        </p:tgtEl>
                                        <p:attrNameLst>
                                          <p:attrName>style.visibility</p:attrName>
                                        </p:attrNameLst>
                                      </p:cBhvr>
                                      <p:to>
                                        <p:strVal val="visible"/>
                                      </p:to>
                                    </p:set>
                                    <p:animEffect transition="in" filter="wipe(down)">
                                      <p:cBhvr>
                                        <p:cTn id="182" dur="580">
                                          <p:stCondLst>
                                            <p:cond delay="0"/>
                                          </p:stCondLst>
                                        </p:cTn>
                                        <p:tgtEl>
                                          <p:spTgt spid="578709"/>
                                        </p:tgtEl>
                                      </p:cBhvr>
                                    </p:animEffect>
                                    <p:anim calcmode="lin" valueType="num">
                                      <p:cBhvr>
                                        <p:cTn id="183" dur="1822" tmFilter="0,0; 0.14,0.36; 0.43,0.73; 0.71,0.91; 1.0,1.0">
                                          <p:stCondLst>
                                            <p:cond delay="0"/>
                                          </p:stCondLst>
                                        </p:cTn>
                                        <p:tgtEl>
                                          <p:spTgt spid="578709"/>
                                        </p:tgtEl>
                                        <p:attrNameLst>
                                          <p:attrName>ppt_x</p:attrName>
                                        </p:attrNameLst>
                                      </p:cBhvr>
                                      <p:tavLst>
                                        <p:tav tm="0">
                                          <p:val>
                                            <p:strVal val="#ppt_x-0.25"/>
                                          </p:val>
                                        </p:tav>
                                        <p:tav tm="100000">
                                          <p:val>
                                            <p:strVal val="#ppt_x"/>
                                          </p:val>
                                        </p:tav>
                                      </p:tavLst>
                                    </p:anim>
                                    <p:anim calcmode="lin" valueType="num">
                                      <p:cBhvr>
                                        <p:cTn id="184" dur="664" tmFilter="0.0,0.0; 0.25,0.07; 0.50,0.2; 0.75,0.467; 1.0,1.0">
                                          <p:stCondLst>
                                            <p:cond delay="0"/>
                                          </p:stCondLst>
                                        </p:cTn>
                                        <p:tgtEl>
                                          <p:spTgt spid="578709"/>
                                        </p:tgtEl>
                                        <p:attrNameLst>
                                          <p:attrName>ppt_y</p:attrName>
                                        </p:attrNameLst>
                                      </p:cBhvr>
                                      <p:tavLst>
                                        <p:tav tm="0" fmla="#ppt_y-sin(pi*$)/3">
                                          <p:val>
                                            <p:fltVal val="0.5"/>
                                          </p:val>
                                        </p:tav>
                                        <p:tav tm="100000">
                                          <p:val>
                                            <p:fltVal val="1"/>
                                          </p:val>
                                        </p:tav>
                                      </p:tavLst>
                                    </p:anim>
                                    <p:anim calcmode="lin" valueType="num">
                                      <p:cBhvr>
                                        <p:cTn id="185" dur="664" tmFilter="0, 0; 0.125,0.2665; 0.25,0.4; 0.375,0.465; 0.5,0.5;  0.625,0.535; 0.75,0.6; 0.875,0.7335; 1,1">
                                          <p:stCondLst>
                                            <p:cond delay="664"/>
                                          </p:stCondLst>
                                        </p:cTn>
                                        <p:tgtEl>
                                          <p:spTgt spid="578709"/>
                                        </p:tgtEl>
                                        <p:attrNameLst>
                                          <p:attrName>ppt_y</p:attrName>
                                        </p:attrNameLst>
                                      </p:cBhvr>
                                      <p:tavLst>
                                        <p:tav tm="0" fmla="#ppt_y-sin(pi*$)/9">
                                          <p:val>
                                            <p:fltVal val="0"/>
                                          </p:val>
                                        </p:tav>
                                        <p:tav tm="100000">
                                          <p:val>
                                            <p:fltVal val="1"/>
                                          </p:val>
                                        </p:tav>
                                      </p:tavLst>
                                    </p:anim>
                                    <p:anim calcmode="lin" valueType="num">
                                      <p:cBhvr>
                                        <p:cTn id="186" dur="332" tmFilter="0, 0; 0.125,0.2665; 0.25,0.4; 0.375,0.465; 0.5,0.5;  0.625,0.535; 0.75,0.6; 0.875,0.7335; 1,1">
                                          <p:stCondLst>
                                            <p:cond delay="1324"/>
                                          </p:stCondLst>
                                        </p:cTn>
                                        <p:tgtEl>
                                          <p:spTgt spid="578709"/>
                                        </p:tgtEl>
                                        <p:attrNameLst>
                                          <p:attrName>ppt_y</p:attrName>
                                        </p:attrNameLst>
                                      </p:cBhvr>
                                      <p:tavLst>
                                        <p:tav tm="0" fmla="#ppt_y-sin(pi*$)/27">
                                          <p:val>
                                            <p:fltVal val="0"/>
                                          </p:val>
                                        </p:tav>
                                        <p:tav tm="100000">
                                          <p:val>
                                            <p:fltVal val="1"/>
                                          </p:val>
                                        </p:tav>
                                      </p:tavLst>
                                    </p:anim>
                                    <p:anim calcmode="lin" valueType="num">
                                      <p:cBhvr>
                                        <p:cTn id="187" dur="164" tmFilter="0, 0; 0.125,0.2665; 0.25,0.4; 0.375,0.465; 0.5,0.5;  0.625,0.535; 0.75,0.6; 0.875,0.7335; 1,1">
                                          <p:stCondLst>
                                            <p:cond delay="1656"/>
                                          </p:stCondLst>
                                        </p:cTn>
                                        <p:tgtEl>
                                          <p:spTgt spid="578709"/>
                                        </p:tgtEl>
                                        <p:attrNameLst>
                                          <p:attrName>ppt_y</p:attrName>
                                        </p:attrNameLst>
                                      </p:cBhvr>
                                      <p:tavLst>
                                        <p:tav tm="0" fmla="#ppt_y-sin(pi*$)/81">
                                          <p:val>
                                            <p:fltVal val="0"/>
                                          </p:val>
                                        </p:tav>
                                        <p:tav tm="100000">
                                          <p:val>
                                            <p:fltVal val="1"/>
                                          </p:val>
                                        </p:tav>
                                      </p:tavLst>
                                    </p:anim>
                                    <p:animScale>
                                      <p:cBhvr>
                                        <p:cTn id="188" dur="26">
                                          <p:stCondLst>
                                            <p:cond delay="650"/>
                                          </p:stCondLst>
                                        </p:cTn>
                                        <p:tgtEl>
                                          <p:spTgt spid="578709"/>
                                        </p:tgtEl>
                                      </p:cBhvr>
                                      <p:to x="100000" y="60000"/>
                                    </p:animScale>
                                    <p:animScale>
                                      <p:cBhvr>
                                        <p:cTn id="189" dur="166" decel="50000">
                                          <p:stCondLst>
                                            <p:cond delay="676"/>
                                          </p:stCondLst>
                                        </p:cTn>
                                        <p:tgtEl>
                                          <p:spTgt spid="578709"/>
                                        </p:tgtEl>
                                      </p:cBhvr>
                                      <p:to x="100000" y="100000"/>
                                    </p:animScale>
                                    <p:animScale>
                                      <p:cBhvr>
                                        <p:cTn id="190" dur="26">
                                          <p:stCondLst>
                                            <p:cond delay="1312"/>
                                          </p:stCondLst>
                                        </p:cTn>
                                        <p:tgtEl>
                                          <p:spTgt spid="578709"/>
                                        </p:tgtEl>
                                      </p:cBhvr>
                                      <p:to x="100000" y="80000"/>
                                    </p:animScale>
                                    <p:animScale>
                                      <p:cBhvr>
                                        <p:cTn id="191" dur="166" decel="50000">
                                          <p:stCondLst>
                                            <p:cond delay="1338"/>
                                          </p:stCondLst>
                                        </p:cTn>
                                        <p:tgtEl>
                                          <p:spTgt spid="578709"/>
                                        </p:tgtEl>
                                      </p:cBhvr>
                                      <p:to x="100000" y="100000"/>
                                    </p:animScale>
                                    <p:animScale>
                                      <p:cBhvr>
                                        <p:cTn id="192" dur="26">
                                          <p:stCondLst>
                                            <p:cond delay="1642"/>
                                          </p:stCondLst>
                                        </p:cTn>
                                        <p:tgtEl>
                                          <p:spTgt spid="578709"/>
                                        </p:tgtEl>
                                      </p:cBhvr>
                                      <p:to x="100000" y="90000"/>
                                    </p:animScale>
                                    <p:animScale>
                                      <p:cBhvr>
                                        <p:cTn id="193" dur="166" decel="50000">
                                          <p:stCondLst>
                                            <p:cond delay="1668"/>
                                          </p:stCondLst>
                                        </p:cTn>
                                        <p:tgtEl>
                                          <p:spTgt spid="578709"/>
                                        </p:tgtEl>
                                      </p:cBhvr>
                                      <p:to x="100000" y="100000"/>
                                    </p:animScale>
                                    <p:animScale>
                                      <p:cBhvr>
                                        <p:cTn id="194" dur="26">
                                          <p:stCondLst>
                                            <p:cond delay="1808"/>
                                          </p:stCondLst>
                                        </p:cTn>
                                        <p:tgtEl>
                                          <p:spTgt spid="578709"/>
                                        </p:tgtEl>
                                      </p:cBhvr>
                                      <p:to x="100000" y="95000"/>
                                    </p:animScale>
                                    <p:animScale>
                                      <p:cBhvr>
                                        <p:cTn id="195" dur="166" decel="50000">
                                          <p:stCondLst>
                                            <p:cond delay="1834"/>
                                          </p:stCondLst>
                                        </p:cTn>
                                        <p:tgtEl>
                                          <p:spTgt spid="578709"/>
                                        </p:tgtEl>
                                      </p:cBhvr>
                                      <p:to x="100000" y="100000"/>
                                    </p:animScale>
                                  </p:childTnLst>
                                </p:cTn>
                              </p:par>
                              <p:par>
                                <p:cTn id="196" presetID="9" presetClass="entr" presetSubtype="0" fill="hold" nodeType="withEffect">
                                  <p:stCondLst>
                                    <p:cond delay="0"/>
                                  </p:stCondLst>
                                  <p:childTnLst>
                                    <p:set>
                                      <p:cBhvr>
                                        <p:cTn id="197" dur="1" fill="hold">
                                          <p:stCondLst>
                                            <p:cond delay="0"/>
                                          </p:stCondLst>
                                        </p:cTn>
                                        <p:tgtEl>
                                          <p:spTgt spid="578697"/>
                                        </p:tgtEl>
                                        <p:attrNameLst>
                                          <p:attrName>style.visibility</p:attrName>
                                        </p:attrNameLst>
                                      </p:cBhvr>
                                      <p:to>
                                        <p:strVal val="visible"/>
                                      </p:to>
                                    </p:set>
                                    <p:animEffect transition="in" filter="dissolve">
                                      <p:cBhvr>
                                        <p:cTn id="198" dur="1000"/>
                                        <p:tgtEl>
                                          <p:spTgt spid="578697"/>
                                        </p:tgtEl>
                                      </p:cBhvr>
                                    </p:animEffect>
                                  </p:childTnLst>
                                </p:cTn>
                              </p:par>
                              <p:par>
                                <p:cTn id="199" presetID="9" presetClass="entr" presetSubtype="0" fill="hold" nodeType="withEffect">
                                  <p:stCondLst>
                                    <p:cond delay="0"/>
                                  </p:stCondLst>
                                  <p:childTnLst>
                                    <p:set>
                                      <p:cBhvr>
                                        <p:cTn id="200" dur="1" fill="hold">
                                          <p:stCondLst>
                                            <p:cond delay="0"/>
                                          </p:stCondLst>
                                        </p:cTn>
                                        <p:tgtEl>
                                          <p:spTgt spid="578696"/>
                                        </p:tgtEl>
                                        <p:attrNameLst>
                                          <p:attrName>style.visibility</p:attrName>
                                        </p:attrNameLst>
                                      </p:cBhvr>
                                      <p:to>
                                        <p:strVal val="visible"/>
                                      </p:to>
                                    </p:set>
                                    <p:animEffect transition="in" filter="dissolve">
                                      <p:cBhvr>
                                        <p:cTn id="201" dur="1000"/>
                                        <p:tgtEl>
                                          <p:spTgt spid="578696"/>
                                        </p:tgtEl>
                                      </p:cBhvr>
                                    </p:animEffect>
                                  </p:childTnLst>
                                </p:cTn>
                              </p:par>
                              <p:par>
                                <p:cTn id="202" presetID="9" presetClass="entr" presetSubtype="0" fill="hold" nodeType="withEffect">
                                  <p:stCondLst>
                                    <p:cond delay="0"/>
                                  </p:stCondLst>
                                  <p:childTnLst>
                                    <p:set>
                                      <p:cBhvr>
                                        <p:cTn id="203" dur="1" fill="hold">
                                          <p:stCondLst>
                                            <p:cond delay="0"/>
                                          </p:stCondLst>
                                        </p:cTn>
                                        <p:tgtEl>
                                          <p:spTgt spid="578695"/>
                                        </p:tgtEl>
                                        <p:attrNameLst>
                                          <p:attrName>style.visibility</p:attrName>
                                        </p:attrNameLst>
                                      </p:cBhvr>
                                      <p:to>
                                        <p:strVal val="visible"/>
                                      </p:to>
                                    </p:set>
                                    <p:animEffect transition="in" filter="dissolve">
                                      <p:cBhvr>
                                        <p:cTn id="204" dur="1000"/>
                                        <p:tgtEl>
                                          <p:spTgt spid="578695"/>
                                        </p:tgtEl>
                                      </p:cBhvr>
                                    </p:animEffect>
                                  </p:childTnLst>
                                </p:cTn>
                              </p:par>
                              <p:par>
                                <p:cTn id="205" presetID="9" presetClass="entr" presetSubtype="0" fill="hold" nodeType="withEffect">
                                  <p:stCondLst>
                                    <p:cond delay="0"/>
                                  </p:stCondLst>
                                  <p:childTnLst>
                                    <p:set>
                                      <p:cBhvr>
                                        <p:cTn id="206" dur="1" fill="hold">
                                          <p:stCondLst>
                                            <p:cond delay="0"/>
                                          </p:stCondLst>
                                        </p:cTn>
                                        <p:tgtEl>
                                          <p:spTgt spid="578694"/>
                                        </p:tgtEl>
                                        <p:attrNameLst>
                                          <p:attrName>style.visibility</p:attrName>
                                        </p:attrNameLst>
                                      </p:cBhvr>
                                      <p:to>
                                        <p:strVal val="visible"/>
                                      </p:to>
                                    </p:set>
                                    <p:animEffect transition="in" filter="dissolve">
                                      <p:cBhvr>
                                        <p:cTn id="207" dur="1000"/>
                                        <p:tgtEl>
                                          <p:spTgt spid="578694"/>
                                        </p:tgtEl>
                                      </p:cBhvr>
                                    </p:animEffect>
                                  </p:childTnLst>
                                </p:cTn>
                              </p:par>
                              <p:par>
                                <p:cTn id="208" presetID="9" presetClass="entr" presetSubtype="0" fill="hold" nodeType="withEffect">
                                  <p:stCondLst>
                                    <p:cond delay="0"/>
                                  </p:stCondLst>
                                  <p:childTnLst>
                                    <p:set>
                                      <p:cBhvr>
                                        <p:cTn id="209" dur="1" fill="hold">
                                          <p:stCondLst>
                                            <p:cond delay="0"/>
                                          </p:stCondLst>
                                        </p:cTn>
                                        <p:tgtEl>
                                          <p:spTgt spid="578699"/>
                                        </p:tgtEl>
                                        <p:attrNameLst>
                                          <p:attrName>style.visibility</p:attrName>
                                        </p:attrNameLst>
                                      </p:cBhvr>
                                      <p:to>
                                        <p:strVal val="visible"/>
                                      </p:to>
                                    </p:set>
                                    <p:animEffect transition="in" filter="dissolve">
                                      <p:cBhvr>
                                        <p:cTn id="210" dur="1000"/>
                                        <p:tgtEl>
                                          <p:spTgt spid="578699"/>
                                        </p:tgtEl>
                                      </p:cBhvr>
                                    </p:animEffect>
                                  </p:childTnLst>
                                </p:cTn>
                              </p:par>
                              <p:par>
                                <p:cTn id="211" presetID="9" presetClass="entr" presetSubtype="0" fill="hold" nodeType="withEffect">
                                  <p:stCondLst>
                                    <p:cond delay="0"/>
                                  </p:stCondLst>
                                  <p:childTnLst>
                                    <p:set>
                                      <p:cBhvr>
                                        <p:cTn id="212" dur="1" fill="hold">
                                          <p:stCondLst>
                                            <p:cond delay="0"/>
                                          </p:stCondLst>
                                        </p:cTn>
                                        <p:tgtEl>
                                          <p:spTgt spid="578698"/>
                                        </p:tgtEl>
                                        <p:attrNameLst>
                                          <p:attrName>style.visibility</p:attrName>
                                        </p:attrNameLst>
                                      </p:cBhvr>
                                      <p:to>
                                        <p:strVal val="visible"/>
                                      </p:to>
                                    </p:set>
                                    <p:animEffect transition="in" filter="dissolve">
                                      <p:cBhvr>
                                        <p:cTn id="213" dur="1000"/>
                                        <p:tgtEl>
                                          <p:spTgt spid="578698"/>
                                        </p:tgtEl>
                                      </p:cBhvr>
                                    </p:animEffect>
                                  </p:childTnLst>
                                </p:cTn>
                              </p:par>
                              <p:par>
                                <p:cTn id="214" presetID="10" presetClass="entr" presetSubtype="0" fill="hold" nodeType="withEffect">
                                  <p:stCondLst>
                                    <p:cond delay="0"/>
                                  </p:stCondLst>
                                  <p:childTnLst>
                                    <p:set>
                                      <p:cBhvr>
                                        <p:cTn id="215" dur="1" fill="hold">
                                          <p:stCondLst>
                                            <p:cond delay="0"/>
                                          </p:stCondLst>
                                        </p:cTn>
                                        <p:tgtEl>
                                          <p:spTgt spid="578720"/>
                                        </p:tgtEl>
                                        <p:attrNameLst>
                                          <p:attrName>style.visibility</p:attrName>
                                        </p:attrNameLst>
                                      </p:cBhvr>
                                      <p:to>
                                        <p:strVal val="visible"/>
                                      </p:to>
                                    </p:set>
                                    <p:animEffect transition="in" filter="fade">
                                      <p:cBhvr>
                                        <p:cTn id="216" dur="1000"/>
                                        <p:tgtEl>
                                          <p:spTgt spid="578720"/>
                                        </p:tgtEl>
                                      </p:cBhvr>
                                    </p:animEffect>
                                  </p:childTnLst>
                                </p:cTn>
                              </p:par>
                              <p:par>
                                <p:cTn id="217" presetID="10" presetClass="entr" presetSubtype="0" fill="hold" nodeType="withEffect">
                                  <p:stCondLst>
                                    <p:cond delay="0"/>
                                  </p:stCondLst>
                                  <p:childTnLst>
                                    <p:set>
                                      <p:cBhvr>
                                        <p:cTn id="218" dur="1" fill="hold">
                                          <p:stCondLst>
                                            <p:cond delay="0"/>
                                          </p:stCondLst>
                                        </p:cTn>
                                        <p:tgtEl>
                                          <p:spTgt spid="578713"/>
                                        </p:tgtEl>
                                        <p:attrNameLst>
                                          <p:attrName>style.visibility</p:attrName>
                                        </p:attrNameLst>
                                      </p:cBhvr>
                                      <p:to>
                                        <p:strVal val="visible"/>
                                      </p:to>
                                    </p:set>
                                    <p:animEffect transition="in" filter="fade">
                                      <p:cBhvr>
                                        <p:cTn id="219" dur="1000"/>
                                        <p:tgtEl>
                                          <p:spTgt spid="578713"/>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578714"/>
                                        </p:tgtEl>
                                        <p:attrNameLst>
                                          <p:attrName>style.visibility</p:attrName>
                                        </p:attrNameLst>
                                      </p:cBhvr>
                                      <p:to>
                                        <p:strVal val="visible"/>
                                      </p:to>
                                    </p:set>
                                    <p:animEffect transition="in" filter="fade">
                                      <p:cBhvr>
                                        <p:cTn id="222" dur="1000"/>
                                        <p:tgtEl>
                                          <p:spTgt spid="578714"/>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578715"/>
                                        </p:tgtEl>
                                        <p:attrNameLst>
                                          <p:attrName>style.visibility</p:attrName>
                                        </p:attrNameLst>
                                      </p:cBhvr>
                                      <p:to>
                                        <p:strVal val="visible"/>
                                      </p:to>
                                    </p:set>
                                    <p:animEffect transition="in" filter="fade">
                                      <p:cBhvr>
                                        <p:cTn id="225" dur="1000"/>
                                        <p:tgtEl>
                                          <p:spTgt spid="578715"/>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578717"/>
                                        </p:tgtEl>
                                        <p:attrNameLst>
                                          <p:attrName>style.visibility</p:attrName>
                                        </p:attrNameLst>
                                      </p:cBhvr>
                                      <p:to>
                                        <p:strVal val="visible"/>
                                      </p:to>
                                    </p:set>
                                    <p:animEffect transition="in" filter="fade">
                                      <p:cBhvr>
                                        <p:cTn id="228" dur="1000"/>
                                        <p:tgtEl>
                                          <p:spTgt spid="578717"/>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578718"/>
                                        </p:tgtEl>
                                        <p:attrNameLst>
                                          <p:attrName>style.visibility</p:attrName>
                                        </p:attrNameLst>
                                      </p:cBhvr>
                                      <p:to>
                                        <p:strVal val="visible"/>
                                      </p:to>
                                    </p:set>
                                    <p:animEffect transition="in" filter="fade">
                                      <p:cBhvr>
                                        <p:cTn id="231" dur="1000"/>
                                        <p:tgtEl>
                                          <p:spTgt spid="578718"/>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578719"/>
                                        </p:tgtEl>
                                        <p:attrNameLst>
                                          <p:attrName>style.visibility</p:attrName>
                                        </p:attrNameLst>
                                      </p:cBhvr>
                                      <p:to>
                                        <p:strVal val="visible"/>
                                      </p:to>
                                    </p:set>
                                    <p:animEffect transition="in" filter="fade">
                                      <p:cBhvr>
                                        <p:cTn id="234" dur="1000"/>
                                        <p:tgtEl>
                                          <p:spTgt spid="57871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54"/>
                                        </p:tgtEl>
                                        <p:attrNameLst>
                                          <p:attrName>style.visibility</p:attrName>
                                        </p:attrNameLst>
                                      </p:cBhvr>
                                      <p:to>
                                        <p:strVal val="visible"/>
                                      </p:to>
                                    </p:set>
                                    <p:animEffect transition="in" filter="fade">
                                      <p:cBhvr>
                                        <p:cTn id="237"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602" grpId="0"/>
      <p:bldP spid="578603" grpId="0"/>
      <p:bldP spid="578604" grpId="0"/>
      <p:bldP spid="578605" grpId="0"/>
      <p:bldP spid="578606" grpId="0"/>
      <p:bldP spid="578607" grpId="0"/>
      <p:bldP spid="578670" grpId="0" animBg="1"/>
      <p:bldP spid="578671" grpId="0" animBg="1"/>
      <p:bldP spid="578672" grpId="0" animBg="1"/>
      <p:bldP spid="578673" grpId="0" animBg="1"/>
      <p:bldP spid="578674" grpId="0" animBg="1"/>
      <p:bldP spid="578676" grpId="0" animBg="1"/>
      <p:bldP spid="578677" grpId="0" animBg="1"/>
      <p:bldP spid="578679" grpId="0" animBg="1"/>
      <p:bldP spid="578680" grpId="0" animBg="1"/>
      <p:bldP spid="578682" grpId="0" animBg="1"/>
      <p:bldP spid="578683" grpId="0" animBg="1"/>
      <p:bldP spid="578685" grpId="0" animBg="1"/>
      <p:bldP spid="578686" grpId="0" animBg="1"/>
      <p:bldP spid="578689" grpId="0" animBg="1"/>
      <p:bldP spid="578690" grpId="0" animBg="1"/>
      <p:bldP spid="578691" grpId="0" animBg="1"/>
      <p:bldP spid="578692" grpId="0" animBg="1"/>
      <p:bldP spid="578693" grpId="0" animBg="1"/>
      <p:bldP spid="578701" grpId="0" animBg="1"/>
      <p:bldP spid="578703" grpId="0" animBg="1"/>
      <p:bldP spid="578705" grpId="0" animBg="1"/>
      <p:bldP spid="578706" grpId="0" animBg="1"/>
      <p:bldP spid="578708" grpId="0" animBg="1"/>
      <p:bldP spid="578709" grpId="0" animBg="1"/>
      <p:bldP spid="578714" grpId="0" animBg="1"/>
      <p:bldP spid="578715" grpId="0" animBg="1"/>
      <p:bldP spid="578717" grpId="0"/>
      <p:bldP spid="578718" grpId="0"/>
      <p:bldP spid="578719" grpId="0"/>
      <p:bldP spid="5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5" name="Rectangle 7"/>
          <p:cNvSpPr>
            <a:spLocks noGrp="1" noChangeArrowheads="1"/>
          </p:cNvSpPr>
          <p:nvPr>
            <p:ph type="body" sz="half" idx="1"/>
          </p:nvPr>
        </p:nvSpPr>
        <p:spPr>
          <a:xfrm>
            <a:off x="457200" y="981075"/>
            <a:ext cx="8507413" cy="1438275"/>
          </a:xfrm>
        </p:spPr>
        <p:txBody>
          <a:bodyPr/>
          <a:lstStyle/>
          <a:p>
            <a:pPr>
              <a:buClr>
                <a:schemeClr val="tx1"/>
              </a:buClr>
            </a:pPr>
            <a:r>
              <a:rPr lang="tr-TR" sz="2000" dirty="0">
                <a:latin typeface="Times New Roman" pitchFamily="18" charset="0"/>
                <a:cs typeface="Times New Roman" pitchFamily="18" charset="0"/>
              </a:rPr>
              <a:t>Tüm noktalar için karşılıklı en yakın komşuluk değerleri </a:t>
            </a:r>
            <a:r>
              <a:rPr lang="en-US" dirty="0"/>
              <a:t>Mutual Nearest Neighbor </a:t>
            </a:r>
            <a:r>
              <a:rPr lang="tr-TR" sz="2000" dirty="0">
                <a:latin typeface="Times New Roman" pitchFamily="18" charset="0"/>
                <a:cs typeface="Times New Roman" pitchFamily="18" charset="0"/>
              </a:rPr>
              <a:t>(MNV) belirlenir.</a:t>
            </a:r>
          </a:p>
          <a:p>
            <a:pPr eaLnBrk="1" hangingPunct="1">
              <a:buClr>
                <a:schemeClr val="tx1"/>
              </a:buClr>
            </a:pPr>
            <a:r>
              <a:rPr lang="tr-TR" sz="2000" dirty="0">
                <a:latin typeface="Times New Roman" pitchFamily="18" charset="0"/>
                <a:cs typeface="Times New Roman" pitchFamily="18" charset="0"/>
              </a:rPr>
              <a:t>Eşik değeri yerine en yakın komşu sayısı (k) belirlenir.</a:t>
            </a:r>
          </a:p>
        </p:txBody>
      </p:sp>
      <p:graphicFrame>
        <p:nvGraphicFramePr>
          <p:cNvPr id="2129" name="Group 81"/>
          <p:cNvGraphicFramePr>
            <a:graphicFrameLocks noGrp="1"/>
          </p:cNvGraphicFramePr>
          <p:nvPr/>
        </p:nvGraphicFramePr>
        <p:xfrm>
          <a:off x="474663" y="2195513"/>
          <a:ext cx="3671887" cy="3625851"/>
        </p:xfrm>
        <a:graphic>
          <a:graphicData uri="http://schemas.openxmlformats.org/drawingml/2006/table">
            <a:tbl>
              <a:tblPr/>
              <a:tblGrid>
                <a:gridCol w="735012">
                  <a:extLst>
                    <a:ext uri="{9D8B030D-6E8A-4147-A177-3AD203B41FA5}">
                      <a16:colId xmlns:a16="http://schemas.microsoft.com/office/drawing/2014/main" val="20000"/>
                    </a:ext>
                  </a:extLst>
                </a:gridCol>
                <a:gridCol w="735013">
                  <a:extLst>
                    <a:ext uri="{9D8B030D-6E8A-4147-A177-3AD203B41FA5}">
                      <a16:colId xmlns:a16="http://schemas.microsoft.com/office/drawing/2014/main" val="20001"/>
                    </a:ext>
                  </a:extLst>
                </a:gridCol>
                <a:gridCol w="731837">
                  <a:extLst>
                    <a:ext uri="{9D8B030D-6E8A-4147-A177-3AD203B41FA5}">
                      <a16:colId xmlns:a16="http://schemas.microsoft.com/office/drawing/2014/main" val="20002"/>
                    </a:ext>
                  </a:extLst>
                </a:gridCol>
                <a:gridCol w="735013">
                  <a:extLst>
                    <a:ext uri="{9D8B030D-6E8A-4147-A177-3AD203B41FA5}">
                      <a16:colId xmlns:a16="http://schemas.microsoft.com/office/drawing/2014/main" val="20003"/>
                    </a:ext>
                  </a:extLst>
                </a:gridCol>
                <a:gridCol w="735012">
                  <a:extLst>
                    <a:ext uri="{9D8B030D-6E8A-4147-A177-3AD203B41FA5}">
                      <a16:colId xmlns:a16="http://schemas.microsoft.com/office/drawing/2014/main" val="20004"/>
                    </a:ext>
                  </a:extLst>
                </a:gridCol>
              </a:tblGrid>
              <a:tr h="7366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50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50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26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66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800" b="0" i="0" u="none" strike="noStrike" cap="none" normalizeH="0" baseline="0">
                        <a:ln>
                          <a:noFill/>
                        </a:ln>
                        <a:solidFill>
                          <a:schemeClr val="tx1"/>
                        </a:solidFill>
                        <a:effectLst/>
                        <a:latin typeface="Arial" charset="0"/>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168"/>
          <p:cNvGrpSpPr>
            <a:grpSpLocks/>
          </p:cNvGrpSpPr>
          <p:nvPr/>
        </p:nvGrpSpPr>
        <p:grpSpPr bwMode="auto">
          <a:xfrm>
            <a:off x="381000" y="4371975"/>
            <a:ext cx="1457325" cy="1428750"/>
            <a:chOff x="1320" y="2616"/>
            <a:chExt cx="918" cy="900"/>
          </a:xfrm>
        </p:grpSpPr>
        <p:sp>
          <p:nvSpPr>
            <p:cNvPr id="2126" name="Oval 169"/>
            <p:cNvSpPr>
              <a:spLocks noChangeArrowheads="1"/>
            </p:cNvSpPr>
            <p:nvPr/>
          </p:nvSpPr>
          <p:spPr bwMode="auto">
            <a:xfrm>
              <a:off x="1737" y="3024"/>
              <a:ext cx="84" cy="84"/>
            </a:xfrm>
            <a:prstGeom prst="ellipse">
              <a:avLst/>
            </a:prstGeom>
            <a:solidFill>
              <a:schemeClr val="tx1"/>
            </a:solidFill>
            <a:ln w="9525">
              <a:noFill/>
              <a:round/>
              <a:headEnd/>
              <a:tailEnd/>
            </a:ln>
          </p:spPr>
          <p:txBody>
            <a:bodyPr wrap="none" anchor="ctr"/>
            <a:lstStyle/>
            <a:p>
              <a:endParaRPr lang="tr-TR">
                <a:latin typeface="Verdana" pitchFamily="34" charset="0"/>
              </a:endParaRPr>
            </a:p>
          </p:txBody>
        </p:sp>
        <p:sp>
          <p:nvSpPr>
            <p:cNvPr id="2127" name="Oval 170"/>
            <p:cNvSpPr>
              <a:spLocks noChangeArrowheads="1"/>
            </p:cNvSpPr>
            <p:nvPr/>
          </p:nvSpPr>
          <p:spPr bwMode="auto">
            <a:xfrm>
              <a:off x="1320" y="2616"/>
              <a:ext cx="918" cy="900"/>
            </a:xfrm>
            <a:prstGeom prst="ellipse">
              <a:avLst/>
            </a:prstGeom>
            <a:noFill/>
            <a:ln w="9525">
              <a:noFill/>
              <a:round/>
              <a:headEnd/>
              <a:tailEnd/>
            </a:ln>
          </p:spPr>
          <p:txBody>
            <a:bodyPr wrap="none" anchor="ctr"/>
            <a:lstStyle/>
            <a:p>
              <a:endParaRPr lang="tr-TR">
                <a:latin typeface="Verdana" pitchFamily="34" charset="0"/>
              </a:endParaRPr>
            </a:p>
          </p:txBody>
        </p:sp>
      </p:grpSp>
      <p:sp>
        <p:nvSpPr>
          <p:cNvPr id="355499" name="Text Box 171"/>
          <p:cNvSpPr txBox="1">
            <a:spLocks noChangeArrowheads="1"/>
          </p:cNvSpPr>
          <p:nvPr/>
        </p:nvSpPr>
        <p:spPr bwMode="auto">
          <a:xfrm>
            <a:off x="763588" y="4860925"/>
            <a:ext cx="336550" cy="457200"/>
          </a:xfrm>
          <a:prstGeom prst="rect">
            <a:avLst/>
          </a:prstGeom>
          <a:noFill/>
          <a:ln w="0">
            <a:noFill/>
            <a:miter lim="800000"/>
            <a:headEnd/>
            <a:tailEnd/>
          </a:ln>
        </p:spPr>
        <p:txBody>
          <a:bodyPr wrap="none">
            <a:spAutoFit/>
          </a:bodyPr>
          <a:lstStyle/>
          <a:p>
            <a:r>
              <a:rPr lang="en-US" sz="2400" b="1">
                <a:latin typeface="Times New Roman" pitchFamily="18" charset="0"/>
              </a:rPr>
              <a:t>1</a:t>
            </a:r>
          </a:p>
        </p:txBody>
      </p:sp>
      <p:sp>
        <p:nvSpPr>
          <p:cNvPr id="355500" name="Text Box 172"/>
          <p:cNvSpPr txBox="1">
            <a:spLocks noChangeArrowheads="1"/>
          </p:cNvSpPr>
          <p:nvPr/>
        </p:nvSpPr>
        <p:spPr bwMode="auto">
          <a:xfrm>
            <a:off x="1190625" y="4371975"/>
            <a:ext cx="336550" cy="457200"/>
          </a:xfrm>
          <a:prstGeom prst="rect">
            <a:avLst/>
          </a:prstGeom>
          <a:noFill/>
          <a:ln w="0">
            <a:noFill/>
            <a:miter lim="800000"/>
            <a:headEnd/>
            <a:tailEnd/>
          </a:ln>
        </p:spPr>
        <p:txBody>
          <a:bodyPr wrap="none">
            <a:spAutoFit/>
          </a:bodyPr>
          <a:lstStyle/>
          <a:p>
            <a:r>
              <a:rPr lang="tr-TR" sz="2400" b="1">
                <a:latin typeface="Times New Roman" pitchFamily="18" charset="0"/>
              </a:rPr>
              <a:t>2</a:t>
            </a:r>
            <a:endParaRPr lang="en-US" sz="2400" b="1">
              <a:latin typeface="Times New Roman" pitchFamily="18" charset="0"/>
            </a:endParaRPr>
          </a:p>
        </p:txBody>
      </p:sp>
      <p:sp>
        <p:nvSpPr>
          <p:cNvPr id="355501" name="Text Box 173"/>
          <p:cNvSpPr txBox="1">
            <a:spLocks noChangeArrowheads="1"/>
          </p:cNvSpPr>
          <p:nvPr/>
        </p:nvSpPr>
        <p:spPr bwMode="auto">
          <a:xfrm>
            <a:off x="1506538" y="2268538"/>
            <a:ext cx="336550" cy="457200"/>
          </a:xfrm>
          <a:prstGeom prst="rect">
            <a:avLst/>
          </a:prstGeom>
          <a:noFill/>
          <a:ln w="0">
            <a:noFill/>
            <a:miter lim="800000"/>
            <a:headEnd/>
            <a:tailEnd/>
          </a:ln>
        </p:spPr>
        <p:txBody>
          <a:bodyPr wrap="none">
            <a:spAutoFit/>
          </a:bodyPr>
          <a:lstStyle/>
          <a:p>
            <a:r>
              <a:rPr lang="tr-TR" sz="2400" b="1">
                <a:solidFill>
                  <a:srgbClr val="FF3300"/>
                </a:solidFill>
                <a:latin typeface="Times New Roman" pitchFamily="18" charset="0"/>
              </a:rPr>
              <a:t>3</a:t>
            </a:r>
            <a:endParaRPr lang="en-US" sz="2400" b="1">
              <a:solidFill>
                <a:srgbClr val="FF3300"/>
              </a:solidFill>
              <a:latin typeface="Times New Roman" pitchFamily="18" charset="0"/>
            </a:endParaRPr>
          </a:p>
        </p:txBody>
      </p:sp>
      <p:sp>
        <p:nvSpPr>
          <p:cNvPr id="355502" name="Text Box 174"/>
          <p:cNvSpPr txBox="1">
            <a:spLocks noChangeArrowheads="1"/>
          </p:cNvSpPr>
          <p:nvPr/>
        </p:nvSpPr>
        <p:spPr bwMode="auto">
          <a:xfrm>
            <a:off x="1878013" y="3043238"/>
            <a:ext cx="336550" cy="457200"/>
          </a:xfrm>
          <a:prstGeom prst="rect">
            <a:avLst/>
          </a:prstGeom>
          <a:noFill/>
          <a:ln w="0">
            <a:noFill/>
            <a:miter lim="800000"/>
            <a:headEnd/>
            <a:tailEnd/>
          </a:ln>
        </p:spPr>
        <p:txBody>
          <a:bodyPr wrap="none">
            <a:spAutoFit/>
          </a:bodyPr>
          <a:lstStyle/>
          <a:p>
            <a:r>
              <a:rPr lang="tr-TR" sz="2400" b="1">
                <a:solidFill>
                  <a:srgbClr val="FF3300"/>
                </a:solidFill>
                <a:latin typeface="Times New Roman" pitchFamily="18" charset="0"/>
              </a:rPr>
              <a:t>4</a:t>
            </a:r>
            <a:endParaRPr lang="en-US" sz="2400" b="1">
              <a:solidFill>
                <a:srgbClr val="FF3300"/>
              </a:solidFill>
              <a:latin typeface="Times New Roman" pitchFamily="18" charset="0"/>
            </a:endParaRPr>
          </a:p>
        </p:txBody>
      </p:sp>
      <p:sp>
        <p:nvSpPr>
          <p:cNvPr id="355503" name="Text Box 175"/>
          <p:cNvSpPr txBox="1">
            <a:spLocks noChangeArrowheads="1"/>
          </p:cNvSpPr>
          <p:nvPr/>
        </p:nvSpPr>
        <p:spPr bwMode="auto">
          <a:xfrm>
            <a:off x="3302000" y="3795713"/>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5</a:t>
            </a:r>
            <a:endParaRPr lang="en-US" sz="2400" b="1">
              <a:solidFill>
                <a:srgbClr val="0000FF"/>
              </a:solidFill>
              <a:latin typeface="Times New Roman" pitchFamily="18" charset="0"/>
            </a:endParaRPr>
          </a:p>
        </p:txBody>
      </p:sp>
      <p:sp>
        <p:nvSpPr>
          <p:cNvPr id="355504" name="Text Box 176"/>
          <p:cNvSpPr txBox="1">
            <a:spLocks noChangeArrowheads="1"/>
          </p:cNvSpPr>
          <p:nvPr/>
        </p:nvSpPr>
        <p:spPr bwMode="auto">
          <a:xfrm>
            <a:off x="3570288" y="4522788"/>
            <a:ext cx="336550" cy="457200"/>
          </a:xfrm>
          <a:prstGeom prst="rect">
            <a:avLst/>
          </a:prstGeom>
          <a:noFill/>
          <a:ln w="0">
            <a:noFill/>
            <a:miter lim="800000"/>
            <a:headEnd/>
            <a:tailEnd/>
          </a:ln>
        </p:spPr>
        <p:txBody>
          <a:bodyPr wrap="none">
            <a:spAutoFit/>
          </a:bodyPr>
          <a:lstStyle/>
          <a:p>
            <a:r>
              <a:rPr lang="tr-TR" sz="2400" b="1">
                <a:solidFill>
                  <a:srgbClr val="0000FF"/>
                </a:solidFill>
                <a:latin typeface="Times New Roman" pitchFamily="18" charset="0"/>
              </a:rPr>
              <a:t>6</a:t>
            </a:r>
            <a:endParaRPr lang="en-US" sz="2400" b="1">
              <a:solidFill>
                <a:srgbClr val="0000FF"/>
              </a:solidFill>
              <a:latin typeface="Times New Roman" pitchFamily="18" charset="0"/>
            </a:endParaRPr>
          </a:p>
        </p:txBody>
      </p:sp>
      <p:grpSp>
        <p:nvGrpSpPr>
          <p:cNvPr id="3" name="Group 177"/>
          <p:cNvGrpSpPr>
            <a:grpSpLocks/>
          </p:cNvGrpSpPr>
          <p:nvPr/>
        </p:nvGrpSpPr>
        <p:grpSpPr bwMode="auto">
          <a:xfrm>
            <a:off x="830263" y="3940175"/>
            <a:ext cx="1457325" cy="1428750"/>
            <a:chOff x="1320" y="2616"/>
            <a:chExt cx="918" cy="900"/>
          </a:xfrm>
        </p:grpSpPr>
        <p:sp>
          <p:nvSpPr>
            <p:cNvPr id="2124" name="Oval 178"/>
            <p:cNvSpPr>
              <a:spLocks noChangeArrowheads="1"/>
            </p:cNvSpPr>
            <p:nvPr/>
          </p:nvSpPr>
          <p:spPr bwMode="auto">
            <a:xfrm>
              <a:off x="1737" y="3024"/>
              <a:ext cx="84" cy="84"/>
            </a:xfrm>
            <a:prstGeom prst="ellipse">
              <a:avLst/>
            </a:prstGeom>
            <a:solidFill>
              <a:schemeClr val="tx1"/>
            </a:solidFill>
            <a:ln w="9525">
              <a:noFill/>
              <a:round/>
              <a:headEnd/>
              <a:tailEnd/>
            </a:ln>
          </p:spPr>
          <p:txBody>
            <a:bodyPr wrap="none" anchor="ctr"/>
            <a:lstStyle/>
            <a:p>
              <a:endParaRPr lang="tr-TR">
                <a:latin typeface="Verdana" pitchFamily="34" charset="0"/>
              </a:endParaRPr>
            </a:p>
          </p:txBody>
        </p:sp>
        <p:sp>
          <p:nvSpPr>
            <p:cNvPr id="2125" name="Oval 179"/>
            <p:cNvSpPr>
              <a:spLocks noChangeArrowheads="1"/>
            </p:cNvSpPr>
            <p:nvPr/>
          </p:nvSpPr>
          <p:spPr bwMode="auto">
            <a:xfrm>
              <a:off x="1320" y="2616"/>
              <a:ext cx="918" cy="900"/>
            </a:xfrm>
            <a:prstGeom prst="ellipse">
              <a:avLst/>
            </a:prstGeom>
            <a:noFill/>
            <a:ln w="9525">
              <a:noFill/>
              <a:round/>
              <a:headEnd/>
              <a:tailEnd/>
            </a:ln>
          </p:spPr>
          <p:txBody>
            <a:bodyPr wrap="none" anchor="ctr"/>
            <a:lstStyle/>
            <a:p>
              <a:endParaRPr lang="tr-TR">
                <a:latin typeface="Verdana" pitchFamily="34" charset="0"/>
              </a:endParaRPr>
            </a:p>
          </p:txBody>
        </p:sp>
      </p:grpSp>
      <p:grpSp>
        <p:nvGrpSpPr>
          <p:cNvPr id="4" name="Group 180"/>
          <p:cNvGrpSpPr>
            <a:grpSpLocks/>
          </p:cNvGrpSpPr>
          <p:nvPr/>
        </p:nvGrpSpPr>
        <p:grpSpPr bwMode="auto">
          <a:xfrm>
            <a:off x="901700" y="2071688"/>
            <a:ext cx="1457325" cy="1428750"/>
            <a:chOff x="1320" y="2616"/>
            <a:chExt cx="918" cy="900"/>
          </a:xfrm>
        </p:grpSpPr>
        <p:sp>
          <p:nvSpPr>
            <p:cNvPr id="2122" name="Oval 181"/>
            <p:cNvSpPr>
              <a:spLocks noChangeArrowheads="1"/>
            </p:cNvSpPr>
            <p:nvPr/>
          </p:nvSpPr>
          <p:spPr bwMode="auto">
            <a:xfrm>
              <a:off x="1737" y="3024"/>
              <a:ext cx="84" cy="84"/>
            </a:xfrm>
            <a:prstGeom prst="ellipse">
              <a:avLst/>
            </a:prstGeom>
            <a:solidFill>
              <a:srgbClr val="FF0000"/>
            </a:solidFill>
            <a:ln w="9525">
              <a:noFill/>
              <a:round/>
              <a:headEnd/>
              <a:tailEnd/>
            </a:ln>
          </p:spPr>
          <p:txBody>
            <a:bodyPr wrap="none" anchor="ctr"/>
            <a:lstStyle/>
            <a:p>
              <a:endParaRPr lang="tr-TR">
                <a:latin typeface="Verdana" pitchFamily="34" charset="0"/>
              </a:endParaRPr>
            </a:p>
          </p:txBody>
        </p:sp>
        <p:sp>
          <p:nvSpPr>
            <p:cNvPr id="2123" name="Oval 182"/>
            <p:cNvSpPr>
              <a:spLocks noChangeArrowheads="1"/>
            </p:cNvSpPr>
            <p:nvPr/>
          </p:nvSpPr>
          <p:spPr bwMode="auto">
            <a:xfrm>
              <a:off x="1320" y="2616"/>
              <a:ext cx="918" cy="900"/>
            </a:xfrm>
            <a:prstGeom prst="ellipse">
              <a:avLst/>
            </a:prstGeom>
            <a:noFill/>
            <a:ln w="9525">
              <a:noFill/>
              <a:round/>
              <a:headEnd/>
              <a:tailEnd/>
            </a:ln>
          </p:spPr>
          <p:txBody>
            <a:bodyPr wrap="none" anchor="ctr"/>
            <a:lstStyle/>
            <a:p>
              <a:endParaRPr lang="tr-TR">
                <a:latin typeface="Verdana" pitchFamily="34" charset="0"/>
              </a:endParaRPr>
            </a:p>
          </p:txBody>
        </p:sp>
      </p:grpSp>
      <p:grpSp>
        <p:nvGrpSpPr>
          <p:cNvPr id="5" name="Group 183"/>
          <p:cNvGrpSpPr>
            <a:grpSpLocks/>
          </p:cNvGrpSpPr>
          <p:nvPr/>
        </p:nvGrpSpPr>
        <p:grpSpPr bwMode="auto">
          <a:xfrm>
            <a:off x="2541588" y="3363913"/>
            <a:ext cx="1457325" cy="1428750"/>
            <a:chOff x="1320" y="2616"/>
            <a:chExt cx="918" cy="900"/>
          </a:xfrm>
        </p:grpSpPr>
        <p:sp>
          <p:nvSpPr>
            <p:cNvPr id="2120" name="Oval 184"/>
            <p:cNvSpPr>
              <a:spLocks noChangeArrowheads="1"/>
            </p:cNvSpPr>
            <p:nvPr/>
          </p:nvSpPr>
          <p:spPr bwMode="auto">
            <a:xfrm>
              <a:off x="1737" y="3024"/>
              <a:ext cx="84" cy="84"/>
            </a:xfrm>
            <a:prstGeom prst="ellipse">
              <a:avLst/>
            </a:prstGeom>
            <a:solidFill>
              <a:srgbClr val="0000FF"/>
            </a:solidFill>
            <a:ln w="9525">
              <a:noFill/>
              <a:round/>
              <a:headEnd/>
              <a:tailEnd/>
            </a:ln>
          </p:spPr>
          <p:txBody>
            <a:bodyPr wrap="none" anchor="ctr"/>
            <a:lstStyle/>
            <a:p>
              <a:endParaRPr lang="tr-TR">
                <a:latin typeface="Verdana" pitchFamily="34" charset="0"/>
              </a:endParaRPr>
            </a:p>
          </p:txBody>
        </p:sp>
        <p:sp>
          <p:nvSpPr>
            <p:cNvPr id="2121" name="Oval 185"/>
            <p:cNvSpPr>
              <a:spLocks noChangeArrowheads="1"/>
            </p:cNvSpPr>
            <p:nvPr/>
          </p:nvSpPr>
          <p:spPr bwMode="auto">
            <a:xfrm>
              <a:off x="1320" y="2616"/>
              <a:ext cx="918" cy="900"/>
            </a:xfrm>
            <a:prstGeom prst="ellipse">
              <a:avLst/>
            </a:prstGeom>
            <a:noFill/>
            <a:ln w="9525">
              <a:noFill/>
              <a:round/>
              <a:headEnd/>
              <a:tailEnd/>
            </a:ln>
          </p:spPr>
          <p:txBody>
            <a:bodyPr wrap="none" anchor="ctr"/>
            <a:lstStyle/>
            <a:p>
              <a:endParaRPr lang="tr-TR">
                <a:latin typeface="Verdana" pitchFamily="34" charset="0"/>
              </a:endParaRPr>
            </a:p>
          </p:txBody>
        </p:sp>
      </p:grpSp>
      <p:grpSp>
        <p:nvGrpSpPr>
          <p:cNvPr id="6" name="Group 186"/>
          <p:cNvGrpSpPr>
            <a:grpSpLocks/>
          </p:cNvGrpSpPr>
          <p:nvPr/>
        </p:nvGrpSpPr>
        <p:grpSpPr bwMode="auto">
          <a:xfrm>
            <a:off x="2828925" y="4083050"/>
            <a:ext cx="1457325" cy="1428750"/>
            <a:chOff x="1320" y="2616"/>
            <a:chExt cx="918" cy="900"/>
          </a:xfrm>
        </p:grpSpPr>
        <p:sp>
          <p:nvSpPr>
            <p:cNvPr id="2118" name="Oval 187"/>
            <p:cNvSpPr>
              <a:spLocks noChangeArrowheads="1"/>
            </p:cNvSpPr>
            <p:nvPr/>
          </p:nvSpPr>
          <p:spPr bwMode="auto">
            <a:xfrm>
              <a:off x="1737" y="3024"/>
              <a:ext cx="84" cy="84"/>
            </a:xfrm>
            <a:prstGeom prst="ellipse">
              <a:avLst/>
            </a:prstGeom>
            <a:solidFill>
              <a:srgbClr val="0000FF"/>
            </a:solidFill>
            <a:ln w="9525">
              <a:noFill/>
              <a:round/>
              <a:headEnd/>
              <a:tailEnd/>
            </a:ln>
          </p:spPr>
          <p:txBody>
            <a:bodyPr wrap="none" anchor="ctr"/>
            <a:lstStyle/>
            <a:p>
              <a:endParaRPr lang="tr-TR">
                <a:latin typeface="Verdana" pitchFamily="34" charset="0"/>
              </a:endParaRPr>
            </a:p>
          </p:txBody>
        </p:sp>
        <p:sp>
          <p:nvSpPr>
            <p:cNvPr id="2119" name="Oval 188"/>
            <p:cNvSpPr>
              <a:spLocks noChangeArrowheads="1"/>
            </p:cNvSpPr>
            <p:nvPr/>
          </p:nvSpPr>
          <p:spPr bwMode="auto">
            <a:xfrm>
              <a:off x="1320" y="2616"/>
              <a:ext cx="918" cy="900"/>
            </a:xfrm>
            <a:prstGeom prst="ellipse">
              <a:avLst/>
            </a:prstGeom>
            <a:noFill/>
            <a:ln w="9525">
              <a:noFill/>
              <a:round/>
              <a:headEnd/>
              <a:tailEnd/>
            </a:ln>
          </p:spPr>
          <p:txBody>
            <a:bodyPr wrap="none" anchor="ctr"/>
            <a:lstStyle/>
            <a:p>
              <a:endParaRPr lang="tr-TR">
                <a:latin typeface="Verdana" pitchFamily="34" charset="0"/>
              </a:endParaRPr>
            </a:p>
          </p:txBody>
        </p:sp>
      </p:grpSp>
      <p:grpSp>
        <p:nvGrpSpPr>
          <p:cNvPr id="7" name="Group 189"/>
          <p:cNvGrpSpPr>
            <a:grpSpLocks/>
          </p:cNvGrpSpPr>
          <p:nvPr/>
        </p:nvGrpSpPr>
        <p:grpSpPr bwMode="auto">
          <a:xfrm>
            <a:off x="1185863" y="2786063"/>
            <a:ext cx="1457325" cy="1428750"/>
            <a:chOff x="1320" y="2616"/>
            <a:chExt cx="918" cy="900"/>
          </a:xfrm>
        </p:grpSpPr>
        <p:sp>
          <p:nvSpPr>
            <p:cNvPr id="2116" name="Oval 190"/>
            <p:cNvSpPr>
              <a:spLocks noChangeArrowheads="1"/>
            </p:cNvSpPr>
            <p:nvPr/>
          </p:nvSpPr>
          <p:spPr bwMode="auto">
            <a:xfrm>
              <a:off x="1737" y="3024"/>
              <a:ext cx="84" cy="84"/>
            </a:xfrm>
            <a:prstGeom prst="ellipse">
              <a:avLst/>
            </a:prstGeom>
            <a:solidFill>
              <a:srgbClr val="FF0000"/>
            </a:solidFill>
            <a:ln w="9525">
              <a:noFill/>
              <a:round/>
              <a:headEnd/>
              <a:tailEnd/>
            </a:ln>
          </p:spPr>
          <p:txBody>
            <a:bodyPr wrap="none" anchor="ctr"/>
            <a:lstStyle/>
            <a:p>
              <a:endParaRPr lang="tr-TR">
                <a:latin typeface="Verdana" pitchFamily="34" charset="0"/>
              </a:endParaRPr>
            </a:p>
          </p:txBody>
        </p:sp>
        <p:sp>
          <p:nvSpPr>
            <p:cNvPr id="2117" name="Oval 191"/>
            <p:cNvSpPr>
              <a:spLocks noChangeArrowheads="1"/>
            </p:cNvSpPr>
            <p:nvPr/>
          </p:nvSpPr>
          <p:spPr bwMode="auto">
            <a:xfrm>
              <a:off x="1320" y="2616"/>
              <a:ext cx="918" cy="900"/>
            </a:xfrm>
            <a:prstGeom prst="ellipse">
              <a:avLst/>
            </a:prstGeom>
            <a:noFill/>
            <a:ln w="9525">
              <a:noFill/>
              <a:round/>
              <a:headEnd/>
              <a:tailEnd/>
            </a:ln>
          </p:spPr>
          <p:txBody>
            <a:bodyPr wrap="none" anchor="ctr"/>
            <a:lstStyle/>
            <a:p>
              <a:endParaRPr lang="tr-TR">
                <a:latin typeface="Verdana" pitchFamily="34" charset="0"/>
              </a:endParaRPr>
            </a:p>
          </p:txBody>
        </p:sp>
      </p:grpSp>
      <p:sp>
        <p:nvSpPr>
          <p:cNvPr id="355520" name="Rectangle 192"/>
          <p:cNvSpPr>
            <a:spLocks noChangeArrowheads="1"/>
          </p:cNvSpPr>
          <p:nvPr/>
        </p:nvSpPr>
        <p:spPr bwMode="auto">
          <a:xfrm>
            <a:off x="4357688" y="2286000"/>
            <a:ext cx="4392612" cy="1798638"/>
          </a:xfrm>
          <a:prstGeom prst="rect">
            <a:avLst/>
          </a:prstGeom>
          <a:noFill/>
          <a:ln w="9525">
            <a:noFill/>
            <a:miter lim="800000"/>
            <a:headEnd/>
            <a:tailEnd/>
          </a:ln>
        </p:spPr>
        <p:txBody>
          <a:bodyPr/>
          <a:lstStyle/>
          <a:p>
            <a:pPr marL="342900" indent="-342900">
              <a:buSzPct val="75000"/>
              <a:buFont typeface="Wingdings" pitchFamily="2" charset="2"/>
              <a:buChar char="n"/>
            </a:pPr>
            <a:r>
              <a:rPr lang="tr-TR" sz="2000">
                <a:latin typeface="Times New Roman" pitchFamily="18" charset="0"/>
                <a:cs typeface="Times New Roman" pitchFamily="18" charset="0"/>
              </a:rPr>
              <a:t>2’nin en yakın 3. komşusu 5.</a:t>
            </a:r>
          </a:p>
          <a:p>
            <a:pPr marL="342900" indent="-342900">
              <a:buSzPct val="75000"/>
              <a:buFont typeface="Wingdings" pitchFamily="2" charset="2"/>
              <a:buChar char="n"/>
            </a:pPr>
            <a:r>
              <a:rPr lang="tr-TR" sz="2000">
                <a:latin typeface="Times New Roman" pitchFamily="18" charset="0"/>
                <a:cs typeface="Times New Roman" pitchFamily="18" charset="0"/>
              </a:rPr>
              <a:t>5’in en yakın 3. komşusu 2.</a:t>
            </a:r>
          </a:p>
          <a:p>
            <a:pPr marL="342900" indent="-342900">
              <a:buSzPct val="75000"/>
              <a:buFont typeface="Wingdings" pitchFamily="2" charset="2"/>
              <a:buChar char="n"/>
            </a:pPr>
            <a:r>
              <a:rPr lang="tr-TR" sz="2000">
                <a:latin typeface="Times New Roman" pitchFamily="18" charset="0"/>
                <a:cs typeface="Times New Roman" pitchFamily="18" charset="0"/>
              </a:rPr>
              <a:t>MNV(5,2) = MNV(2,5) = 3 + 3 = 6</a:t>
            </a:r>
          </a:p>
          <a:p>
            <a:pPr marL="342900" indent="-342900">
              <a:buSzPct val="75000"/>
              <a:buFont typeface="Wingdings" pitchFamily="2" charset="2"/>
              <a:buChar char="n"/>
            </a:pPr>
            <a:r>
              <a:rPr lang="tr-TR" sz="2000">
                <a:latin typeface="Times New Roman" pitchFamily="18" charset="0"/>
                <a:cs typeface="Times New Roman" pitchFamily="18" charset="0"/>
              </a:rPr>
              <a:t>MNV = 2,3,…2k için kümeler oluşturulur.</a:t>
            </a:r>
          </a:p>
        </p:txBody>
      </p:sp>
      <p:sp>
        <p:nvSpPr>
          <p:cNvPr id="355521" name="Line 193"/>
          <p:cNvSpPr>
            <a:spLocks noChangeShapeType="1"/>
          </p:cNvSpPr>
          <p:nvPr/>
        </p:nvSpPr>
        <p:spPr bwMode="auto">
          <a:xfrm flipV="1">
            <a:off x="1700213" y="4140200"/>
            <a:ext cx="1438275" cy="504825"/>
          </a:xfrm>
          <a:prstGeom prst="line">
            <a:avLst/>
          </a:prstGeom>
          <a:noFill/>
          <a:ln w="34925">
            <a:solidFill>
              <a:schemeClr val="tx1"/>
            </a:solidFill>
            <a:round/>
            <a:headEnd/>
            <a:tailEnd type="stealth" w="lg" len="lg"/>
          </a:ln>
        </p:spPr>
        <p:txBody>
          <a:bodyPr/>
          <a:lstStyle/>
          <a:p>
            <a:endParaRPr lang="tr-TR"/>
          </a:p>
        </p:txBody>
      </p:sp>
      <p:graphicFrame>
        <p:nvGraphicFramePr>
          <p:cNvPr id="355522" name="Object 2"/>
          <p:cNvGraphicFramePr>
            <a:graphicFrameLocks noChangeAspect="1"/>
          </p:cNvGraphicFramePr>
          <p:nvPr/>
        </p:nvGraphicFramePr>
        <p:xfrm>
          <a:off x="4357688" y="4143375"/>
          <a:ext cx="3500437" cy="1593850"/>
        </p:xfrm>
        <a:graphic>
          <a:graphicData uri="http://schemas.openxmlformats.org/presentationml/2006/ole">
            <mc:AlternateContent xmlns:mc="http://schemas.openxmlformats.org/markup-compatibility/2006">
              <mc:Choice xmlns:v="urn:schemas-microsoft-com:vml" Requires="v">
                <p:oleObj name="Equation" r:id="rId2" imgW="2070000" imgH="939600" progId="">
                  <p:embed/>
                </p:oleObj>
              </mc:Choice>
              <mc:Fallback>
                <p:oleObj name="Equation" r:id="rId2" imgW="2070000" imgH="939600" progId="">
                  <p:embed/>
                  <p:pic>
                    <p:nvPicPr>
                      <p:cNvPr id="35552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7688" y="4143375"/>
                        <a:ext cx="3500437" cy="159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5526" name="Rectangle 198"/>
          <p:cNvSpPr>
            <a:spLocks noChangeArrowheads="1"/>
          </p:cNvSpPr>
          <p:nvPr/>
        </p:nvSpPr>
        <p:spPr bwMode="auto">
          <a:xfrm>
            <a:off x="8062913" y="4213225"/>
            <a:ext cx="936625" cy="360363"/>
          </a:xfrm>
          <a:prstGeom prst="rect">
            <a:avLst/>
          </a:prstGeom>
          <a:noFill/>
          <a:ln w="9525">
            <a:noFill/>
            <a:miter lim="800000"/>
            <a:headEnd/>
            <a:tailEnd/>
          </a:ln>
        </p:spPr>
        <p:txBody>
          <a:bodyPr wrap="none" anchor="ctr"/>
          <a:lstStyle/>
          <a:p>
            <a:pPr marL="342900" indent="-342900"/>
            <a:r>
              <a:rPr lang="tr-TR">
                <a:latin typeface="Verdana" pitchFamily="34" charset="0"/>
              </a:rPr>
              <a:t>2</a:t>
            </a:r>
          </a:p>
        </p:txBody>
      </p:sp>
      <p:sp>
        <p:nvSpPr>
          <p:cNvPr id="355527" name="Rectangle 199"/>
          <p:cNvSpPr>
            <a:spLocks noChangeArrowheads="1"/>
          </p:cNvSpPr>
          <p:nvPr/>
        </p:nvSpPr>
        <p:spPr bwMode="auto">
          <a:xfrm>
            <a:off x="8064500" y="4572000"/>
            <a:ext cx="936625" cy="360363"/>
          </a:xfrm>
          <a:prstGeom prst="rect">
            <a:avLst/>
          </a:prstGeom>
          <a:noFill/>
          <a:ln w="9525">
            <a:noFill/>
            <a:miter lim="800000"/>
            <a:headEnd/>
            <a:tailEnd/>
          </a:ln>
        </p:spPr>
        <p:txBody>
          <a:bodyPr wrap="none" anchor="ctr"/>
          <a:lstStyle/>
          <a:p>
            <a:pPr marL="342900" indent="-342900"/>
            <a:r>
              <a:rPr lang="tr-TR">
                <a:latin typeface="Verdana" pitchFamily="34" charset="0"/>
              </a:rPr>
              <a:t>3</a:t>
            </a:r>
          </a:p>
        </p:txBody>
      </p:sp>
      <p:sp>
        <p:nvSpPr>
          <p:cNvPr id="355528" name="Rectangle 200"/>
          <p:cNvSpPr>
            <a:spLocks noChangeArrowheads="1"/>
          </p:cNvSpPr>
          <p:nvPr/>
        </p:nvSpPr>
        <p:spPr bwMode="auto">
          <a:xfrm>
            <a:off x="8064500" y="5292725"/>
            <a:ext cx="936625" cy="360363"/>
          </a:xfrm>
          <a:prstGeom prst="rect">
            <a:avLst/>
          </a:prstGeom>
          <a:noFill/>
          <a:ln w="9525">
            <a:noFill/>
            <a:miter lim="800000"/>
            <a:headEnd/>
            <a:tailEnd/>
          </a:ln>
        </p:spPr>
        <p:txBody>
          <a:bodyPr wrap="none" anchor="ctr"/>
          <a:lstStyle/>
          <a:p>
            <a:pPr marL="342900" indent="-342900"/>
            <a:r>
              <a:rPr lang="tr-TR">
                <a:latin typeface="Verdana" pitchFamily="34" charset="0"/>
              </a:rPr>
              <a:t>2</a:t>
            </a:r>
            <a:r>
              <a:rPr lang="tr-TR" i="1">
                <a:latin typeface="Verdana" pitchFamily="34" charset="0"/>
              </a:rPr>
              <a:t>k</a:t>
            </a:r>
            <a:endParaRPr lang="tr-TR">
              <a:latin typeface="Verdana" pitchFamily="34" charset="0"/>
            </a:endParaRPr>
          </a:p>
        </p:txBody>
      </p:sp>
      <p:sp>
        <p:nvSpPr>
          <p:cNvPr id="355529" name="Line 201"/>
          <p:cNvSpPr>
            <a:spLocks noChangeShapeType="1"/>
          </p:cNvSpPr>
          <p:nvPr/>
        </p:nvSpPr>
        <p:spPr bwMode="auto">
          <a:xfrm>
            <a:off x="7854950" y="4787900"/>
            <a:ext cx="290513" cy="0"/>
          </a:xfrm>
          <a:prstGeom prst="line">
            <a:avLst/>
          </a:prstGeom>
          <a:noFill/>
          <a:ln w="9525">
            <a:solidFill>
              <a:schemeClr val="tx1"/>
            </a:solidFill>
            <a:round/>
            <a:headEnd/>
            <a:tailEnd type="triangle" w="med" len="med"/>
          </a:ln>
        </p:spPr>
        <p:txBody>
          <a:bodyPr/>
          <a:lstStyle/>
          <a:p>
            <a:endParaRPr lang="tr-TR"/>
          </a:p>
        </p:txBody>
      </p:sp>
      <p:sp>
        <p:nvSpPr>
          <p:cNvPr id="355530" name="Line 202"/>
          <p:cNvSpPr>
            <a:spLocks noChangeShapeType="1"/>
          </p:cNvSpPr>
          <p:nvPr/>
        </p:nvSpPr>
        <p:spPr bwMode="auto">
          <a:xfrm>
            <a:off x="7858125" y="4429125"/>
            <a:ext cx="290513" cy="0"/>
          </a:xfrm>
          <a:prstGeom prst="line">
            <a:avLst/>
          </a:prstGeom>
          <a:noFill/>
          <a:ln w="9525">
            <a:solidFill>
              <a:schemeClr val="tx1"/>
            </a:solidFill>
            <a:round/>
            <a:headEnd/>
            <a:tailEnd type="triangle" w="med" len="med"/>
          </a:ln>
        </p:spPr>
        <p:txBody>
          <a:bodyPr/>
          <a:lstStyle/>
          <a:p>
            <a:endParaRPr lang="tr-TR"/>
          </a:p>
        </p:txBody>
      </p:sp>
      <p:sp>
        <p:nvSpPr>
          <p:cNvPr id="355531" name="Line 203"/>
          <p:cNvSpPr>
            <a:spLocks noChangeShapeType="1"/>
          </p:cNvSpPr>
          <p:nvPr/>
        </p:nvSpPr>
        <p:spPr bwMode="auto">
          <a:xfrm>
            <a:off x="7858125" y="5508625"/>
            <a:ext cx="290513" cy="0"/>
          </a:xfrm>
          <a:prstGeom prst="line">
            <a:avLst/>
          </a:prstGeom>
          <a:noFill/>
          <a:ln w="9525">
            <a:solidFill>
              <a:schemeClr val="tx1"/>
            </a:solidFill>
            <a:round/>
            <a:headEnd/>
            <a:tailEnd type="triangle" w="med" len="med"/>
          </a:ln>
        </p:spPr>
        <p:txBody>
          <a:bodyPr/>
          <a:lstStyle/>
          <a:p>
            <a:endParaRPr lang="tr-TR"/>
          </a:p>
        </p:txBody>
      </p:sp>
      <p:sp>
        <p:nvSpPr>
          <p:cNvPr id="355532" name="Line 204"/>
          <p:cNvSpPr>
            <a:spLocks noChangeShapeType="1"/>
          </p:cNvSpPr>
          <p:nvPr/>
        </p:nvSpPr>
        <p:spPr bwMode="auto">
          <a:xfrm flipH="1">
            <a:off x="1698625" y="4138613"/>
            <a:ext cx="1439863" cy="504825"/>
          </a:xfrm>
          <a:prstGeom prst="line">
            <a:avLst/>
          </a:prstGeom>
          <a:noFill/>
          <a:ln w="34925">
            <a:solidFill>
              <a:schemeClr val="tx1"/>
            </a:solidFill>
            <a:round/>
            <a:headEnd/>
            <a:tailEnd type="stealth" w="lg" len="lg"/>
          </a:ln>
        </p:spPr>
        <p:txBody>
          <a:bodyPr/>
          <a:lstStyle/>
          <a:p>
            <a:endParaRPr lang="tr-TR"/>
          </a:p>
        </p:txBody>
      </p:sp>
      <p:sp>
        <p:nvSpPr>
          <p:cNvPr id="40" name="39 Oval"/>
          <p:cNvSpPr/>
          <p:nvPr/>
        </p:nvSpPr>
        <p:spPr>
          <a:xfrm>
            <a:off x="2928938" y="3643313"/>
            <a:ext cx="857250" cy="785812"/>
          </a:xfrm>
          <a:prstGeom prst="ellipse">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1" name="40 Oval"/>
          <p:cNvSpPr/>
          <p:nvPr/>
        </p:nvSpPr>
        <p:spPr>
          <a:xfrm>
            <a:off x="1071563" y="4214813"/>
            <a:ext cx="857250" cy="785812"/>
          </a:xfrm>
          <a:prstGeom prst="ellipse">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Tree>
  </p:cSld>
  <p:clrMapOvr>
    <a:masterClrMapping/>
  </p:clrMapOvr>
  <p:transition spd="med">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55335">
                                            <p:txEl>
                                              <p:pRg st="0" end="0"/>
                                            </p:txEl>
                                          </p:spTgt>
                                        </p:tgtEl>
                                        <p:attrNameLst>
                                          <p:attrName>style.visibility</p:attrName>
                                        </p:attrNameLst>
                                      </p:cBhvr>
                                      <p:to>
                                        <p:strVal val="visible"/>
                                      </p:to>
                                    </p:set>
                                    <p:animEffect transition="in" filter="blinds(horizontal)">
                                      <p:cBhvr>
                                        <p:cTn id="7" dur="1000"/>
                                        <p:tgtEl>
                                          <p:spTgt spid="35533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5335">
                                            <p:txEl>
                                              <p:pRg st="1" end="1"/>
                                            </p:txEl>
                                          </p:spTgt>
                                        </p:tgtEl>
                                        <p:attrNameLst>
                                          <p:attrName>style.visibility</p:attrName>
                                        </p:attrNameLst>
                                      </p:cBhvr>
                                      <p:to>
                                        <p:strVal val="visible"/>
                                      </p:to>
                                    </p:set>
                                    <p:animEffect transition="in" filter="blinds(horizontal)">
                                      <p:cBhvr>
                                        <p:cTn id="10" dur="1000"/>
                                        <p:tgtEl>
                                          <p:spTgt spid="355335">
                                            <p:txEl>
                                              <p:pRg st="1" end="1"/>
                                            </p:txEl>
                                          </p:spTgt>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2129"/>
                                        </p:tgtEl>
                                        <p:attrNameLst>
                                          <p:attrName>style.visibility</p:attrName>
                                        </p:attrNameLst>
                                      </p:cBhvr>
                                      <p:to>
                                        <p:strVal val="visible"/>
                                      </p:to>
                                    </p:set>
                                    <p:animEffect transition="in" filter="fade">
                                      <p:cBhvr>
                                        <p:cTn id="14" dur="500"/>
                                        <p:tgtEl>
                                          <p:spTgt spid="2129"/>
                                        </p:tgtEl>
                                      </p:cBhvr>
                                    </p:animEffect>
                                  </p:childTnLst>
                                </p:cTn>
                              </p:par>
                              <p:par>
                                <p:cTn id="15" presetID="26"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290">
                                          <p:stCondLst>
                                            <p:cond delay="0"/>
                                          </p:stCondLst>
                                        </p:cTn>
                                        <p:tgtEl>
                                          <p:spTgt spid="4"/>
                                        </p:tgtEl>
                                      </p:cBhvr>
                                    </p:animEffect>
                                    <p:anim calcmode="lin" valueType="num">
                                      <p:cBhvr>
                                        <p:cTn id="18"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9"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0"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1"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22"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23" dur="13">
                                          <p:stCondLst>
                                            <p:cond delay="325"/>
                                          </p:stCondLst>
                                        </p:cTn>
                                        <p:tgtEl>
                                          <p:spTgt spid="4"/>
                                        </p:tgtEl>
                                      </p:cBhvr>
                                      <p:to x="100000" y="60000"/>
                                    </p:animScale>
                                    <p:animScale>
                                      <p:cBhvr>
                                        <p:cTn id="24" dur="83" decel="50000">
                                          <p:stCondLst>
                                            <p:cond delay="338"/>
                                          </p:stCondLst>
                                        </p:cTn>
                                        <p:tgtEl>
                                          <p:spTgt spid="4"/>
                                        </p:tgtEl>
                                      </p:cBhvr>
                                      <p:to x="100000" y="100000"/>
                                    </p:animScale>
                                    <p:animScale>
                                      <p:cBhvr>
                                        <p:cTn id="25" dur="13">
                                          <p:stCondLst>
                                            <p:cond delay="656"/>
                                          </p:stCondLst>
                                        </p:cTn>
                                        <p:tgtEl>
                                          <p:spTgt spid="4"/>
                                        </p:tgtEl>
                                      </p:cBhvr>
                                      <p:to x="100000" y="80000"/>
                                    </p:animScale>
                                    <p:animScale>
                                      <p:cBhvr>
                                        <p:cTn id="26" dur="83" decel="50000">
                                          <p:stCondLst>
                                            <p:cond delay="669"/>
                                          </p:stCondLst>
                                        </p:cTn>
                                        <p:tgtEl>
                                          <p:spTgt spid="4"/>
                                        </p:tgtEl>
                                      </p:cBhvr>
                                      <p:to x="100000" y="100000"/>
                                    </p:animScale>
                                    <p:animScale>
                                      <p:cBhvr>
                                        <p:cTn id="27" dur="13">
                                          <p:stCondLst>
                                            <p:cond delay="821"/>
                                          </p:stCondLst>
                                        </p:cTn>
                                        <p:tgtEl>
                                          <p:spTgt spid="4"/>
                                        </p:tgtEl>
                                      </p:cBhvr>
                                      <p:to x="100000" y="90000"/>
                                    </p:animScale>
                                    <p:animScale>
                                      <p:cBhvr>
                                        <p:cTn id="28" dur="83" decel="50000">
                                          <p:stCondLst>
                                            <p:cond delay="834"/>
                                          </p:stCondLst>
                                        </p:cTn>
                                        <p:tgtEl>
                                          <p:spTgt spid="4"/>
                                        </p:tgtEl>
                                      </p:cBhvr>
                                      <p:to x="100000" y="100000"/>
                                    </p:animScale>
                                    <p:animScale>
                                      <p:cBhvr>
                                        <p:cTn id="29" dur="13">
                                          <p:stCondLst>
                                            <p:cond delay="904"/>
                                          </p:stCondLst>
                                        </p:cTn>
                                        <p:tgtEl>
                                          <p:spTgt spid="4"/>
                                        </p:tgtEl>
                                      </p:cBhvr>
                                      <p:to x="100000" y="95000"/>
                                    </p:animScale>
                                    <p:animScale>
                                      <p:cBhvr>
                                        <p:cTn id="30" dur="83" decel="50000">
                                          <p:stCondLst>
                                            <p:cond delay="917"/>
                                          </p:stCondLst>
                                        </p:cTn>
                                        <p:tgtEl>
                                          <p:spTgt spid="4"/>
                                        </p:tgtEl>
                                      </p:cBhvr>
                                      <p:to x="100000" y="100000"/>
                                    </p:animScale>
                                  </p:childTnLst>
                                </p:cTn>
                              </p:par>
                              <p:par>
                                <p:cTn id="31" presetID="26"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290">
                                          <p:stCondLst>
                                            <p:cond delay="0"/>
                                          </p:stCondLst>
                                        </p:cTn>
                                        <p:tgtEl>
                                          <p:spTgt spid="7"/>
                                        </p:tgtEl>
                                      </p:cBhvr>
                                    </p:animEffect>
                                    <p:anim calcmode="lin" valueType="num">
                                      <p:cBhvr>
                                        <p:cTn id="34" dur="911"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5" dur="332"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6" dur="332" tmFilter="0, 0; 0.125,0.2665; 0.25,0.4; 0.375,0.465; 0.5,0.5;  0.625,0.535; 0.75,0.6; 0.875,0.7335; 1,1">
                                          <p:stCondLst>
                                            <p:cond delay="332"/>
                                          </p:stCondLst>
                                        </p:cTn>
                                        <p:tgtEl>
                                          <p:spTgt spid="7"/>
                                        </p:tgtEl>
                                        <p:attrNameLst>
                                          <p:attrName>ppt_y</p:attrName>
                                        </p:attrNameLst>
                                      </p:cBhvr>
                                      <p:tavLst>
                                        <p:tav tm="0" fmla="#ppt_y-sin(pi*$)/9">
                                          <p:val>
                                            <p:fltVal val="0"/>
                                          </p:val>
                                        </p:tav>
                                        <p:tav tm="100000">
                                          <p:val>
                                            <p:fltVal val="1"/>
                                          </p:val>
                                        </p:tav>
                                      </p:tavLst>
                                    </p:anim>
                                    <p:anim calcmode="lin" valueType="num">
                                      <p:cBhvr>
                                        <p:cTn id="37" dur="166" tmFilter="0, 0; 0.125,0.2665; 0.25,0.4; 0.375,0.465; 0.5,0.5;  0.625,0.535; 0.75,0.6; 0.875,0.7335; 1,1">
                                          <p:stCondLst>
                                            <p:cond delay="662"/>
                                          </p:stCondLst>
                                        </p:cTn>
                                        <p:tgtEl>
                                          <p:spTgt spid="7"/>
                                        </p:tgtEl>
                                        <p:attrNameLst>
                                          <p:attrName>ppt_y</p:attrName>
                                        </p:attrNameLst>
                                      </p:cBhvr>
                                      <p:tavLst>
                                        <p:tav tm="0" fmla="#ppt_y-sin(pi*$)/27">
                                          <p:val>
                                            <p:fltVal val="0"/>
                                          </p:val>
                                        </p:tav>
                                        <p:tav tm="100000">
                                          <p:val>
                                            <p:fltVal val="1"/>
                                          </p:val>
                                        </p:tav>
                                      </p:tavLst>
                                    </p:anim>
                                    <p:anim calcmode="lin" valueType="num">
                                      <p:cBhvr>
                                        <p:cTn id="38" dur="82" tmFilter="0, 0; 0.125,0.2665; 0.25,0.4; 0.375,0.465; 0.5,0.5;  0.625,0.535; 0.75,0.6; 0.875,0.7335; 1,1">
                                          <p:stCondLst>
                                            <p:cond delay="828"/>
                                          </p:stCondLst>
                                        </p:cTn>
                                        <p:tgtEl>
                                          <p:spTgt spid="7"/>
                                        </p:tgtEl>
                                        <p:attrNameLst>
                                          <p:attrName>ppt_y</p:attrName>
                                        </p:attrNameLst>
                                      </p:cBhvr>
                                      <p:tavLst>
                                        <p:tav tm="0" fmla="#ppt_y-sin(pi*$)/81">
                                          <p:val>
                                            <p:fltVal val="0"/>
                                          </p:val>
                                        </p:tav>
                                        <p:tav tm="100000">
                                          <p:val>
                                            <p:fltVal val="1"/>
                                          </p:val>
                                        </p:tav>
                                      </p:tavLst>
                                    </p:anim>
                                    <p:animScale>
                                      <p:cBhvr>
                                        <p:cTn id="39" dur="13">
                                          <p:stCondLst>
                                            <p:cond delay="325"/>
                                          </p:stCondLst>
                                        </p:cTn>
                                        <p:tgtEl>
                                          <p:spTgt spid="7"/>
                                        </p:tgtEl>
                                      </p:cBhvr>
                                      <p:to x="100000" y="60000"/>
                                    </p:animScale>
                                    <p:animScale>
                                      <p:cBhvr>
                                        <p:cTn id="40" dur="83" decel="50000">
                                          <p:stCondLst>
                                            <p:cond delay="338"/>
                                          </p:stCondLst>
                                        </p:cTn>
                                        <p:tgtEl>
                                          <p:spTgt spid="7"/>
                                        </p:tgtEl>
                                      </p:cBhvr>
                                      <p:to x="100000" y="100000"/>
                                    </p:animScale>
                                    <p:animScale>
                                      <p:cBhvr>
                                        <p:cTn id="41" dur="13">
                                          <p:stCondLst>
                                            <p:cond delay="656"/>
                                          </p:stCondLst>
                                        </p:cTn>
                                        <p:tgtEl>
                                          <p:spTgt spid="7"/>
                                        </p:tgtEl>
                                      </p:cBhvr>
                                      <p:to x="100000" y="80000"/>
                                    </p:animScale>
                                    <p:animScale>
                                      <p:cBhvr>
                                        <p:cTn id="42" dur="83" decel="50000">
                                          <p:stCondLst>
                                            <p:cond delay="669"/>
                                          </p:stCondLst>
                                        </p:cTn>
                                        <p:tgtEl>
                                          <p:spTgt spid="7"/>
                                        </p:tgtEl>
                                      </p:cBhvr>
                                      <p:to x="100000" y="100000"/>
                                    </p:animScale>
                                    <p:animScale>
                                      <p:cBhvr>
                                        <p:cTn id="43" dur="13">
                                          <p:stCondLst>
                                            <p:cond delay="821"/>
                                          </p:stCondLst>
                                        </p:cTn>
                                        <p:tgtEl>
                                          <p:spTgt spid="7"/>
                                        </p:tgtEl>
                                      </p:cBhvr>
                                      <p:to x="100000" y="90000"/>
                                    </p:animScale>
                                    <p:animScale>
                                      <p:cBhvr>
                                        <p:cTn id="44" dur="83" decel="50000">
                                          <p:stCondLst>
                                            <p:cond delay="834"/>
                                          </p:stCondLst>
                                        </p:cTn>
                                        <p:tgtEl>
                                          <p:spTgt spid="7"/>
                                        </p:tgtEl>
                                      </p:cBhvr>
                                      <p:to x="100000" y="100000"/>
                                    </p:animScale>
                                    <p:animScale>
                                      <p:cBhvr>
                                        <p:cTn id="45" dur="13">
                                          <p:stCondLst>
                                            <p:cond delay="904"/>
                                          </p:stCondLst>
                                        </p:cTn>
                                        <p:tgtEl>
                                          <p:spTgt spid="7"/>
                                        </p:tgtEl>
                                      </p:cBhvr>
                                      <p:to x="100000" y="95000"/>
                                    </p:animScale>
                                    <p:animScale>
                                      <p:cBhvr>
                                        <p:cTn id="46" dur="83" decel="50000">
                                          <p:stCondLst>
                                            <p:cond delay="917"/>
                                          </p:stCondLst>
                                        </p:cTn>
                                        <p:tgtEl>
                                          <p:spTgt spid="7"/>
                                        </p:tgtEl>
                                      </p:cBhvr>
                                      <p:to x="100000" y="100000"/>
                                    </p:animScale>
                                  </p:childTnLst>
                                </p:cTn>
                              </p:par>
                              <p:par>
                                <p:cTn id="47" presetID="26"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290">
                                          <p:stCondLst>
                                            <p:cond delay="0"/>
                                          </p:stCondLst>
                                        </p:cTn>
                                        <p:tgtEl>
                                          <p:spTgt spid="3"/>
                                        </p:tgtEl>
                                      </p:cBhvr>
                                    </p:animEffect>
                                    <p:anim calcmode="lin" valueType="num">
                                      <p:cBhvr>
                                        <p:cTn id="50"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1"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52"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53"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54"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55" dur="13">
                                          <p:stCondLst>
                                            <p:cond delay="325"/>
                                          </p:stCondLst>
                                        </p:cTn>
                                        <p:tgtEl>
                                          <p:spTgt spid="3"/>
                                        </p:tgtEl>
                                      </p:cBhvr>
                                      <p:to x="100000" y="60000"/>
                                    </p:animScale>
                                    <p:animScale>
                                      <p:cBhvr>
                                        <p:cTn id="56" dur="83" decel="50000">
                                          <p:stCondLst>
                                            <p:cond delay="338"/>
                                          </p:stCondLst>
                                        </p:cTn>
                                        <p:tgtEl>
                                          <p:spTgt spid="3"/>
                                        </p:tgtEl>
                                      </p:cBhvr>
                                      <p:to x="100000" y="100000"/>
                                    </p:animScale>
                                    <p:animScale>
                                      <p:cBhvr>
                                        <p:cTn id="57" dur="13">
                                          <p:stCondLst>
                                            <p:cond delay="656"/>
                                          </p:stCondLst>
                                        </p:cTn>
                                        <p:tgtEl>
                                          <p:spTgt spid="3"/>
                                        </p:tgtEl>
                                      </p:cBhvr>
                                      <p:to x="100000" y="80000"/>
                                    </p:animScale>
                                    <p:animScale>
                                      <p:cBhvr>
                                        <p:cTn id="58" dur="83" decel="50000">
                                          <p:stCondLst>
                                            <p:cond delay="669"/>
                                          </p:stCondLst>
                                        </p:cTn>
                                        <p:tgtEl>
                                          <p:spTgt spid="3"/>
                                        </p:tgtEl>
                                      </p:cBhvr>
                                      <p:to x="100000" y="100000"/>
                                    </p:animScale>
                                    <p:animScale>
                                      <p:cBhvr>
                                        <p:cTn id="59" dur="13">
                                          <p:stCondLst>
                                            <p:cond delay="821"/>
                                          </p:stCondLst>
                                        </p:cTn>
                                        <p:tgtEl>
                                          <p:spTgt spid="3"/>
                                        </p:tgtEl>
                                      </p:cBhvr>
                                      <p:to x="100000" y="90000"/>
                                    </p:animScale>
                                    <p:animScale>
                                      <p:cBhvr>
                                        <p:cTn id="60" dur="83" decel="50000">
                                          <p:stCondLst>
                                            <p:cond delay="834"/>
                                          </p:stCondLst>
                                        </p:cTn>
                                        <p:tgtEl>
                                          <p:spTgt spid="3"/>
                                        </p:tgtEl>
                                      </p:cBhvr>
                                      <p:to x="100000" y="100000"/>
                                    </p:animScale>
                                    <p:animScale>
                                      <p:cBhvr>
                                        <p:cTn id="61" dur="13">
                                          <p:stCondLst>
                                            <p:cond delay="904"/>
                                          </p:stCondLst>
                                        </p:cTn>
                                        <p:tgtEl>
                                          <p:spTgt spid="3"/>
                                        </p:tgtEl>
                                      </p:cBhvr>
                                      <p:to x="100000" y="95000"/>
                                    </p:animScale>
                                    <p:animScale>
                                      <p:cBhvr>
                                        <p:cTn id="62" dur="83" decel="50000">
                                          <p:stCondLst>
                                            <p:cond delay="917"/>
                                          </p:stCondLst>
                                        </p:cTn>
                                        <p:tgtEl>
                                          <p:spTgt spid="3"/>
                                        </p:tgtEl>
                                      </p:cBhvr>
                                      <p:to x="100000" y="100000"/>
                                    </p:animScale>
                                  </p:childTnLst>
                                </p:cTn>
                              </p:par>
                              <p:par>
                                <p:cTn id="63" presetID="26" presetClass="entr" presetSubtype="0"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down)">
                                      <p:cBhvr>
                                        <p:cTn id="65" dur="290">
                                          <p:stCondLst>
                                            <p:cond delay="0"/>
                                          </p:stCondLst>
                                        </p:cTn>
                                        <p:tgtEl>
                                          <p:spTgt spid="2"/>
                                        </p:tgtEl>
                                      </p:cBhvr>
                                    </p:animEffect>
                                    <p:anim calcmode="lin" valueType="num">
                                      <p:cBhvr>
                                        <p:cTn id="66" dur="911"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67" dur="332"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68" dur="332" tmFilter="0, 0; 0.125,0.2665; 0.25,0.4; 0.375,0.465; 0.5,0.5;  0.625,0.535; 0.75,0.6; 0.875,0.7335; 1,1">
                                          <p:stCondLst>
                                            <p:cond delay="332"/>
                                          </p:stCondLst>
                                        </p:cTn>
                                        <p:tgtEl>
                                          <p:spTgt spid="2"/>
                                        </p:tgtEl>
                                        <p:attrNameLst>
                                          <p:attrName>ppt_y</p:attrName>
                                        </p:attrNameLst>
                                      </p:cBhvr>
                                      <p:tavLst>
                                        <p:tav tm="0" fmla="#ppt_y-sin(pi*$)/9">
                                          <p:val>
                                            <p:fltVal val="0"/>
                                          </p:val>
                                        </p:tav>
                                        <p:tav tm="100000">
                                          <p:val>
                                            <p:fltVal val="1"/>
                                          </p:val>
                                        </p:tav>
                                      </p:tavLst>
                                    </p:anim>
                                    <p:anim calcmode="lin" valueType="num">
                                      <p:cBhvr>
                                        <p:cTn id="69" dur="166" tmFilter="0, 0; 0.125,0.2665; 0.25,0.4; 0.375,0.465; 0.5,0.5;  0.625,0.535; 0.75,0.6; 0.875,0.7335; 1,1">
                                          <p:stCondLst>
                                            <p:cond delay="662"/>
                                          </p:stCondLst>
                                        </p:cTn>
                                        <p:tgtEl>
                                          <p:spTgt spid="2"/>
                                        </p:tgtEl>
                                        <p:attrNameLst>
                                          <p:attrName>ppt_y</p:attrName>
                                        </p:attrNameLst>
                                      </p:cBhvr>
                                      <p:tavLst>
                                        <p:tav tm="0" fmla="#ppt_y-sin(pi*$)/27">
                                          <p:val>
                                            <p:fltVal val="0"/>
                                          </p:val>
                                        </p:tav>
                                        <p:tav tm="100000">
                                          <p:val>
                                            <p:fltVal val="1"/>
                                          </p:val>
                                        </p:tav>
                                      </p:tavLst>
                                    </p:anim>
                                    <p:anim calcmode="lin" valueType="num">
                                      <p:cBhvr>
                                        <p:cTn id="70" dur="82" tmFilter="0, 0; 0.125,0.2665; 0.25,0.4; 0.375,0.465; 0.5,0.5;  0.625,0.535; 0.75,0.6; 0.875,0.7335; 1,1">
                                          <p:stCondLst>
                                            <p:cond delay="828"/>
                                          </p:stCondLst>
                                        </p:cTn>
                                        <p:tgtEl>
                                          <p:spTgt spid="2"/>
                                        </p:tgtEl>
                                        <p:attrNameLst>
                                          <p:attrName>ppt_y</p:attrName>
                                        </p:attrNameLst>
                                      </p:cBhvr>
                                      <p:tavLst>
                                        <p:tav tm="0" fmla="#ppt_y-sin(pi*$)/81">
                                          <p:val>
                                            <p:fltVal val="0"/>
                                          </p:val>
                                        </p:tav>
                                        <p:tav tm="100000">
                                          <p:val>
                                            <p:fltVal val="1"/>
                                          </p:val>
                                        </p:tav>
                                      </p:tavLst>
                                    </p:anim>
                                    <p:animScale>
                                      <p:cBhvr>
                                        <p:cTn id="71" dur="13">
                                          <p:stCondLst>
                                            <p:cond delay="325"/>
                                          </p:stCondLst>
                                        </p:cTn>
                                        <p:tgtEl>
                                          <p:spTgt spid="2"/>
                                        </p:tgtEl>
                                      </p:cBhvr>
                                      <p:to x="100000" y="60000"/>
                                    </p:animScale>
                                    <p:animScale>
                                      <p:cBhvr>
                                        <p:cTn id="72" dur="83" decel="50000">
                                          <p:stCondLst>
                                            <p:cond delay="338"/>
                                          </p:stCondLst>
                                        </p:cTn>
                                        <p:tgtEl>
                                          <p:spTgt spid="2"/>
                                        </p:tgtEl>
                                      </p:cBhvr>
                                      <p:to x="100000" y="100000"/>
                                    </p:animScale>
                                    <p:animScale>
                                      <p:cBhvr>
                                        <p:cTn id="73" dur="13">
                                          <p:stCondLst>
                                            <p:cond delay="656"/>
                                          </p:stCondLst>
                                        </p:cTn>
                                        <p:tgtEl>
                                          <p:spTgt spid="2"/>
                                        </p:tgtEl>
                                      </p:cBhvr>
                                      <p:to x="100000" y="80000"/>
                                    </p:animScale>
                                    <p:animScale>
                                      <p:cBhvr>
                                        <p:cTn id="74" dur="83" decel="50000">
                                          <p:stCondLst>
                                            <p:cond delay="669"/>
                                          </p:stCondLst>
                                        </p:cTn>
                                        <p:tgtEl>
                                          <p:spTgt spid="2"/>
                                        </p:tgtEl>
                                      </p:cBhvr>
                                      <p:to x="100000" y="100000"/>
                                    </p:animScale>
                                    <p:animScale>
                                      <p:cBhvr>
                                        <p:cTn id="75" dur="13">
                                          <p:stCondLst>
                                            <p:cond delay="821"/>
                                          </p:stCondLst>
                                        </p:cTn>
                                        <p:tgtEl>
                                          <p:spTgt spid="2"/>
                                        </p:tgtEl>
                                      </p:cBhvr>
                                      <p:to x="100000" y="90000"/>
                                    </p:animScale>
                                    <p:animScale>
                                      <p:cBhvr>
                                        <p:cTn id="76" dur="83" decel="50000">
                                          <p:stCondLst>
                                            <p:cond delay="834"/>
                                          </p:stCondLst>
                                        </p:cTn>
                                        <p:tgtEl>
                                          <p:spTgt spid="2"/>
                                        </p:tgtEl>
                                      </p:cBhvr>
                                      <p:to x="100000" y="100000"/>
                                    </p:animScale>
                                    <p:animScale>
                                      <p:cBhvr>
                                        <p:cTn id="77" dur="13">
                                          <p:stCondLst>
                                            <p:cond delay="904"/>
                                          </p:stCondLst>
                                        </p:cTn>
                                        <p:tgtEl>
                                          <p:spTgt spid="2"/>
                                        </p:tgtEl>
                                      </p:cBhvr>
                                      <p:to x="100000" y="95000"/>
                                    </p:animScale>
                                    <p:animScale>
                                      <p:cBhvr>
                                        <p:cTn id="78" dur="83" decel="50000">
                                          <p:stCondLst>
                                            <p:cond delay="917"/>
                                          </p:stCondLst>
                                        </p:cTn>
                                        <p:tgtEl>
                                          <p:spTgt spid="2"/>
                                        </p:tgtEl>
                                      </p:cBhvr>
                                      <p:to x="100000" y="100000"/>
                                    </p:animScale>
                                  </p:childTnLst>
                                </p:cTn>
                              </p:par>
                              <p:par>
                                <p:cTn id="79" presetID="26" presetClass="entr" presetSubtype="0" fill="hold"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down)">
                                      <p:cBhvr>
                                        <p:cTn id="81" dur="290">
                                          <p:stCondLst>
                                            <p:cond delay="0"/>
                                          </p:stCondLst>
                                        </p:cTn>
                                        <p:tgtEl>
                                          <p:spTgt spid="6"/>
                                        </p:tgtEl>
                                      </p:cBhvr>
                                    </p:animEffect>
                                    <p:anim calcmode="lin" valueType="num">
                                      <p:cBhvr>
                                        <p:cTn id="82" dur="911"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83" dur="332"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84" dur="332" tmFilter="0, 0; 0.125,0.2665; 0.25,0.4; 0.375,0.465; 0.5,0.5;  0.625,0.535; 0.75,0.6; 0.875,0.7335; 1,1">
                                          <p:stCondLst>
                                            <p:cond delay="332"/>
                                          </p:stCondLst>
                                        </p:cTn>
                                        <p:tgtEl>
                                          <p:spTgt spid="6"/>
                                        </p:tgtEl>
                                        <p:attrNameLst>
                                          <p:attrName>ppt_y</p:attrName>
                                        </p:attrNameLst>
                                      </p:cBhvr>
                                      <p:tavLst>
                                        <p:tav tm="0" fmla="#ppt_y-sin(pi*$)/9">
                                          <p:val>
                                            <p:fltVal val="0"/>
                                          </p:val>
                                        </p:tav>
                                        <p:tav tm="100000">
                                          <p:val>
                                            <p:fltVal val="1"/>
                                          </p:val>
                                        </p:tav>
                                      </p:tavLst>
                                    </p:anim>
                                    <p:anim calcmode="lin" valueType="num">
                                      <p:cBhvr>
                                        <p:cTn id="85" dur="166" tmFilter="0, 0; 0.125,0.2665; 0.25,0.4; 0.375,0.465; 0.5,0.5;  0.625,0.535; 0.75,0.6; 0.875,0.7335; 1,1">
                                          <p:stCondLst>
                                            <p:cond delay="662"/>
                                          </p:stCondLst>
                                        </p:cTn>
                                        <p:tgtEl>
                                          <p:spTgt spid="6"/>
                                        </p:tgtEl>
                                        <p:attrNameLst>
                                          <p:attrName>ppt_y</p:attrName>
                                        </p:attrNameLst>
                                      </p:cBhvr>
                                      <p:tavLst>
                                        <p:tav tm="0" fmla="#ppt_y-sin(pi*$)/27">
                                          <p:val>
                                            <p:fltVal val="0"/>
                                          </p:val>
                                        </p:tav>
                                        <p:tav tm="100000">
                                          <p:val>
                                            <p:fltVal val="1"/>
                                          </p:val>
                                        </p:tav>
                                      </p:tavLst>
                                    </p:anim>
                                    <p:anim calcmode="lin" valueType="num">
                                      <p:cBhvr>
                                        <p:cTn id="86" dur="82" tmFilter="0, 0; 0.125,0.2665; 0.25,0.4; 0.375,0.465; 0.5,0.5;  0.625,0.535; 0.75,0.6; 0.875,0.7335; 1,1">
                                          <p:stCondLst>
                                            <p:cond delay="828"/>
                                          </p:stCondLst>
                                        </p:cTn>
                                        <p:tgtEl>
                                          <p:spTgt spid="6"/>
                                        </p:tgtEl>
                                        <p:attrNameLst>
                                          <p:attrName>ppt_y</p:attrName>
                                        </p:attrNameLst>
                                      </p:cBhvr>
                                      <p:tavLst>
                                        <p:tav tm="0" fmla="#ppt_y-sin(pi*$)/81">
                                          <p:val>
                                            <p:fltVal val="0"/>
                                          </p:val>
                                        </p:tav>
                                        <p:tav tm="100000">
                                          <p:val>
                                            <p:fltVal val="1"/>
                                          </p:val>
                                        </p:tav>
                                      </p:tavLst>
                                    </p:anim>
                                    <p:animScale>
                                      <p:cBhvr>
                                        <p:cTn id="87" dur="13">
                                          <p:stCondLst>
                                            <p:cond delay="325"/>
                                          </p:stCondLst>
                                        </p:cTn>
                                        <p:tgtEl>
                                          <p:spTgt spid="6"/>
                                        </p:tgtEl>
                                      </p:cBhvr>
                                      <p:to x="100000" y="60000"/>
                                    </p:animScale>
                                    <p:animScale>
                                      <p:cBhvr>
                                        <p:cTn id="88" dur="83" decel="50000">
                                          <p:stCondLst>
                                            <p:cond delay="338"/>
                                          </p:stCondLst>
                                        </p:cTn>
                                        <p:tgtEl>
                                          <p:spTgt spid="6"/>
                                        </p:tgtEl>
                                      </p:cBhvr>
                                      <p:to x="100000" y="100000"/>
                                    </p:animScale>
                                    <p:animScale>
                                      <p:cBhvr>
                                        <p:cTn id="89" dur="13">
                                          <p:stCondLst>
                                            <p:cond delay="656"/>
                                          </p:stCondLst>
                                        </p:cTn>
                                        <p:tgtEl>
                                          <p:spTgt spid="6"/>
                                        </p:tgtEl>
                                      </p:cBhvr>
                                      <p:to x="100000" y="80000"/>
                                    </p:animScale>
                                    <p:animScale>
                                      <p:cBhvr>
                                        <p:cTn id="90" dur="83" decel="50000">
                                          <p:stCondLst>
                                            <p:cond delay="669"/>
                                          </p:stCondLst>
                                        </p:cTn>
                                        <p:tgtEl>
                                          <p:spTgt spid="6"/>
                                        </p:tgtEl>
                                      </p:cBhvr>
                                      <p:to x="100000" y="100000"/>
                                    </p:animScale>
                                    <p:animScale>
                                      <p:cBhvr>
                                        <p:cTn id="91" dur="13">
                                          <p:stCondLst>
                                            <p:cond delay="821"/>
                                          </p:stCondLst>
                                        </p:cTn>
                                        <p:tgtEl>
                                          <p:spTgt spid="6"/>
                                        </p:tgtEl>
                                      </p:cBhvr>
                                      <p:to x="100000" y="90000"/>
                                    </p:animScale>
                                    <p:animScale>
                                      <p:cBhvr>
                                        <p:cTn id="92" dur="83" decel="50000">
                                          <p:stCondLst>
                                            <p:cond delay="834"/>
                                          </p:stCondLst>
                                        </p:cTn>
                                        <p:tgtEl>
                                          <p:spTgt spid="6"/>
                                        </p:tgtEl>
                                      </p:cBhvr>
                                      <p:to x="100000" y="100000"/>
                                    </p:animScale>
                                    <p:animScale>
                                      <p:cBhvr>
                                        <p:cTn id="93" dur="13">
                                          <p:stCondLst>
                                            <p:cond delay="904"/>
                                          </p:stCondLst>
                                        </p:cTn>
                                        <p:tgtEl>
                                          <p:spTgt spid="6"/>
                                        </p:tgtEl>
                                      </p:cBhvr>
                                      <p:to x="100000" y="95000"/>
                                    </p:animScale>
                                    <p:animScale>
                                      <p:cBhvr>
                                        <p:cTn id="94" dur="83" decel="50000">
                                          <p:stCondLst>
                                            <p:cond delay="917"/>
                                          </p:stCondLst>
                                        </p:cTn>
                                        <p:tgtEl>
                                          <p:spTgt spid="6"/>
                                        </p:tgtEl>
                                      </p:cBhvr>
                                      <p:to x="100000" y="100000"/>
                                    </p:animScale>
                                  </p:childTnLst>
                                </p:cTn>
                              </p:par>
                              <p:par>
                                <p:cTn id="95" presetID="26" presetClass="entr" presetSubtype="0" fill="hold" nodeType="withEffect">
                                  <p:stCondLst>
                                    <p:cond delay="0"/>
                                  </p:stCondLst>
                                  <p:childTnLst>
                                    <p:set>
                                      <p:cBhvr>
                                        <p:cTn id="96" dur="1" fill="hold">
                                          <p:stCondLst>
                                            <p:cond delay="0"/>
                                          </p:stCondLst>
                                        </p:cTn>
                                        <p:tgtEl>
                                          <p:spTgt spid="5"/>
                                        </p:tgtEl>
                                        <p:attrNameLst>
                                          <p:attrName>style.visibility</p:attrName>
                                        </p:attrNameLst>
                                      </p:cBhvr>
                                      <p:to>
                                        <p:strVal val="visible"/>
                                      </p:to>
                                    </p:set>
                                    <p:animEffect transition="in" filter="wipe(down)">
                                      <p:cBhvr>
                                        <p:cTn id="97" dur="290">
                                          <p:stCondLst>
                                            <p:cond delay="0"/>
                                          </p:stCondLst>
                                        </p:cTn>
                                        <p:tgtEl>
                                          <p:spTgt spid="5"/>
                                        </p:tgtEl>
                                      </p:cBhvr>
                                    </p:animEffect>
                                    <p:anim calcmode="lin" valueType="num">
                                      <p:cBhvr>
                                        <p:cTn id="98"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9"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0"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101"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102"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103" dur="13">
                                          <p:stCondLst>
                                            <p:cond delay="325"/>
                                          </p:stCondLst>
                                        </p:cTn>
                                        <p:tgtEl>
                                          <p:spTgt spid="5"/>
                                        </p:tgtEl>
                                      </p:cBhvr>
                                      <p:to x="100000" y="60000"/>
                                    </p:animScale>
                                    <p:animScale>
                                      <p:cBhvr>
                                        <p:cTn id="104" dur="83" decel="50000">
                                          <p:stCondLst>
                                            <p:cond delay="338"/>
                                          </p:stCondLst>
                                        </p:cTn>
                                        <p:tgtEl>
                                          <p:spTgt spid="5"/>
                                        </p:tgtEl>
                                      </p:cBhvr>
                                      <p:to x="100000" y="100000"/>
                                    </p:animScale>
                                    <p:animScale>
                                      <p:cBhvr>
                                        <p:cTn id="105" dur="13">
                                          <p:stCondLst>
                                            <p:cond delay="656"/>
                                          </p:stCondLst>
                                        </p:cTn>
                                        <p:tgtEl>
                                          <p:spTgt spid="5"/>
                                        </p:tgtEl>
                                      </p:cBhvr>
                                      <p:to x="100000" y="80000"/>
                                    </p:animScale>
                                    <p:animScale>
                                      <p:cBhvr>
                                        <p:cTn id="106" dur="83" decel="50000">
                                          <p:stCondLst>
                                            <p:cond delay="669"/>
                                          </p:stCondLst>
                                        </p:cTn>
                                        <p:tgtEl>
                                          <p:spTgt spid="5"/>
                                        </p:tgtEl>
                                      </p:cBhvr>
                                      <p:to x="100000" y="100000"/>
                                    </p:animScale>
                                    <p:animScale>
                                      <p:cBhvr>
                                        <p:cTn id="107" dur="13">
                                          <p:stCondLst>
                                            <p:cond delay="821"/>
                                          </p:stCondLst>
                                        </p:cTn>
                                        <p:tgtEl>
                                          <p:spTgt spid="5"/>
                                        </p:tgtEl>
                                      </p:cBhvr>
                                      <p:to x="100000" y="90000"/>
                                    </p:animScale>
                                    <p:animScale>
                                      <p:cBhvr>
                                        <p:cTn id="108" dur="83" decel="50000">
                                          <p:stCondLst>
                                            <p:cond delay="834"/>
                                          </p:stCondLst>
                                        </p:cTn>
                                        <p:tgtEl>
                                          <p:spTgt spid="5"/>
                                        </p:tgtEl>
                                      </p:cBhvr>
                                      <p:to x="100000" y="100000"/>
                                    </p:animScale>
                                    <p:animScale>
                                      <p:cBhvr>
                                        <p:cTn id="109" dur="13">
                                          <p:stCondLst>
                                            <p:cond delay="904"/>
                                          </p:stCondLst>
                                        </p:cTn>
                                        <p:tgtEl>
                                          <p:spTgt spid="5"/>
                                        </p:tgtEl>
                                      </p:cBhvr>
                                      <p:to x="100000" y="95000"/>
                                    </p:animScale>
                                    <p:animScale>
                                      <p:cBhvr>
                                        <p:cTn id="110" dur="83" decel="50000">
                                          <p:stCondLst>
                                            <p:cond delay="917"/>
                                          </p:stCondLst>
                                        </p:cTn>
                                        <p:tgtEl>
                                          <p:spTgt spid="5"/>
                                        </p:tgtEl>
                                      </p:cBhvr>
                                      <p:to x="100000" y="100000"/>
                                    </p:animScale>
                                  </p:childTnLst>
                                </p:cTn>
                              </p:par>
                              <p:par>
                                <p:cTn id="111" presetID="10" presetClass="entr" presetSubtype="0" fill="hold" grpId="0" nodeType="withEffect">
                                  <p:stCondLst>
                                    <p:cond delay="0"/>
                                  </p:stCondLst>
                                  <p:childTnLst>
                                    <p:set>
                                      <p:cBhvr>
                                        <p:cTn id="112" dur="1" fill="hold">
                                          <p:stCondLst>
                                            <p:cond delay="0"/>
                                          </p:stCondLst>
                                        </p:cTn>
                                        <p:tgtEl>
                                          <p:spTgt spid="355501"/>
                                        </p:tgtEl>
                                        <p:attrNameLst>
                                          <p:attrName>style.visibility</p:attrName>
                                        </p:attrNameLst>
                                      </p:cBhvr>
                                      <p:to>
                                        <p:strVal val="visible"/>
                                      </p:to>
                                    </p:set>
                                    <p:animEffect transition="in" filter="fade">
                                      <p:cBhvr>
                                        <p:cTn id="113" dur="1000"/>
                                        <p:tgtEl>
                                          <p:spTgt spid="35550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55502"/>
                                        </p:tgtEl>
                                        <p:attrNameLst>
                                          <p:attrName>style.visibility</p:attrName>
                                        </p:attrNameLst>
                                      </p:cBhvr>
                                      <p:to>
                                        <p:strVal val="visible"/>
                                      </p:to>
                                    </p:set>
                                    <p:animEffect transition="in" filter="fade">
                                      <p:cBhvr>
                                        <p:cTn id="116" dur="1000"/>
                                        <p:tgtEl>
                                          <p:spTgt spid="35550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55500"/>
                                        </p:tgtEl>
                                        <p:attrNameLst>
                                          <p:attrName>style.visibility</p:attrName>
                                        </p:attrNameLst>
                                      </p:cBhvr>
                                      <p:to>
                                        <p:strVal val="visible"/>
                                      </p:to>
                                    </p:set>
                                    <p:animEffect transition="in" filter="fade">
                                      <p:cBhvr>
                                        <p:cTn id="119" dur="1000"/>
                                        <p:tgtEl>
                                          <p:spTgt spid="35550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55499"/>
                                        </p:tgtEl>
                                        <p:attrNameLst>
                                          <p:attrName>style.visibility</p:attrName>
                                        </p:attrNameLst>
                                      </p:cBhvr>
                                      <p:to>
                                        <p:strVal val="visible"/>
                                      </p:to>
                                    </p:set>
                                    <p:animEffect transition="in" filter="fade">
                                      <p:cBhvr>
                                        <p:cTn id="122" dur="1000"/>
                                        <p:tgtEl>
                                          <p:spTgt spid="355499"/>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55503"/>
                                        </p:tgtEl>
                                        <p:attrNameLst>
                                          <p:attrName>style.visibility</p:attrName>
                                        </p:attrNameLst>
                                      </p:cBhvr>
                                      <p:to>
                                        <p:strVal val="visible"/>
                                      </p:to>
                                    </p:set>
                                    <p:animEffect transition="in" filter="fade">
                                      <p:cBhvr>
                                        <p:cTn id="125" dur="1000"/>
                                        <p:tgtEl>
                                          <p:spTgt spid="355503"/>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55504"/>
                                        </p:tgtEl>
                                        <p:attrNameLst>
                                          <p:attrName>style.visibility</p:attrName>
                                        </p:attrNameLst>
                                      </p:cBhvr>
                                      <p:to>
                                        <p:strVal val="visible"/>
                                      </p:to>
                                    </p:set>
                                    <p:animEffect transition="in" filter="fade">
                                      <p:cBhvr>
                                        <p:cTn id="128" dur="1000"/>
                                        <p:tgtEl>
                                          <p:spTgt spid="355504"/>
                                        </p:tgtEl>
                                      </p:cBhvr>
                                    </p:animEffect>
                                  </p:childTnLst>
                                </p:cTn>
                              </p:par>
                            </p:childTnLst>
                          </p:cTn>
                        </p:par>
                      </p:childTnLst>
                    </p:cTn>
                  </p:par>
                  <p:par>
                    <p:cTn id="129" fill="hold">
                      <p:stCondLst>
                        <p:cond delay="indefinite"/>
                      </p:stCondLst>
                      <p:childTnLst>
                        <p:par>
                          <p:cTn id="130" fill="hold">
                            <p:stCondLst>
                              <p:cond delay="0"/>
                            </p:stCondLst>
                            <p:childTnLst>
                              <p:par>
                                <p:cTn id="131" presetID="3" presetClass="entr" presetSubtype="10" fill="hold" nodeType="clickEffect">
                                  <p:stCondLst>
                                    <p:cond delay="0"/>
                                  </p:stCondLst>
                                  <p:childTnLst>
                                    <p:set>
                                      <p:cBhvr>
                                        <p:cTn id="132" dur="1" fill="hold">
                                          <p:stCondLst>
                                            <p:cond delay="0"/>
                                          </p:stCondLst>
                                        </p:cTn>
                                        <p:tgtEl>
                                          <p:spTgt spid="355520">
                                            <p:txEl>
                                              <p:pRg st="0" end="0"/>
                                            </p:txEl>
                                          </p:spTgt>
                                        </p:tgtEl>
                                        <p:attrNameLst>
                                          <p:attrName>style.visibility</p:attrName>
                                        </p:attrNameLst>
                                      </p:cBhvr>
                                      <p:to>
                                        <p:strVal val="visible"/>
                                      </p:to>
                                    </p:set>
                                    <p:animEffect transition="in" filter="blinds(horizontal)">
                                      <p:cBhvr>
                                        <p:cTn id="133" dur="500"/>
                                        <p:tgtEl>
                                          <p:spTgt spid="355520">
                                            <p:txEl>
                                              <p:pRg st="0" end="0"/>
                                            </p:txEl>
                                          </p:spTgt>
                                        </p:tgtEl>
                                      </p:cBhvr>
                                    </p:animEffect>
                                  </p:childTnLst>
                                </p:cTn>
                              </p:par>
                              <p:par>
                                <p:cTn id="134" presetID="22" presetClass="entr" presetSubtype="4" fill="hold" grpId="0" nodeType="withEffect">
                                  <p:stCondLst>
                                    <p:cond delay="0"/>
                                  </p:stCondLst>
                                  <p:childTnLst>
                                    <p:set>
                                      <p:cBhvr>
                                        <p:cTn id="135" dur="1" fill="hold">
                                          <p:stCondLst>
                                            <p:cond delay="0"/>
                                          </p:stCondLst>
                                        </p:cTn>
                                        <p:tgtEl>
                                          <p:spTgt spid="355521"/>
                                        </p:tgtEl>
                                        <p:attrNameLst>
                                          <p:attrName>style.visibility</p:attrName>
                                        </p:attrNameLst>
                                      </p:cBhvr>
                                      <p:to>
                                        <p:strVal val="visible"/>
                                      </p:to>
                                    </p:set>
                                    <p:animEffect transition="in" filter="wipe(down)">
                                      <p:cBhvr>
                                        <p:cTn id="136" dur="1000"/>
                                        <p:tgtEl>
                                          <p:spTgt spid="355521"/>
                                        </p:tgtEl>
                                      </p:cBhvr>
                                    </p:animEffect>
                                  </p:childTnLst>
                                </p:cTn>
                              </p:par>
                            </p:childTnLst>
                          </p:cTn>
                        </p:par>
                        <p:par>
                          <p:cTn id="137" fill="hold">
                            <p:stCondLst>
                              <p:cond delay="1000"/>
                            </p:stCondLst>
                            <p:childTnLst>
                              <p:par>
                                <p:cTn id="138" presetID="22" presetClass="exit" presetSubtype="1" fill="hold" grpId="1" nodeType="afterEffect">
                                  <p:stCondLst>
                                    <p:cond delay="0"/>
                                  </p:stCondLst>
                                  <p:childTnLst>
                                    <p:animEffect transition="out" filter="wipe(up)">
                                      <p:cBhvr>
                                        <p:cTn id="139" dur="1000"/>
                                        <p:tgtEl>
                                          <p:spTgt spid="355521"/>
                                        </p:tgtEl>
                                      </p:cBhvr>
                                    </p:animEffect>
                                    <p:set>
                                      <p:cBhvr>
                                        <p:cTn id="140" dur="1" fill="hold">
                                          <p:stCondLst>
                                            <p:cond delay="999"/>
                                          </p:stCondLst>
                                        </p:cTn>
                                        <p:tgtEl>
                                          <p:spTgt spid="355521"/>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nodeType="clickEffect">
                                  <p:stCondLst>
                                    <p:cond delay="0"/>
                                  </p:stCondLst>
                                  <p:childTnLst>
                                    <p:set>
                                      <p:cBhvr>
                                        <p:cTn id="144" dur="1" fill="hold">
                                          <p:stCondLst>
                                            <p:cond delay="0"/>
                                          </p:stCondLst>
                                        </p:cTn>
                                        <p:tgtEl>
                                          <p:spTgt spid="355520">
                                            <p:txEl>
                                              <p:pRg st="1" end="1"/>
                                            </p:txEl>
                                          </p:spTgt>
                                        </p:tgtEl>
                                        <p:attrNameLst>
                                          <p:attrName>style.visibility</p:attrName>
                                        </p:attrNameLst>
                                      </p:cBhvr>
                                      <p:to>
                                        <p:strVal val="visible"/>
                                      </p:to>
                                    </p:set>
                                    <p:animEffect transition="in" filter="blinds(horizontal)">
                                      <p:cBhvr>
                                        <p:cTn id="145" dur="1000"/>
                                        <p:tgtEl>
                                          <p:spTgt spid="355520">
                                            <p:txEl>
                                              <p:pRg st="1" end="1"/>
                                            </p:txEl>
                                          </p:spTgt>
                                        </p:tgtEl>
                                      </p:cBhvr>
                                    </p:animEffect>
                                  </p:childTnLst>
                                </p:cTn>
                              </p:par>
                              <p:par>
                                <p:cTn id="146" presetID="22" presetClass="entr" presetSubtype="1" fill="hold" grpId="0" nodeType="withEffect">
                                  <p:stCondLst>
                                    <p:cond delay="0"/>
                                  </p:stCondLst>
                                  <p:childTnLst>
                                    <p:set>
                                      <p:cBhvr>
                                        <p:cTn id="147" dur="1" fill="hold">
                                          <p:stCondLst>
                                            <p:cond delay="0"/>
                                          </p:stCondLst>
                                        </p:cTn>
                                        <p:tgtEl>
                                          <p:spTgt spid="355532"/>
                                        </p:tgtEl>
                                        <p:attrNameLst>
                                          <p:attrName>style.visibility</p:attrName>
                                        </p:attrNameLst>
                                      </p:cBhvr>
                                      <p:to>
                                        <p:strVal val="visible"/>
                                      </p:to>
                                    </p:set>
                                    <p:animEffect transition="in" filter="wipe(up)">
                                      <p:cBhvr>
                                        <p:cTn id="148" dur="1000"/>
                                        <p:tgtEl>
                                          <p:spTgt spid="355532"/>
                                        </p:tgtEl>
                                      </p:cBhvr>
                                    </p:animEffect>
                                  </p:childTnLst>
                                </p:cTn>
                              </p:par>
                            </p:childTnLst>
                          </p:cTn>
                        </p:par>
                        <p:par>
                          <p:cTn id="149" fill="hold">
                            <p:stCondLst>
                              <p:cond delay="1000"/>
                            </p:stCondLst>
                            <p:childTnLst>
                              <p:par>
                                <p:cTn id="150" presetID="22" presetClass="exit" presetSubtype="4" fill="hold" grpId="1" nodeType="afterEffect">
                                  <p:stCondLst>
                                    <p:cond delay="0"/>
                                  </p:stCondLst>
                                  <p:childTnLst>
                                    <p:animEffect transition="out" filter="wipe(down)">
                                      <p:cBhvr>
                                        <p:cTn id="151" dur="1000"/>
                                        <p:tgtEl>
                                          <p:spTgt spid="355532"/>
                                        </p:tgtEl>
                                      </p:cBhvr>
                                    </p:animEffect>
                                    <p:set>
                                      <p:cBhvr>
                                        <p:cTn id="152" dur="1" fill="hold">
                                          <p:stCondLst>
                                            <p:cond delay="999"/>
                                          </p:stCondLst>
                                        </p:cTn>
                                        <p:tgtEl>
                                          <p:spTgt spid="355532"/>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nodeType="clickEffect">
                                  <p:stCondLst>
                                    <p:cond delay="0"/>
                                  </p:stCondLst>
                                  <p:childTnLst>
                                    <p:set>
                                      <p:cBhvr>
                                        <p:cTn id="156" dur="1" fill="hold">
                                          <p:stCondLst>
                                            <p:cond delay="0"/>
                                          </p:stCondLst>
                                        </p:cTn>
                                        <p:tgtEl>
                                          <p:spTgt spid="355520">
                                            <p:txEl>
                                              <p:pRg st="2" end="2"/>
                                            </p:txEl>
                                          </p:spTgt>
                                        </p:tgtEl>
                                        <p:attrNameLst>
                                          <p:attrName>style.visibility</p:attrName>
                                        </p:attrNameLst>
                                      </p:cBhvr>
                                      <p:to>
                                        <p:strVal val="visible"/>
                                      </p:to>
                                    </p:set>
                                    <p:animEffect transition="in" filter="blinds(horizontal)">
                                      <p:cBhvr>
                                        <p:cTn id="157" dur="500"/>
                                        <p:tgtEl>
                                          <p:spTgt spid="355520">
                                            <p:txEl>
                                              <p:pRg st="2" end="2"/>
                                            </p:txEl>
                                          </p:spTgt>
                                        </p:tgtEl>
                                      </p:cBhvr>
                                    </p:animEffect>
                                  </p:childTnLst>
                                </p:cTn>
                              </p:par>
                            </p:childTnLst>
                          </p:cTn>
                        </p:par>
                        <p:par>
                          <p:cTn id="158" fill="hold">
                            <p:stCondLst>
                              <p:cond delay="500"/>
                            </p:stCondLst>
                            <p:childTnLst>
                              <p:par>
                                <p:cTn id="159" presetID="3" presetClass="entr" presetSubtype="10" fill="hold" nodeType="afterEffect">
                                  <p:stCondLst>
                                    <p:cond delay="0"/>
                                  </p:stCondLst>
                                  <p:childTnLst>
                                    <p:set>
                                      <p:cBhvr>
                                        <p:cTn id="160" dur="1" fill="hold">
                                          <p:stCondLst>
                                            <p:cond delay="0"/>
                                          </p:stCondLst>
                                        </p:cTn>
                                        <p:tgtEl>
                                          <p:spTgt spid="355520">
                                            <p:txEl>
                                              <p:pRg st="3" end="3"/>
                                            </p:txEl>
                                          </p:spTgt>
                                        </p:tgtEl>
                                        <p:attrNameLst>
                                          <p:attrName>style.visibility</p:attrName>
                                        </p:attrNameLst>
                                      </p:cBhvr>
                                      <p:to>
                                        <p:strVal val="visible"/>
                                      </p:to>
                                    </p:set>
                                    <p:animEffect transition="in" filter="blinds(horizontal)">
                                      <p:cBhvr>
                                        <p:cTn id="161" dur="500"/>
                                        <p:tgtEl>
                                          <p:spTgt spid="355520">
                                            <p:txEl>
                                              <p:pRg st="3" end="3"/>
                                            </p:txEl>
                                          </p:spTgt>
                                        </p:tgtEl>
                                      </p:cBhvr>
                                    </p:animEffect>
                                  </p:childTnLst>
                                </p:cTn>
                              </p:par>
                            </p:childTnLst>
                          </p:cTn>
                        </p:par>
                        <p:par>
                          <p:cTn id="162" fill="hold">
                            <p:stCondLst>
                              <p:cond delay="1000"/>
                            </p:stCondLst>
                            <p:childTnLst>
                              <p:par>
                                <p:cTn id="163" presetID="10" presetClass="entr" presetSubtype="0" fill="hold" nodeType="afterEffect">
                                  <p:stCondLst>
                                    <p:cond delay="0"/>
                                  </p:stCondLst>
                                  <p:childTnLst>
                                    <p:set>
                                      <p:cBhvr>
                                        <p:cTn id="164" dur="1" fill="hold">
                                          <p:stCondLst>
                                            <p:cond delay="0"/>
                                          </p:stCondLst>
                                        </p:cTn>
                                        <p:tgtEl>
                                          <p:spTgt spid="355522"/>
                                        </p:tgtEl>
                                        <p:attrNameLst>
                                          <p:attrName>style.visibility</p:attrName>
                                        </p:attrNameLst>
                                      </p:cBhvr>
                                      <p:to>
                                        <p:strVal val="visible"/>
                                      </p:to>
                                    </p:set>
                                    <p:animEffect transition="in" filter="fade">
                                      <p:cBhvr>
                                        <p:cTn id="165" dur="1000"/>
                                        <p:tgtEl>
                                          <p:spTgt spid="355522"/>
                                        </p:tgtEl>
                                      </p:cBhvr>
                                    </p:animEffect>
                                  </p:childTnLst>
                                </p:cTn>
                              </p:par>
                              <p:par>
                                <p:cTn id="166" presetID="10" presetClass="entr" presetSubtype="0" fill="hold" nodeType="withEffect">
                                  <p:stCondLst>
                                    <p:cond delay="0"/>
                                  </p:stCondLst>
                                  <p:childTnLst>
                                    <p:set>
                                      <p:cBhvr>
                                        <p:cTn id="167" dur="1" fill="hold">
                                          <p:stCondLst>
                                            <p:cond delay="0"/>
                                          </p:stCondLst>
                                        </p:cTn>
                                        <p:tgtEl>
                                          <p:spTgt spid="355526"/>
                                        </p:tgtEl>
                                        <p:attrNameLst>
                                          <p:attrName>style.visibility</p:attrName>
                                        </p:attrNameLst>
                                      </p:cBhvr>
                                      <p:to>
                                        <p:strVal val="visible"/>
                                      </p:to>
                                    </p:set>
                                    <p:animEffect transition="in" filter="fade">
                                      <p:cBhvr>
                                        <p:cTn id="168" dur="1000"/>
                                        <p:tgtEl>
                                          <p:spTgt spid="355526"/>
                                        </p:tgtEl>
                                      </p:cBhvr>
                                    </p:animEffect>
                                  </p:childTnLst>
                                </p:cTn>
                              </p:par>
                              <p:par>
                                <p:cTn id="169" presetID="10" presetClass="entr" presetSubtype="0" fill="hold" nodeType="withEffect">
                                  <p:stCondLst>
                                    <p:cond delay="0"/>
                                  </p:stCondLst>
                                  <p:childTnLst>
                                    <p:set>
                                      <p:cBhvr>
                                        <p:cTn id="170" dur="1" fill="hold">
                                          <p:stCondLst>
                                            <p:cond delay="0"/>
                                          </p:stCondLst>
                                        </p:cTn>
                                        <p:tgtEl>
                                          <p:spTgt spid="355527"/>
                                        </p:tgtEl>
                                        <p:attrNameLst>
                                          <p:attrName>style.visibility</p:attrName>
                                        </p:attrNameLst>
                                      </p:cBhvr>
                                      <p:to>
                                        <p:strVal val="visible"/>
                                      </p:to>
                                    </p:set>
                                    <p:animEffect transition="in" filter="fade">
                                      <p:cBhvr>
                                        <p:cTn id="171" dur="1000"/>
                                        <p:tgtEl>
                                          <p:spTgt spid="355527"/>
                                        </p:tgtEl>
                                      </p:cBhvr>
                                    </p:animEffect>
                                  </p:childTnLst>
                                </p:cTn>
                              </p:par>
                              <p:par>
                                <p:cTn id="172" presetID="10" presetClass="entr" presetSubtype="0" fill="hold" nodeType="withEffect">
                                  <p:stCondLst>
                                    <p:cond delay="0"/>
                                  </p:stCondLst>
                                  <p:childTnLst>
                                    <p:set>
                                      <p:cBhvr>
                                        <p:cTn id="173" dur="1" fill="hold">
                                          <p:stCondLst>
                                            <p:cond delay="0"/>
                                          </p:stCondLst>
                                        </p:cTn>
                                        <p:tgtEl>
                                          <p:spTgt spid="355528"/>
                                        </p:tgtEl>
                                        <p:attrNameLst>
                                          <p:attrName>style.visibility</p:attrName>
                                        </p:attrNameLst>
                                      </p:cBhvr>
                                      <p:to>
                                        <p:strVal val="visible"/>
                                      </p:to>
                                    </p:set>
                                    <p:animEffect transition="in" filter="fade">
                                      <p:cBhvr>
                                        <p:cTn id="174" dur="1000"/>
                                        <p:tgtEl>
                                          <p:spTgt spid="355528"/>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355529"/>
                                        </p:tgtEl>
                                        <p:attrNameLst>
                                          <p:attrName>style.visibility</p:attrName>
                                        </p:attrNameLst>
                                      </p:cBhvr>
                                      <p:to>
                                        <p:strVal val="visible"/>
                                      </p:to>
                                    </p:set>
                                    <p:animEffect transition="in" filter="fade">
                                      <p:cBhvr>
                                        <p:cTn id="177" dur="1000"/>
                                        <p:tgtEl>
                                          <p:spTgt spid="355529"/>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355530"/>
                                        </p:tgtEl>
                                        <p:attrNameLst>
                                          <p:attrName>style.visibility</p:attrName>
                                        </p:attrNameLst>
                                      </p:cBhvr>
                                      <p:to>
                                        <p:strVal val="visible"/>
                                      </p:to>
                                    </p:set>
                                    <p:animEffect transition="in" filter="fade">
                                      <p:cBhvr>
                                        <p:cTn id="180" dur="1000"/>
                                        <p:tgtEl>
                                          <p:spTgt spid="355530"/>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355531"/>
                                        </p:tgtEl>
                                        <p:attrNameLst>
                                          <p:attrName>style.visibility</p:attrName>
                                        </p:attrNameLst>
                                      </p:cBhvr>
                                      <p:to>
                                        <p:strVal val="visible"/>
                                      </p:to>
                                    </p:set>
                                    <p:animEffect transition="in" filter="fade">
                                      <p:cBhvr>
                                        <p:cTn id="183" dur="1000"/>
                                        <p:tgtEl>
                                          <p:spTgt spid="355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499" grpId="0"/>
      <p:bldP spid="355500" grpId="0"/>
      <p:bldP spid="355501" grpId="0"/>
      <p:bldP spid="355502" grpId="0"/>
      <p:bldP spid="355503" grpId="0"/>
      <p:bldP spid="355504" grpId="0"/>
      <p:bldP spid="355521" grpId="0" animBg="1"/>
      <p:bldP spid="355521" grpId="1" animBg="1"/>
      <p:bldP spid="355529" grpId="0" animBg="1"/>
      <p:bldP spid="355530" grpId="0" animBg="1"/>
      <p:bldP spid="355531" grpId="0" animBg="1"/>
      <p:bldP spid="355532" grpId="0" animBg="1"/>
      <p:bldP spid="355532"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3"/>
          <p:cNvSpPr>
            <a:spLocks noGrp="1"/>
          </p:cNvSpPr>
          <p:nvPr>
            <p:ph type="sldNum" sz="quarter" idx="12"/>
          </p:nvPr>
        </p:nvSpPr>
        <p:spPr/>
        <p:txBody>
          <a:bodyPr/>
          <a:lstStyle/>
          <a:p>
            <a:pPr>
              <a:defRPr/>
            </a:pPr>
            <a:fld id="{1157344E-3121-4275-8BA0-0C18F645D6F3}" type="slidenum">
              <a:rPr lang="en-US">
                <a:latin typeface="Times New Roman" pitchFamily="18" charset="0"/>
              </a:rPr>
              <a:pPr>
                <a:defRPr/>
              </a:pPr>
              <a:t>33</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grpSp>
        <p:nvGrpSpPr>
          <p:cNvPr id="52229" name="80 Grup"/>
          <p:cNvGrpSpPr>
            <a:grpSpLocks/>
          </p:cNvGrpSpPr>
          <p:nvPr/>
        </p:nvGrpSpPr>
        <p:grpSpPr bwMode="auto">
          <a:xfrm>
            <a:off x="714375" y="500063"/>
            <a:ext cx="3286125" cy="2214562"/>
            <a:chOff x="1856562" y="1428736"/>
            <a:chExt cx="4001322" cy="3215504"/>
          </a:xfrm>
        </p:grpSpPr>
        <p:cxnSp>
          <p:nvCxnSpPr>
            <p:cNvPr id="40" name="39 Düz Ok Bağlayıcısı"/>
            <p:cNvCxnSpPr/>
            <p:nvPr/>
          </p:nvCxnSpPr>
          <p:spPr>
            <a:xfrm rot="5400000" flipH="1" flipV="1">
              <a:off x="321232" y="3106978"/>
              <a:ext cx="3072593" cy="1934"/>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1" name="40 Düz Ok Bağlayıcısı"/>
            <p:cNvCxnSpPr/>
            <p:nvPr/>
          </p:nvCxnSpPr>
          <p:spPr>
            <a:xfrm flipV="1">
              <a:off x="1856562" y="4632716"/>
              <a:ext cx="3492942" cy="11524"/>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43" name="42 5-Nokta Yıldız"/>
            <p:cNvSpPr/>
            <p:nvPr/>
          </p:nvSpPr>
          <p:spPr>
            <a:xfrm>
              <a:off x="2428732" y="2143293"/>
              <a:ext cx="71522" cy="71455"/>
            </a:xfrm>
            <a:prstGeom prst="star5">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4" name="43 5-Nokta Yıldız"/>
            <p:cNvSpPr/>
            <p:nvPr/>
          </p:nvSpPr>
          <p:spPr>
            <a:xfrm>
              <a:off x="4796664" y="2009601"/>
              <a:ext cx="71521" cy="71455"/>
            </a:xfrm>
            <a:prstGeom prst="star5">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5" name="44 5-Nokta Yıldız"/>
            <p:cNvSpPr/>
            <p:nvPr/>
          </p:nvSpPr>
          <p:spPr>
            <a:xfrm>
              <a:off x="2857859" y="2929304"/>
              <a:ext cx="71522" cy="71456"/>
            </a:xfrm>
            <a:prstGeom prst="star5">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6" name="45 5-Nokta Yıldız"/>
            <p:cNvSpPr/>
            <p:nvPr/>
          </p:nvSpPr>
          <p:spPr>
            <a:xfrm>
              <a:off x="2285689" y="4144051"/>
              <a:ext cx="71522" cy="71455"/>
            </a:xfrm>
            <a:prstGeom prst="star5">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7" name="46 5-Nokta Yıldız"/>
            <p:cNvSpPr/>
            <p:nvPr/>
          </p:nvSpPr>
          <p:spPr>
            <a:xfrm>
              <a:off x="3714181" y="4215506"/>
              <a:ext cx="71521" cy="71456"/>
            </a:xfrm>
            <a:prstGeom prst="star5">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8" name="47 5-Nokta Yıldız"/>
            <p:cNvSpPr/>
            <p:nvPr/>
          </p:nvSpPr>
          <p:spPr>
            <a:xfrm>
              <a:off x="5071151" y="2857849"/>
              <a:ext cx="71521" cy="71455"/>
            </a:xfrm>
            <a:prstGeom prst="star5">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9" name="48 5-Nokta Yıldız"/>
            <p:cNvSpPr/>
            <p:nvPr/>
          </p:nvSpPr>
          <p:spPr>
            <a:xfrm>
              <a:off x="4214829" y="2429115"/>
              <a:ext cx="71522" cy="71455"/>
            </a:xfrm>
            <a:prstGeom prst="star5">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cxnSp>
          <p:nvCxnSpPr>
            <p:cNvPr id="52" name="51 Düz Ok Bağlayıcısı"/>
            <p:cNvCxnSpPr>
              <a:endCxn id="44" idx="2"/>
            </p:cNvCxnSpPr>
            <p:nvPr/>
          </p:nvCxnSpPr>
          <p:spPr>
            <a:xfrm rot="5400000" flipH="1" flipV="1">
              <a:off x="4159974" y="2421996"/>
              <a:ext cx="991159" cy="309281"/>
            </a:xfrm>
            <a:prstGeom prst="straightConnector1">
              <a:avLst/>
            </a:prstGeom>
            <a:ln w="158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5" name="54 Düz Ok Bağlayıcısı"/>
            <p:cNvCxnSpPr>
              <a:stCxn id="51" idx="1"/>
              <a:endCxn id="49" idx="3"/>
            </p:cNvCxnSpPr>
            <p:nvPr/>
          </p:nvCxnSpPr>
          <p:spPr>
            <a:xfrm rot="16200000" flipV="1">
              <a:off x="4085098" y="2688291"/>
              <a:ext cx="541681" cy="166238"/>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6" name="55 Düz Ok Bağlayıcısı"/>
            <p:cNvCxnSpPr>
              <a:stCxn id="51" idx="3"/>
              <a:endCxn id="45" idx="3"/>
            </p:cNvCxnSpPr>
            <p:nvPr/>
          </p:nvCxnSpPr>
          <p:spPr>
            <a:xfrm rot="5400000" flipH="1">
              <a:off x="3605997" y="2310613"/>
              <a:ext cx="142911" cy="1523209"/>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7" name="56 Düz Ok Bağlayıcısı"/>
            <p:cNvCxnSpPr>
              <a:stCxn id="51" idx="3"/>
              <a:endCxn id="46" idx="4"/>
            </p:cNvCxnSpPr>
            <p:nvPr/>
          </p:nvCxnSpPr>
          <p:spPr>
            <a:xfrm rot="5400000">
              <a:off x="2884115" y="2616768"/>
              <a:ext cx="1028040" cy="2081847"/>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8" name="57 Düz Ok Bağlayıcısı"/>
            <p:cNvCxnSpPr>
              <a:stCxn id="51" idx="3"/>
              <a:endCxn id="47" idx="4"/>
            </p:cNvCxnSpPr>
            <p:nvPr/>
          </p:nvCxnSpPr>
          <p:spPr>
            <a:xfrm rot="5400000">
              <a:off x="3562633" y="3366741"/>
              <a:ext cx="1099494" cy="653356"/>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9" name="58 Düz Ok Bağlayıcısı"/>
            <p:cNvCxnSpPr>
              <a:stCxn id="51" idx="5"/>
              <a:endCxn id="48" idx="2"/>
            </p:cNvCxnSpPr>
            <p:nvPr/>
          </p:nvCxnSpPr>
          <p:spPr>
            <a:xfrm rot="5400000" flipH="1" flipV="1">
              <a:off x="4705911" y="2762967"/>
              <a:ext cx="214368" cy="547041"/>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61" name="60 Düz Ok Bağlayıcısı"/>
            <p:cNvCxnSpPr>
              <a:stCxn id="51" idx="2"/>
              <a:endCxn id="43" idx="3"/>
            </p:cNvCxnSpPr>
            <p:nvPr/>
          </p:nvCxnSpPr>
          <p:spPr>
            <a:xfrm rot="10800000">
              <a:off x="2486722" y="2214748"/>
              <a:ext cx="1931073" cy="878214"/>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51" name="50 Oval"/>
            <p:cNvSpPr/>
            <p:nvPr/>
          </p:nvSpPr>
          <p:spPr>
            <a:xfrm>
              <a:off x="4417795" y="3021505"/>
              <a:ext cx="143042" cy="142911"/>
            </a:xfrm>
            <a:prstGeom prst="ellipse">
              <a:avLst/>
            </a:prstGeom>
            <a:solidFill>
              <a:srgbClr val="FFFF00"/>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75" name="74 Dikdörtgen"/>
            <p:cNvSpPr/>
            <p:nvPr/>
          </p:nvSpPr>
          <p:spPr>
            <a:xfrm>
              <a:off x="4500914" y="3215127"/>
              <a:ext cx="214564" cy="214368"/>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tr-TR" sz="1600" dirty="0">
                  <a:solidFill>
                    <a:schemeClr val="accent6">
                      <a:lumMod val="50000"/>
                    </a:schemeClr>
                  </a:solidFill>
                  <a:latin typeface="Arial Narrow" pitchFamily="34" charset="0"/>
                </a:rPr>
                <a:t>A</a:t>
              </a:r>
            </a:p>
          </p:txBody>
        </p:sp>
        <p:sp>
          <p:nvSpPr>
            <p:cNvPr id="77" name="76 32-Nokta Yıldız"/>
            <p:cNvSpPr/>
            <p:nvPr/>
          </p:nvSpPr>
          <p:spPr>
            <a:xfrm>
              <a:off x="3721913" y="1765269"/>
              <a:ext cx="1929140" cy="1786391"/>
            </a:xfrm>
            <a:prstGeom prst="star32">
              <a:avLst>
                <a:gd name="adj" fmla="val 48043"/>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78" name="77 Dikdörtgen"/>
            <p:cNvSpPr/>
            <p:nvPr/>
          </p:nvSpPr>
          <p:spPr>
            <a:xfrm>
              <a:off x="1856562" y="1428736"/>
              <a:ext cx="500649" cy="285823"/>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tr-TR" sz="1600" dirty="0">
                  <a:solidFill>
                    <a:schemeClr val="accent6">
                      <a:lumMod val="50000"/>
                    </a:schemeClr>
                  </a:solidFill>
                  <a:latin typeface="Arial Narrow" pitchFamily="34" charset="0"/>
                </a:rPr>
                <a:t>X2</a:t>
              </a:r>
            </a:p>
          </p:txBody>
        </p:sp>
        <p:sp>
          <p:nvSpPr>
            <p:cNvPr id="79" name="78 Dikdörtgen"/>
            <p:cNvSpPr/>
            <p:nvPr/>
          </p:nvSpPr>
          <p:spPr>
            <a:xfrm>
              <a:off x="5357236" y="4358417"/>
              <a:ext cx="500648" cy="285823"/>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tr-TR" sz="1600" dirty="0">
                  <a:solidFill>
                    <a:schemeClr val="accent6">
                      <a:lumMod val="50000"/>
                    </a:schemeClr>
                  </a:solidFill>
                  <a:latin typeface="Arial Narrow" pitchFamily="34" charset="0"/>
                </a:rPr>
                <a:t>X1</a:t>
              </a:r>
            </a:p>
          </p:txBody>
        </p:sp>
      </p:grpSp>
      <p:sp>
        <p:nvSpPr>
          <p:cNvPr id="80" name="79 Dikdörtgen"/>
          <p:cNvSpPr/>
          <p:nvPr/>
        </p:nvSpPr>
        <p:spPr>
          <a:xfrm>
            <a:off x="4283075" y="1357313"/>
            <a:ext cx="4681413" cy="714375"/>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a:lstStyle/>
          <a:p>
            <a:pPr>
              <a:defRPr/>
            </a:pPr>
            <a:r>
              <a:rPr lang="tr-TR" sz="1600" b="1" dirty="0">
                <a:solidFill>
                  <a:srgbClr val="543466"/>
                </a:solidFill>
                <a:effectLst>
                  <a:outerShdw blurRad="38100" dist="38100" dir="2700000" algn="tl">
                    <a:srgbClr val="C0C0C0"/>
                  </a:outerShdw>
                </a:effectLst>
                <a:latin typeface="Arial" charset="0"/>
              </a:rPr>
              <a:t>A</a:t>
            </a:r>
            <a:r>
              <a:rPr lang="tr-TR" sz="1600" dirty="0">
                <a:solidFill>
                  <a:srgbClr val="543466"/>
                </a:solidFill>
                <a:effectLst>
                  <a:outerShdw blurRad="38100" dist="38100" dir="2700000" algn="tl">
                    <a:srgbClr val="C0C0C0"/>
                  </a:outerShdw>
                </a:effectLst>
                <a:latin typeface="Arial" charset="0"/>
              </a:rPr>
              <a:t>   noktasına en yakın k=3  komşunun belirlenmesi.</a:t>
            </a:r>
          </a:p>
        </p:txBody>
      </p:sp>
      <p:sp>
        <p:nvSpPr>
          <p:cNvPr id="83" name="82 Dikdörtgen"/>
          <p:cNvSpPr/>
          <p:nvPr/>
        </p:nvSpPr>
        <p:spPr>
          <a:xfrm>
            <a:off x="571500" y="3000375"/>
            <a:ext cx="8072438" cy="2428875"/>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a:lstStyle/>
          <a:p>
            <a:pPr>
              <a:defRPr/>
            </a:pPr>
            <a:r>
              <a:rPr lang="tr-TR" sz="1600" b="1" dirty="0">
                <a:solidFill>
                  <a:schemeClr val="tx1"/>
                </a:solidFill>
                <a:effectLst>
                  <a:outerShdw blurRad="38100" dist="38100" dir="2700000" algn="tl">
                    <a:srgbClr val="C0C0C0"/>
                  </a:outerShdw>
                </a:effectLst>
                <a:latin typeface="Arial Narrow" pitchFamily="34" charset="0"/>
              </a:rPr>
              <a:t>5  adımda  k–en yakın komşu algoritması :</a:t>
            </a:r>
          </a:p>
          <a:p>
            <a:pPr>
              <a:defRPr/>
            </a:pPr>
            <a:endParaRPr lang="tr-TR" sz="1600" b="1" dirty="0">
              <a:solidFill>
                <a:schemeClr val="tx1"/>
              </a:solidFill>
              <a:effectLst>
                <a:outerShdw blurRad="38100" dist="38100" dir="2700000" algn="tl">
                  <a:srgbClr val="C0C0C0"/>
                </a:outerShdw>
              </a:effectLst>
              <a:latin typeface="Arial Narrow" pitchFamily="34" charset="0"/>
            </a:endParaRPr>
          </a:p>
          <a:p>
            <a:pPr>
              <a:buFont typeface="Verdana" pitchFamily="34" charset="0"/>
              <a:buAutoNum type="arabicPeriod"/>
              <a:defRPr/>
            </a:pPr>
            <a:r>
              <a:rPr lang="tr-TR" sz="1600" dirty="0">
                <a:solidFill>
                  <a:schemeClr val="tx1"/>
                </a:solidFill>
                <a:effectLst>
                  <a:outerShdw blurRad="38100" dist="38100" dir="2700000" algn="tl">
                    <a:srgbClr val="C0C0C0"/>
                  </a:outerShdw>
                </a:effectLst>
                <a:latin typeface="Arial Narrow" pitchFamily="34" charset="0"/>
              </a:rPr>
              <a:t>K parametresi belirlenir.  Komşuluklarının sayısı belirlenir.</a:t>
            </a:r>
          </a:p>
          <a:p>
            <a:pPr>
              <a:buFont typeface="Verdana" pitchFamily="34" charset="0"/>
              <a:buAutoNum type="arabicPeriod"/>
              <a:defRPr/>
            </a:pPr>
            <a:endParaRPr lang="tr-TR" sz="1600" dirty="0">
              <a:solidFill>
                <a:schemeClr val="tx1"/>
              </a:solidFill>
              <a:effectLst>
                <a:outerShdw blurRad="38100" dist="38100" dir="2700000" algn="tl">
                  <a:srgbClr val="C0C0C0"/>
                </a:outerShdw>
              </a:effectLst>
              <a:latin typeface="Arial Narrow" pitchFamily="34" charset="0"/>
            </a:endParaRPr>
          </a:p>
          <a:p>
            <a:pPr>
              <a:buFont typeface="Verdana" pitchFamily="34" charset="0"/>
              <a:buAutoNum type="arabicPeriod"/>
              <a:defRPr/>
            </a:pPr>
            <a:r>
              <a:rPr lang="tr-TR" sz="1600" dirty="0">
                <a:solidFill>
                  <a:schemeClr val="tx1"/>
                </a:solidFill>
                <a:effectLst>
                  <a:outerShdw blurRad="38100" dist="38100" dir="2700000" algn="tl">
                    <a:srgbClr val="C0C0C0"/>
                  </a:outerShdw>
                </a:effectLst>
                <a:latin typeface="Arial Narrow" pitchFamily="34" charset="0"/>
              </a:rPr>
              <a:t>Komşuluklara ait uzaklıklar hesaplanır.</a:t>
            </a:r>
          </a:p>
          <a:p>
            <a:pPr>
              <a:defRPr/>
            </a:pPr>
            <a:endParaRPr lang="tr-TR" sz="1600" dirty="0">
              <a:solidFill>
                <a:schemeClr val="tx1"/>
              </a:solidFill>
              <a:effectLst>
                <a:outerShdw blurRad="38100" dist="38100" dir="2700000" algn="tl">
                  <a:srgbClr val="C0C0C0"/>
                </a:outerShdw>
              </a:effectLst>
              <a:latin typeface="Arial Narrow" pitchFamily="34" charset="0"/>
            </a:endParaRPr>
          </a:p>
          <a:p>
            <a:pPr>
              <a:defRPr/>
            </a:pPr>
            <a:r>
              <a:rPr lang="tr-TR" sz="1600" dirty="0">
                <a:solidFill>
                  <a:schemeClr val="tx1"/>
                </a:solidFill>
                <a:effectLst>
                  <a:outerShdw blurRad="38100" dist="38100" dir="2700000" algn="tl">
                    <a:srgbClr val="C0C0C0"/>
                  </a:outerShdw>
                </a:effectLst>
                <a:latin typeface="Arial Narrow" pitchFamily="34" charset="0"/>
              </a:rPr>
              <a:t>3. Hesaplanan uzaklıklara göre satırlar sıralanarak bunlar içerisinden en küçük k tanesi belirlenir.</a:t>
            </a:r>
          </a:p>
          <a:p>
            <a:pPr>
              <a:defRPr/>
            </a:pPr>
            <a:r>
              <a:rPr lang="tr-TR" sz="1600" dirty="0">
                <a:solidFill>
                  <a:schemeClr val="tx1"/>
                </a:solidFill>
                <a:effectLst>
                  <a:outerShdw blurRad="38100" dist="38100" dir="2700000" algn="tl">
                    <a:srgbClr val="C0C0C0"/>
                  </a:outerShdw>
                </a:effectLst>
                <a:latin typeface="Arial Narrow" pitchFamily="34" charset="0"/>
              </a:rPr>
              <a:t> </a:t>
            </a:r>
          </a:p>
          <a:p>
            <a:pPr>
              <a:defRPr/>
            </a:pPr>
            <a:r>
              <a:rPr lang="tr-TR" sz="1600" dirty="0">
                <a:solidFill>
                  <a:schemeClr val="tx1"/>
                </a:solidFill>
                <a:effectLst>
                  <a:outerShdw blurRad="38100" dist="38100" dir="2700000" algn="tl">
                    <a:srgbClr val="C0C0C0"/>
                  </a:outerShdw>
                </a:effectLst>
                <a:latin typeface="Arial Narrow" pitchFamily="34" charset="0"/>
              </a:rPr>
              <a:t>4 .Belirlenen satırların hangi sınıfa ait olduğu belirlenerek , tekrarlanan sınıf değeri seçilir.</a:t>
            </a:r>
          </a:p>
          <a:p>
            <a:pPr>
              <a:defRPr/>
            </a:pPr>
            <a:endParaRPr lang="tr-TR" sz="1600" dirty="0">
              <a:solidFill>
                <a:schemeClr val="tx1"/>
              </a:solidFill>
              <a:effectLst>
                <a:outerShdw blurRad="38100" dist="38100" dir="2700000" algn="tl">
                  <a:srgbClr val="C0C0C0"/>
                </a:outerShdw>
              </a:effectLst>
              <a:latin typeface="Arial Narrow" pitchFamily="34" charset="0"/>
            </a:endParaRPr>
          </a:p>
          <a:p>
            <a:pPr>
              <a:defRPr/>
            </a:pPr>
            <a:r>
              <a:rPr lang="tr-TR" sz="1600" dirty="0">
                <a:solidFill>
                  <a:schemeClr val="tx1"/>
                </a:solidFill>
                <a:effectLst>
                  <a:outerShdw blurRad="38100" dist="38100" dir="2700000" algn="tl">
                    <a:srgbClr val="C0C0C0"/>
                  </a:outerShdw>
                </a:effectLst>
                <a:latin typeface="Arial Narrow" pitchFamily="34" charset="0"/>
              </a:rPr>
              <a:t>5. Seçilen sınıf , tahmin edilmesi beklenen gözlem değerinin sınıfı olarak kabul edilir.</a:t>
            </a:r>
            <a:r>
              <a:rPr lang="tr-TR" sz="1600" dirty="0">
                <a:solidFill>
                  <a:schemeClr val="tx1"/>
                </a:solidFill>
                <a:latin typeface="Arial Narrow" pitchFamily="34" charset="0"/>
              </a:rPr>
              <a:t>    </a:t>
            </a:r>
          </a:p>
        </p:txBody>
      </p:sp>
    </p:spTree>
  </p:cSld>
  <p:clrMapOvr>
    <a:masterClrMapping/>
  </p:clrMapOvr>
  <p:transition spd="med">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500063" y="500063"/>
            <a:ext cx="8143875" cy="5500687"/>
          </a:xfrm>
        </p:spPr>
        <p:txBody>
          <a:bodyPr>
            <a:normAutofit/>
          </a:bodyPr>
          <a:lstStyle/>
          <a:p>
            <a:pPr algn="just" eaLnBrk="1" hangingPunct="1">
              <a:buFont typeface="Wingdings 2" pitchFamily="18" charset="2"/>
              <a:buNone/>
              <a:defRPr/>
            </a:pPr>
            <a:r>
              <a:rPr lang="tr-TR" sz="1800" b="1" u="sng" dirty="0">
                <a:latin typeface="Times New Roman" pitchFamily="18" charset="0"/>
                <a:cs typeface="Times New Roman" pitchFamily="18" charset="0"/>
              </a:rPr>
              <a:t>Örnek Uygulama </a:t>
            </a:r>
            <a:r>
              <a:rPr lang="tr-TR" sz="1800" b="1" dirty="0">
                <a:latin typeface="Times New Roman" pitchFamily="18" charset="0"/>
                <a:cs typeface="Times New Roman" pitchFamily="18" charset="0"/>
              </a:rPr>
              <a:t>: </a:t>
            </a:r>
            <a:r>
              <a:rPr lang="tr-TR" sz="1800" dirty="0">
                <a:latin typeface="Times New Roman" pitchFamily="18" charset="0"/>
                <a:cs typeface="Times New Roman" pitchFamily="18" charset="0"/>
              </a:rPr>
              <a:t>Aşağıdaki tablo X, Y gözlem değerlerinden ve Z sınıf değerlerinden oluşmaktadır.  Bu gözlem değerleriyle yola çıkarak yeni verilen gözlem değerinin hangi sınıfa ait olduğunu k-en yakın komşu yöntemiyle bulalım.</a:t>
            </a:r>
          </a:p>
          <a:p>
            <a:pPr algn="just" eaLnBrk="1" hangingPunct="1">
              <a:buFont typeface="Wingdings 2" pitchFamily="18" charset="2"/>
              <a:buNone/>
              <a:defRPr/>
            </a:pPr>
            <a:endParaRPr lang="tr-TR" sz="1800" dirty="0">
              <a:latin typeface="Times New Roman" pitchFamily="18" charset="0"/>
              <a:cs typeface="Times New Roman" pitchFamily="18" charset="0"/>
            </a:endParaRPr>
          </a:p>
          <a:p>
            <a:pPr algn="just" eaLnBrk="1" hangingPunct="1">
              <a:buFont typeface="Wingdings 2" pitchFamily="18" charset="2"/>
              <a:buNone/>
              <a:defRPr/>
            </a:pPr>
            <a:r>
              <a:rPr lang="tr-TR" sz="1800" dirty="0">
                <a:effectLst>
                  <a:outerShdw blurRad="38100" dist="38100" dir="2700000" algn="tl">
                    <a:srgbClr val="C0C0C0"/>
                  </a:outerShdw>
                </a:effectLst>
                <a:latin typeface="Times New Roman" pitchFamily="18" charset="0"/>
                <a:cs typeface="Times New Roman" pitchFamily="18" charset="0"/>
              </a:rPr>
              <a:t>Yeni gözlem değeri  X=7, Y=3;</a:t>
            </a:r>
          </a:p>
          <a:p>
            <a:pPr algn="just" eaLnBrk="1" hangingPunct="1">
              <a:buFont typeface="Wingdings 2" pitchFamily="18" charset="2"/>
              <a:buNone/>
              <a:defRPr/>
            </a:pPr>
            <a:r>
              <a:rPr lang="tr-TR" dirty="0"/>
              <a:t> </a:t>
            </a:r>
          </a:p>
        </p:txBody>
      </p:sp>
      <p:sp>
        <p:nvSpPr>
          <p:cNvPr id="20484" name="Slide Number Placeholder 3"/>
          <p:cNvSpPr>
            <a:spLocks noGrp="1"/>
          </p:cNvSpPr>
          <p:nvPr>
            <p:ph type="sldNum" sz="quarter" idx="12"/>
          </p:nvPr>
        </p:nvSpPr>
        <p:spPr/>
        <p:txBody>
          <a:bodyPr/>
          <a:lstStyle/>
          <a:p>
            <a:pPr>
              <a:defRPr/>
            </a:pPr>
            <a:fld id="{6514C79F-7F26-48F4-8C78-3BDB0F2CB70E}" type="slidenum">
              <a:rPr lang="en-US">
                <a:latin typeface="Times New Roman" pitchFamily="18" charset="0"/>
              </a:rPr>
              <a:pPr>
                <a:defRPr/>
              </a:pPr>
              <a:t>34</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sp>
        <p:nvSpPr>
          <p:cNvPr id="10" name="9 Bulut"/>
          <p:cNvSpPr/>
          <p:nvPr/>
        </p:nvSpPr>
        <p:spPr>
          <a:xfrm>
            <a:off x="4357688" y="1714500"/>
            <a:ext cx="1357312" cy="1214438"/>
          </a:xfrm>
          <a:prstGeom prst="cloud">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tr-TR" sz="1600" dirty="0">
                <a:solidFill>
                  <a:schemeClr val="accent6">
                    <a:lumMod val="50000"/>
                  </a:schemeClr>
                </a:solidFill>
                <a:latin typeface="Arial Narrow" pitchFamily="34" charset="0"/>
              </a:rPr>
              <a:t>Gözlem Değerleri</a:t>
            </a:r>
          </a:p>
        </p:txBody>
      </p:sp>
      <p:sp>
        <p:nvSpPr>
          <p:cNvPr id="11" name="10 Metin kutusu"/>
          <p:cNvSpPr txBox="1"/>
          <p:nvPr/>
        </p:nvSpPr>
        <p:spPr>
          <a:xfrm>
            <a:off x="4929188" y="3500438"/>
            <a:ext cx="3643312" cy="2563812"/>
          </a:xfrm>
          <a:prstGeom prst="rect">
            <a:avLst/>
          </a:prstGeom>
          <a:noFill/>
        </p:spPr>
        <p:txBody>
          <a:bodyPr>
            <a:spAutoFit/>
          </a:bodyPr>
          <a:lstStyle/>
          <a:p>
            <a:pPr>
              <a:defRPr/>
            </a:pPr>
            <a:r>
              <a:rPr lang="tr-TR" b="1" dirty="0">
                <a:effectLst>
                  <a:outerShdw blurRad="38100" dist="38100" dir="2700000" algn="tl">
                    <a:srgbClr val="C0C0C0"/>
                  </a:outerShdw>
                </a:effectLst>
                <a:latin typeface="Times New Roman" pitchFamily="18" charset="0"/>
                <a:cs typeface="Times New Roman" pitchFamily="18" charset="0"/>
              </a:rPr>
              <a:t>İlk Adım </a:t>
            </a:r>
            <a:r>
              <a:rPr lang="tr-TR" dirty="0">
                <a:latin typeface="Times New Roman" pitchFamily="18" charset="0"/>
                <a:cs typeface="Times New Roman" pitchFamily="18" charset="0"/>
              </a:rPr>
              <a:t>: </a:t>
            </a:r>
          </a:p>
          <a:p>
            <a:pPr>
              <a:defRPr/>
            </a:pPr>
            <a:r>
              <a:rPr lang="tr-TR" dirty="0">
                <a:latin typeface="Times New Roman" pitchFamily="18" charset="0"/>
                <a:cs typeface="Times New Roman" pitchFamily="18" charset="0"/>
              </a:rPr>
              <a:t>k= 4 için işlem yapalım. </a:t>
            </a:r>
          </a:p>
          <a:p>
            <a:pPr>
              <a:defRPr/>
            </a:pPr>
            <a:r>
              <a:rPr lang="tr-TR" dirty="0">
                <a:latin typeface="Times New Roman" pitchFamily="18" charset="0"/>
                <a:cs typeface="Times New Roman" pitchFamily="18" charset="0"/>
              </a:rPr>
              <a:t>(Problem için (7,3) noktasına en yakın komşu değerleri arayalım. )</a:t>
            </a:r>
          </a:p>
          <a:p>
            <a:pPr>
              <a:defRPr/>
            </a:pPr>
            <a:endParaRPr lang="tr-TR" dirty="0">
              <a:latin typeface="Verdana" pitchFamily="34" charset="0"/>
            </a:endParaRPr>
          </a:p>
          <a:p>
            <a:pPr>
              <a:defRPr/>
            </a:pPr>
            <a:endParaRPr lang="tr-TR" dirty="0">
              <a:latin typeface="Verdana" pitchFamily="34" charset="0"/>
            </a:endParaRPr>
          </a:p>
          <a:p>
            <a:pPr>
              <a:defRPr/>
            </a:pPr>
            <a:endParaRPr lang="tr-TR" dirty="0">
              <a:latin typeface="Verdana" pitchFamily="34" charset="0"/>
            </a:endParaRPr>
          </a:p>
          <a:p>
            <a:pPr>
              <a:defRPr/>
            </a:pPr>
            <a:endParaRPr lang="tr-TR" dirty="0">
              <a:latin typeface="Verdana" pitchFamily="34" charset="0"/>
            </a:endParaRPr>
          </a:p>
          <a:p>
            <a:pPr>
              <a:defRPr/>
            </a:pPr>
            <a:endParaRPr lang="tr-TR" dirty="0">
              <a:latin typeface="Verdana" pitchFamily="34" charset="0"/>
            </a:endParaRPr>
          </a:p>
        </p:txBody>
      </p:sp>
      <p:pic>
        <p:nvPicPr>
          <p:cNvPr id="53256" name="Picture 10"/>
          <p:cNvPicPr>
            <a:picLocks noChangeAspect="1" noChangeArrowheads="1"/>
          </p:cNvPicPr>
          <p:nvPr/>
        </p:nvPicPr>
        <p:blipFill>
          <a:blip r:embed="rId2"/>
          <a:srcRect/>
          <a:stretch>
            <a:fillRect/>
          </a:stretch>
        </p:blipFill>
        <p:spPr bwMode="auto">
          <a:xfrm>
            <a:off x="684213" y="2278063"/>
            <a:ext cx="3390900" cy="3455987"/>
          </a:xfrm>
          <a:prstGeom prst="rect">
            <a:avLst/>
          </a:prstGeom>
          <a:noFill/>
          <a:ln w="9525">
            <a:noFill/>
            <a:miter lim="800000"/>
            <a:headEnd/>
            <a:tailEnd/>
          </a:ln>
        </p:spPr>
      </p:pic>
    </p:spTree>
  </p:cSld>
  <p:clrMapOvr>
    <a:masterClrMapping/>
  </p:clrMapOvr>
  <p:transition spd="med">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Metin kutusu"/>
          <p:cNvSpPr txBox="1"/>
          <p:nvPr/>
        </p:nvSpPr>
        <p:spPr>
          <a:xfrm>
            <a:off x="571500" y="642938"/>
            <a:ext cx="7929563" cy="3937000"/>
          </a:xfrm>
          <a:prstGeom prst="rect">
            <a:avLst/>
          </a:prstGeom>
          <a:noFill/>
        </p:spPr>
        <p:txBody>
          <a:bodyPr>
            <a:spAutoFit/>
          </a:bodyPr>
          <a:lstStyle/>
          <a:p>
            <a:pPr>
              <a:defRPr/>
            </a:pPr>
            <a:r>
              <a:rPr lang="tr-TR" b="1">
                <a:effectLst>
                  <a:outerShdw blurRad="38100" dist="38100" dir="2700000" algn="tl">
                    <a:srgbClr val="C0C0C0"/>
                  </a:outerShdw>
                </a:effectLst>
                <a:latin typeface="Times New Roman" pitchFamily="18" charset="0"/>
                <a:cs typeface="Times New Roman" pitchFamily="18" charset="0"/>
              </a:rPr>
              <a:t>İkinci  Adım </a:t>
            </a:r>
            <a:r>
              <a:rPr lang="tr-TR">
                <a:latin typeface="Times New Roman" pitchFamily="18" charset="0"/>
                <a:cs typeface="Times New Roman" pitchFamily="18" charset="0"/>
              </a:rPr>
              <a:t>: </a:t>
            </a:r>
          </a:p>
          <a:p>
            <a:pPr>
              <a:defRPr/>
            </a:pPr>
            <a:r>
              <a:rPr lang="tr-TR">
                <a:latin typeface="Times New Roman" pitchFamily="18" charset="0"/>
                <a:cs typeface="Times New Roman" pitchFamily="18" charset="0"/>
              </a:rPr>
              <a:t>Öklit bağıntısına göre her bir gözlem değeri için uzaklıkları hesaplayalım.</a:t>
            </a:r>
          </a:p>
          <a:p>
            <a:pPr>
              <a:defRPr/>
            </a:pPr>
            <a:endParaRPr lang="tr-TR">
              <a:latin typeface="Times New Roman" pitchFamily="18" charset="0"/>
              <a:cs typeface="Times New Roman" pitchFamily="18" charset="0"/>
            </a:endParaRPr>
          </a:p>
          <a:p>
            <a:pPr>
              <a:defRPr/>
            </a:pPr>
            <a:endParaRPr lang="tr-TR">
              <a:latin typeface="Times New Roman" pitchFamily="18" charset="0"/>
              <a:cs typeface="Times New Roman" pitchFamily="18" charset="0"/>
            </a:endParaRPr>
          </a:p>
          <a:p>
            <a:pPr>
              <a:defRPr/>
            </a:pPr>
            <a:r>
              <a:rPr lang="tr-TR">
                <a:latin typeface="Times New Roman" pitchFamily="18" charset="0"/>
                <a:cs typeface="Times New Roman" pitchFamily="18" charset="0"/>
              </a:rPr>
              <a:t>Öklid uzaklık formülü                                                        olduğu bilindiğine göre </a:t>
            </a:r>
            <a:r>
              <a:rPr lang="tr-TR" b="1">
                <a:effectLst>
                  <a:outerShdw blurRad="38100" dist="38100" dir="2700000" algn="tl">
                    <a:srgbClr val="C0C0C0"/>
                  </a:outerShdw>
                </a:effectLst>
                <a:latin typeface="Times New Roman" pitchFamily="18" charset="0"/>
                <a:cs typeface="Times New Roman" pitchFamily="18" charset="0"/>
              </a:rPr>
              <a:t>(7,3) </a:t>
            </a:r>
            <a:r>
              <a:rPr lang="tr-TR">
                <a:latin typeface="Times New Roman" pitchFamily="18" charset="0"/>
                <a:cs typeface="Times New Roman" pitchFamily="18" charset="0"/>
              </a:rPr>
              <a:t>noktasının tüm gözlem değerleri ile arasındaki uzaklıkları hesaplayalım.</a:t>
            </a:r>
          </a:p>
          <a:p>
            <a:pPr>
              <a:defRPr/>
            </a:pPr>
            <a:endParaRPr lang="tr-TR">
              <a:latin typeface="Times New Roman" pitchFamily="18" charset="0"/>
              <a:cs typeface="Times New Roman" pitchFamily="18" charset="0"/>
            </a:endParaRPr>
          </a:p>
          <a:p>
            <a:pPr>
              <a:defRPr/>
            </a:pPr>
            <a:endParaRPr lang="tr-TR">
              <a:latin typeface="Times New Roman" pitchFamily="18" charset="0"/>
              <a:cs typeface="Times New Roman" pitchFamily="18" charset="0"/>
            </a:endParaRPr>
          </a:p>
          <a:p>
            <a:pPr>
              <a:defRPr/>
            </a:pPr>
            <a:r>
              <a:rPr lang="tr-TR">
                <a:latin typeface="Times New Roman" pitchFamily="18" charset="0"/>
                <a:cs typeface="Times New Roman" pitchFamily="18" charset="0"/>
              </a:rPr>
              <a:t> </a:t>
            </a:r>
          </a:p>
          <a:p>
            <a:pPr>
              <a:defRPr/>
            </a:pPr>
            <a:endParaRPr lang="tr-TR">
              <a:latin typeface="Times New Roman" pitchFamily="18" charset="0"/>
              <a:cs typeface="Times New Roman" pitchFamily="18" charset="0"/>
            </a:endParaRPr>
          </a:p>
          <a:p>
            <a:pPr>
              <a:defRPr/>
            </a:pPr>
            <a:endParaRPr lang="tr-TR">
              <a:latin typeface="Verdana" pitchFamily="34" charset="0"/>
            </a:endParaRPr>
          </a:p>
          <a:p>
            <a:pPr>
              <a:defRPr/>
            </a:pPr>
            <a:endParaRPr lang="tr-TR">
              <a:latin typeface="Verdana" pitchFamily="34" charset="0"/>
            </a:endParaRPr>
          </a:p>
          <a:p>
            <a:pPr>
              <a:defRPr/>
            </a:pPr>
            <a:endParaRPr lang="tr-TR">
              <a:latin typeface="Verdana" pitchFamily="34" charset="0"/>
            </a:endParaRPr>
          </a:p>
          <a:p>
            <a:pPr>
              <a:defRPr/>
            </a:pPr>
            <a:endParaRPr lang="tr-TR">
              <a:latin typeface="Verdana" pitchFamily="34" charset="0"/>
            </a:endParaRPr>
          </a:p>
        </p:txBody>
      </p:sp>
      <p:sp>
        <p:nvSpPr>
          <p:cNvPr id="20484" name="Slide Number Placeholder 3"/>
          <p:cNvSpPr>
            <a:spLocks noGrp="1"/>
          </p:cNvSpPr>
          <p:nvPr>
            <p:ph type="sldNum" sz="quarter" idx="12"/>
          </p:nvPr>
        </p:nvSpPr>
        <p:spPr/>
        <p:txBody>
          <a:bodyPr/>
          <a:lstStyle/>
          <a:p>
            <a:pPr>
              <a:defRPr/>
            </a:pPr>
            <a:fld id="{40425D54-E213-4FB7-BA8D-1F03A179CD3B}" type="slidenum">
              <a:rPr lang="en-US">
                <a:latin typeface="Times New Roman" pitchFamily="18" charset="0"/>
              </a:rPr>
              <a:pPr>
                <a:defRPr/>
              </a:pPr>
              <a:t>35</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graphicFrame>
        <p:nvGraphicFramePr>
          <p:cNvPr id="25602" name="Object 2"/>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Denklem" r:id="rId2" imgW="914400" imgH="215640" progId="Equation.3">
                  <p:embed/>
                </p:oleObj>
              </mc:Choice>
              <mc:Fallback>
                <p:oleObj name="Denklem" r:id="rId2" imgW="914400" imgH="215640" progId="Equation.3">
                  <p:embed/>
                  <p:pic>
                    <p:nvPicPr>
                      <p:cNvPr id="2560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4"/>
          <p:cNvGraphicFramePr>
            <a:graphicFrameLocks noChangeAspect="1"/>
          </p:cNvGraphicFramePr>
          <p:nvPr/>
        </p:nvGraphicFramePr>
        <p:xfrm>
          <a:off x="4459288" y="2611438"/>
          <a:ext cx="3389312" cy="449262"/>
        </p:xfrm>
        <a:graphic>
          <a:graphicData uri="http://schemas.openxmlformats.org/presentationml/2006/ole">
            <mc:AlternateContent xmlns:mc="http://schemas.openxmlformats.org/markup-compatibility/2006">
              <mc:Choice xmlns:v="urn:schemas-microsoft-com:vml" Requires="v">
                <p:oleObj name="Denklem" r:id="rId4" imgW="2108160" imgH="279360" progId="Equation.3">
                  <p:embed/>
                </p:oleObj>
              </mc:Choice>
              <mc:Fallback>
                <p:oleObj name="Denklem" r:id="rId4" imgW="2108160" imgH="279360" progId="Equation.3">
                  <p:embed/>
                  <p:pic>
                    <p:nvPicPr>
                      <p:cNvPr id="2560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9288" y="2611438"/>
                        <a:ext cx="3389312"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5" name="Object 5"/>
          <p:cNvGraphicFramePr>
            <a:graphicFrameLocks noChangeAspect="1"/>
          </p:cNvGraphicFramePr>
          <p:nvPr/>
        </p:nvGraphicFramePr>
        <p:xfrm>
          <a:off x="4437063" y="3000375"/>
          <a:ext cx="3429000" cy="449263"/>
        </p:xfrm>
        <a:graphic>
          <a:graphicData uri="http://schemas.openxmlformats.org/presentationml/2006/ole">
            <mc:AlternateContent xmlns:mc="http://schemas.openxmlformats.org/markup-compatibility/2006">
              <mc:Choice xmlns:v="urn:schemas-microsoft-com:vml" Requires="v">
                <p:oleObj name="Denklem" r:id="rId6" imgW="2133360" imgH="279360" progId="Equation.3">
                  <p:embed/>
                </p:oleObj>
              </mc:Choice>
              <mc:Fallback>
                <p:oleObj name="Denklem" r:id="rId6" imgW="2133360" imgH="279360" progId="Equation.3">
                  <p:embed/>
                  <p:pic>
                    <p:nvPicPr>
                      <p:cNvPr id="2560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37063" y="3000375"/>
                        <a:ext cx="3429000"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6" name="Object 6"/>
          <p:cNvGraphicFramePr>
            <a:graphicFrameLocks noChangeAspect="1"/>
          </p:cNvGraphicFramePr>
          <p:nvPr/>
        </p:nvGraphicFramePr>
        <p:xfrm>
          <a:off x="4429125" y="3357563"/>
          <a:ext cx="3429000" cy="449262"/>
        </p:xfrm>
        <a:graphic>
          <a:graphicData uri="http://schemas.openxmlformats.org/presentationml/2006/ole">
            <mc:AlternateContent xmlns:mc="http://schemas.openxmlformats.org/markup-compatibility/2006">
              <mc:Choice xmlns:v="urn:schemas-microsoft-com:vml" Requires="v">
                <p:oleObj name="Denklem" r:id="rId8" imgW="2133360" imgH="279360" progId="Equation.3">
                  <p:embed/>
                </p:oleObj>
              </mc:Choice>
              <mc:Fallback>
                <p:oleObj name="Denklem" r:id="rId8" imgW="2133360" imgH="279360" progId="Equation.3">
                  <p:embed/>
                  <p:pic>
                    <p:nvPicPr>
                      <p:cNvPr id="25606"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9125" y="3357563"/>
                        <a:ext cx="34290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7" name="Object 7"/>
          <p:cNvGraphicFramePr>
            <a:graphicFrameLocks noChangeAspect="1"/>
          </p:cNvGraphicFramePr>
          <p:nvPr/>
        </p:nvGraphicFramePr>
        <p:xfrm>
          <a:off x="6030913" y="3878263"/>
          <a:ext cx="225425" cy="122237"/>
        </p:xfrm>
        <a:graphic>
          <a:graphicData uri="http://schemas.openxmlformats.org/presentationml/2006/ole">
            <mc:AlternateContent xmlns:mc="http://schemas.openxmlformats.org/markup-compatibility/2006">
              <mc:Choice xmlns:v="urn:schemas-microsoft-com:vml" Requires="v">
                <p:oleObj name="Denklem" r:id="rId10" imgW="139680" imgH="75960" progId="Equation.3">
                  <p:embed/>
                </p:oleObj>
              </mc:Choice>
              <mc:Fallback>
                <p:oleObj name="Denklem" r:id="rId10" imgW="139680" imgH="75960" progId="Equation.3">
                  <p:embed/>
                  <p:pic>
                    <p:nvPicPr>
                      <p:cNvPr id="25607"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30913" y="3878263"/>
                        <a:ext cx="2254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13" name="14 Metin kutusu"/>
          <p:cNvSpPr txBox="1">
            <a:spLocks noChangeArrowheads="1"/>
          </p:cNvSpPr>
          <p:nvPr/>
        </p:nvSpPr>
        <p:spPr bwMode="auto">
          <a:xfrm>
            <a:off x="4429125" y="4286250"/>
            <a:ext cx="3006725" cy="646113"/>
          </a:xfrm>
          <a:prstGeom prst="rect">
            <a:avLst/>
          </a:prstGeom>
          <a:noFill/>
          <a:ln w="9525">
            <a:noFill/>
            <a:miter lim="800000"/>
            <a:headEnd/>
            <a:tailEnd/>
          </a:ln>
        </p:spPr>
        <p:txBody>
          <a:bodyPr wrap="none">
            <a:spAutoFit/>
          </a:bodyPr>
          <a:lstStyle/>
          <a:p>
            <a:r>
              <a:rPr lang="tr-TR">
                <a:latin typeface="Times New Roman" pitchFamily="18" charset="0"/>
                <a:cs typeface="Times New Roman" pitchFamily="18" charset="0"/>
              </a:rPr>
              <a:t>Hesaplanan değerler farklı bir </a:t>
            </a:r>
          </a:p>
          <a:p>
            <a:r>
              <a:rPr lang="tr-TR">
                <a:latin typeface="Times New Roman" pitchFamily="18" charset="0"/>
                <a:cs typeface="Times New Roman" pitchFamily="18" charset="0"/>
              </a:rPr>
              <a:t>tablo üzerinde gösterilirse…</a:t>
            </a:r>
          </a:p>
        </p:txBody>
      </p:sp>
      <p:sp>
        <p:nvSpPr>
          <p:cNvPr id="18" name="17 Oval"/>
          <p:cNvSpPr/>
          <p:nvPr/>
        </p:nvSpPr>
        <p:spPr>
          <a:xfrm>
            <a:off x="5540375" y="2717800"/>
            <a:ext cx="182563" cy="285750"/>
          </a:xfrm>
          <a:prstGeom prst="ellipse">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20" name="19 Oval"/>
          <p:cNvSpPr/>
          <p:nvPr/>
        </p:nvSpPr>
        <p:spPr>
          <a:xfrm>
            <a:off x="6489700" y="2714625"/>
            <a:ext cx="182563" cy="285750"/>
          </a:xfrm>
          <a:prstGeom prst="ellipse">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pic>
        <p:nvPicPr>
          <p:cNvPr id="25616" name="Picture 4" descr="C:\Documents and Settings\Administrator\Desktop\oklid.wmf"/>
          <p:cNvPicPr>
            <a:picLocks noChangeAspect="1" noChangeArrowheads="1"/>
          </p:cNvPicPr>
          <p:nvPr/>
        </p:nvPicPr>
        <p:blipFill>
          <a:blip r:embed="rId12"/>
          <a:srcRect l="48199"/>
          <a:stretch>
            <a:fillRect/>
          </a:stretch>
        </p:blipFill>
        <p:spPr bwMode="auto">
          <a:xfrm>
            <a:off x="3571875" y="1393825"/>
            <a:ext cx="1403350" cy="706438"/>
          </a:xfrm>
          <a:prstGeom prst="rect">
            <a:avLst/>
          </a:prstGeom>
          <a:noFill/>
          <a:ln w="9525">
            <a:noFill/>
            <a:miter lim="800000"/>
            <a:headEnd/>
            <a:tailEnd/>
          </a:ln>
        </p:spPr>
      </p:pic>
      <p:pic>
        <p:nvPicPr>
          <p:cNvPr id="25617" name="Picture 21"/>
          <p:cNvPicPr>
            <a:picLocks noChangeAspect="1" noChangeArrowheads="1"/>
          </p:cNvPicPr>
          <p:nvPr/>
        </p:nvPicPr>
        <p:blipFill>
          <a:blip r:embed="rId13"/>
          <a:srcRect/>
          <a:stretch>
            <a:fillRect/>
          </a:stretch>
        </p:blipFill>
        <p:spPr bwMode="auto">
          <a:xfrm>
            <a:off x="539750" y="2420938"/>
            <a:ext cx="3390900" cy="3455987"/>
          </a:xfrm>
          <a:prstGeom prst="rect">
            <a:avLst/>
          </a:prstGeom>
          <a:noFill/>
          <a:ln w="9525">
            <a:noFill/>
            <a:miter lim="800000"/>
            <a:headEnd/>
            <a:tailEnd/>
          </a:ln>
        </p:spPr>
      </p:pic>
      <p:sp>
        <p:nvSpPr>
          <p:cNvPr id="16" name="15 Oval"/>
          <p:cNvSpPr/>
          <p:nvPr/>
        </p:nvSpPr>
        <p:spPr>
          <a:xfrm>
            <a:off x="952500" y="2828925"/>
            <a:ext cx="285750" cy="285750"/>
          </a:xfrm>
          <a:prstGeom prst="ellipse">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17" name="16 Oval"/>
          <p:cNvSpPr/>
          <p:nvPr/>
        </p:nvSpPr>
        <p:spPr>
          <a:xfrm>
            <a:off x="1895475" y="2827338"/>
            <a:ext cx="285750" cy="285750"/>
          </a:xfrm>
          <a:prstGeom prst="ellipse">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Tree>
  </p:cSld>
  <p:clrMapOvr>
    <a:masterClrMapping/>
  </p:clrMapOvr>
  <p:transition spd="med">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3"/>
          <p:cNvSpPr>
            <a:spLocks noGrp="1"/>
          </p:cNvSpPr>
          <p:nvPr>
            <p:ph type="sldNum" sz="quarter" idx="12"/>
          </p:nvPr>
        </p:nvSpPr>
        <p:spPr/>
        <p:txBody>
          <a:bodyPr/>
          <a:lstStyle/>
          <a:p>
            <a:pPr>
              <a:defRPr/>
            </a:pPr>
            <a:fld id="{014E251A-F7A4-405E-8438-41086866C1A4}" type="slidenum">
              <a:rPr lang="en-US">
                <a:latin typeface="Times New Roman" pitchFamily="18" charset="0"/>
              </a:rPr>
              <a:pPr>
                <a:defRPr/>
              </a:pPr>
              <a:t>36</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sp>
        <p:nvSpPr>
          <p:cNvPr id="55301" name="7 Metin kutusu"/>
          <p:cNvSpPr txBox="1">
            <a:spLocks noChangeArrowheads="1"/>
          </p:cNvSpPr>
          <p:nvPr/>
        </p:nvSpPr>
        <p:spPr bwMode="auto">
          <a:xfrm>
            <a:off x="428625" y="714375"/>
            <a:ext cx="2838450" cy="641350"/>
          </a:xfrm>
          <a:prstGeom prst="rect">
            <a:avLst/>
          </a:prstGeom>
          <a:noFill/>
          <a:ln w="9525">
            <a:noFill/>
            <a:miter lim="800000"/>
            <a:headEnd/>
            <a:tailEnd/>
          </a:ln>
        </p:spPr>
        <p:txBody>
          <a:bodyPr wrap="none">
            <a:spAutoFit/>
          </a:bodyPr>
          <a:lstStyle/>
          <a:p>
            <a:r>
              <a:rPr lang="tr-TR">
                <a:latin typeface="Times New Roman" pitchFamily="18" charset="0"/>
                <a:cs typeface="Times New Roman" pitchFamily="18" charset="0"/>
              </a:rPr>
              <a:t>Gözlenen değerlerlerin (7,3) </a:t>
            </a:r>
          </a:p>
          <a:p>
            <a:r>
              <a:rPr lang="tr-TR">
                <a:latin typeface="Times New Roman" pitchFamily="18" charset="0"/>
                <a:cs typeface="Times New Roman" pitchFamily="18" charset="0"/>
              </a:rPr>
              <a:t>Noktasına olan uzaklığı…</a:t>
            </a:r>
          </a:p>
        </p:txBody>
      </p:sp>
      <p:sp>
        <p:nvSpPr>
          <p:cNvPr id="9" name="8 Metin kutusu"/>
          <p:cNvSpPr txBox="1"/>
          <p:nvPr/>
        </p:nvSpPr>
        <p:spPr>
          <a:xfrm>
            <a:off x="3857625" y="714375"/>
            <a:ext cx="4786313" cy="2014538"/>
          </a:xfrm>
          <a:prstGeom prst="rect">
            <a:avLst/>
          </a:prstGeom>
          <a:noFill/>
        </p:spPr>
        <p:txBody>
          <a:bodyPr>
            <a:spAutoFit/>
          </a:bodyPr>
          <a:lstStyle/>
          <a:p>
            <a:pPr>
              <a:defRPr/>
            </a:pPr>
            <a:r>
              <a:rPr lang="tr-TR" b="1">
                <a:effectLst>
                  <a:outerShdw blurRad="38100" dist="38100" dir="2700000" algn="tl">
                    <a:srgbClr val="C0C0C0"/>
                  </a:outerShdw>
                </a:effectLst>
                <a:latin typeface="Times New Roman" pitchFamily="18" charset="0"/>
                <a:cs typeface="Times New Roman" pitchFamily="18" charset="0"/>
              </a:rPr>
              <a:t>Üçüncü Adım :</a:t>
            </a:r>
          </a:p>
          <a:p>
            <a:pPr>
              <a:defRPr/>
            </a:pPr>
            <a:endParaRPr lang="tr-TR">
              <a:latin typeface="Times New Roman" pitchFamily="18" charset="0"/>
              <a:cs typeface="Times New Roman" pitchFamily="18" charset="0"/>
            </a:endParaRPr>
          </a:p>
          <a:p>
            <a:pPr>
              <a:defRPr/>
            </a:pPr>
            <a:r>
              <a:rPr lang="tr-TR">
                <a:latin typeface="Times New Roman" pitchFamily="18" charset="0"/>
                <a:cs typeface="Times New Roman" pitchFamily="18" charset="0"/>
              </a:rPr>
              <a:t>En küçük uzaklıkların belirlenmesi için satırlar sıralanarak en küçük </a:t>
            </a:r>
            <a:r>
              <a:rPr lang="tr-TR" b="1">
                <a:latin typeface="Times New Roman" pitchFamily="18" charset="0"/>
                <a:cs typeface="Times New Roman" pitchFamily="18" charset="0"/>
              </a:rPr>
              <a:t>k=4</a:t>
            </a:r>
            <a:r>
              <a:rPr lang="tr-TR">
                <a:latin typeface="Times New Roman" pitchFamily="18" charset="0"/>
                <a:cs typeface="Times New Roman" pitchFamily="18" charset="0"/>
              </a:rPr>
              <a:t> tanesi belirleniyor. </a:t>
            </a:r>
          </a:p>
          <a:p>
            <a:pPr>
              <a:defRPr/>
            </a:pPr>
            <a:endParaRPr lang="tr-TR">
              <a:latin typeface="Times New Roman" pitchFamily="18" charset="0"/>
              <a:cs typeface="Times New Roman" pitchFamily="18" charset="0"/>
            </a:endParaRPr>
          </a:p>
          <a:p>
            <a:pPr>
              <a:defRPr/>
            </a:pPr>
            <a:r>
              <a:rPr lang="tr-TR">
                <a:latin typeface="Times New Roman" pitchFamily="18" charset="0"/>
                <a:cs typeface="Times New Roman" pitchFamily="18" charset="0"/>
              </a:rPr>
              <a:t>Belirlenen  dört nokta </a:t>
            </a:r>
            <a:r>
              <a:rPr lang="tr-TR" b="1">
                <a:latin typeface="Times New Roman" pitchFamily="18" charset="0"/>
                <a:cs typeface="Times New Roman" pitchFamily="18" charset="0"/>
              </a:rPr>
              <a:t>(7,3) </a:t>
            </a:r>
            <a:r>
              <a:rPr lang="tr-TR">
                <a:latin typeface="Times New Roman" pitchFamily="18" charset="0"/>
                <a:cs typeface="Times New Roman" pitchFamily="18" charset="0"/>
              </a:rPr>
              <a:t>noktasına en yakın değerlerdir.</a:t>
            </a:r>
          </a:p>
        </p:txBody>
      </p:sp>
      <p:sp>
        <p:nvSpPr>
          <p:cNvPr id="12" name="11 Sağ Ayraç"/>
          <p:cNvSpPr/>
          <p:nvPr/>
        </p:nvSpPr>
        <p:spPr>
          <a:xfrm>
            <a:off x="3571875" y="1500188"/>
            <a:ext cx="285750" cy="3000375"/>
          </a:xfrm>
          <a:prstGeom prst="rightBrace">
            <a:avLst/>
          </a:prstGeom>
          <a:ln>
            <a:solidFill>
              <a:srgbClr val="0070C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tr-TR"/>
          </a:p>
        </p:txBody>
      </p:sp>
      <p:sp>
        <p:nvSpPr>
          <p:cNvPr id="55304" name="13 Metin kutusu"/>
          <p:cNvSpPr txBox="1">
            <a:spLocks noChangeArrowheads="1"/>
          </p:cNvSpPr>
          <p:nvPr/>
        </p:nvSpPr>
        <p:spPr bwMode="auto">
          <a:xfrm>
            <a:off x="500063" y="5072063"/>
            <a:ext cx="3214687" cy="646112"/>
          </a:xfrm>
          <a:prstGeom prst="rect">
            <a:avLst/>
          </a:prstGeom>
          <a:noFill/>
          <a:ln w="9525">
            <a:noFill/>
            <a:miter lim="800000"/>
            <a:headEnd/>
            <a:tailEnd/>
          </a:ln>
        </p:spPr>
        <p:txBody>
          <a:bodyPr>
            <a:spAutoFit/>
          </a:bodyPr>
          <a:lstStyle/>
          <a:p>
            <a:pPr algn="r"/>
            <a:r>
              <a:rPr lang="tr-TR">
                <a:latin typeface="Times New Roman" pitchFamily="18" charset="0"/>
                <a:cs typeface="Times New Roman" pitchFamily="18" charset="0"/>
              </a:rPr>
              <a:t>Uzaklık değerlerine göre k=4 komşu değerlerin belirlenmesi</a:t>
            </a:r>
          </a:p>
        </p:txBody>
      </p:sp>
      <p:sp>
        <p:nvSpPr>
          <p:cNvPr id="15" name="14 Sağ Ayraç"/>
          <p:cNvSpPr/>
          <p:nvPr/>
        </p:nvSpPr>
        <p:spPr>
          <a:xfrm flipH="1">
            <a:off x="3744118" y="4690819"/>
            <a:ext cx="357188" cy="1490663"/>
          </a:xfrm>
          <a:prstGeom prst="rightBrace">
            <a:avLst/>
          </a:prstGeom>
          <a:ln>
            <a:solidFill>
              <a:srgbClr val="FFFF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tr-TR"/>
          </a:p>
        </p:txBody>
      </p:sp>
      <p:pic>
        <p:nvPicPr>
          <p:cNvPr id="55306" name="Picture 15"/>
          <p:cNvPicPr>
            <a:picLocks noChangeAspect="1" noChangeArrowheads="1"/>
          </p:cNvPicPr>
          <p:nvPr/>
        </p:nvPicPr>
        <p:blipFill>
          <a:blip r:embed="rId2"/>
          <a:srcRect/>
          <a:stretch>
            <a:fillRect/>
          </a:stretch>
        </p:blipFill>
        <p:spPr bwMode="auto">
          <a:xfrm>
            <a:off x="539750" y="1484313"/>
            <a:ext cx="2830513" cy="2952750"/>
          </a:xfrm>
          <a:prstGeom prst="rect">
            <a:avLst/>
          </a:prstGeom>
          <a:noFill/>
          <a:ln w="9525">
            <a:noFill/>
            <a:miter lim="800000"/>
            <a:headEnd/>
            <a:tailEnd/>
          </a:ln>
        </p:spPr>
      </p:pic>
      <p:pic>
        <p:nvPicPr>
          <p:cNvPr id="55307" name="Picture 16"/>
          <p:cNvPicPr>
            <a:picLocks noChangeAspect="1" noChangeArrowheads="1"/>
          </p:cNvPicPr>
          <p:nvPr/>
        </p:nvPicPr>
        <p:blipFill>
          <a:blip r:embed="rId3"/>
          <a:srcRect/>
          <a:stretch>
            <a:fillRect/>
          </a:stretch>
        </p:blipFill>
        <p:spPr bwMode="auto">
          <a:xfrm>
            <a:off x="4344987" y="2755901"/>
            <a:ext cx="4105275" cy="3600450"/>
          </a:xfrm>
          <a:prstGeom prst="rect">
            <a:avLst/>
          </a:prstGeom>
          <a:noFill/>
          <a:ln w="9525">
            <a:noFill/>
            <a:miter lim="800000"/>
            <a:headEnd/>
            <a:tailEnd/>
          </a:ln>
        </p:spPr>
      </p:pic>
    </p:spTree>
  </p:cSld>
  <p:clrMapOvr>
    <a:masterClrMapping/>
  </p:clrMapOvr>
  <p:transition spd="med">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3"/>
          <p:cNvSpPr>
            <a:spLocks noGrp="1"/>
          </p:cNvSpPr>
          <p:nvPr>
            <p:ph type="sldNum" sz="quarter" idx="12"/>
          </p:nvPr>
        </p:nvSpPr>
        <p:spPr/>
        <p:txBody>
          <a:bodyPr/>
          <a:lstStyle/>
          <a:p>
            <a:pPr>
              <a:defRPr/>
            </a:pPr>
            <a:fld id="{E545AAF4-1184-48D6-8321-A75AFBBB95B2}" type="slidenum">
              <a:rPr lang="en-US">
                <a:latin typeface="Times New Roman" pitchFamily="18" charset="0"/>
              </a:rPr>
              <a:pPr>
                <a:defRPr/>
              </a:pPr>
              <a:t>37</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sp>
        <p:nvSpPr>
          <p:cNvPr id="56325" name="86 Metin kutusu"/>
          <p:cNvSpPr txBox="1">
            <a:spLocks noChangeArrowheads="1"/>
          </p:cNvSpPr>
          <p:nvPr/>
        </p:nvSpPr>
        <p:spPr bwMode="auto">
          <a:xfrm>
            <a:off x="4211638" y="1125538"/>
            <a:ext cx="3987800" cy="915987"/>
          </a:xfrm>
          <a:prstGeom prst="rect">
            <a:avLst/>
          </a:prstGeom>
          <a:noFill/>
          <a:ln w="9525">
            <a:noFill/>
            <a:miter lim="800000"/>
            <a:headEnd/>
            <a:tailEnd/>
          </a:ln>
        </p:spPr>
        <p:txBody>
          <a:bodyPr wrap="none">
            <a:spAutoFit/>
          </a:bodyPr>
          <a:lstStyle/>
          <a:p>
            <a:pPr algn="just"/>
            <a:r>
              <a:rPr lang="tr-TR">
                <a:latin typeface="Times New Roman" pitchFamily="18" charset="0"/>
                <a:cs typeface="Times New Roman" pitchFamily="18" charset="0"/>
              </a:rPr>
              <a:t>(7,3) Noktasına komşu olan en yakın dört</a:t>
            </a:r>
          </a:p>
          <a:p>
            <a:pPr algn="just"/>
            <a:r>
              <a:rPr lang="tr-TR">
                <a:latin typeface="Times New Roman" pitchFamily="18" charset="0"/>
                <a:cs typeface="Times New Roman" pitchFamily="18" charset="0"/>
              </a:rPr>
              <a:t>gözlenen değerin  koordinat sistemi </a:t>
            </a:r>
          </a:p>
          <a:p>
            <a:pPr algn="just"/>
            <a:r>
              <a:rPr lang="tr-TR">
                <a:latin typeface="Times New Roman" pitchFamily="18" charset="0"/>
                <a:cs typeface="Times New Roman" pitchFamily="18" charset="0"/>
              </a:rPr>
              <a:t>üzerindeki gösterimi </a:t>
            </a:r>
          </a:p>
        </p:txBody>
      </p:sp>
      <p:sp>
        <p:nvSpPr>
          <p:cNvPr id="88" name="87 Yukarı Bükülü Ok"/>
          <p:cNvSpPr/>
          <p:nvPr/>
        </p:nvSpPr>
        <p:spPr>
          <a:xfrm rot="16200000" flipH="1" flipV="1">
            <a:off x="1750219" y="4107656"/>
            <a:ext cx="642938" cy="714375"/>
          </a:xfrm>
          <a:prstGeom prst="bentUpArrow">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pic>
        <p:nvPicPr>
          <p:cNvPr id="56327" name="Picture 34"/>
          <p:cNvPicPr>
            <a:picLocks noChangeAspect="1" noChangeArrowheads="1"/>
          </p:cNvPicPr>
          <p:nvPr/>
        </p:nvPicPr>
        <p:blipFill>
          <a:blip r:embed="rId2"/>
          <a:srcRect/>
          <a:stretch>
            <a:fillRect/>
          </a:stretch>
        </p:blipFill>
        <p:spPr bwMode="auto">
          <a:xfrm>
            <a:off x="3419475" y="2205038"/>
            <a:ext cx="5113338" cy="3627437"/>
          </a:xfrm>
          <a:prstGeom prst="rect">
            <a:avLst/>
          </a:prstGeom>
          <a:noFill/>
          <a:ln w="9525">
            <a:noFill/>
            <a:miter lim="800000"/>
            <a:headEnd/>
            <a:tailEnd/>
          </a:ln>
        </p:spPr>
      </p:pic>
      <p:pic>
        <p:nvPicPr>
          <p:cNvPr id="56328" name="Picture 35"/>
          <p:cNvPicPr>
            <a:picLocks noChangeAspect="1" noChangeArrowheads="1"/>
          </p:cNvPicPr>
          <p:nvPr/>
        </p:nvPicPr>
        <p:blipFill>
          <a:blip r:embed="rId3"/>
          <a:srcRect/>
          <a:stretch>
            <a:fillRect/>
          </a:stretch>
        </p:blipFill>
        <p:spPr bwMode="auto">
          <a:xfrm>
            <a:off x="539750" y="549275"/>
            <a:ext cx="2663825" cy="3167063"/>
          </a:xfrm>
          <a:prstGeom prst="rect">
            <a:avLst/>
          </a:prstGeom>
          <a:noFill/>
          <a:ln w="9525">
            <a:noFill/>
            <a:miter lim="800000"/>
            <a:headEnd/>
            <a:tailEnd/>
          </a:ln>
        </p:spPr>
      </p:pic>
    </p:spTree>
  </p:cSld>
  <p:clrMapOvr>
    <a:masterClrMapping/>
  </p:clrMapOvr>
  <p:transition spd="med">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3"/>
          <p:cNvSpPr>
            <a:spLocks noGrp="1"/>
          </p:cNvSpPr>
          <p:nvPr>
            <p:ph type="sldNum" sz="quarter" idx="12"/>
          </p:nvPr>
        </p:nvSpPr>
        <p:spPr/>
        <p:txBody>
          <a:bodyPr/>
          <a:lstStyle/>
          <a:p>
            <a:pPr>
              <a:defRPr/>
            </a:pPr>
            <a:fld id="{FC58CE35-182A-48E2-A93E-6CC8D4BBFDBC}" type="slidenum">
              <a:rPr lang="en-US">
                <a:latin typeface="Times New Roman" pitchFamily="18" charset="0"/>
              </a:rPr>
              <a:pPr>
                <a:defRPr/>
              </a:pPr>
              <a:t>38</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sp>
        <p:nvSpPr>
          <p:cNvPr id="87" name="86 Metin kutusu"/>
          <p:cNvSpPr txBox="1"/>
          <p:nvPr/>
        </p:nvSpPr>
        <p:spPr>
          <a:xfrm>
            <a:off x="642938" y="642938"/>
            <a:ext cx="7853362" cy="646112"/>
          </a:xfrm>
          <a:prstGeom prst="rect">
            <a:avLst/>
          </a:prstGeom>
          <a:noFill/>
        </p:spPr>
        <p:txBody>
          <a:bodyPr wrap="none">
            <a:spAutoFit/>
          </a:bodyPr>
          <a:lstStyle/>
          <a:p>
            <a:pPr algn="just" fontAlgn="auto">
              <a:spcBef>
                <a:spcPts val="0"/>
              </a:spcBef>
              <a:spcAft>
                <a:spcPts val="0"/>
              </a:spcAft>
              <a:defRPr/>
            </a:pPr>
            <a:r>
              <a:rPr lang="tr-TR" b="1">
                <a:effectLst>
                  <a:outerShdw blurRad="38100" dist="38100" dir="2700000" algn="tl">
                    <a:srgbClr val="000000">
                      <a:alpha val="43137"/>
                    </a:srgbClr>
                  </a:outerShdw>
                </a:effectLst>
                <a:latin typeface="Times New Roman" pitchFamily="18" charset="0"/>
                <a:cs typeface="Times New Roman" pitchFamily="18" charset="0"/>
              </a:rPr>
              <a:t>Dördüncü Adım :  </a:t>
            </a:r>
            <a:r>
              <a:rPr lang="tr-TR">
                <a:latin typeface="Times New Roman" pitchFamily="18" charset="0"/>
                <a:cs typeface="Times New Roman" pitchFamily="18" charset="0"/>
              </a:rPr>
              <a:t>En küçük satırlara ilişkin sınıfların belirlenmesi işlemi gözlem </a:t>
            </a:r>
          </a:p>
          <a:p>
            <a:pPr algn="just" fontAlgn="auto">
              <a:spcBef>
                <a:spcPts val="0"/>
              </a:spcBef>
              <a:spcAft>
                <a:spcPts val="0"/>
              </a:spcAft>
              <a:defRPr/>
            </a:pPr>
            <a:r>
              <a:rPr lang="tr-TR">
                <a:latin typeface="Times New Roman" pitchFamily="18" charset="0"/>
                <a:cs typeface="Times New Roman" pitchFamily="18" charset="0"/>
              </a:rPr>
              <a:t>değerlerinin içinde </a:t>
            </a:r>
            <a:r>
              <a:rPr lang="tr-TR" b="1">
                <a:latin typeface="Times New Roman" pitchFamily="18" charset="0"/>
                <a:cs typeface="Times New Roman" pitchFamily="18" charset="0"/>
              </a:rPr>
              <a:t>hangi değerin baskın olduğuna göre </a:t>
            </a:r>
            <a:r>
              <a:rPr lang="tr-TR">
                <a:latin typeface="Times New Roman" pitchFamily="18" charset="0"/>
                <a:cs typeface="Times New Roman" pitchFamily="18" charset="0"/>
              </a:rPr>
              <a:t>karar verilir.</a:t>
            </a:r>
            <a:endParaRPr lang="tr-TR"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5" name="34 Metin kutusu"/>
          <p:cNvSpPr txBox="1"/>
          <p:nvPr/>
        </p:nvSpPr>
        <p:spPr>
          <a:xfrm>
            <a:off x="4643438" y="1500188"/>
            <a:ext cx="4000500" cy="1465262"/>
          </a:xfrm>
          <a:prstGeom prst="rect">
            <a:avLst/>
          </a:prstGeom>
          <a:noFill/>
        </p:spPr>
        <p:txBody>
          <a:bodyPr>
            <a:spAutoFit/>
          </a:bodyPr>
          <a:lstStyle/>
          <a:p>
            <a:pPr algn="just">
              <a:defRPr/>
            </a:pPr>
            <a:r>
              <a:rPr lang="tr-TR" b="1">
                <a:effectLst>
                  <a:outerShdw blurRad="38100" dist="38100" dir="2700000" algn="tl">
                    <a:srgbClr val="C0C0C0"/>
                  </a:outerShdw>
                </a:effectLst>
                <a:latin typeface="Times New Roman" pitchFamily="18" charset="0"/>
                <a:cs typeface="Times New Roman" pitchFamily="18" charset="0"/>
              </a:rPr>
              <a:t>Beşinci Aşama  :</a:t>
            </a:r>
          </a:p>
          <a:p>
            <a:pPr algn="just">
              <a:defRPr/>
            </a:pPr>
            <a:endParaRPr lang="tr-TR">
              <a:latin typeface="Times New Roman" pitchFamily="18" charset="0"/>
              <a:cs typeface="Times New Roman" pitchFamily="18" charset="0"/>
            </a:endParaRPr>
          </a:p>
          <a:p>
            <a:pPr algn="just">
              <a:defRPr/>
            </a:pPr>
            <a:r>
              <a:rPr lang="tr-TR">
                <a:latin typeface="Times New Roman" pitchFamily="18" charset="0"/>
                <a:cs typeface="Times New Roman" pitchFamily="18" charset="0"/>
              </a:rPr>
              <a:t>Gözlem değerlerin içinde </a:t>
            </a:r>
            <a:r>
              <a:rPr lang="tr-TR" b="1">
                <a:latin typeface="Times New Roman" pitchFamily="18" charset="0"/>
                <a:cs typeface="Times New Roman" pitchFamily="18" charset="0"/>
              </a:rPr>
              <a:t>bir pozitif </a:t>
            </a:r>
            <a:r>
              <a:rPr lang="tr-TR">
                <a:latin typeface="Times New Roman" pitchFamily="18" charset="0"/>
                <a:cs typeface="Times New Roman" pitchFamily="18" charset="0"/>
              </a:rPr>
              <a:t>ve </a:t>
            </a:r>
            <a:r>
              <a:rPr lang="tr-TR" b="1">
                <a:latin typeface="Times New Roman" pitchFamily="18" charset="0"/>
                <a:cs typeface="Times New Roman" pitchFamily="18" charset="0"/>
              </a:rPr>
              <a:t>üç negatif </a:t>
            </a:r>
            <a:r>
              <a:rPr lang="tr-TR">
                <a:latin typeface="Times New Roman" pitchFamily="18" charset="0"/>
                <a:cs typeface="Times New Roman" pitchFamily="18" charset="0"/>
              </a:rPr>
              <a:t>değer olduğundan </a:t>
            </a:r>
            <a:r>
              <a:rPr lang="tr-TR" b="1">
                <a:latin typeface="Times New Roman" pitchFamily="18" charset="0"/>
                <a:cs typeface="Times New Roman" pitchFamily="18" charset="0"/>
              </a:rPr>
              <a:t>(7,3) </a:t>
            </a:r>
            <a:r>
              <a:rPr lang="tr-TR">
                <a:latin typeface="Times New Roman" pitchFamily="18" charset="0"/>
                <a:cs typeface="Times New Roman" pitchFamily="18" charset="0"/>
              </a:rPr>
              <a:t>noktasının sınıfı </a:t>
            </a:r>
            <a:r>
              <a:rPr lang="tr-TR" b="1">
                <a:latin typeface="Times New Roman" pitchFamily="18" charset="0"/>
                <a:cs typeface="Times New Roman" pitchFamily="18" charset="0"/>
              </a:rPr>
              <a:t>negatif</a:t>
            </a:r>
            <a:r>
              <a:rPr lang="tr-TR">
                <a:latin typeface="Times New Roman" pitchFamily="18" charset="0"/>
                <a:cs typeface="Times New Roman" pitchFamily="18" charset="0"/>
              </a:rPr>
              <a:t> olarak belirlenir.</a:t>
            </a:r>
          </a:p>
        </p:txBody>
      </p:sp>
      <p:sp>
        <p:nvSpPr>
          <p:cNvPr id="40" name="39 Sağ Ayraç"/>
          <p:cNvSpPr/>
          <p:nvPr/>
        </p:nvSpPr>
        <p:spPr>
          <a:xfrm>
            <a:off x="4238625" y="3511550"/>
            <a:ext cx="476250" cy="1500188"/>
          </a:xfrm>
          <a:prstGeom prst="rightBrace">
            <a:avLst>
              <a:gd name="adj1" fmla="val 8333"/>
              <a:gd name="adj2" fmla="val 54750"/>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tr-TR"/>
          </a:p>
        </p:txBody>
      </p:sp>
      <p:sp>
        <p:nvSpPr>
          <p:cNvPr id="41" name="40 Katlanmış Nesne"/>
          <p:cNvSpPr/>
          <p:nvPr/>
        </p:nvSpPr>
        <p:spPr>
          <a:xfrm>
            <a:off x="5000625" y="3429000"/>
            <a:ext cx="1857375" cy="2071688"/>
          </a:xfrm>
          <a:prstGeom prst="foldedCorner">
            <a:avLst>
              <a:gd name="adj" fmla="val 31372"/>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lang="tr-TR" sz="1600">
                <a:solidFill>
                  <a:srgbClr val="543466"/>
                </a:solidFill>
                <a:latin typeface="Arial Narrow" pitchFamily="34" charset="0"/>
              </a:rPr>
              <a:t>(7,3) noktasının </a:t>
            </a:r>
          </a:p>
          <a:p>
            <a:pPr algn="ctr">
              <a:defRPr/>
            </a:pPr>
            <a:r>
              <a:rPr lang="tr-TR" sz="1600">
                <a:solidFill>
                  <a:srgbClr val="543466"/>
                </a:solidFill>
                <a:latin typeface="Arial Narrow" pitchFamily="34" charset="0"/>
              </a:rPr>
              <a:t>Sınıfı Negatif olarak belirlenir.</a:t>
            </a:r>
          </a:p>
        </p:txBody>
      </p:sp>
      <p:pic>
        <p:nvPicPr>
          <p:cNvPr id="57353" name="Picture 12"/>
          <p:cNvPicPr>
            <a:picLocks noChangeAspect="1" noChangeArrowheads="1"/>
          </p:cNvPicPr>
          <p:nvPr/>
        </p:nvPicPr>
        <p:blipFill>
          <a:blip r:embed="rId2"/>
          <a:srcRect/>
          <a:stretch>
            <a:fillRect/>
          </a:stretch>
        </p:blipFill>
        <p:spPr bwMode="auto">
          <a:xfrm>
            <a:off x="684213" y="1484313"/>
            <a:ext cx="3436937" cy="3600450"/>
          </a:xfrm>
          <a:prstGeom prst="rect">
            <a:avLst/>
          </a:prstGeom>
          <a:noFill/>
          <a:ln w="9525">
            <a:noFill/>
            <a:miter lim="800000"/>
            <a:headEnd/>
            <a:tailEnd/>
          </a:ln>
        </p:spPr>
      </p:pic>
    </p:spTree>
  </p:cSld>
  <p:clrMapOvr>
    <a:masterClrMapping/>
  </p:clrMapOvr>
  <p:transition spd="med">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628650" y="1435894"/>
            <a:ext cx="7772400" cy="3770312"/>
          </a:xfrm>
        </p:spPr>
        <p:txBody>
          <a:bodyPr>
            <a:spAutoFit/>
          </a:bodyPr>
          <a:lstStyle/>
          <a:p>
            <a:pPr marL="265176" indent="-265176" algn="just" eaLnBrk="1" fontAlgn="auto" hangingPunct="1">
              <a:spcAft>
                <a:spcPts val="0"/>
              </a:spcAft>
              <a:buFont typeface="Wingdings 2"/>
              <a:buNone/>
              <a:defRPr/>
            </a:pPr>
            <a:r>
              <a:rPr lang="tr-TR" sz="1800" b="1" dirty="0">
                <a:effectLst>
                  <a:outerShdw blurRad="38100" dist="38100" dir="2700000" algn="tl">
                    <a:srgbClr val="000000">
                      <a:alpha val="43137"/>
                    </a:srgbClr>
                  </a:outerShdw>
                </a:effectLst>
                <a:latin typeface="Times New Roman" pitchFamily="18" charset="0"/>
                <a:cs typeface="Times New Roman" pitchFamily="18" charset="0"/>
              </a:rPr>
              <a:t>Ağırlıklı Oylama :</a:t>
            </a:r>
          </a:p>
          <a:p>
            <a:pPr marL="265176" indent="-265176" eaLnBrk="1" fontAlgn="auto" hangingPunct="1">
              <a:spcAft>
                <a:spcPts val="0"/>
              </a:spcAft>
              <a:buFont typeface="Wingdings 2"/>
              <a:buNone/>
              <a:defRPr/>
            </a:pPr>
            <a:r>
              <a:rPr lang="tr-TR" sz="1800" dirty="0">
                <a:latin typeface="Times New Roman" pitchFamily="18" charset="0"/>
                <a:cs typeface="Times New Roman" pitchFamily="18" charset="0"/>
              </a:rPr>
              <a:t>Ağırlıklı oylama yöntemi gözlem değerleri için aşağıdaki bağıntıya göre ağırlıklı uzaklıkların hesaplanması yöntemine dayanır.</a:t>
            </a:r>
          </a:p>
          <a:p>
            <a:pPr marL="265176" indent="-265176" eaLnBrk="1" fontAlgn="auto" hangingPunct="1">
              <a:spcAft>
                <a:spcPts val="0"/>
              </a:spcAft>
              <a:buFont typeface="Wingdings 2"/>
              <a:buNone/>
              <a:defRPr/>
            </a:pPr>
            <a:endParaRPr lang="tr-TR" sz="1800" dirty="0">
              <a:latin typeface="Times New Roman" pitchFamily="18" charset="0"/>
              <a:cs typeface="Times New Roman" pitchFamily="18" charset="0"/>
            </a:endParaRPr>
          </a:p>
          <a:p>
            <a:pPr marL="265176" indent="-265176" eaLnBrk="1" fontAlgn="auto" hangingPunct="1">
              <a:spcAft>
                <a:spcPts val="0"/>
              </a:spcAft>
              <a:buFont typeface="Wingdings 2"/>
              <a:buNone/>
              <a:defRPr/>
            </a:pPr>
            <a:endParaRPr lang="tr-TR" sz="1800" dirty="0">
              <a:latin typeface="Times New Roman" pitchFamily="18" charset="0"/>
              <a:cs typeface="Times New Roman" pitchFamily="18" charset="0"/>
            </a:endParaRPr>
          </a:p>
          <a:p>
            <a:pPr marL="265176" indent="-265176" eaLnBrk="1" fontAlgn="auto" hangingPunct="1">
              <a:spcAft>
                <a:spcPts val="0"/>
              </a:spcAft>
              <a:buFont typeface="Wingdings 2"/>
              <a:buNone/>
              <a:defRPr/>
            </a:pPr>
            <a:endParaRPr lang="tr-TR" sz="1800" dirty="0">
              <a:latin typeface="Times New Roman" pitchFamily="18" charset="0"/>
              <a:cs typeface="Times New Roman" pitchFamily="18" charset="0"/>
            </a:endParaRPr>
          </a:p>
          <a:p>
            <a:pPr marL="265176" indent="-265176" eaLnBrk="1" fontAlgn="auto" hangingPunct="1">
              <a:spcAft>
                <a:spcPts val="0"/>
              </a:spcAft>
              <a:buFont typeface="Wingdings 2"/>
              <a:buNone/>
              <a:defRPr/>
            </a:pPr>
            <a:endParaRPr lang="tr-TR" sz="1800" dirty="0">
              <a:latin typeface="Times New Roman" pitchFamily="18" charset="0"/>
              <a:cs typeface="Times New Roman" pitchFamily="18" charset="0"/>
            </a:endParaRPr>
          </a:p>
          <a:p>
            <a:pPr marL="265176" indent="-265176" eaLnBrk="1" fontAlgn="auto" hangingPunct="1">
              <a:spcAft>
                <a:spcPts val="0"/>
              </a:spcAft>
              <a:buFont typeface="Wingdings 2"/>
              <a:buNone/>
              <a:defRPr/>
            </a:pPr>
            <a:r>
              <a:rPr lang="tr-TR" sz="1800" dirty="0">
                <a:latin typeface="Times New Roman" pitchFamily="18" charset="0"/>
                <a:cs typeface="Times New Roman" pitchFamily="18" charset="0"/>
              </a:rPr>
              <a:t>Sınıf değerlerinin </a:t>
            </a:r>
            <a:r>
              <a:rPr lang="tr-TR" sz="1800" dirty="0" err="1">
                <a:latin typeface="Times New Roman" pitchFamily="18" charset="0"/>
                <a:cs typeface="Times New Roman" pitchFamily="18" charset="0"/>
              </a:rPr>
              <a:t>herbiri</a:t>
            </a:r>
            <a:r>
              <a:rPr lang="tr-TR" sz="1800" dirty="0">
                <a:latin typeface="Times New Roman" pitchFamily="18" charset="0"/>
                <a:cs typeface="Times New Roman" pitchFamily="18" charset="0"/>
              </a:rPr>
              <a:t> için uzaklıkların toplamı hesaplanarak ağırlıklı oylama değeri bulunur.</a:t>
            </a:r>
          </a:p>
          <a:p>
            <a:pPr marL="265176" indent="-265176" eaLnBrk="1" fontAlgn="auto" hangingPunct="1">
              <a:spcAft>
                <a:spcPts val="0"/>
              </a:spcAft>
              <a:buFont typeface="Wingdings 2"/>
              <a:buNone/>
              <a:defRPr/>
            </a:pPr>
            <a:endParaRPr lang="tr-TR" sz="1800" dirty="0">
              <a:latin typeface="Times New Roman" pitchFamily="18" charset="0"/>
              <a:cs typeface="Times New Roman" pitchFamily="18" charset="0"/>
            </a:endParaRPr>
          </a:p>
          <a:p>
            <a:pPr marL="265176" indent="-265176" eaLnBrk="1" fontAlgn="auto" hangingPunct="1">
              <a:spcAft>
                <a:spcPts val="0"/>
              </a:spcAft>
              <a:buFont typeface="Wingdings 2"/>
              <a:buNone/>
              <a:defRPr/>
            </a:pPr>
            <a:r>
              <a:rPr lang="tr-TR" sz="1800" dirty="0">
                <a:latin typeface="Times New Roman" pitchFamily="18" charset="0"/>
                <a:cs typeface="Times New Roman" pitchFamily="18" charset="0"/>
              </a:rPr>
              <a:t>En büyük ağırlıklı oylama değerine sahip olan sınıf değeri yeni gözlem değerinin ait olduğu sınıf olarak belirlenir.</a:t>
            </a:r>
            <a:endParaRPr lang="tr-TR" dirty="0"/>
          </a:p>
        </p:txBody>
      </p:sp>
      <p:sp>
        <p:nvSpPr>
          <p:cNvPr id="20484" name="Slide Number Placeholder 3"/>
          <p:cNvSpPr>
            <a:spLocks noGrp="1"/>
          </p:cNvSpPr>
          <p:nvPr>
            <p:ph type="sldNum" sz="quarter" idx="12"/>
          </p:nvPr>
        </p:nvSpPr>
        <p:spPr/>
        <p:txBody>
          <a:bodyPr/>
          <a:lstStyle/>
          <a:p>
            <a:pPr>
              <a:defRPr/>
            </a:pPr>
            <a:fld id="{B5D1EE1D-4206-45C4-BA07-EC35C26D3F03}" type="slidenum">
              <a:rPr lang="en-US">
                <a:latin typeface="Times New Roman" pitchFamily="18" charset="0"/>
              </a:rPr>
              <a:pPr>
                <a:defRPr/>
              </a:pPr>
              <a:t>39</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graphicFrame>
        <p:nvGraphicFramePr>
          <p:cNvPr id="36868" name="Object 4"/>
          <p:cNvGraphicFramePr>
            <a:graphicFrameLocks noChangeAspect="1"/>
          </p:cNvGraphicFramePr>
          <p:nvPr>
            <p:extLst>
              <p:ext uri="{D42A27DB-BD31-4B8C-83A1-F6EECF244321}">
                <p14:modId xmlns:p14="http://schemas.microsoft.com/office/powerpoint/2010/main" val="4254119101"/>
              </p:ext>
            </p:extLst>
          </p:nvPr>
        </p:nvGraphicFramePr>
        <p:xfrm>
          <a:off x="1043608" y="2627120"/>
          <a:ext cx="1735137" cy="673100"/>
        </p:xfrm>
        <a:graphic>
          <a:graphicData uri="http://schemas.openxmlformats.org/presentationml/2006/ole">
            <mc:AlternateContent xmlns:mc="http://schemas.openxmlformats.org/markup-compatibility/2006">
              <mc:Choice xmlns:v="urn:schemas-microsoft-com:vml" Requires="v">
                <p:oleObj name="Denklem" r:id="rId2" imgW="1079280" imgH="419040" progId="Equation.3">
                  <p:embed/>
                </p:oleObj>
              </mc:Choice>
              <mc:Fallback>
                <p:oleObj name="Denklem" r:id="rId2" imgW="1079280" imgH="419040" progId="Equation.3">
                  <p:embed/>
                  <p:pic>
                    <p:nvPicPr>
                      <p:cNvPr id="3686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627120"/>
                        <a:ext cx="1735137"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9"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Denklem" r:id="rId4" imgW="914400" imgH="215640" progId="Equation.3">
                  <p:embed/>
                </p:oleObj>
              </mc:Choice>
              <mc:Fallback>
                <p:oleObj name="Denklem" r:id="rId4" imgW="914400" imgH="215640" progId="Equation.3">
                  <p:embed/>
                  <p:pic>
                    <p:nvPicPr>
                      <p:cNvPr id="368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537369" y="799359"/>
            <a:ext cx="8183562" cy="942822"/>
          </a:xfrm>
        </p:spPr>
        <p:txBody>
          <a:bodyPr wrap="square">
            <a:spAutoFit/>
          </a:bodyPr>
          <a:lstStyle/>
          <a:p>
            <a:pPr marL="265176" indent="-265176" algn="just" eaLnBrk="1" fontAlgn="auto" hangingPunct="1">
              <a:spcAft>
                <a:spcPts val="0"/>
              </a:spcAft>
              <a:buFont typeface="Wingdings 2"/>
              <a:buNone/>
              <a:defRPr/>
            </a:pPr>
            <a:r>
              <a:rPr lang="tr-TR" sz="1800" b="1" dirty="0">
                <a:effectLst>
                  <a:outerShdw blurRad="38100" dist="38100" dir="2700000" algn="tl">
                    <a:srgbClr val="000000">
                      <a:alpha val="43137"/>
                    </a:srgbClr>
                  </a:outerShdw>
                </a:effectLst>
                <a:latin typeface="Times New Roman" pitchFamily="18" charset="0"/>
                <a:cs typeface="Times New Roman" pitchFamily="18" charset="0"/>
              </a:rPr>
              <a:t>Örnek Uygulama :</a:t>
            </a:r>
          </a:p>
          <a:p>
            <a:pPr marL="265176" indent="-265176" eaLnBrk="1" fontAlgn="auto" hangingPunct="1">
              <a:spcAft>
                <a:spcPts val="0"/>
              </a:spcAft>
              <a:buFont typeface="Wingdings 2"/>
              <a:buNone/>
              <a:defRPr/>
            </a:pPr>
            <a:r>
              <a:rPr lang="tr-TR" sz="1800" dirty="0">
                <a:latin typeface="Times New Roman" pitchFamily="18" charset="0"/>
                <a:cs typeface="Times New Roman" pitchFamily="18" charset="0"/>
              </a:rPr>
              <a:t>(0.10, 0.50) gözleminin hangi sınıfa dahil olduğunu k-en yakın komşu algoritmasından ve aşağıdaki tablodan yararlanarak bulunuz.</a:t>
            </a:r>
            <a:endParaRPr lang="tr-TR" dirty="0"/>
          </a:p>
        </p:txBody>
      </p:sp>
      <p:sp>
        <p:nvSpPr>
          <p:cNvPr id="20484" name="Slide Number Placeholder 3"/>
          <p:cNvSpPr>
            <a:spLocks noGrp="1"/>
          </p:cNvSpPr>
          <p:nvPr>
            <p:ph type="sldNum" sz="quarter" idx="12"/>
          </p:nvPr>
        </p:nvSpPr>
        <p:spPr/>
        <p:txBody>
          <a:bodyPr/>
          <a:lstStyle/>
          <a:p>
            <a:pPr>
              <a:defRPr/>
            </a:pPr>
            <a:fld id="{097F46C2-43A7-47DB-B71B-EE5F605DEFA0}" type="slidenum">
              <a:rPr lang="en-US">
                <a:latin typeface="Times New Roman" pitchFamily="18" charset="0"/>
              </a:rPr>
              <a:pPr>
                <a:defRPr/>
              </a:pPr>
              <a:t>40</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graphicFrame>
        <p:nvGraphicFramePr>
          <p:cNvPr id="37891"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Denklem" r:id="rId2" imgW="914400" imgH="215640" progId="Equation.3">
                  <p:embed/>
                </p:oleObj>
              </mc:Choice>
              <mc:Fallback>
                <p:oleObj name="Denklem" r:id="rId2" imgW="914400" imgH="215640" progId="Equation.3">
                  <p:embed/>
                  <p:pic>
                    <p:nvPicPr>
                      <p:cNvPr id="3789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7" name="11 Metin kutusu"/>
          <p:cNvSpPr txBox="1">
            <a:spLocks noChangeArrowheads="1"/>
          </p:cNvSpPr>
          <p:nvPr/>
        </p:nvSpPr>
        <p:spPr bwMode="auto">
          <a:xfrm>
            <a:off x="4143375" y="2286000"/>
            <a:ext cx="4357688" cy="2308225"/>
          </a:xfrm>
          <a:prstGeom prst="rect">
            <a:avLst/>
          </a:prstGeom>
          <a:noFill/>
          <a:ln w="9525">
            <a:noFill/>
            <a:miter lim="800000"/>
            <a:headEnd/>
            <a:tailEnd/>
          </a:ln>
        </p:spPr>
        <p:txBody>
          <a:bodyPr>
            <a:spAutoFit/>
          </a:bodyPr>
          <a:lstStyle/>
          <a:p>
            <a:pPr algn="just"/>
            <a:r>
              <a:rPr lang="tr-TR" b="1">
                <a:latin typeface="Times New Roman" pitchFamily="18" charset="0"/>
                <a:cs typeface="Times New Roman" pitchFamily="18" charset="0"/>
              </a:rPr>
              <a:t>İlk adım: </a:t>
            </a:r>
            <a:r>
              <a:rPr lang="tr-TR">
                <a:latin typeface="Times New Roman" pitchFamily="18" charset="0"/>
                <a:cs typeface="Times New Roman" pitchFamily="18" charset="0"/>
              </a:rPr>
              <a:t>K’nın belirlenmesi</a:t>
            </a:r>
          </a:p>
          <a:p>
            <a:pPr algn="just"/>
            <a:r>
              <a:rPr lang="tr-TR" b="1">
                <a:latin typeface="Times New Roman" pitchFamily="18" charset="0"/>
                <a:cs typeface="Times New Roman" pitchFamily="18" charset="0"/>
              </a:rPr>
              <a:t>k=3</a:t>
            </a:r>
            <a:r>
              <a:rPr lang="tr-TR">
                <a:latin typeface="Times New Roman" pitchFamily="18" charset="0"/>
                <a:cs typeface="Times New Roman" pitchFamily="18" charset="0"/>
              </a:rPr>
              <a:t> olarak seçersek </a:t>
            </a:r>
            <a:r>
              <a:rPr lang="tr-TR" b="1">
                <a:latin typeface="Times New Roman" pitchFamily="18" charset="0"/>
                <a:cs typeface="Times New Roman" pitchFamily="18" charset="0"/>
              </a:rPr>
              <a:t>(0.10, 0.50) </a:t>
            </a:r>
            <a:r>
              <a:rPr lang="tr-TR">
                <a:latin typeface="Times New Roman" pitchFamily="18" charset="0"/>
                <a:cs typeface="Times New Roman" pitchFamily="18" charset="0"/>
              </a:rPr>
              <a:t>gözlemine en yakın </a:t>
            </a:r>
            <a:r>
              <a:rPr lang="tr-TR" b="1">
                <a:latin typeface="Times New Roman" pitchFamily="18" charset="0"/>
                <a:cs typeface="Times New Roman" pitchFamily="18" charset="0"/>
              </a:rPr>
              <a:t>3</a:t>
            </a:r>
            <a:r>
              <a:rPr lang="tr-TR">
                <a:latin typeface="Times New Roman" pitchFamily="18" charset="0"/>
                <a:cs typeface="Times New Roman" pitchFamily="18" charset="0"/>
              </a:rPr>
              <a:t> komşuyu arayacağız.</a:t>
            </a:r>
          </a:p>
          <a:p>
            <a:pPr algn="just"/>
            <a:endParaRPr lang="tr-TR">
              <a:latin typeface="Times New Roman" pitchFamily="18" charset="0"/>
              <a:cs typeface="Times New Roman" pitchFamily="18" charset="0"/>
            </a:endParaRPr>
          </a:p>
          <a:p>
            <a:pPr algn="just"/>
            <a:r>
              <a:rPr lang="tr-TR" b="1">
                <a:latin typeface="Times New Roman" pitchFamily="18" charset="0"/>
                <a:cs typeface="Times New Roman" pitchFamily="18" charset="0"/>
              </a:rPr>
              <a:t>İkinci adım: </a:t>
            </a:r>
            <a:r>
              <a:rPr lang="tr-TR">
                <a:latin typeface="Times New Roman" pitchFamily="18" charset="0"/>
                <a:cs typeface="Times New Roman" pitchFamily="18" charset="0"/>
              </a:rPr>
              <a:t>Uzaklıkların hesaplanması</a:t>
            </a:r>
          </a:p>
          <a:p>
            <a:pPr algn="just"/>
            <a:r>
              <a:rPr lang="tr-TR">
                <a:latin typeface="Times New Roman" pitchFamily="18" charset="0"/>
                <a:cs typeface="Times New Roman" pitchFamily="18" charset="0"/>
              </a:rPr>
              <a:t>Öklid uzaklık formülü kullanılarak uzaklıklar hesaplandığında oluşan tabloyu belirleyelim.</a:t>
            </a:r>
          </a:p>
          <a:p>
            <a:pPr algn="just"/>
            <a:endParaRPr lang="tr-TR">
              <a:latin typeface="Times New Roman" pitchFamily="18" charset="0"/>
              <a:cs typeface="Times New Roman" pitchFamily="18" charset="0"/>
            </a:endParaRPr>
          </a:p>
        </p:txBody>
      </p:sp>
      <p:sp>
        <p:nvSpPr>
          <p:cNvPr id="37898" name="Rectangle 12"/>
          <p:cNvSpPr>
            <a:spLocks noChangeArrowheads="1"/>
          </p:cNvSpPr>
          <p:nvPr/>
        </p:nvSpPr>
        <p:spPr bwMode="auto">
          <a:xfrm>
            <a:off x="3657600" y="1971675"/>
            <a:ext cx="1219200" cy="0"/>
          </a:xfrm>
          <a:prstGeom prst="rect">
            <a:avLst/>
          </a:prstGeom>
          <a:solidFill>
            <a:srgbClr val="CCFFFF"/>
          </a:solidFill>
          <a:ln w="9525">
            <a:noFill/>
            <a:miter lim="800000"/>
            <a:headEnd/>
            <a:tailEnd/>
          </a:ln>
        </p:spPr>
        <p:txBody>
          <a:bodyPr wrap="none" anchor="ctr">
            <a:spAutoFit/>
          </a:bodyPr>
          <a:lstStyle/>
          <a:p>
            <a:endParaRPr lang="tr-TR"/>
          </a:p>
        </p:txBody>
      </p:sp>
      <p:graphicFrame>
        <p:nvGraphicFramePr>
          <p:cNvPr id="38111" name="Group 223"/>
          <p:cNvGraphicFramePr>
            <a:graphicFrameLocks noGrp="1"/>
          </p:cNvGraphicFramePr>
          <p:nvPr>
            <p:extLst>
              <p:ext uri="{D42A27DB-BD31-4B8C-83A1-F6EECF244321}">
                <p14:modId xmlns:p14="http://schemas.microsoft.com/office/powerpoint/2010/main" val="1244503712"/>
              </p:ext>
            </p:extLst>
          </p:nvPr>
        </p:nvGraphicFramePr>
        <p:xfrm>
          <a:off x="573784" y="2099881"/>
          <a:ext cx="3383854" cy="3950179"/>
        </p:xfrm>
        <a:graphic>
          <a:graphicData uri="http://schemas.openxmlformats.org/drawingml/2006/table">
            <a:tbl>
              <a:tblPr/>
              <a:tblGrid>
                <a:gridCol w="1237277">
                  <a:extLst>
                    <a:ext uri="{9D8B030D-6E8A-4147-A177-3AD203B41FA5}">
                      <a16:colId xmlns:a16="http://schemas.microsoft.com/office/drawing/2014/main" val="20000"/>
                    </a:ext>
                  </a:extLst>
                </a:gridCol>
                <a:gridCol w="1074270">
                  <a:extLst>
                    <a:ext uri="{9D8B030D-6E8A-4147-A177-3AD203B41FA5}">
                      <a16:colId xmlns:a16="http://schemas.microsoft.com/office/drawing/2014/main" val="20001"/>
                    </a:ext>
                  </a:extLst>
                </a:gridCol>
                <a:gridCol w="1072307">
                  <a:extLst>
                    <a:ext uri="{9D8B030D-6E8A-4147-A177-3AD203B41FA5}">
                      <a16:colId xmlns:a16="http://schemas.microsoft.com/office/drawing/2014/main" val="20002"/>
                    </a:ext>
                  </a:extLst>
                </a:gridCol>
              </a:tblGrid>
              <a:tr h="5973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X</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Y</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BAKİYE</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3006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0,07</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0,25</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ARTI</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29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0,02</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0,02</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ARTI</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3006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0,25</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0,08</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ARTI</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29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1</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0,2</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EKSİ</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3006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0,26</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0,3</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ARTI</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3006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0,14</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0,26</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ARTI</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29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0,28</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0,36</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ARTI</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3006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0,04</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0,11</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EKSİ</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r h="29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0,03</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0,55</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ARTI</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9"/>
                  </a:ext>
                </a:extLst>
              </a:tr>
              <a:tr h="3006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0,02</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Arial Tur"/>
                          <a:cs typeface="Times New Roman" pitchFamily="18" charset="0"/>
                        </a:rPr>
                        <a:t>0,87</a:t>
                      </a:r>
                      <a:endParaRPr kumimoji="0" lang="tr-TR" sz="3600" b="0" i="0" u="none" strike="noStrike" cap="none" normalizeH="0" baseline="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600" b="1" i="0" u="none" strike="noStrike" cap="none" normalizeH="0" baseline="0" dirty="0">
                          <a:ln>
                            <a:noFill/>
                          </a:ln>
                          <a:solidFill>
                            <a:schemeClr val="tx1"/>
                          </a:solidFill>
                          <a:effectLst/>
                          <a:latin typeface="Arial Tur"/>
                          <a:cs typeface="Times New Roman" pitchFamily="18" charset="0"/>
                        </a:rPr>
                        <a:t>EKSİ</a:t>
                      </a:r>
                      <a:endParaRPr kumimoji="0" lang="tr-TR" sz="3600" b="0" i="0" u="none" strike="noStrike" cap="none" normalizeH="0" baseline="0" dirty="0">
                        <a:ln>
                          <a:noFill/>
                        </a:ln>
                        <a:solidFill>
                          <a:schemeClr val="tx1"/>
                        </a:solidFill>
                        <a:effectLst/>
                        <a:latin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0"/>
                  </a:ext>
                </a:extLst>
              </a:tr>
            </a:tbl>
          </a:graphicData>
        </a:graphic>
      </p:graphicFrame>
    </p:spTree>
  </p:cSld>
  <p:clrMapOvr>
    <a:masterClrMapping/>
  </p:clrMapOvr>
  <p:transition spd="med">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3"/>
          <p:cNvSpPr>
            <a:spLocks noGrp="1"/>
          </p:cNvSpPr>
          <p:nvPr>
            <p:ph type="sldNum" sz="quarter" idx="12"/>
          </p:nvPr>
        </p:nvSpPr>
        <p:spPr/>
        <p:txBody>
          <a:bodyPr/>
          <a:lstStyle/>
          <a:p>
            <a:pPr>
              <a:defRPr/>
            </a:pPr>
            <a:fld id="{4E24597A-62A2-4B29-B7B9-FAE035F0CA5C}" type="slidenum">
              <a:rPr lang="en-US">
                <a:latin typeface="Times New Roman" pitchFamily="18" charset="0"/>
              </a:rPr>
              <a:pPr>
                <a:defRPr/>
              </a:pPr>
              <a:t>41</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sp>
        <p:nvSpPr>
          <p:cNvPr id="60421" name="10 Metin kutusu"/>
          <p:cNvSpPr txBox="1">
            <a:spLocks noChangeArrowheads="1"/>
          </p:cNvSpPr>
          <p:nvPr/>
        </p:nvSpPr>
        <p:spPr bwMode="auto">
          <a:xfrm>
            <a:off x="4155281" y="764104"/>
            <a:ext cx="4879540" cy="1477328"/>
          </a:xfrm>
          <a:prstGeom prst="rect">
            <a:avLst/>
          </a:prstGeom>
          <a:noFill/>
          <a:ln w="9525">
            <a:noFill/>
            <a:miter lim="800000"/>
            <a:headEnd/>
            <a:tailEnd/>
          </a:ln>
        </p:spPr>
        <p:txBody>
          <a:bodyPr wrap="square">
            <a:spAutoFit/>
          </a:bodyPr>
          <a:lstStyle/>
          <a:p>
            <a:pPr algn="just"/>
            <a:r>
              <a:rPr lang="tr-TR" b="1" dirty="0">
                <a:latin typeface="Times New Roman" pitchFamily="18" charset="0"/>
                <a:cs typeface="Times New Roman" pitchFamily="18" charset="0"/>
              </a:rPr>
              <a:t>Üçüncü adım: </a:t>
            </a:r>
            <a:r>
              <a:rPr lang="tr-TR" dirty="0">
                <a:latin typeface="Times New Roman" pitchFamily="18" charset="0"/>
                <a:cs typeface="Times New Roman" pitchFamily="18" charset="0"/>
              </a:rPr>
              <a:t>En küçük uzaklıkların belirlenmesi</a:t>
            </a:r>
          </a:p>
          <a:p>
            <a:pPr algn="just"/>
            <a:endParaRPr lang="tr-TR" dirty="0">
              <a:latin typeface="Times New Roman" pitchFamily="18" charset="0"/>
              <a:cs typeface="Times New Roman" pitchFamily="18" charset="0"/>
            </a:endParaRPr>
          </a:p>
          <a:p>
            <a:pPr algn="just"/>
            <a:r>
              <a:rPr lang="tr-TR" dirty="0">
                <a:latin typeface="Times New Roman" pitchFamily="18" charset="0"/>
                <a:cs typeface="Times New Roman" pitchFamily="18" charset="0"/>
              </a:rPr>
              <a:t>k=3 olarak seçilen gözlemin belirlenmesi</a:t>
            </a:r>
          </a:p>
          <a:p>
            <a:pPr algn="just"/>
            <a:endParaRPr lang="tr-TR" dirty="0">
              <a:latin typeface="Times New Roman" pitchFamily="18" charset="0"/>
              <a:cs typeface="Times New Roman" pitchFamily="18" charset="0"/>
            </a:endParaRPr>
          </a:p>
          <a:p>
            <a:pPr algn="just"/>
            <a:endParaRPr lang="tr-TR" dirty="0">
              <a:latin typeface="Times New Roman" pitchFamily="18" charset="0"/>
              <a:cs typeface="Times New Roman" pitchFamily="18" charset="0"/>
            </a:endParaRPr>
          </a:p>
        </p:txBody>
      </p:sp>
      <p:pic>
        <p:nvPicPr>
          <p:cNvPr id="60422" name="Picture 35"/>
          <p:cNvPicPr>
            <a:picLocks noChangeAspect="1" noChangeArrowheads="1"/>
          </p:cNvPicPr>
          <p:nvPr/>
        </p:nvPicPr>
        <p:blipFill>
          <a:blip r:embed="rId2"/>
          <a:srcRect/>
          <a:stretch>
            <a:fillRect/>
          </a:stretch>
        </p:blipFill>
        <p:spPr bwMode="auto">
          <a:xfrm>
            <a:off x="251520" y="531688"/>
            <a:ext cx="3795296" cy="3400673"/>
          </a:xfrm>
          <a:prstGeom prst="rect">
            <a:avLst/>
          </a:prstGeom>
          <a:noFill/>
          <a:ln w="9525">
            <a:noFill/>
            <a:miter lim="800000"/>
            <a:headEnd/>
            <a:tailEnd/>
          </a:ln>
        </p:spPr>
      </p:pic>
      <p:sp>
        <p:nvSpPr>
          <p:cNvPr id="31" name="30 32-Nokta Yıldız"/>
          <p:cNvSpPr/>
          <p:nvPr/>
        </p:nvSpPr>
        <p:spPr>
          <a:xfrm>
            <a:off x="3309021" y="2515519"/>
            <a:ext cx="404813" cy="249238"/>
          </a:xfrm>
          <a:prstGeom prst="star32">
            <a:avLst>
              <a:gd name="adj" fmla="val 44149"/>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39" name="38 32-Nokta Yıldız"/>
          <p:cNvSpPr/>
          <p:nvPr/>
        </p:nvSpPr>
        <p:spPr>
          <a:xfrm>
            <a:off x="3309020" y="2813844"/>
            <a:ext cx="404813" cy="250825"/>
          </a:xfrm>
          <a:prstGeom prst="star32">
            <a:avLst>
              <a:gd name="adj" fmla="val 44149"/>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0" name="39 32-Nokta Yıldız"/>
          <p:cNvSpPr/>
          <p:nvPr/>
        </p:nvSpPr>
        <p:spPr>
          <a:xfrm>
            <a:off x="3309020" y="3365566"/>
            <a:ext cx="404813" cy="250825"/>
          </a:xfrm>
          <a:prstGeom prst="star32">
            <a:avLst>
              <a:gd name="adj" fmla="val 44149"/>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pic>
        <p:nvPicPr>
          <p:cNvPr id="60426" name="Picture 37"/>
          <p:cNvPicPr>
            <a:picLocks noChangeAspect="1" noChangeArrowheads="1"/>
          </p:cNvPicPr>
          <p:nvPr/>
        </p:nvPicPr>
        <p:blipFill>
          <a:blip r:embed="rId3"/>
          <a:srcRect/>
          <a:stretch>
            <a:fillRect/>
          </a:stretch>
        </p:blipFill>
        <p:spPr bwMode="auto">
          <a:xfrm>
            <a:off x="4125713" y="2897873"/>
            <a:ext cx="4879540" cy="3559679"/>
          </a:xfrm>
          <a:prstGeom prst="rect">
            <a:avLst/>
          </a:prstGeom>
          <a:noFill/>
          <a:ln w="9525">
            <a:noFill/>
            <a:miter lim="800000"/>
            <a:headEnd/>
            <a:tailEnd/>
          </a:ln>
        </p:spPr>
      </p:pic>
      <p:pic>
        <p:nvPicPr>
          <p:cNvPr id="60427" name="Picture 38"/>
          <p:cNvPicPr>
            <a:picLocks noChangeAspect="1" noChangeArrowheads="1"/>
          </p:cNvPicPr>
          <p:nvPr/>
        </p:nvPicPr>
        <p:blipFill>
          <a:blip r:embed="rId4"/>
          <a:srcRect/>
          <a:stretch>
            <a:fillRect/>
          </a:stretch>
        </p:blipFill>
        <p:spPr bwMode="auto">
          <a:xfrm>
            <a:off x="10967" y="4364602"/>
            <a:ext cx="4119297" cy="2017074"/>
          </a:xfrm>
          <a:prstGeom prst="rect">
            <a:avLst/>
          </a:prstGeom>
          <a:noFill/>
          <a:ln w="9525">
            <a:noFill/>
            <a:miter lim="800000"/>
            <a:headEnd/>
            <a:tailEnd/>
          </a:ln>
        </p:spPr>
      </p:pic>
    </p:spTree>
  </p:cSld>
  <p:clrMapOvr>
    <a:masterClrMapping/>
  </p:clrMapOvr>
  <p:transition spd="med">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339725" y="615951"/>
            <a:ext cx="7772400" cy="2863850"/>
          </a:xfrm>
        </p:spPr>
        <p:txBody>
          <a:bodyPr>
            <a:spAutoFit/>
          </a:bodyPr>
          <a:lstStyle/>
          <a:p>
            <a:pPr algn="just" eaLnBrk="1" hangingPunct="1">
              <a:buFont typeface="Wingdings 2" pitchFamily="18" charset="2"/>
              <a:buNone/>
              <a:defRPr/>
            </a:pPr>
            <a:r>
              <a:rPr lang="tr-TR" sz="1800" b="1" dirty="0">
                <a:effectLst>
                  <a:outerShdw blurRad="38100" dist="38100" dir="2700000" algn="tl">
                    <a:srgbClr val="C0C0C0"/>
                  </a:outerShdw>
                </a:effectLst>
                <a:latin typeface="Times New Roman" pitchFamily="18" charset="0"/>
                <a:cs typeface="Times New Roman" pitchFamily="18" charset="0"/>
              </a:rPr>
              <a:t>Ağırlıklı Oylama Yöntemin Uygulanması :</a:t>
            </a:r>
          </a:p>
          <a:p>
            <a:pPr eaLnBrk="1" hangingPunct="1">
              <a:buFont typeface="Wingdings 2" pitchFamily="18" charset="2"/>
              <a:buNone/>
              <a:defRPr/>
            </a:pPr>
            <a:endParaRPr lang="tr-TR" sz="1800" dirty="0">
              <a:latin typeface="Times New Roman" pitchFamily="18" charset="0"/>
              <a:cs typeface="Times New Roman" pitchFamily="18" charset="0"/>
            </a:endParaRPr>
          </a:p>
          <a:p>
            <a:pPr eaLnBrk="1" hangingPunct="1">
              <a:buFont typeface="Wingdings 2" pitchFamily="18" charset="2"/>
              <a:buNone/>
              <a:defRPr/>
            </a:pPr>
            <a:endParaRPr lang="tr-TR" sz="1800" dirty="0">
              <a:latin typeface="Times New Roman" pitchFamily="18" charset="0"/>
              <a:cs typeface="Times New Roman" pitchFamily="18" charset="0"/>
            </a:endParaRPr>
          </a:p>
          <a:p>
            <a:pPr eaLnBrk="1" hangingPunct="1">
              <a:buFont typeface="Wingdings 2" pitchFamily="18" charset="2"/>
              <a:buNone/>
              <a:defRPr/>
            </a:pPr>
            <a:endParaRPr lang="tr-TR" sz="1800" dirty="0">
              <a:latin typeface="Times New Roman" pitchFamily="18" charset="0"/>
              <a:cs typeface="Times New Roman" pitchFamily="18" charset="0"/>
            </a:endParaRPr>
          </a:p>
          <a:p>
            <a:pPr eaLnBrk="1" hangingPunct="1">
              <a:buFont typeface="Wingdings 2" pitchFamily="18" charset="2"/>
              <a:buNone/>
              <a:defRPr/>
            </a:pPr>
            <a:endParaRPr lang="tr-TR" sz="1800" dirty="0">
              <a:latin typeface="Times New Roman" pitchFamily="18" charset="0"/>
              <a:cs typeface="Times New Roman" pitchFamily="18" charset="0"/>
            </a:endParaRPr>
          </a:p>
          <a:p>
            <a:pPr eaLnBrk="1" hangingPunct="1">
              <a:buFont typeface="Wingdings 2" pitchFamily="18" charset="2"/>
              <a:buNone/>
              <a:defRPr/>
            </a:pPr>
            <a:r>
              <a:rPr lang="tr-TR" sz="1800" dirty="0">
                <a:latin typeface="Times New Roman" pitchFamily="18" charset="0"/>
                <a:cs typeface="Times New Roman" pitchFamily="18" charset="0"/>
              </a:rPr>
              <a:t>Bağıntısını kullanılarak hesaplamalar yapılır.</a:t>
            </a:r>
          </a:p>
          <a:p>
            <a:pPr eaLnBrk="1" hangingPunct="1">
              <a:buFont typeface="Wingdings 2" pitchFamily="18" charset="2"/>
              <a:buNone/>
              <a:defRPr/>
            </a:pPr>
            <a:endParaRPr lang="tr-TR" sz="1800" dirty="0">
              <a:latin typeface="Times New Roman" pitchFamily="18" charset="0"/>
              <a:cs typeface="Times New Roman" pitchFamily="18" charset="0"/>
            </a:endParaRPr>
          </a:p>
          <a:p>
            <a:pPr eaLnBrk="1" hangingPunct="1">
              <a:buFont typeface="Wingdings 2" pitchFamily="18" charset="2"/>
              <a:buNone/>
              <a:defRPr/>
            </a:pPr>
            <a:endParaRPr lang="tr-TR" sz="1800" dirty="0">
              <a:latin typeface="Times New Roman" pitchFamily="18" charset="0"/>
              <a:cs typeface="Times New Roman" pitchFamily="18" charset="0"/>
            </a:endParaRPr>
          </a:p>
          <a:p>
            <a:pPr eaLnBrk="1" hangingPunct="1">
              <a:buFont typeface="Wingdings 2" pitchFamily="18" charset="2"/>
              <a:buNone/>
              <a:defRPr/>
            </a:pPr>
            <a:endParaRPr lang="tr-TR" sz="1800" dirty="0">
              <a:latin typeface="Times New Roman" pitchFamily="18" charset="0"/>
              <a:cs typeface="Times New Roman" pitchFamily="18" charset="0"/>
            </a:endParaRPr>
          </a:p>
        </p:txBody>
      </p:sp>
      <p:sp>
        <p:nvSpPr>
          <p:cNvPr id="20484" name="Slide Number Placeholder 3"/>
          <p:cNvSpPr>
            <a:spLocks noGrp="1"/>
          </p:cNvSpPr>
          <p:nvPr>
            <p:ph type="sldNum" sz="quarter" idx="12"/>
          </p:nvPr>
        </p:nvSpPr>
        <p:spPr/>
        <p:txBody>
          <a:bodyPr/>
          <a:lstStyle/>
          <a:p>
            <a:pPr>
              <a:defRPr/>
            </a:pPr>
            <a:fld id="{604540F3-6005-4039-9874-946EF15B971F}" type="slidenum">
              <a:rPr lang="en-US">
                <a:latin typeface="Times New Roman" pitchFamily="18" charset="0"/>
              </a:rPr>
              <a:pPr>
                <a:defRPr/>
              </a:pPr>
              <a:t>42</a:t>
            </a:fld>
            <a:endParaRPr lang="en-US">
              <a:latin typeface="Times New Roman" pitchFamily="18" charset="0"/>
            </a:endParaRPr>
          </a:p>
        </p:txBody>
      </p:sp>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graphicFrame>
        <p:nvGraphicFramePr>
          <p:cNvPr id="39938" name="Object 2"/>
          <p:cNvGraphicFramePr>
            <a:graphicFrameLocks noChangeAspect="1"/>
          </p:cNvGraphicFramePr>
          <p:nvPr/>
        </p:nvGraphicFramePr>
        <p:xfrm>
          <a:off x="928688" y="1357313"/>
          <a:ext cx="1735137" cy="673100"/>
        </p:xfrm>
        <a:graphic>
          <a:graphicData uri="http://schemas.openxmlformats.org/presentationml/2006/ole">
            <mc:AlternateContent xmlns:mc="http://schemas.openxmlformats.org/markup-compatibility/2006">
              <mc:Choice xmlns:v="urn:schemas-microsoft-com:vml" Requires="v">
                <p:oleObj name="Denklem" r:id="rId2" imgW="1079280" imgH="419040" progId="Equation.3">
                  <p:embed/>
                </p:oleObj>
              </mc:Choice>
              <mc:Fallback>
                <p:oleObj name="Denklem" r:id="rId2" imgW="1079280" imgH="419040" progId="Equation.3">
                  <p:embed/>
                  <p:pic>
                    <p:nvPicPr>
                      <p:cNvPr id="3993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1357313"/>
                        <a:ext cx="1735137"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39"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Denklem" r:id="rId4" imgW="914400" imgH="215640" progId="Equation.3">
                  <p:embed/>
                </p:oleObj>
              </mc:Choice>
              <mc:Fallback>
                <p:oleObj name="Denklem" r:id="rId4" imgW="914400" imgH="215640" progId="Equation.3">
                  <p:embed/>
                  <p:pic>
                    <p:nvPicPr>
                      <p:cNvPr id="3993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0" name="Object 4"/>
          <p:cNvGraphicFramePr>
            <a:graphicFrameLocks noChangeAspect="1"/>
          </p:cNvGraphicFramePr>
          <p:nvPr>
            <p:extLst>
              <p:ext uri="{D42A27DB-BD31-4B8C-83A1-F6EECF244321}">
                <p14:modId xmlns:p14="http://schemas.microsoft.com/office/powerpoint/2010/main" val="3496276235"/>
              </p:ext>
            </p:extLst>
          </p:nvPr>
        </p:nvGraphicFramePr>
        <p:xfrm>
          <a:off x="498204" y="2827338"/>
          <a:ext cx="3328987" cy="673100"/>
        </p:xfrm>
        <a:graphic>
          <a:graphicData uri="http://schemas.openxmlformats.org/presentationml/2006/ole">
            <mc:AlternateContent xmlns:mc="http://schemas.openxmlformats.org/markup-compatibility/2006">
              <mc:Choice xmlns:v="urn:schemas-microsoft-com:vml" Requires="v">
                <p:oleObj name="Denklem" r:id="rId6" imgW="2070000" imgH="419040" progId="Equation.3">
                  <p:embed/>
                </p:oleObj>
              </mc:Choice>
              <mc:Fallback>
                <p:oleObj name="Denklem" r:id="rId6" imgW="2070000" imgH="419040" progId="Equation.3">
                  <p:embed/>
                  <p:pic>
                    <p:nvPicPr>
                      <p:cNvPr id="3994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204" y="2827338"/>
                        <a:ext cx="3328987"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1" name="Object 5"/>
          <p:cNvGraphicFramePr>
            <a:graphicFrameLocks noChangeAspect="1"/>
          </p:cNvGraphicFramePr>
          <p:nvPr>
            <p:extLst>
              <p:ext uri="{D42A27DB-BD31-4B8C-83A1-F6EECF244321}">
                <p14:modId xmlns:p14="http://schemas.microsoft.com/office/powerpoint/2010/main" val="95779937"/>
              </p:ext>
            </p:extLst>
          </p:nvPr>
        </p:nvGraphicFramePr>
        <p:xfrm>
          <a:off x="611003" y="3551126"/>
          <a:ext cx="3244850" cy="673100"/>
        </p:xfrm>
        <a:graphic>
          <a:graphicData uri="http://schemas.openxmlformats.org/presentationml/2006/ole">
            <mc:AlternateContent xmlns:mc="http://schemas.openxmlformats.org/markup-compatibility/2006">
              <mc:Choice xmlns:v="urn:schemas-microsoft-com:vml" Requires="v">
                <p:oleObj name="Equation" r:id="rId8" imgW="2019240" imgH="419040" progId="Equation.DSMT4">
                  <p:embed/>
                </p:oleObj>
              </mc:Choice>
              <mc:Fallback>
                <p:oleObj name="Equation" r:id="rId8" imgW="2019240" imgH="419040" progId="Equation.DSMT4">
                  <p:embed/>
                  <p:pic>
                    <p:nvPicPr>
                      <p:cNvPr id="3994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003" y="3551126"/>
                        <a:ext cx="324485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2" name="Object 6"/>
          <p:cNvGraphicFramePr>
            <a:graphicFrameLocks noChangeAspect="1"/>
          </p:cNvGraphicFramePr>
          <p:nvPr>
            <p:extLst>
              <p:ext uri="{D42A27DB-BD31-4B8C-83A1-F6EECF244321}">
                <p14:modId xmlns:p14="http://schemas.microsoft.com/office/powerpoint/2010/main" val="84323950"/>
              </p:ext>
            </p:extLst>
          </p:nvPr>
        </p:nvGraphicFramePr>
        <p:xfrm>
          <a:off x="498204" y="4370277"/>
          <a:ext cx="3244850" cy="673100"/>
        </p:xfrm>
        <a:graphic>
          <a:graphicData uri="http://schemas.openxmlformats.org/presentationml/2006/ole">
            <mc:AlternateContent xmlns:mc="http://schemas.openxmlformats.org/markup-compatibility/2006">
              <mc:Choice xmlns:v="urn:schemas-microsoft-com:vml" Requires="v">
                <p:oleObj name="Denklem" r:id="rId10" imgW="2019240" imgH="419040" progId="Equation.3">
                  <p:embed/>
                </p:oleObj>
              </mc:Choice>
              <mc:Fallback>
                <p:oleObj name="Denklem" r:id="rId10" imgW="2019240" imgH="419040" progId="Equation.3">
                  <p:embed/>
                  <p:pic>
                    <p:nvPicPr>
                      <p:cNvPr id="39942"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8204" y="4370277"/>
                        <a:ext cx="324485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8" name="Content Placeholder 2"/>
          <p:cNvSpPr txBox="1">
            <a:spLocks/>
          </p:cNvSpPr>
          <p:nvPr/>
        </p:nvSpPr>
        <p:spPr bwMode="auto">
          <a:xfrm>
            <a:off x="63500" y="5548091"/>
            <a:ext cx="6786562" cy="730250"/>
          </a:xfrm>
          <a:prstGeom prst="rect">
            <a:avLst/>
          </a:prstGeom>
          <a:noFill/>
          <a:ln w="9525">
            <a:noFill/>
            <a:miter lim="800000"/>
            <a:headEnd/>
            <a:tailEnd/>
          </a:ln>
        </p:spPr>
        <p:txBody>
          <a:bodyPr lIns="182880" tIns="91440">
            <a:spAutoFit/>
          </a:bodyPr>
          <a:lstStyle/>
          <a:p>
            <a:pPr marL="265113" indent="-265113">
              <a:spcBef>
                <a:spcPts val="250"/>
              </a:spcBef>
              <a:buClr>
                <a:schemeClr val="accent1"/>
              </a:buClr>
              <a:buSzPct val="80000"/>
              <a:buFont typeface="Wingdings 2" pitchFamily="18" charset="2"/>
              <a:buNone/>
            </a:pPr>
            <a:endParaRPr lang="tr-TR" dirty="0">
              <a:latin typeface="Times New Roman" pitchFamily="18" charset="0"/>
              <a:cs typeface="Times New Roman" pitchFamily="18" charset="0"/>
            </a:endParaRPr>
          </a:p>
          <a:p>
            <a:pPr marL="265113" indent="-265113">
              <a:spcBef>
                <a:spcPts val="250"/>
              </a:spcBef>
              <a:buClr>
                <a:schemeClr val="accent1"/>
              </a:buClr>
              <a:buSzPct val="80000"/>
              <a:buFont typeface="Wingdings 2" pitchFamily="18" charset="2"/>
              <a:buNone/>
            </a:pPr>
            <a:r>
              <a:rPr lang="tr-TR" dirty="0">
                <a:latin typeface="Times New Roman" pitchFamily="18" charset="0"/>
                <a:cs typeface="Times New Roman" pitchFamily="18" charset="0"/>
              </a:rPr>
              <a:t>Elde edilen bu değerlerin tablo üzerine eklenmesi ile yeni tablo;</a:t>
            </a:r>
          </a:p>
        </p:txBody>
      </p:sp>
      <p:pic>
        <p:nvPicPr>
          <p:cNvPr id="39949" name="Picture 19"/>
          <p:cNvPicPr>
            <a:picLocks noChangeAspect="1" noChangeArrowheads="1"/>
          </p:cNvPicPr>
          <p:nvPr/>
        </p:nvPicPr>
        <p:blipFill>
          <a:blip r:embed="rId12"/>
          <a:srcRect/>
          <a:stretch>
            <a:fillRect/>
          </a:stretch>
        </p:blipFill>
        <p:spPr bwMode="auto">
          <a:xfrm>
            <a:off x="4572000" y="1630253"/>
            <a:ext cx="4517874" cy="3173413"/>
          </a:xfrm>
          <a:prstGeom prst="rect">
            <a:avLst/>
          </a:prstGeom>
          <a:noFill/>
          <a:ln w="9525">
            <a:noFill/>
            <a:miter lim="800000"/>
            <a:headEnd/>
            <a:tailEnd/>
          </a:ln>
        </p:spPr>
      </p:pic>
      <p:sp>
        <p:nvSpPr>
          <p:cNvPr id="3" name="30 32-Nokta Yıldız">
            <a:extLst>
              <a:ext uri="{FF2B5EF4-FFF2-40B4-BE49-F238E27FC236}">
                <a16:creationId xmlns:a16="http://schemas.microsoft.com/office/drawing/2014/main" id="{D8846F70-E145-042D-580D-48DEF289C4F0}"/>
              </a:ext>
            </a:extLst>
          </p:cNvPr>
          <p:cNvSpPr/>
          <p:nvPr/>
        </p:nvSpPr>
        <p:spPr>
          <a:xfrm>
            <a:off x="7380312" y="4239061"/>
            <a:ext cx="595017" cy="255042"/>
          </a:xfrm>
          <a:prstGeom prst="star32">
            <a:avLst>
              <a:gd name="adj" fmla="val 44149"/>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4" name="30 32-Nokta Yıldız">
            <a:extLst>
              <a:ext uri="{FF2B5EF4-FFF2-40B4-BE49-F238E27FC236}">
                <a16:creationId xmlns:a16="http://schemas.microsoft.com/office/drawing/2014/main" id="{66AB851B-2434-8E71-4C6D-4827B3743A00}"/>
              </a:ext>
            </a:extLst>
          </p:cNvPr>
          <p:cNvSpPr/>
          <p:nvPr/>
        </p:nvSpPr>
        <p:spPr>
          <a:xfrm>
            <a:off x="7437543" y="3675800"/>
            <a:ext cx="537786" cy="253697"/>
          </a:xfrm>
          <a:prstGeom prst="star32">
            <a:avLst>
              <a:gd name="adj" fmla="val 44149"/>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
        <p:nvSpPr>
          <p:cNvPr id="5" name="30 32-Nokta Yıldız">
            <a:extLst>
              <a:ext uri="{FF2B5EF4-FFF2-40B4-BE49-F238E27FC236}">
                <a16:creationId xmlns:a16="http://schemas.microsoft.com/office/drawing/2014/main" id="{205A9FFC-4F40-2C35-F00D-A51A676C443B}"/>
              </a:ext>
            </a:extLst>
          </p:cNvPr>
          <p:cNvSpPr/>
          <p:nvPr/>
        </p:nvSpPr>
        <p:spPr>
          <a:xfrm>
            <a:off x="7437543" y="3426506"/>
            <a:ext cx="621923" cy="249293"/>
          </a:xfrm>
          <a:prstGeom prst="star32">
            <a:avLst>
              <a:gd name="adj" fmla="val 44149"/>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Tree>
  </p:cSld>
  <p:clrMapOvr>
    <a:masterClrMapping/>
  </p:clrMapOvr>
  <p:transition spd="med">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Başlık"/>
          <p:cNvSpPr txBox="1">
            <a:spLocks/>
          </p:cNvSpPr>
          <p:nvPr/>
        </p:nvSpPr>
        <p:spPr>
          <a:xfrm>
            <a:off x="63500" y="71438"/>
            <a:ext cx="8183563" cy="285750"/>
          </a:xfrm>
          <a:prstGeom prst="rect">
            <a:avLst/>
          </a:prstGeom>
        </p:spPr>
        <p:txBody>
          <a:bodyPr anchor="b">
            <a:normAutofit fontScale="90000" lnSpcReduction="10000"/>
          </a:bodyPr>
          <a:lstStyle/>
          <a:p>
            <a:pPr fontAlgn="auto">
              <a:spcAft>
                <a:spcPts val="0"/>
              </a:spcAft>
              <a:defRPr/>
            </a:pPr>
            <a:r>
              <a:rPr lang="tr-TR" sz="1600" b="1"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mj-cs"/>
              </a:rPr>
              <a:t> </a:t>
            </a:r>
            <a:endParaRPr lang="tr-TR" sz="2400" dirty="0">
              <a:solidFill>
                <a:schemeClr val="tx1">
                  <a:lumMod val="95000"/>
                  <a:lumOff val="5000"/>
                </a:schemeClr>
              </a:solidFill>
              <a:effectLst>
                <a:outerShdw blurRad="53975" dist="22860" dir="5400000" algn="tl" rotWithShape="0">
                  <a:srgbClr val="000000">
                    <a:alpha val="55000"/>
                  </a:srgbClr>
                </a:outerShdw>
              </a:effectLst>
              <a:latin typeface="Harrington" pitchFamily="82" charset="0"/>
              <a:ea typeface="+mj-ea"/>
              <a:cs typeface="Times New Roman" pitchFamily="18" charset="0"/>
            </a:endParaRPr>
          </a:p>
        </p:txBody>
      </p:sp>
      <p:sp>
        <p:nvSpPr>
          <p:cNvPr id="62469" name="10 Metin kutusu"/>
          <p:cNvSpPr txBox="1">
            <a:spLocks noChangeArrowheads="1"/>
          </p:cNvSpPr>
          <p:nvPr/>
        </p:nvSpPr>
        <p:spPr bwMode="auto">
          <a:xfrm>
            <a:off x="442913" y="469900"/>
            <a:ext cx="8072437" cy="646113"/>
          </a:xfrm>
          <a:prstGeom prst="rect">
            <a:avLst/>
          </a:prstGeom>
          <a:noFill/>
          <a:ln w="9525">
            <a:noFill/>
            <a:miter lim="800000"/>
            <a:headEnd/>
            <a:tailEnd/>
          </a:ln>
        </p:spPr>
        <p:txBody>
          <a:bodyPr>
            <a:spAutoFit/>
          </a:bodyPr>
          <a:lstStyle/>
          <a:p>
            <a:pPr algn="just"/>
            <a:r>
              <a:rPr lang="tr-TR" b="1" dirty="0">
                <a:latin typeface="Times New Roman" pitchFamily="18" charset="0"/>
                <a:cs typeface="Times New Roman" pitchFamily="18" charset="0"/>
              </a:rPr>
              <a:t>Ağırlıklı uzaklık değerleri tablo üzerinde gösterilirse</a:t>
            </a:r>
            <a:endParaRPr lang="tr-TR" dirty="0">
              <a:latin typeface="Times New Roman" pitchFamily="18" charset="0"/>
              <a:cs typeface="Times New Roman" pitchFamily="18" charset="0"/>
            </a:endParaRPr>
          </a:p>
          <a:p>
            <a:pPr algn="just"/>
            <a:endParaRPr lang="tr-TR" dirty="0">
              <a:latin typeface="Times New Roman" pitchFamily="18" charset="0"/>
              <a:cs typeface="Times New Roman" pitchFamily="18" charset="0"/>
            </a:endParaRPr>
          </a:p>
        </p:txBody>
      </p:sp>
      <p:sp>
        <p:nvSpPr>
          <p:cNvPr id="62470" name="30 Metin kutusu"/>
          <p:cNvSpPr txBox="1">
            <a:spLocks noChangeArrowheads="1"/>
          </p:cNvSpPr>
          <p:nvPr/>
        </p:nvSpPr>
        <p:spPr bwMode="auto">
          <a:xfrm>
            <a:off x="571500" y="4857750"/>
            <a:ext cx="8072438" cy="915988"/>
          </a:xfrm>
          <a:prstGeom prst="rect">
            <a:avLst/>
          </a:prstGeom>
          <a:noFill/>
          <a:ln w="9525">
            <a:noFill/>
            <a:miter lim="800000"/>
            <a:headEnd/>
            <a:tailEnd/>
          </a:ln>
        </p:spPr>
        <p:txBody>
          <a:bodyPr>
            <a:spAutoFit/>
          </a:bodyPr>
          <a:lstStyle/>
          <a:p>
            <a:pPr algn="just"/>
            <a:r>
              <a:rPr lang="tr-TR" dirty="0">
                <a:latin typeface="Times New Roman" pitchFamily="18" charset="0"/>
                <a:cs typeface="Times New Roman" pitchFamily="18" charset="0"/>
              </a:rPr>
              <a:t>Bakiyeler içinde hepsi ARTI olduğu için aranan yeni gözlem değerinin sınıfının da </a:t>
            </a:r>
            <a:r>
              <a:rPr lang="tr-TR" dirty="0" err="1">
                <a:latin typeface="Times New Roman" pitchFamily="18" charset="0"/>
                <a:cs typeface="Times New Roman" pitchFamily="18" charset="0"/>
              </a:rPr>
              <a:t>ARTI’ya</a:t>
            </a:r>
            <a:r>
              <a:rPr lang="tr-TR" dirty="0">
                <a:latin typeface="Times New Roman" pitchFamily="18" charset="0"/>
                <a:cs typeface="Times New Roman" pitchFamily="18" charset="0"/>
              </a:rPr>
              <a:t>  ait olduğu belirlenir.</a:t>
            </a:r>
          </a:p>
          <a:p>
            <a:pPr algn="just"/>
            <a:endParaRPr lang="tr-TR" dirty="0">
              <a:latin typeface="Times New Roman" pitchFamily="18" charset="0"/>
              <a:cs typeface="Times New Roman" pitchFamily="18" charset="0"/>
            </a:endParaRPr>
          </a:p>
        </p:txBody>
      </p:sp>
      <p:pic>
        <p:nvPicPr>
          <p:cNvPr id="62471" name="Picture 10"/>
          <p:cNvPicPr>
            <a:picLocks noChangeAspect="1" noChangeArrowheads="1"/>
          </p:cNvPicPr>
          <p:nvPr/>
        </p:nvPicPr>
        <p:blipFill>
          <a:blip r:embed="rId2"/>
          <a:srcRect/>
          <a:stretch>
            <a:fillRect/>
          </a:stretch>
        </p:blipFill>
        <p:spPr bwMode="auto">
          <a:xfrm>
            <a:off x="1403350" y="1052513"/>
            <a:ext cx="6048375" cy="3514725"/>
          </a:xfrm>
          <a:prstGeom prst="rect">
            <a:avLst/>
          </a:prstGeom>
          <a:noFill/>
          <a:ln w="9525">
            <a:noFill/>
            <a:miter lim="800000"/>
            <a:headEnd/>
            <a:tailEnd/>
          </a:ln>
        </p:spPr>
      </p:pic>
      <p:sp>
        <p:nvSpPr>
          <p:cNvPr id="39" name="38 32-Nokta Yıldız"/>
          <p:cNvSpPr/>
          <p:nvPr/>
        </p:nvSpPr>
        <p:spPr>
          <a:xfrm>
            <a:off x="4572000" y="3860800"/>
            <a:ext cx="863600" cy="500063"/>
          </a:xfrm>
          <a:prstGeom prst="star32">
            <a:avLst>
              <a:gd name="adj" fmla="val 43766"/>
            </a:avLst>
          </a:prstGeom>
          <a:solidFill>
            <a:srgbClr val="FFFF00">
              <a:alpha val="17000"/>
            </a:srgbClr>
          </a:solidFill>
          <a:ln>
            <a:solidFill>
              <a:srgbClr val="FF0000"/>
            </a:solidFill>
          </a:ln>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endParaRPr lang="tr-TR" sz="1600" dirty="0">
              <a:solidFill>
                <a:schemeClr val="accent6">
                  <a:lumMod val="50000"/>
                </a:schemeClr>
              </a:solidFill>
              <a:latin typeface="Arial Narrow" pitchFamily="34" charset="0"/>
            </a:endParaRPr>
          </a:p>
        </p:txBody>
      </p:sp>
    </p:spTree>
  </p:cSld>
  <p:clrMapOvr>
    <a:masterClrMapping/>
  </p:clrMapOvr>
  <p:transition spd="med">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E80F7C-AE9D-3E05-3AEA-3342CDECAE84}"/>
              </a:ext>
            </a:extLst>
          </p:cNvPr>
          <p:cNvSpPr>
            <a:spLocks noGrp="1"/>
          </p:cNvSpPr>
          <p:nvPr>
            <p:ph type="title"/>
          </p:nvPr>
        </p:nvSpPr>
        <p:spPr>
          <a:xfrm>
            <a:off x="501724" y="135181"/>
            <a:ext cx="7886700" cy="1052736"/>
          </a:xfrm>
        </p:spPr>
        <p:txBody>
          <a:bodyPr/>
          <a:lstStyle/>
          <a:p>
            <a:r>
              <a:rPr lang="tr-TR" dirty="0"/>
              <a:t>Örnek</a:t>
            </a:r>
            <a:endParaRPr lang="en-US" dirty="0"/>
          </a:p>
        </p:txBody>
      </p:sp>
      <p:pic>
        <p:nvPicPr>
          <p:cNvPr id="6" name="İçerik Yer Tutucusu 5">
            <a:extLst>
              <a:ext uri="{FF2B5EF4-FFF2-40B4-BE49-F238E27FC236}">
                <a16:creationId xmlns:a16="http://schemas.microsoft.com/office/drawing/2014/main" id="{32FE5DCE-DE6D-D0E0-7FC2-14A374816BE5}"/>
              </a:ext>
            </a:extLst>
          </p:cNvPr>
          <p:cNvPicPr>
            <a:picLocks noGrp="1" noChangeAspect="1"/>
          </p:cNvPicPr>
          <p:nvPr>
            <p:ph idx="1"/>
          </p:nvPr>
        </p:nvPicPr>
        <p:blipFill>
          <a:blip r:embed="rId2"/>
          <a:stretch>
            <a:fillRect/>
          </a:stretch>
        </p:blipFill>
        <p:spPr>
          <a:xfrm>
            <a:off x="628650" y="2352387"/>
            <a:ext cx="2719586" cy="4351338"/>
          </a:xfrm>
          <a:prstGeom prst="rect">
            <a:avLst/>
          </a:prstGeom>
        </p:spPr>
      </p:pic>
      <p:pic>
        <p:nvPicPr>
          <p:cNvPr id="7" name="Resim 6">
            <a:extLst>
              <a:ext uri="{FF2B5EF4-FFF2-40B4-BE49-F238E27FC236}">
                <a16:creationId xmlns:a16="http://schemas.microsoft.com/office/drawing/2014/main" id="{6DA7BF23-D3B0-F083-1DEE-C9024BA522BC}"/>
              </a:ext>
            </a:extLst>
          </p:cNvPr>
          <p:cNvPicPr>
            <a:picLocks noChangeAspect="1"/>
          </p:cNvPicPr>
          <p:nvPr/>
        </p:nvPicPr>
        <p:blipFill>
          <a:blip r:embed="rId3"/>
          <a:stretch>
            <a:fillRect/>
          </a:stretch>
        </p:blipFill>
        <p:spPr>
          <a:xfrm>
            <a:off x="4139952" y="2690812"/>
            <a:ext cx="2809875" cy="1476375"/>
          </a:xfrm>
          <a:prstGeom prst="rect">
            <a:avLst/>
          </a:prstGeom>
        </p:spPr>
      </p:pic>
      <p:sp>
        <p:nvSpPr>
          <p:cNvPr id="9" name="Metin kutusu 8">
            <a:extLst>
              <a:ext uri="{FF2B5EF4-FFF2-40B4-BE49-F238E27FC236}">
                <a16:creationId xmlns:a16="http://schemas.microsoft.com/office/drawing/2014/main" id="{0A760A8E-AA55-36DA-F6C5-BDE4CCF16C53}"/>
              </a:ext>
            </a:extLst>
          </p:cNvPr>
          <p:cNvSpPr txBox="1"/>
          <p:nvPr/>
        </p:nvSpPr>
        <p:spPr>
          <a:xfrm>
            <a:off x="3816424" y="4336493"/>
            <a:ext cx="4572000" cy="646331"/>
          </a:xfrm>
          <a:prstGeom prst="rect">
            <a:avLst/>
          </a:prstGeom>
          <a:noFill/>
        </p:spPr>
        <p:txBody>
          <a:bodyPr wrap="square">
            <a:spAutoFit/>
          </a:bodyPr>
          <a:lstStyle/>
          <a:p>
            <a:r>
              <a:rPr lang="tr-TR" b="1" i="0" dirty="0">
                <a:solidFill>
                  <a:srgbClr val="0A0A23"/>
                </a:solidFill>
                <a:effectLst/>
                <a:latin typeface="Lato" panose="020F0502020204030203" pitchFamily="34" charset="-94"/>
              </a:rPr>
              <a:t>Öklid Uzaklığı için</a:t>
            </a:r>
          </a:p>
          <a:p>
            <a:r>
              <a:rPr lang="en-US" b="0" i="0" dirty="0" err="1">
                <a:solidFill>
                  <a:srgbClr val="0A0A23"/>
                </a:solidFill>
                <a:effectLst/>
                <a:latin typeface="Lato" panose="020F0502020204030203" pitchFamily="34" charset="-94"/>
              </a:rPr>
              <a:t>Formül</a:t>
            </a:r>
            <a:r>
              <a:rPr lang="en-US" b="0" i="0" dirty="0">
                <a:solidFill>
                  <a:srgbClr val="0A0A23"/>
                </a:solidFill>
                <a:effectLst/>
                <a:latin typeface="Lato" panose="020F0502020204030203" pitchFamily="34" charset="-94"/>
              </a:rPr>
              <a:t> </a:t>
            </a:r>
            <a:r>
              <a:rPr lang="en-US" b="0" i="0" dirty="0" err="1">
                <a:solidFill>
                  <a:srgbClr val="0A0A23"/>
                </a:solidFill>
                <a:effectLst/>
                <a:latin typeface="Lato" panose="020F0502020204030203" pitchFamily="34" charset="-94"/>
              </a:rPr>
              <a:t>şu</a:t>
            </a:r>
            <a:r>
              <a:rPr lang="en-US" b="0" i="0" dirty="0">
                <a:solidFill>
                  <a:srgbClr val="0A0A23"/>
                </a:solidFill>
                <a:effectLst/>
                <a:latin typeface="Lato" panose="020F0502020204030203" pitchFamily="34" charset="-94"/>
              </a:rPr>
              <a:t> </a:t>
            </a:r>
            <a:r>
              <a:rPr lang="en-US" b="0" i="0" dirty="0" err="1">
                <a:solidFill>
                  <a:srgbClr val="0A0A23"/>
                </a:solidFill>
                <a:effectLst/>
                <a:latin typeface="Lato" panose="020F0502020204030203" pitchFamily="34" charset="-94"/>
              </a:rPr>
              <a:t>şekildedir</a:t>
            </a:r>
            <a:r>
              <a:rPr lang="en-US" b="0" i="0" dirty="0">
                <a:solidFill>
                  <a:srgbClr val="0A0A23"/>
                </a:solidFill>
                <a:effectLst/>
                <a:latin typeface="Lato" panose="020F0502020204030203" pitchFamily="34" charset="-94"/>
              </a:rPr>
              <a:t>: √(X₂-X₁)²+(Y₂-Y₁)²</a:t>
            </a:r>
            <a:endParaRPr lang="en-US" dirty="0"/>
          </a:p>
        </p:txBody>
      </p:sp>
      <p:sp>
        <p:nvSpPr>
          <p:cNvPr id="11" name="Metin kutusu 10">
            <a:extLst>
              <a:ext uri="{FF2B5EF4-FFF2-40B4-BE49-F238E27FC236}">
                <a16:creationId xmlns:a16="http://schemas.microsoft.com/office/drawing/2014/main" id="{70CE7069-333F-48E9-CE12-2C009CC5EB81}"/>
              </a:ext>
            </a:extLst>
          </p:cNvPr>
          <p:cNvSpPr txBox="1"/>
          <p:nvPr/>
        </p:nvSpPr>
        <p:spPr>
          <a:xfrm>
            <a:off x="3804675" y="5145937"/>
            <a:ext cx="4572000" cy="1477328"/>
          </a:xfrm>
          <a:prstGeom prst="rect">
            <a:avLst/>
          </a:prstGeom>
          <a:noFill/>
        </p:spPr>
        <p:txBody>
          <a:bodyPr wrap="square">
            <a:spAutoFit/>
          </a:bodyPr>
          <a:lstStyle/>
          <a:p>
            <a:pPr algn="l" fontAlgn="base"/>
            <a:r>
              <a:rPr lang="en-US" b="0" i="0" dirty="0" err="1">
                <a:solidFill>
                  <a:srgbClr val="0A0A23"/>
                </a:solidFill>
                <a:effectLst/>
                <a:latin typeface="Lato" panose="020F0502020204030203" pitchFamily="34" charset="-94"/>
              </a:rPr>
              <a:t>Nerede</a:t>
            </a:r>
            <a:r>
              <a:rPr lang="en-US" b="0" i="0" dirty="0">
                <a:solidFill>
                  <a:srgbClr val="0A0A23"/>
                </a:solidFill>
                <a:effectLst/>
                <a:latin typeface="Lato" panose="020F0502020204030203" pitchFamily="34" charset="-94"/>
              </a:rPr>
              <a:t>:</a:t>
            </a:r>
          </a:p>
          <a:p>
            <a:pPr algn="l" fontAlgn="base">
              <a:buFont typeface="Arial" panose="020B0604020202020204" pitchFamily="34" charset="0"/>
              <a:buChar char="•"/>
            </a:pPr>
            <a:r>
              <a:rPr lang="en-US" b="0" i="0" dirty="0">
                <a:solidFill>
                  <a:srgbClr val="0A0A23"/>
                </a:solidFill>
                <a:effectLst/>
                <a:latin typeface="inherit"/>
              </a:rPr>
              <a:t>X₂ = Yeni </a:t>
            </a:r>
            <a:r>
              <a:rPr lang="en-US" b="0" i="0" dirty="0" err="1">
                <a:solidFill>
                  <a:srgbClr val="0A0A23"/>
                </a:solidFill>
                <a:effectLst/>
                <a:latin typeface="inherit"/>
              </a:rPr>
              <a:t>girişin</a:t>
            </a:r>
            <a:r>
              <a:rPr lang="en-US" b="0" i="0" dirty="0">
                <a:solidFill>
                  <a:srgbClr val="0A0A23"/>
                </a:solidFill>
                <a:effectLst/>
                <a:latin typeface="inherit"/>
              </a:rPr>
              <a:t> </a:t>
            </a:r>
            <a:r>
              <a:rPr lang="en-US" b="0" i="0" dirty="0" err="1">
                <a:solidFill>
                  <a:srgbClr val="0A0A23"/>
                </a:solidFill>
                <a:effectLst/>
                <a:latin typeface="inherit"/>
              </a:rPr>
              <a:t>parlaklığı</a:t>
            </a:r>
            <a:r>
              <a:rPr lang="en-US" b="0" i="0" dirty="0">
                <a:solidFill>
                  <a:srgbClr val="0A0A23"/>
                </a:solidFill>
                <a:effectLst/>
                <a:latin typeface="inherit"/>
              </a:rPr>
              <a:t> (20).</a:t>
            </a:r>
          </a:p>
          <a:p>
            <a:pPr algn="l" fontAlgn="base">
              <a:buFont typeface="Arial" panose="020B0604020202020204" pitchFamily="34" charset="0"/>
              <a:buChar char="•"/>
            </a:pPr>
            <a:r>
              <a:rPr lang="en-US" b="0" i="0" dirty="0">
                <a:solidFill>
                  <a:srgbClr val="0A0A23"/>
                </a:solidFill>
                <a:effectLst/>
                <a:latin typeface="inherit"/>
              </a:rPr>
              <a:t>X₁= </a:t>
            </a:r>
            <a:r>
              <a:rPr lang="en-US" b="0" i="0" dirty="0" err="1">
                <a:solidFill>
                  <a:srgbClr val="0A0A23"/>
                </a:solidFill>
                <a:effectLst/>
                <a:latin typeface="inherit"/>
              </a:rPr>
              <a:t>Mevcut</a:t>
            </a:r>
            <a:r>
              <a:rPr lang="en-US" b="0" i="0" dirty="0">
                <a:solidFill>
                  <a:srgbClr val="0A0A23"/>
                </a:solidFill>
                <a:effectLst/>
                <a:latin typeface="inherit"/>
              </a:rPr>
              <a:t> </a:t>
            </a:r>
            <a:r>
              <a:rPr lang="en-US" b="0" i="0" dirty="0" err="1">
                <a:solidFill>
                  <a:srgbClr val="0A0A23"/>
                </a:solidFill>
                <a:effectLst/>
                <a:latin typeface="inherit"/>
              </a:rPr>
              <a:t>girişin</a:t>
            </a:r>
            <a:r>
              <a:rPr lang="en-US" b="0" i="0" dirty="0">
                <a:solidFill>
                  <a:srgbClr val="0A0A23"/>
                </a:solidFill>
                <a:effectLst/>
                <a:latin typeface="inherit"/>
              </a:rPr>
              <a:t> </a:t>
            </a:r>
            <a:r>
              <a:rPr lang="en-US" b="0" i="0" dirty="0" err="1">
                <a:solidFill>
                  <a:srgbClr val="0A0A23"/>
                </a:solidFill>
                <a:effectLst/>
                <a:latin typeface="inherit"/>
              </a:rPr>
              <a:t>parlaklığı</a:t>
            </a:r>
            <a:r>
              <a:rPr lang="en-US" b="0" i="0" dirty="0">
                <a:solidFill>
                  <a:srgbClr val="0A0A23"/>
                </a:solidFill>
                <a:effectLst/>
                <a:latin typeface="inherit"/>
              </a:rPr>
              <a:t>.</a:t>
            </a:r>
          </a:p>
          <a:p>
            <a:pPr algn="l" fontAlgn="base">
              <a:buFont typeface="Arial" panose="020B0604020202020204" pitchFamily="34" charset="0"/>
              <a:buChar char="•"/>
            </a:pPr>
            <a:r>
              <a:rPr lang="en-US" b="0" i="0" dirty="0">
                <a:solidFill>
                  <a:srgbClr val="0A0A23"/>
                </a:solidFill>
                <a:effectLst/>
                <a:latin typeface="inherit"/>
              </a:rPr>
              <a:t>Y₂ = Yeni </a:t>
            </a:r>
            <a:r>
              <a:rPr lang="en-US" b="0" i="0" dirty="0" err="1">
                <a:solidFill>
                  <a:srgbClr val="0A0A23"/>
                </a:solidFill>
                <a:effectLst/>
                <a:latin typeface="inherit"/>
              </a:rPr>
              <a:t>girişin</a:t>
            </a:r>
            <a:r>
              <a:rPr lang="en-US" b="0" i="0" dirty="0">
                <a:solidFill>
                  <a:srgbClr val="0A0A23"/>
                </a:solidFill>
                <a:effectLst/>
                <a:latin typeface="inherit"/>
              </a:rPr>
              <a:t> </a:t>
            </a:r>
            <a:r>
              <a:rPr lang="en-US" b="0" i="0" dirty="0" err="1">
                <a:solidFill>
                  <a:srgbClr val="0A0A23"/>
                </a:solidFill>
                <a:effectLst/>
                <a:latin typeface="inherit"/>
              </a:rPr>
              <a:t>doygunluğu</a:t>
            </a:r>
            <a:r>
              <a:rPr lang="en-US" b="0" i="0" dirty="0">
                <a:solidFill>
                  <a:srgbClr val="0A0A23"/>
                </a:solidFill>
                <a:effectLst/>
                <a:latin typeface="inherit"/>
              </a:rPr>
              <a:t> (35).</a:t>
            </a:r>
          </a:p>
          <a:p>
            <a:pPr algn="l" fontAlgn="base">
              <a:buFont typeface="Arial" panose="020B0604020202020204" pitchFamily="34" charset="0"/>
              <a:buChar char="•"/>
            </a:pPr>
            <a:r>
              <a:rPr lang="en-US" b="0" i="0" dirty="0">
                <a:solidFill>
                  <a:srgbClr val="0A0A23"/>
                </a:solidFill>
                <a:effectLst/>
                <a:latin typeface="inherit"/>
              </a:rPr>
              <a:t>Y₁ = </a:t>
            </a:r>
            <a:r>
              <a:rPr lang="en-US" b="0" i="0" dirty="0" err="1">
                <a:solidFill>
                  <a:srgbClr val="0A0A23"/>
                </a:solidFill>
                <a:effectLst/>
                <a:latin typeface="inherit"/>
              </a:rPr>
              <a:t>Mevcut</a:t>
            </a:r>
            <a:r>
              <a:rPr lang="en-US" b="0" i="0" dirty="0">
                <a:solidFill>
                  <a:srgbClr val="0A0A23"/>
                </a:solidFill>
                <a:effectLst/>
                <a:latin typeface="inherit"/>
              </a:rPr>
              <a:t> </a:t>
            </a:r>
            <a:r>
              <a:rPr lang="en-US" b="0" i="0" dirty="0" err="1">
                <a:solidFill>
                  <a:srgbClr val="0A0A23"/>
                </a:solidFill>
                <a:effectLst/>
                <a:latin typeface="inherit"/>
              </a:rPr>
              <a:t>girişin</a:t>
            </a:r>
            <a:r>
              <a:rPr lang="en-US" b="0" i="0" dirty="0">
                <a:solidFill>
                  <a:srgbClr val="0A0A23"/>
                </a:solidFill>
                <a:effectLst/>
                <a:latin typeface="inherit"/>
              </a:rPr>
              <a:t> </a:t>
            </a:r>
            <a:r>
              <a:rPr lang="en-US" b="0" i="0" dirty="0" err="1">
                <a:solidFill>
                  <a:srgbClr val="0A0A23"/>
                </a:solidFill>
                <a:effectLst/>
                <a:latin typeface="inherit"/>
              </a:rPr>
              <a:t>doygunluğu</a:t>
            </a:r>
            <a:r>
              <a:rPr lang="en-US" b="0" i="0" dirty="0">
                <a:solidFill>
                  <a:srgbClr val="0A0A23"/>
                </a:solidFill>
                <a:effectLst/>
                <a:latin typeface="inherit"/>
              </a:rPr>
              <a:t>.</a:t>
            </a:r>
          </a:p>
        </p:txBody>
      </p:sp>
      <p:sp>
        <p:nvSpPr>
          <p:cNvPr id="3" name="Metin kutusu 2">
            <a:extLst>
              <a:ext uri="{FF2B5EF4-FFF2-40B4-BE49-F238E27FC236}">
                <a16:creationId xmlns:a16="http://schemas.microsoft.com/office/drawing/2014/main" id="{FC9CEA57-7858-E120-4A52-426A5A890B19}"/>
              </a:ext>
            </a:extLst>
          </p:cNvPr>
          <p:cNvSpPr txBox="1"/>
          <p:nvPr/>
        </p:nvSpPr>
        <p:spPr>
          <a:xfrm>
            <a:off x="467544" y="1007730"/>
            <a:ext cx="7920880" cy="923330"/>
          </a:xfrm>
          <a:prstGeom prst="rect">
            <a:avLst/>
          </a:prstGeom>
          <a:noFill/>
        </p:spPr>
        <p:txBody>
          <a:bodyPr wrap="square" rtlCol="0">
            <a:spAutoFit/>
          </a:bodyPr>
          <a:lstStyle/>
          <a:p>
            <a:pPr algn="just"/>
            <a:r>
              <a:rPr lang="tr-TR" dirty="0"/>
              <a:t>Tabloda parlaklık ve doyma değerleri verilen ışıklar için dışarıdan </a:t>
            </a:r>
          </a:p>
          <a:p>
            <a:pPr algn="just"/>
            <a:r>
              <a:rPr lang="tr-TR" dirty="0"/>
              <a:t>parlaklık değeri :20 ve doyma değeri : 35 olan bir ışık geldiğinde hangi sınıfa dahil olur. Öklid uzaklık ölçüsü ve ağırlıklı oylama ile yapınız.</a:t>
            </a:r>
            <a:endParaRPr lang="en-US" dirty="0"/>
          </a:p>
        </p:txBody>
      </p:sp>
    </p:spTree>
    <p:extLst>
      <p:ext uri="{BB962C8B-B14F-4D97-AF65-F5344CB8AC3E}">
        <p14:creationId xmlns:p14="http://schemas.microsoft.com/office/powerpoint/2010/main" val="473170570"/>
      </p:ext>
    </p:extLst>
  </p:cSld>
  <p:clrMapOvr>
    <a:masterClrMapping/>
  </p:clrMapOvr>
  <p:transition spd="med">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E80F7C-AE9D-3E05-3AEA-3342CDECAE84}"/>
              </a:ext>
            </a:extLst>
          </p:cNvPr>
          <p:cNvSpPr>
            <a:spLocks noGrp="1"/>
          </p:cNvSpPr>
          <p:nvPr>
            <p:ph type="title"/>
          </p:nvPr>
        </p:nvSpPr>
        <p:spPr/>
        <p:txBody>
          <a:bodyPr/>
          <a:lstStyle/>
          <a:p>
            <a:r>
              <a:rPr lang="tr-TR" dirty="0"/>
              <a:t>Örnek</a:t>
            </a:r>
            <a:endParaRPr lang="en-US" dirty="0"/>
          </a:p>
        </p:txBody>
      </p:sp>
      <p:pic>
        <p:nvPicPr>
          <p:cNvPr id="6" name="İçerik Yer Tutucusu 5">
            <a:extLst>
              <a:ext uri="{FF2B5EF4-FFF2-40B4-BE49-F238E27FC236}">
                <a16:creationId xmlns:a16="http://schemas.microsoft.com/office/drawing/2014/main" id="{32FE5DCE-DE6D-D0E0-7FC2-14A374816BE5}"/>
              </a:ext>
            </a:extLst>
          </p:cNvPr>
          <p:cNvPicPr>
            <a:picLocks noGrp="1" noChangeAspect="1"/>
          </p:cNvPicPr>
          <p:nvPr>
            <p:ph idx="1"/>
          </p:nvPr>
        </p:nvPicPr>
        <p:blipFill>
          <a:blip r:embed="rId3"/>
          <a:stretch>
            <a:fillRect/>
          </a:stretch>
        </p:blipFill>
        <p:spPr>
          <a:xfrm>
            <a:off x="467544" y="1847851"/>
            <a:ext cx="2719586" cy="4351338"/>
          </a:xfrm>
          <a:prstGeom prst="rect">
            <a:avLst/>
          </a:prstGeom>
        </p:spPr>
      </p:pic>
      <p:sp>
        <p:nvSpPr>
          <p:cNvPr id="5" name="Slayt Numarası Yer Tutucusu 4">
            <a:extLst>
              <a:ext uri="{FF2B5EF4-FFF2-40B4-BE49-F238E27FC236}">
                <a16:creationId xmlns:a16="http://schemas.microsoft.com/office/drawing/2014/main" id="{5B769C88-F640-BBAB-8168-CF652156A357}"/>
              </a:ext>
            </a:extLst>
          </p:cNvPr>
          <p:cNvSpPr>
            <a:spLocks noGrp="1"/>
          </p:cNvSpPr>
          <p:nvPr>
            <p:ph type="sldNum" sz="quarter" idx="12"/>
          </p:nvPr>
        </p:nvSpPr>
        <p:spPr/>
        <p:txBody>
          <a:bodyPr/>
          <a:lstStyle/>
          <a:p>
            <a:pPr>
              <a:defRPr/>
            </a:pPr>
            <a:fld id="{1E09EE13-7A4C-43FA-BBE8-D81D5C0B929E}" type="slidenum">
              <a:rPr lang="tr-TR" smtClean="0"/>
              <a:pPr>
                <a:defRPr/>
              </a:pPr>
              <a:t>45</a:t>
            </a:fld>
            <a:endParaRPr lang="tr-TR"/>
          </a:p>
        </p:txBody>
      </p:sp>
      <p:pic>
        <p:nvPicPr>
          <p:cNvPr id="7" name="Resim 6">
            <a:extLst>
              <a:ext uri="{FF2B5EF4-FFF2-40B4-BE49-F238E27FC236}">
                <a16:creationId xmlns:a16="http://schemas.microsoft.com/office/drawing/2014/main" id="{6DA7BF23-D3B0-F083-1DEE-C9024BA522BC}"/>
              </a:ext>
            </a:extLst>
          </p:cNvPr>
          <p:cNvPicPr>
            <a:picLocks noChangeAspect="1"/>
          </p:cNvPicPr>
          <p:nvPr/>
        </p:nvPicPr>
        <p:blipFill>
          <a:blip r:embed="rId4"/>
          <a:stretch>
            <a:fillRect/>
          </a:stretch>
        </p:blipFill>
        <p:spPr>
          <a:xfrm>
            <a:off x="4829641" y="1131937"/>
            <a:ext cx="2809875" cy="1476375"/>
          </a:xfrm>
          <a:prstGeom prst="rect">
            <a:avLst/>
          </a:prstGeom>
        </p:spPr>
      </p:pic>
      <p:pic>
        <p:nvPicPr>
          <p:cNvPr id="3" name="Resim 2">
            <a:extLst>
              <a:ext uri="{FF2B5EF4-FFF2-40B4-BE49-F238E27FC236}">
                <a16:creationId xmlns:a16="http://schemas.microsoft.com/office/drawing/2014/main" id="{AD9F8D8F-B03C-A799-EB6D-0E0B72495086}"/>
              </a:ext>
            </a:extLst>
          </p:cNvPr>
          <p:cNvPicPr>
            <a:picLocks noChangeAspect="1"/>
          </p:cNvPicPr>
          <p:nvPr/>
        </p:nvPicPr>
        <p:blipFill>
          <a:blip r:embed="rId5"/>
          <a:stretch>
            <a:fillRect/>
          </a:stretch>
        </p:blipFill>
        <p:spPr>
          <a:xfrm>
            <a:off x="4829641" y="2924944"/>
            <a:ext cx="3048000" cy="1362075"/>
          </a:xfrm>
          <a:prstGeom prst="rect">
            <a:avLst/>
          </a:prstGeom>
        </p:spPr>
      </p:pic>
      <p:sp>
        <p:nvSpPr>
          <p:cNvPr id="8" name="Metin kutusu 7">
            <a:extLst>
              <a:ext uri="{FF2B5EF4-FFF2-40B4-BE49-F238E27FC236}">
                <a16:creationId xmlns:a16="http://schemas.microsoft.com/office/drawing/2014/main" id="{711DD636-71B5-D441-879C-531D6EAABA1B}"/>
              </a:ext>
            </a:extLst>
          </p:cNvPr>
          <p:cNvSpPr txBox="1"/>
          <p:nvPr/>
        </p:nvSpPr>
        <p:spPr>
          <a:xfrm>
            <a:off x="4829641" y="4797152"/>
            <a:ext cx="3384376" cy="1200329"/>
          </a:xfrm>
          <a:prstGeom prst="rect">
            <a:avLst/>
          </a:prstGeom>
          <a:noFill/>
        </p:spPr>
        <p:txBody>
          <a:bodyPr wrap="square">
            <a:spAutoFit/>
          </a:bodyPr>
          <a:lstStyle/>
          <a:p>
            <a:r>
              <a:rPr lang="en-US" b="0" i="0" dirty="0">
                <a:solidFill>
                  <a:srgbClr val="0A0A23"/>
                </a:solidFill>
                <a:effectLst/>
                <a:latin typeface="Lato" panose="020F0502020204030203" pitchFamily="34" charset="-94"/>
              </a:rPr>
              <a:t>d1 = √(20 - 40)² + (35 - 20)²</a:t>
            </a:r>
            <a:br>
              <a:rPr lang="en-US" dirty="0"/>
            </a:br>
            <a:r>
              <a:rPr lang="en-US" b="0" i="0" dirty="0">
                <a:solidFill>
                  <a:srgbClr val="0A0A23"/>
                </a:solidFill>
                <a:effectLst/>
                <a:latin typeface="Lato" panose="020F0502020204030203" pitchFamily="34" charset="-94"/>
              </a:rPr>
              <a:t>= √400 + 225</a:t>
            </a:r>
            <a:br>
              <a:rPr lang="en-US" dirty="0"/>
            </a:br>
            <a:r>
              <a:rPr lang="en-US" b="0" i="0" dirty="0">
                <a:solidFill>
                  <a:srgbClr val="0A0A23"/>
                </a:solidFill>
                <a:effectLst/>
                <a:latin typeface="Lato" panose="020F0502020204030203" pitchFamily="34" charset="-94"/>
              </a:rPr>
              <a:t>= √625</a:t>
            </a:r>
            <a:br>
              <a:rPr lang="en-US" dirty="0"/>
            </a:br>
            <a:r>
              <a:rPr lang="en-US" b="0" i="0" dirty="0">
                <a:solidFill>
                  <a:srgbClr val="0A0A23"/>
                </a:solidFill>
                <a:effectLst/>
                <a:latin typeface="Lato" panose="020F0502020204030203" pitchFamily="34" charset="-94"/>
              </a:rPr>
              <a:t>= 25</a:t>
            </a:r>
            <a:endParaRPr lang="en-US" dirty="0"/>
          </a:p>
        </p:txBody>
      </p:sp>
    </p:spTree>
    <p:extLst>
      <p:ext uri="{BB962C8B-B14F-4D97-AF65-F5344CB8AC3E}">
        <p14:creationId xmlns:p14="http://schemas.microsoft.com/office/powerpoint/2010/main" val="976360935"/>
      </p:ext>
    </p:extLst>
  </p:cSld>
  <p:clrMapOvr>
    <a:masterClrMapping/>
  </p:clrMapOvr>
  <p:transition spd="med">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E80F7C-AE9D-3E05-3AEA-3342CDECAE84}"/>
              </a:ext>
            </a:extLst>
          </p:cNvPr>
          <p:cNvSpPr>
            <a:spLocks noGrp="1"/>
          </p:cNvSpPr>
          <p:nvPr>
            <p:ph type="title"/>
          </p:nvPr>
        </p:nvSpPr>
        <p:spPr/>
        <p:txBody>
          <a:bodyPr/>
          <a:lstStyle/>
          <a:p>
            <a:r>
              <a:rPr lang="tr-TR" dirty="0"/>
              <a:t>Örnek</a:t>
            </a:r>
            <a:endParaRPr lang="en-US" dirty="0"/>
          </a:p>
        </p:txBody>
      </p:sp>
      <p:pic>
        <p:nvPicPr>
          <p:cNvPr id="6" name="İçerik Yer Tutucusu 5">
            <a:extLst>
              <a:ext uri="{FF2B5EF4-FFF2-40B4-BE49-F238E27FC236}">
                <a16:creationId xmlns:a16="http://schemas.microsoft.com/office/drawing/2014/main" id="{32FE5DCE-DE6D-D0E0-7FC2-14A374816BE5}"/>
              </a:ext>
            </a:extLst>
          </p:cNvPr>
          <p:cNvPicPr>
            <a:picLocks noGrp="1" noChangeAspect="1"/>
          </p:cNvPicPr>
          <p:nvPr>
            <p:ph idx="1"/>
          </p:nvPr>
        </p:nvPicPr>
        <p:blipFill>
          <a:blip r:embed="rId3"/>
          <a:stretch>
            <a:fillRect/>
          </a:stretch>
        </p:blipFill>
        <p:spPr>
          <a:xfrm>
            <a:off x="467544" y="1847851"/>
            <a:ext cx="2719586" cy="4351338"/>
          </a:xfrm>
          <a:prstGeom prst="rect">
            <a:avLst/>
          </a:prstGeom>
        </p:spPr>
      </p:pic>
      <p:sp>
        <p:nvSpPr>
          <p:cNvPr id="5" name="Slayt Numarası Yer Tutucusu 4">
            <a:extLst>
              <a:ext uri="{FF2B5EF4-FFF2-40B4-BE49-F238E27FC236}">
                <a16:creationId xmlns:a16="http://schemas.microsoft.com/office/drawing/2014/main" id="{5B769C88-F640-BBAB-8168-CF652156A357}"/>
              </a:ext>
            </a:extLst>
          </p:cNvPr>
          <p:cNvSpPr>
            <a:spLocks noGrp="1"/>
          </p:cNvSpPr>
          <p:nvPr>
            <p:ph type="sldNum" sz="quarter" idx="12"/>
          </p:nvPr>
        </p:nvSpPr>
        <p:spPr/>
        <p:txBody>
          <a:bodyPr/>
          <a:lstStyle/>
          <a:p>
            <a:pPr>
              <a:defRPr/>
            </a:pPr>
            <a:fld id="{1E09EE13-7A4C-43FA-BBE8-D81D5C0B929E}" type="slidenum">
              <a:rPr lang="tr-TR" smtClean="0"/>
              <a:pPr>
                <a:defRPr/>
              </a:pPr>
              <a:t>46</a:t>
            </a:fld>
            <a:endParaRPr lang="tr-TR"/>
          </a:p>
        </p:txBody>
      </p:sp>
      <p:pic>
        <p:nvPicPr>
          <p:cNvPr id="7" name="Resim 6">
            <a:extLst>
              <a:ext uri="{FF2B5EF4-FFF2-40B4-BE49-F238E27FC236}">
                <a16:creationId xmlns:a16="http://schemas.microsoft.com/office/drawing/2014/main" id="{6DA7BF23-D3B0-F083-1DEE-C9024BA522BC}"/>
              </a:ext>
            </a:extLst>
          </p:cNvPr>
          <p:cNvPicPr>
            <a:picLocks noChangeAspect="1"/>
          </p:cNvPicPr>
          <p:nvPr/>
        </p:nvPicPr>
        <p:blipFill>
          <a:blip r:embed="rId4"/>
          <a:stretch>
            <a:fillRect/>
          </a:stretch>
        </p:blipFill>
        <p:spPr>
          <a:xfrm>
            <a:off x="4829641" y="1131937"/>
            <a:ext cx="2809875" cy="1476375"/>
          </a:xfrm>
          <a:prstGeom prst="rect">
            <a:avLst/>
          </a:prstGeom>
        </p:spPr>
      </p:pic>
      <p:pic>
        <p:nvPicPr>
          <p:cNvPr id="4" name="Resim 3">
            <a:extLst>
              <a:ext uri="{FF2B5EF4-FFF2-40B4-BE49-F238E27FC236}">
                <a16:creationId xmlns:a16="http://schemas.microsoft.com/office/drawing/2014/main" id="{0FCC715D-07F3-350F-AA6B-8EAE6ADCDD85}"/>
              </a:ext>
            </a:extLst>
          </p:cNvPr>
          <p:cNvPicPr>
            <a:picLocks noChangeAspect="1"/>
          </p:cNvPicPr>
          <p:nvPr/>
        </p:nvPicPr>
        <p:blipFill>
          <a:blip r:embed="rId5"/>
          <a:stretch>
            <a:fillRect/>
          </a:stretch>
        </p:blipFill>
        <p:spPr>
          <a:xfrm>
            <a:off x="4572000" y="2528094"/>
            <a:ext cx="3895725" cy="1495425"/>
          </a:xfrm>
          <a:prstGeom prst="rect">
            <a:avLst/>
          </a:prstGeom>
        </p:spPr>
      </p:pic>
      <p:sp>
        <p:nvSpPr>
          <p:cNvPr id="10" name="Metin kutusu 9">
            <a:extLst>
              <a:ext uri="{FF2B5EF4-FFF2-40B4-BE49-F238E27FC236}">
                <a16:creationId xmlns:a16="http://schemas.microsoft.com/office/drawing/2014/main" id="{4E88EB2C-9511-C4EC-2B47-29B1314D2E92}"/>
              </a:ext>
            </a:extLst>
          </p:cNvPr>
          <p:cNvSpPr txBox="1"/>
          <p:nvPr/>
        </p:nvSpPr>
        <p:spPr>
          <a:xfrm>
            <a:off x="4572062" y="4340979"/>
            <a:ext cx="4572000" cy="1200329"/>
          </a:xfrm>
          <a:prstGeom prst="rect">
            <a:avLst/>
          </a:prstGeom>
          <a:noFill/>
        </p:spPr>
        <p:txBody>
          <a:bodyPr wrap="square">
            <a:spAutoFit/>
          </a:bodyPr>
          <a:lstStyle/>
          <a:p>
            <a:r>
              <a:rPr lang="en-US" b="0" i="0" dirty="0">
                <a:solidFill>
                  <a:srgbClr val="0A0A23"/>
                </a:solidFill>
                <a:effectLst/>
                <a:latin typeface="Lato" panose="020F0502020204030203" pitchFamily="34" charset="-94"/>
              </a:rPr>
              <a:t>d2 = √(20 - 50)² + (35 - 50)²</a:t>
            </a:r>
            <a:br>
              <a:rPr lang="en-US" dirty="0"/>
            </a:br>
            <a:r>
              <a:rPr lang="en-US" b="0" i="0" dirty="0">
                <a:solidFill>
                  <a:srgbClr val="0A0A23"/>
                </a:solidFill>
                <a:effectLst/>
                <a:latin typeface="Lato" panose="020F0502020204030203" pitchFamily="34" charset="-94"/>
              </a:rPr>
              <a:t>= √900 + 225</a:t>
            </a:r>
            <a:br>
              <a:rPr lang="en-US" dirty="0"/>
            </a:br>
            <a:r>
              <a:rPr lang="en-US" b="0" i="0" dirty="0">
                <a:solidFill>
                  <a:srgbClr val="0A0A23"/>
                </a:solidFill>
                <a:effectLst/>
                <a:latin typeface="Lato" panose="020F0502020204030203" pitchFamily="34" charset="-94"/>
              </a:rPr>
              <a:t>= √1125</a:t>
            </a:r>
            <a:br>
              <a:rPr lang="en-US" dirty="0"/>
            </a:br>
            <a:r>
              <a:rPr lang="en-US" b="0" i="0" dirty="0">
                <a:solidFill>
                  <a:srgbClr val="0A0A23"/>
                </a:solidFill>
                <a:effectLst/>
                <a:latin typeface="Lato" panose="020F0502020204030203" pitchFamily="34" charset="-94"/>
              </a:rPr>
              <a:t>= 33,54</a:t>
            </a:r>
            <a:endParaRPr lang="en-US" dirty="0"/>
          </a:p>
        </p:txBody>
      </p:sp>
    </p:spTree>
    <p:extLst>
      <p:ext uri="{BB962C8B-B14F-4D97-AF65-F5344CB8AC3E}">
        <p14:creationId xmlns:p14="http://schemas.microsoft.com/office/powerpoint/2010/main" val="4066744490"/>
      </p:ext>
    </p:extLst>
  </p:cSld>
  <p:clrMapOvr>
    <a:masterClrMapping/>
  </p:clrMapOvr>
  <p:transition spd="med">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E80F7C-AE9D-3E05-3AEA-3342CDECAE84}"/>
              </a:ext>
            </a:extLst>
          </p:cNvPr>
          <p:cNvSpPr>
            <a:spLocks noGrp="1"/>
          </p:cNvSpPr>
          <p:nvPr>
            <p:ph type="title"/>
          </p:nvPr>
        </p:nvSpPr>
        <p:spPr/>
        <p:txBody>
          <a:bodyPr/>
          <a:lstStyle/>
          <a:p>
            <a:r>
              <a:rPr lang="tr-TR" dirty="0"/>
              <a:t>Örnek</a:t>
            </a:r>
            <a:endParaRPr lang="en-US" dirty="0"/>
          </a:p>
        </p:txBody>
      </p:sp>
      <p:pic>
        <p:nvPicPr>
          <p:cNvPr id="6" name="İçerik Yer Tutucusu 5">
            <a:extLst>
              <a:ext uri="{FF2B5EF4-FFF2-40B4-BE49-F238E27FC236}">
                <a16:creationId xmlns:a16="http://schemas.microsoft.com/office/drawing/2014/main" id="{32FE5DCE-DE6D-D0E0-7FC2-14A374816BE5}"/>
              </a:ext>
            </a:extLst>
          </p:cNvPr>
          <p:cNvPicPr>
            <a:picLocks noGrp="1" noChangeAspect="1"/>
          </p:cNvPicPr>
          <p:nvPr>
            <p:ph idx="1"/>
          </p:nvPr>
        </p:nvPicPr>
        <p:blipFill>
          <a:blip r:embed="rId3"/>
          <a:stretch>
            <a:fillRect/>
          </a:stretch>
        </p:blipFill>
        <p:spPr>
          <a:xfrm>
            <a:off x="467544" y="1847851"/>
            <a:ext cx="2719586" cy="4351338"/>
          </a:xfrm>
          <a:prstGeom prst="rect">
            <a:avLst/>
          </a:prstGeom>
        </p:spPr>
      </p:pic>
      <p:sp>
        <p:nvSpPr>
          <p:cNvPr id="5" name="Slayt Numarası Yer Tutucusu 4">
            <a:extLst>
              <a:ext uri="{FF2B5EF4-FFF2-40B4-BE49-F238E27FC236}">
                <a16:creationId xmlns:a16="http://schemas.microsoft.com/office/drawing/2014/main" id="{5B769C88-F640-BBAB-8168-CF652156A357}"/>
              </a:ext>
            </a:extLst>
          </p:cNvPr>
          <p:cNvSpPr>
            <a:spLocks noGrp="1"/>
          </p:cNvSpPr>
          <p:nvPr>
            <p:ph type="sldNum" sz="quarter" idx="12"/>
          </p:nvPr>
        </p:nvSpPr>
        <p:spPr/>
        <p:txBody>
          <a:bodyPr/>
          <a:lstStyle/>
          <a:p>
            <a:pPr>
              <a:defRPr/>
            </a:pPr>
            <a:fld id="{1E09EE13-7A4C-43FA-BBE8-D81D5C0B929E}" type="slidenum">
              <a:rPr lang="tr-TR" smtClean="0"/>
              <a:pPr>
                <a:defRPr/>
              </a:pPr>
              <a:t>47</a:t>
            </a:fld>
            <a:endParaRPr lang="tr-TR"/>
          </a:p>
        </p:txBody>
      </p:sp>
      <p:pic>
        <p:nvPicPr>
          <p:cNvPr id="7" name="Resim 6">
            <a:extLst>
              <a:ext uri="{FF2B5EF4-FFF2-40B4-BE49-F238E27FC236}">
                <a16:creationId xmlns:a16="http://schemas.microsoft.com/office/drawing/2014/main" id="{6DA7BF23-D3B0-F083-1DEE-C9024BA522BC}"/>
              </a:ext>
            </a:extLst>
          </p:cNvPr>
          <p:cNvPicPr>
            <a:picLocks noChangeAspect="1"/>
          </p:cNvPicPr>
          <p:nvPr/>
        </p:nvPicPr>
        <p:blipFill>
          <a:blip r:embed="rId4"/>
          <a:stretch>
            <a:fillRect/>
          </a:stretch>
        </p:blipFill>
        <p:spPr>
          <a:xfrm>
            <a:off x="4829641" y="1131937"/>
            <a:ext cx="2809875" cy="1476375"/>
          </a:xfrm>
          <a:prstGeom prst="rect">
            <a:avLst/>
          </a:prstGeom>
        </p:spPr>
      </p:pic>
      <p:pic>
        <p:nvPicPr>
          <p:cNvPr id="3" name="Resim 2">
            <a:extLst>
              <a:ext uri="{FF2B5EF4-FFF2-40B4-BE49-F238E27FC236}">
                <a16:creationId xmlns:a16="http://schemas.microsoft.com/office/drawing/2014/main" id="{BA9D248F-78BC-D233-6B84-685088121DA7}"/>
              </a:ext>
            </a:extLst>
          </p:cNvPr>
          <p:cNvPicPr>
            <a:picLocks noChangeAspect="1"/>
          </p:cNvPicPr>
          <p:nvPr/>
        </p:nvPicPr>
        <p:blipFill>
          <a:blip r:embed="rId5"/>
          <a:stretch>
            <a:fillRect/>
          </a:stretch>
        </p:blipFill>
        <p:spPr>
          <a:xfrm>
            <a:off x="4381965" y="2709070"/>
            <a:ext cx="3705225" cy="1314450"/>
          </a:xfrm>
          <a:prstGeom prst="rect">
            <a:avLst/>
          </a:prstGeom>
        </p:spPr>
      </p:pic>
      <p:sp>
        <p:nvSpPr>
          <p:cNvPr id="9" name="Metin kutusu 8">
            <a:extLst>
              <a:ext uri="{FF2B5EF4-FFF2-40B4-BE49-F238E27FC236}">
                <a16:creationId xmlns:a16="http://schemas.microsoft.com/office/drawing/2014/main" id="{FAB0BED2-5E26-04ED-DCE5-F4C2A4E8DDCA}"/>
              </a:ext>
            </a:extLst>
          </p:cNvPr>
          <p:cNvSpPr txBox="1"/>
          <p:nvPr/>
        </p:nvSpPr>
        <p:spPr>
          <a:xfrm>
            <a:off x="4381965" y="4441736"/>
            <a:ext cx="4572000" cy="1200329"/>
          </a:xfrm>
          <a:prstGeom prst="rect">
            <a:avLst/>
          </a:prstGeom>
          <a:noFill/>
        </p:spPr>
        <p:txBody>
          <a:bodyPr wrap="square">
            <a:spAutoFit/>
          </a:bodyPr>
          <a:lstStyle/>
          <a:p>
            <a:r>
              <a:rPr lang="en-US" b="0" i="0" dirty="0">
                <a:solidFill>
                  <a:srgbClr val="0A0A23"/>
                </a:solidFill>
                <a:effectLst/>
                <a:latin typeface="Lato" panose="020F0502020204030203" pitchFamily="34" charset="-94"/>
              </a:rPr>
              <a:t>d2 = √(20 - 60)² + (35 - 90)²</a:t>
            </a:r>
            <a:br>
              <a:rPr lang="en-US" dirty="0"/>
            </a:br>
            <a:r>
              <a:rPr lang="en-US" b="0" i="0" dirty="0">
                <a:solidFill>
                  <a:srgbClr val="0A0A23"/>
                </a:solidFill>
                <a:effectLst/>
                <a:latin typeface="Lato" panose="020F0502020204030203" pitchFamily="34" charset="-94"/>
              </a:rPr>
              <a:t>= √1600 + 3025</a:t>
            </a:r>
            <a:br>
              <a:rPr lang="en-US" dirty="0"/>
            </a:br>
            <a:r>
              <a:rPr lang="en-US" b="0" i="0" dirty="0">
                <a:solidFill>
                  <a:srgbClr val="0A0A23"/>
                </a:solidFill>
                <a:effectLst/>
                <a:latin typeface="Lato" panose="020F0502020204030203" pitchFamily="34" charset="-94"/>
              </a:rPr>
              <a:t>= √4625</a:t>
            </a:r>
            <a:br>
              <a:rPr lang="en-US" dirty="0"/>
            </a:br>
            <a:r>
              <a:rPr lang="en-US" b="0" i="0" dirty="0">
                <a:solidFill>
                  <a:srgbClr val="0A0A23"/>
                </a:solidFill>
                <a:effectLst/>
                <a:latin typeface="Lato" panose="020F0502020204030203" pitchFamily="34" charset="-94"/>
              </a:rPr>
              <a:t>= 68,01</a:t>
            </a:r>
            <a:endParaRPr lang="en-US" dirty="0"/>
          </a:p>
        </p:txBody>
      </p:sp>
    </p:spTree>
    <p:extLst>
      <p:ext uri="{BB962C8B-B14F-4D97-AF65-F5344CB8AC3E}">
        <p14:creationId xmlns:p14="http://schemas.microsoft.com/office/powerpoint/2010/main" val="242929884"/>
      </p:ext>
    </p:extLst>
  </p:cSld>
  <p:clrMapOvr>
    <a:masterClrMapping/>
  </p:clrMapOvr>
  <p:transition spd="med">
    <p:fade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E80F7C-AE9D-3E05-3AEA-3342CDECAE84}"/>
              </a:ext>
            </a:extLst>
          </p:cNvPr>
          <p:cNvSpPr>
            <a:spLocks noGrp="1"/>
          </p:cNvSpPr>
          <p:nvPr>
            <p:ph type="title"/>
          </p:nvPr>
        </p:nvSpPr>
        <p:spPr/>
        <p:txBody>
          <a:bodyPr/>
          <a:lstStyle/>
          <a:p>
            <a:r>
              <a:rPr lang="tr-TR" dirty="0"/>
              <a:t>Örnek</a:t>
            </a:r>
            <a:endParaRPr lang="en-US" dirty="0"/>
          </a:p>
        </p:txBody>
      </p:sp>
      <p:pic>
        <p:nvPicPr>
          <p:cNvPr id="6" name="İçerik Yer Tutucusu 5">
            <a:extLst>
              <a:ext uri="{FF2B5EF4-FFF2-40B4-BE49-F238E27FC236}">
                <a16:creationId xmlns:a16="http://schemas.microsoft.com/office/drawing/2014/main" id="{32FE5DCE-DE6D-D0E0-7FC2-14A374816BE5}"/>
              </a:ext>
            </a:extLst>
          </p:cNvPr>
          <p:cNvPicPr>
            <a:picLocks noGrp="1" noChangeAspect="1"/>
          </p:cNvPicPr>
          <p:nvPr>
            <p:ph idx="1"/>
          </p:nvPr>
        </p:nvPicPr>
        <p:blipFill>
          <a:blip r:embed="rId3"/>
          <a:stretch>
            <a:fillRect/>
          </a:stretch>
        </p:blipFill>
        <p:spPr>
          <a:xfrm>
            <a:off x="467544" y="1847851"/>
            <a:ext cx="2719586" cy="4351338"/>
          </a:xfrm>
          <a:prstGeom prst="rect">
            <a:avLst/>
          </a:prstGeom>
        </p:spPr>
      </p:pic>
      <p:sp>
        <p:nvSpPr>
          <p:cNvPr id="5" name="Slayt Numarası Yer Tutucusu 4">
            <a:extLst>
              <a:ext uri="{FF2B5EF4-FFF2-40B4-BE49-F238E27FC236}">
                <a16:creationId xmlns:a16="http://schemas.microsoft.com/office/drawing/2014/main" id="{5B769C88-F640-BBAB-8168-CF652156A357}"/>
              </a:ext>
            </a:extLst>
          </p:cNvPr>
          <p:cNvSpPr>
            <a:spLocks noGrp="1"/>
          </p:cNvSpPr>
          <p:nvPr>
            <p:ph type="sldNum" sz="quarter" idx="12"/>
          </p:nvPr>
        </p:nvSpPr>
        <p:spPr/>
        <p:txBody>
          <a:bodyPr/>
          <a:lstStyle/>
          <a:p>
            <a:pPr>
              <a:defRPr/>
            </a:pPr>
            <a:fld id="{1E09EE13-7A4C-43FA-BBE8-D81D5C0B929E}" type="slidenum">
              <a:rPr lang="tr-TR" smtClean="0"/>
              <a:pPr>
                <a:defRPr/>
              </a:pPr>
              <a:t>48</a:t>
            </a:fld>
            <a:endParaRPr lang="tr-TR"/>
          </a:p>
        </p:txBody>
      </p:sp>
      <p:pic>
        <p:nvPicPr>
          <p:cNvPr id="7" name="Resim 6">
            <a:extLst>
              <a:ext uri="{FF2B5EF4-FFF2-40B4-BE49-F238E27FC236}">
                <a16:creationId xmlns:a16="http://schemas.microsoft.com/office/drawing/2014/main" id="{6DA7BF23-D3B0-F083-1DEE-C9024BA522BC}"/>
              </a:ext>
            </a:extLst>
          </p:cNvPr>
          <p:cNvPicPr>
            <a:picLocks noChangeAspect="1"/>
          </p:cNvPicPr>
          <p:nvPr/>
        </p:nvPicPr>
        <p:blipFill>
          <a:blip r:embed="rId4"/>
          <a:stretch>
            <a:fillRect/>
          </a:stretch>
        </p:blipFill>
        <p:spPr>
          <a:xfrm>
            <a:off x="4681690" y="214314"/>
            <a:ext cx="2809875" cy="1476375"/>
          </a:xfrm>
          <a:prstGeom prst="rect">
            <a:avLst/>
          </a:prstGeom>
        </p:spPr>
      </p:pic>
      <p:pic>
        <p:nvPicPr>
          <p:cNvPr id="4" name="Resim 3">
            <a:extLst>
              <a:ext uri="{FF2B5EF4-FFF2-40B4-BE49-F238E27FC236}">
                <a16:creationId xmlns:a16="http://schemas.microsoft.com/office/drawing/2014/main" id="{BA746D66-5CEE-1129-5815-8A0D7F117B9E}"/>
              </a:ext>
            </a:extLst>
          </p:cNvPr>
          <p:cNvPicPr>
            <a:picLocks noChangeAspect="1"/>
          </p:cNvPicPr>
          <p:nvPr/>
        </p:nvPicPr>
        <p:blipFill>
          <a:blip r:embed="rId5"/>
          <a:stretch>
            <a:fillRect/>
          </a:stretch>
        </p:blipFill>
        <p:spPr>
          <a:xfrm>
            <a:off x="4367398" y="1988839"/>
            <a:ext cx="3477373" cy="4210349"/>
          </a:xfrm>
          <a:prstGeom prst="rect">
            <a:avLst/>
          </a:prstGeom>
        </p:spPr>
      </p:pic>
    </p:spTree>
    <p:extLst>
      <p:ext uri="{BB962C8B-B14F-4D97-AF65-F5344CB8AC3E}">
        <p14:creationId xmlns:p14="http://schemas.microsoft.com/office/powerpoint/2010/main" val="1697302262"/>
      </p:ext>
    </p:extLst>
  </p:cSld>
  <p:clrMapOvr>
    <a:masterClrMapping/>
  </p:clrMapOvr>
  <p:transition spd="med">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E80F7C-AE9D-3E05-3AEA-3342CDECAE84}"/>
              </a:ext>
            </a:extLst>
          </p:cNvPr>
          <p:cNvSpPr>
            <a:spLocks noGrp="1"/>
          </p:cNvSpPr>
          <p:nvPr>
            <p:ph type="title"/>
          </p:nvPr>
        </p:nvSpPr>
        <p:spPr/>
        <p:txBody>
          <a:bodyPr/>
          <a:lstStyle/>
          <a:p>
            <a:r>
              <a:rPr lang="tr-TR" dirty="0"/>
              <a:t>Örnek</a:t>
            </a:r>
            <a:endParaRPr lang="en-US" dirty="0"/>
          </a:p>
        </p:txBody>
      </p:sp>
      <p:pic>
        <p:nvPicPr>
          <p:cNvPr id="6" name="İçerik Yer Tutucusu 5">
            <a:extLst>
              <a:ext uri="{FF2B5EF4-FFF2-40B4-BE49-F238E27FC236}">
                <a16:creationId xmlns:a16="http://schemas.microsoft.com/office/drawing/2014/main" id="{32FE5DCE-DE6D-D0E0-7FC2-14A374816BE5}"/>
              </a:ext>
            </a:extLst>
          </p:cNvPr>
          <p:cNvPicPr>
            <a:picLocks noGrp="1" noChangeAspect="1"/>
          </p:cNvPicPr>
          <p:nvPr>
            <p:ph idx="1"/>
          </p:nvPr>
        </p:nvPicPr>
        <p:blipFill>
          <a:blip r:embed="rId3"/>
          <a:stretch>
            <a:fillRect/>
          </a:stretch>
        </p:blipFill>
        <p:spPr>
          <a:xfrm>
            <a:off x="467544" y="1847851"/>
            <a:ext cx="2719586" cy="4351338"/>
          </a:xfrm>
          <a:prstGeom prst="rect">
            <a:avLst/>
          </a:prstGeom>
        </p:spPr>
      </p:pic>
      <p:sp>
        <p:nvSpPr>
          <p:cNvPr id="5" name="Slayt Numarası Yer Tutucusu 4">
            <a:extLst>
              <a:ext uri="{FF2B5EF4-FFF2-40B4-BE49-F238E27FC236}">
                <a16:creationId xmlns:a16="http://schemas.microsoft.com/office/drawing/2014/main" id="{5B769C88-F640-BBAB-8168-CF652156A357}"/>
              </a:ext>
            </a:extLst>
          </p:cNvPr>
          <p:cNvSpPr>
            <a:spLocks noGrp="1"/>
          </p:cNvSpPr>
          <p:nvPr>
            <p:ph type="sldNum" sz="quarter" idx="12"/>
          </p:nvPr>
        </p:nvSpPr>
        <p:spPr/>
        <p:txBody>
          <a:bodyPr/>
          <a:lstStyle/>
          <a:p>
            <a:pPr>
              <a:defRPr/>
            </a:pPr>
            <a:fld id="{1E09EE13-7A4C-43FA-BBE8-D81D5C0B929E}" type="slidenum">
              <a:rPr lang="tr-TR" smtClean="0"/>
              <a:pPr>
                <a:defRPr/>
              </a:pPr>
              <a:t>49</a:t>
            </a:fld>
            <a:endParaRPr lang="tr-TR"/>
          </a:p>
        </p:txBody>
      </p:sp>
      <p:pic>
        <p:nvPicPr>
          <p:cNvPr id="7" name="Resim 6">
            <a:extLst>
              <a:ext uri="{FF2B5EF4-FFF2-40B4-BE49-F238E27FC236}">
                <a16:creationId xmlns:a16="http://schemas.microsoft.com/office/drawing/2014/main" id="{6DA7BF23-D3B0-F083-1DEE-C9024BA522BC}"/>
              </a:ext>
            </a:extLst>
          </p:cNvPr>
          <p:cNvPicPr>
            <a:picLocks noChangeAspect="1"/>
          </p:cNvPicPr>
          <p:nvPr/>
        </p:nvPicPr>
        <p:blipFill>
          <a:blip r:embed="rId4"/>
          <a:stretch>
            <a:fillRect/>
          </a:stretch>
        </p:blipFill>
        <p:spPr>
          <a:xfrm>
            <a:off x="4681690" y="214314"/>
            <a:ext cx="2809875" cy="1476375"/>
          </a:xfrm>
          <a:prstGeom prst="rect">
            <a:avLst/>
          </a:prstGeom>
        </p:spPr>
      </p:pic>
      <p:pic>
        <p:nvPicPr>
          <p:cNvPr id="3" name="Resim 2">
            <a:extLst>
              <a:ext uri="{FF2B5EF4-FFF2-40B4-BE49-F238E27FC236}">
                <a16:creationId xmlns:a16="http://schemas.microsoft.com/office/drawing/2014/main" id="{66684D4A-4496-8A2B-1EB9-CE07EB2A648C}"/>
              </a:ext>
            </a:extLst>
          </p:cNvPr>
          <p:cNvPicPr>
            <a:picLocks noChangeAspect="1"/>
          </p:cNvPicPr>
          <p:nvPr/>
        </p:nvPicPr>
        <p:blipFill>
          <a:blip r:embed="rId5"/>
          <a:stretch>
            <a:fillRect/>
          </a:stretch>
        </p:blipFill>
        <p:spPr>
          <a:xfrm>
            <a:off x="4067944" y="1841501"/>
            <a:ext cx="3513878" cy="4351338"/>
          </a:xfrm>
          <a:prstGeom prst="rect">
            <a:avLst/>
          </a:prstGeom>
        </p:spPr>
      </p:pic>
    </p:spTree>
    <p:extLst>
      <p:ext uri="{BB962C8B-B14F-4D97-AF65-F5344CB8AC3E}">
        <p14:creationId xmlns:p14="http://schemas.microsoft.com/office/powerpoint/2010/main" val="1613002761"/>
      </p:ext>
    </p:extLst>
  </p:cSld>
  <p:clrMapOvr>
    <a:masterClrMapping/>
  </p:clrMapOvr>
  <p:transition spd="med">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E80F7C-AE9D-3E05-3AEA-3342CDECAE84}"/>
              </a:ext>
            </a:extLst>
          </p:cNvPr>
          <p:cNvSpPr>
            <a:spLocks noGrp="1"/>
          </p:cNvSpPr>
          <p:nvPr>
            <p:ph type="title"/>
          </p:nvPr>
        </p:nvSpPr>
        <p:spPr/>
        <p:txBody>
          <a:bodyPr/>
          <a:lstStyle/>
          <a:p>
            <a:r>
              <a:rPr lang="tr-TR" dirty="0"/>
              <a:t>Örnek</a:t>
            </a:r>
            <a:endParaRPr lang="en-US" dirty="0"/>
          </a:p>
        </p:txBody>
      </p:sp>
      <p:sp>
        <p:nvSpPr>
          <p:cNvPr id="5" name="Slayt Numarası Yer Tutucusu 4">
            <a:extLst>
              <a:ext uri="{FF2B5EF4-FFF2-40B4-BE49-F238E27FC236}">
                <a16:creationId xmlns:a16="http://schemas.microsoft.com/office/drawing/2014/main" id="{5B769C88-F640-BBAB-8168-CF652156A357}"/>
              </a:ext>
            </a:extLst>
          </p:cNvPr>
          <p:cNvSpPr>
            <a:spLocks noGrp="1"/>
          </p:cNvSpPr>
          <p:nvPr>
            <p:ph type="sldNum" sz="quarter" idx="12"/>
          </p:nvPr>
        </p:nvSpPr>
        <p:spPr/>
        <p:txBody>
          <a:bodyPr/>
          <a:lstStyle/>
          <a:p>
            <a:pPr>
              <a:defRPr/>
            </a:pPr>
            <a:fld id="{1E09EE13-7A4C-43FA-BBE8-D81D5C0B929E}" type="slidenum">
              <a:rPr lang="tr-TR" smtClean="0"/>
              <a:pPr>
                <a:defRPr/>
              </a:pPr>
              <a:t>50</a:t>
            </a:fld>
            <a:endParaRPr lang="tr-TR"/>
          </a:p>
        </p:txBody>
      </p:sp>
      <p:pic>
        <p:nvPicPr>
          <p:cNvPr id="7" name="Resim 6">
            <a:extLst>
              <a:ext uri="{FF2B5EF4-FFF2-40B4-BE49-F238E27FC236}">
                <a16:creationId xmlns:a16="http://schemas.microsoft.com/office/drawing/2014/main" id="{6DA7BF23-D3B0-F083-1DEE-C9024BA522BC}"/>
              </a:ext>
            </a:extLst>
          </p:cNvPr>
          <p:cNvPicPr>
            <a:picLocks noChangeAspect="1"/>
          </p:cNvPicPr>
          <p:nvPr/>
        </p:nvPicPr>
        <p:blipFill>
          <a:blip r:embed="rId3"/>
          <a:stretch>
            <a:fillRect/>
          </a:stretch>
        </p:blipFill>
        <p:spPr>
          <a:xfrm>
            <a:off x="4993158" y="398370"/>
            <a:ext cx="2809875" cy="1476375"/>
          </a:xfrm>
          <a:prstGeom prst="rect">
            <a:avLst/>
          </a:prstGeom>
        </p:spPr>
      </p:pic>
      <p:pic>
        <p:nvPicPr>
          <p:cNvPr id="3" name="Resim 2">
            <a:extLst>
              <a:ext uri="{FF2B5EF4-FFF2-40B4-BE49-F238E27FC236}">
                <a16:creationId xmlns:a16="http://schemas.microsoft.com/office/drawing/2014/main" id="{66684D4A-4496-8A2B-1EB9-CE07EB2A648C}"/>
              </a:ext>
            </a:extLst>
          </p:cNvPr>
          <p:cNvPicPr>
            <a:picLocks noChangeAspect="1"/>
          </p:cNvPicPr>
          <p:nvPr/>
        </p:nvPicPr>
        <p:blipFill>
          <a:blip r:embed="rId4"/>
          <a:stretch>
            <a:fillRect/>
          </a:stretch>
        </p:blipFill>
        <p:spPr>
          <a:xfrm>
            <a:off x="660340" y="1868821"/>
            <a:ext cx="3513878" cy="4351338"/>
          </a:xfrm>
          <a:prstGeom prst="rect">
            <a:avLst/>
          </a:prstGeom>
        </p:spPr>
      </p:pic>
      <p:pic>
        <p:nvPicPr>
          <p:cNvPr id="9" name="Resim 8">
            <a:extLst>
              <a:ext uri="{FF2B5EF4-FFF2-40B4-BE49-F238E27FC236}">
                <a16:creationId xmlns:a16="http://schemas.microsoft.com/office/drawing/2014/main" id="{05A18613-3E13-B27E-BA81-1B232AFF104D}"/>
              </a:ext>
            </a:extLst>
          </p:cNvPr>
          <p:cNvPicPr>
            <a:picLocks noChangeAspect="1"/>
          </p:cNvPicPr>
          <p:nvPr/>
        </p:nvPicPr>
        <p:blipFill>
          <a:blip r:embed="rId5"/>
          <a:stretch>
            <a:fillRect/>
          </a:stretch>
        </p:blipFill>
        <p:spPr>
          <a:xfrm>
            <a:off x="4681690" y="2708920"/>
            <a:ext cx="3283558" cy="3144355"/>
          </a:xfrm>
          <a:prstGeom prst="rect">
            <a:avLst/>
          </a:prstGeom>
        </p:spPr>
      </p:pic>
      <p:sp>
        <p:nvSpPr>
          <p:cNvPr id="10" name="Metin kutusu 9">
            <a:extLst>
              <a:ext uri="{FF2B5EF4-FFF2-40B4-BE49-F238E27FC236}">
                <a16:creationId xmlns:a16="http://schemas.microsoft.com/office/drawing/2014/main" id="{F6512093-CB5B-C941-1CC9-A06C78B34E18}"/>
              </a:ext>
            </a:extLst>
          </p:cNvPr>
          <p:cNvSpPr txBox="1"/>
          <p:nvPr/>
        </p:nvSpPr>
        <p:spPr>
          <a:xfrm>
            <a:off x="4969784" y="2270282"/>
            <a:ext cx="1916422" cy="369332"/>
          </a:xfrm>
          <a:prstGeom prst="rect">
            <a:avLst/>
          </a:prstGeom>
          <a:noFill/>
        </p:spPr>
        <p:txBody>
          <a:bodyPr wrap="none" rtlCol="0">
            <a:spAutoFit/>
          </a:bodyPr>
          <a:lstStyle/>
          <a:p>
            <a:r>
              <a:rPr lang="tr-TR" dirty="0"/>
              <a:t>K değeri 5 seçilirse</a:t>
            </a:r>
            <a:endParaRPr lang="en-US" dirty="0"/>
          </a:p>
        </p:txBody>
      </p:sp>
      <p:sp>
        <p:nvSpPr>
          <p:cNvPr id="11" name="Metin kutusu 10">
            <a:extLst>
              <a:ext uri="{FF2B5EF4-FFF2-40B4-BE49-F238E27FC236}">
                <a16:creationId xmlns:a16="http://schemas.microsoft.com/office/drawing/2014/main" id="{59FF9FCA-98EE-A24A-E450-C73DE2988D35}"/>
              </a:ext>
            </a:extLst>
          </p:cNvPr>
          <p:cNvSpPr txBox="1"/>
          <p:nvPr/>
        </p:nvSpPr>
        <p:spPr>
          <a:xfrm>
            <a:off x="4860032" y="5987019"/>
            <a:ext cx="2988254" cy="369332"/>
          </a:xfrm>
          <a:prstGeom prst="rect">
            <a:avLst/>
          </a:prstGeom>
          <a:noFill/>
        </p:spPr>
        <p:txBody>
          <a:bodyPr wrap="none" rtlCol="0">
            <a:spAutoFit/>
          </a:bodyPr>
          <a:lstStyle/>
          <a:p>
            <a:r>
              <a:rPr lang="tr-TR" dirty="0"/>
              <a:t>Yeni örneğin sınıfı Kırmızı olur.</a:t>
            </a:r>
            <a:endParaRPr lang="en-US" dirty="0"/>
          </a:p>
        </p:txBody>
      </p:sp>
    </p:spTree>
    <p:extLst>
      <p:ext uri="{BB962C8B-B14F-4D97-AF65-F5344CB8AC3E}">
        <p14:creationId xmlns:p14="http://schemas.microsoft.com/office/powerpoint/2010/main" val="4149979235"/>
      </p:ext>
    </p:extLst>
  </p:cSld>
  <p:clrMapOvr>
    <a:masterClrMapping/>
  </p:clrMapOvr>
  <p:transition spd="med">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43F4476-657F-1369-44DF-7A7199E13487}"/>
              </a:ext>
            </a:extLst>
          </p:cNvPr>
          <p:cNvSpPr>
            <a:spLocks noGrp="1"/>
          </p:cNvSpPr>
          <p:nvPr>
            <p:ph type="title"/>
          </p:nvPr>
        </p:nvSpPr>
        <p:spPr/>
        <p:txBody>
          <a:bodyPr/>
          <a:lstStyle/>
          <a:p>
            <a:r>
              <a:rPr lang="tr-TR" b="1"/>
              <a:t>KNN Avantajları</a:t>
            </a:r>
            <a:endParaRPr lang="en-US" b="1" dirty="0"/>
          </a:p>
        </p:txBody>
      </p:sp>
      <p:sp>
        <p:nvSpPr>
          <p:cNvPr id="3" name="İçerik Yer Tutucusu 2">
            <a:extLst>
              <a:ext uri="{FF2B5EF4-FFF2-40B4-BE49-F238E27FC236}">
                <a16:creationId xmlns:a16="http://schemas.microsoft.com/office/drawing/2014/main" id="{704B2A38-7A91-EF87-AD16-2FF4E0614895}"/>
              </a:ext>
            </a:extLst>
          </p:cNvPr>
          <p:cNvSpPr>
            <a:spLocks noGrp="1"/>
          </p:cNvSpPr>
          <p:nvPr>
            <p:ph idx="1"/>
          </p:nvPr>
        </p:nvSpPr>
        <p:spPr>
          <a:xfrm>
            <a:off x="32741" y="1844824"/>
            <a:ext cx="3204302" cy="4351338"/>
          </a:xfrm>
        </p:spPr>
        <p:txBody>
          <a:bodyPr>
            <a:normAutofit/>
          </a:bodyPr>
          <a:lstStyle/>
          <a:p>
            <a:pPr algn="just">
              <a:buFont typeface="+mj-lt"/>
              <a:buAutoNum type="arabicPeriod"/>
            </a:pPr>
            <a:r>
              <a:rPr lang="en-US" sz="1800" i="0" dirty="0">
                <a:solidFill>
                  <a:srgbClr val="0D0D0D"/>
                </a:solidFill>
                <a:effectLst/>
                <a:latin typeface="Söhne"/>
              </a:rPr>
              <a:t>Basit </a:t>
            </a:r>
            <a:r>
              <a:rPr lang="en-US" sz="1800" i="0" dirty="0" err="1">
                <a:solidFill>
                  <a:srgbClr val="0D0D0D"/>
                </a:solidFill>
                <a:effectLst/>
                <a:latin typeface="Söhne"/>
              </a:rPr>
              <a:t>ve</a:t>
            </a:r>
            <a:r>
              <a:rPr lang="en-US" sz="1800" i="0" dirty="0">
                <a:solidFill>
                  <a:srgbClr val="0D0D0D"/>
                </a:solidFill>
                <a:effectLst/>
                <a:latin typeface="Söhne"/>
              </a:rPr>
              <a:t> </a:t>
            </a:r>
            <a:r>
              <a:rPr lang="en-US" sz="1800" i="0" dirty="0" err="1">
                <a:solidFill>
                  <a:srgbClr val="0D0D0D"/>
                </a:solidFill>
                <a:effectLst/>
                <a:latin typeface="Söhne"/>
              </a:rPr>
              <a:t>Kolay</a:t>
            </a:r>
            <a:r>
              <a:rPr lang="en-US" sz="1800" i="0" dirty="0">
                <a:solidFill>
                  <a:srgbClr val="0D0D0D"/>
                </a:solidFill>
                <a:effectLst/>
                <a:latin typeface="Söhne"/>
              </a:rPr>
              <a:t> </a:t>
            </a:r>
            <a:r>
              <a:rPr lang="en-US" sz="1800" i="0" dirty="0" err="1">
                <a:solidFill>
                  <a:srgbClr val="0D0D0D"/>
                </a:solidFill>
                <a:effectLst/>
                <a:latin typeface="Söhne"/>
              </a:rPr>
              <a:t>Anlaşılır</a:t>
            </a:r>
            <a:endParaRPr lang="tr-TR" sz="1800" i="0" dirty="0">
              <a:solidFill>
                <a:srgbClr val="0D0D0D"/>
              </a:solidFill>
              <a:effectLst/>
              <a:latin typeface="Söhne"/>
            </a:endParaRPr>
          </a:p>
          <a:p>
            <a:pPr algn="just">
              <a:buFont typeface="+mj-lt"/>
              <a:buAutoNum type="arabicPeriod"/>
            </a:pPr>
            <a:r>
              <a:rPr lang="en-US" sz="1800" i="0" dirty="0" err="1">
                <a:solidFill>
                  <a:srgbClr val="0D0D0D"/>
                </a:solidFill>
                <a:effectLst/>
                <a:latin typeface="Söhne"/>
              </a:rPr>
              <a:t>Parametrelerin</a:t>
            </a:r>
            <a:r>
              <a:rPr lang="en-US" sz="1800" i="0" dirty="0">
                <a:solidFill>
                  <a:srgbClr val="0D0D0D"/>
                </a:solidFill>
                <a:effectLst/>
                <a:latin typeface="Söhne"/>
              </a:rPr>
              <a:t> </a:t>
            </a:r>
            <a:r>
              <a:rPr lang="en-US" sz="1800" i="0" dirty="0" err="1">
                <a:solidFill>
                  <a:srgbClr val="0D0D0D"/>
                </a:solidFill>
                <a:effectLst/>
                <a:latin typeface="Söhne"/>
              </a:rPr>
              <a:t>Ayarlanması</a:t>
            </a:r>
            <a:r>
              <a:rPr lang="en-US" sz="1800" i="0" dirty="0">
                <a:solidFill>
                  <a:srgbClr val="0D0D0D"/>
                </a:solidFill>
                <a:effectLst/>
                <a:latin typeface="Söhne"/>
              </a:rPr>
              <a:t> </a:t>
            </a:r>
            <a:r>
              <a:rPr lang="en-US" sz="1800" i="0" dirty="0" err="1">
                <a:solidFill>
                  <a:srgbClr val="0D0D0D"/>
                </a:solidFill>
                <a:effectLst/>
                <a:latin typeface="Söhne"/>
              </a:rPr>
              <a:t>Kolaydır</a:t>
            </a:r>
            <a:endParaRPr lang="tr-TR" sz="1800" i="0" dirty="0">
              <a:solidFill>
                <a:srgbClr val="0D0D0D"/>
              </a:solidFill>
              <a:effectLst/>
              <a:latin typeface="Söhne"/>
            </a:endParaRPr>
          </a:p>
          <a:p>
            <a:pPr algn="just">
              <a:buFont typeface="+mj-lt"/>
              <a:buAutoNum type="arabicPeriod"/>
            </a:pPr>
            <a:r>
              <a:rPr lang="en-US" sz="1800" i="0" dirty="0" err="1">
                <a:solidFill>
                  <a:srgbClr val="0D0D0D"/>
                </a:solidFill>
                <a:effectLst/>
                <a:latin typeface="Söhne"/>
              </a:rPr>
              <a:t>Eğitim</a:t>
            </a:r>
            <a:r>
              <a:rPr lang="en-US" sz="1800" i="0" dirty="0">
                <a:solidFill>
                  <a:srgbClr val="0D0D0D"/>
                </a:solidFill>
                <a:effectLst/>
                <a:latin typeface="Söhne"/>
              </a:rPr>
              <a:t> </a:t>
            </a:r>
            <a:r>
              <a:rPr lang="en-US" sz="1800" i="0" dirty="0" err="1">
                <a:solidFill>
                  <a:srgbClr val="0D0D0D"/>
                </a:solidFill>
                <a:effectLst/>
                <a:latin typeface="Söhne"/>
              </a:rPr>
              <a:t>Süresi</a:t>
            </a:r>
            <a:r>
              <a:rPr lang="en-US" sz="1800" i="0" dirty="0">
                <a:solidFill>
                  <a:srgbClr val="0D0D0D"/>
                </a:solidFill>
                <a:effectLst/>
                <a:latin typeface="Söhne"/>
              </a:rPr>
              <a:t> Yok </a:t>
            </a:r>
            <a:r>
              <a:rPr lang="en-US" sz="1800" i="0" dirty="0" err="1">
                <a:solidFill>
                  <a:srgbClr val="0D0D0D"/>
                </a:solidFill>
                <a:effectLst/>
                <a:latin typeface="Söhne"/>
              </a:rPr>
              <a:t>veya</a:t>
            </a:r>
            <a:r>
              <a:rPr lang="en-US" sz="1800" i="0" dirty="0">
                <a:solidFill>
                  <a:srgbClr val="0D0D0D"/>
                </a:solidFill>
                <a:effectLst/>
                <a:latin typeface="Söhne"/>
              </a:rPr>
              <a:t> </a:t>
            </a:r>
            <a:r>
              <a:rPr lang="en-US" sz="1800" i="0" dirty="0" err="1">
                <a:solidFill>
                  <a:srgbClr val="0D0D0D"/>
                </a:solidFill>
                <a:effectLst/>
                <a:latin typeface="Söhne"/>
              </a:rPr>
              <a:t>Düşüktür</a:t>
            </a:r>
            <a:endParaRPr lang="tr-TR" sz="1800" i="0" dirty="0">
              <a:solidFill>
                <a:srgbClr val="0D0D0D"/>
              </a:solidFill>
              <a:effectLst/>
              <a:latin typeface="Söhne"/>
            </a:endParaRPr>
          </a:p>
          <a:p>
            <a:pPr algn="just">
              <a:buFont typeface="+mj-lt"/>
              <a:buAutoNum type="arabicPeriod"/>
            </a:pPr>
            <a:r>
              <a:rPr lang="en-US" sz="1800" i="0" dirty="0">
                <a:solidFill>
                  <a:srgbClr val="0D0D0D"/>
                </a:solidFill>
                <a:effectLst/>
                <a:latin typeface="Söhne"/>
              </a:rPr>
              <a:t>Non-</a:t>
            </a:r>
            <a:r>
              <a:rPr lang="en-US" sz="1800" i="0" dirty="0" err="1">
                <a:solidFill>
                  <a:srgbClr val="0D0D0D"/>
                </a:solidFill>
                <a:effectLst/>
                <a:latin typeface="Söhne"/>
              </a:rPr>
              <a:t>Parametrik</a:t>
            </a:r>
            <a:r>
              <a:rPr lang="en-US" sz="1800" i="0" dirty="0">
                <a:solidFill>
                  <a:srgbClr val="0D0D0D"/>
                </a:solidFill>
                <a:effectLst/>
                <a:latin typeface="Söhne"/>
              </a:rPr>
              <a:t> Bir </a:t>
            </a:r>
            <a:r>
              <a:rPr lang="en-US" sz="1800" i="0" dirty="0" err="1">
                <a:solidFill>
                  <a:srgbClr val="0D0D0D"/>
                </a:solidFill>
                <a:effectLst/>
                <a:latin typeface="Söhne"/>
              </a:rPr>
              <a:t>Yaklaşım</a:t>
            </a:r>
            <a:endParaRPr lang="tr-TR" sz="1800" i="0" dirty="0">
              <a:solidFill>
                <a:srgbClr val="0D0D0D"/>
              </a:solidFill>
              <a:effectLst/>
              <a:latin typeface="Söhne"/>
            </a:endParaRPr>
          </a:p>
          <a:p>
            <a:pPr algn="just">
              <a:buFont typeface="+mj-lt"/>
              <a:buAutoNum type="arabicPeriod"/>
            </a:pPr>
            <a:r>
              <a:rPr lang="en-US" sz="1800" i="0" dirty="0" err="1">
                <a:solidFill>
                  <a:srgbClr val="0D0D0D"/>
                </a:solidFill>
                <a:effectLst/>
                <a:latin typeface="Söhne"/>
              </a:rPr>
              <a:t>Kapsamlı</a:t>
            </a:r>
            <a:r>
              <a:rPr lang="en-US" sz="1800" i="0" dirty="0">
                <a:solidFill>
                  <a:srgbClr val="0D0D0D"/>
                </a:solidFill>
                <a:effectLst/>
                <a:latin typeface="Söhne"/>
              </a:rPr>
              <a:t> </a:t>
            </a:r>
            <a:r>
              <a:rPr lang="en-US" sz="1800" i="0" dirty="0" err="1">
                <a:solidFill>
                  <a:srgbClr val="0D0D0D"/>
                </a:solidFill>
                <a:effectLst/>
                <a:latin typeface="Söhne"/>
              </a:rPr>
              <a:t>Uygulama</a:t>
            </a:r>
            <a:r>
              <a:rPr lang="en-US" sz="1800" i="0" dirty="0">
                <a:solidFill>
                  <a:srgbClr val="0D0D0D"/>
                </a:solidFill>
                <a:effectLst/>
                <a:latin typeface="Söhne"/>
              </a:rPr>
              <a:t> </a:t>
            </a:r>
            <a:r>
              <a:rPr lang="en-US" sz="1800" i="0" dirty="0" err="1">
                <a:solidFill>
                  <a:srgbClr val="0D0D0D"/>
                </a:solidFill>
                <a:effectLst/>
                <a:latin typeface="Söhne"/>
              </a:rPr>
              <a:t>Alanları</a:t>
            </a:r>
            <a:endParaRPr lang="tr-TR" sz="1800" i="0" dirty="0">
              <a:solidFill>
                <a:srgbClr val="0D0D0D"/>
              </a:solidFill>
              <a:effectLst/>
              <a:latin typeface="Söhne"/>
            </a:endParaRPr>
          </a:p>
          <a:p>
            <a:pPr algn="just">
              <a:buFont typeface="+mj-lt"/>
              <a:buAutoNum type="arabicPeriod"/>
            </a:pPr>
            <a:r>
              <a:rPr lang="en-US" sz="1800" i="0" dirty="0" err="1">
                <a:solidFill>
                  <a:srgbClr val="0D0D0D"/>
                </a:solidFill>
                <a:effectLst/>
                <a:latin typeface="Söhne"/>
              </a:rPr>
              <a:t>Çoklu</a:t>
            </a:r>
            <a:r>
              <a:rPr lang="en-US" sz="1800" i="0" dirty="0">
                <a:solidFill>
                  <a:srgbClr val="0D0D0D"/>
                </a:solidFill>
                <a:effectLst/>
                <a:latin typeface="Söhne"/>
              </a:rPr>
              <a:t> </a:t>
            </a:r>
            <a:r>
              <a:rPr lang="en-US" sz="1800" i="0" dirty="0" err="1">
                <a:solidFill>
                  <a:srgbClr val="0D0D0D"/>
                </a:solidFill>
                <a:effectLst/>
                <a:latin typeface="Söhne"/>
              </a:rPr>
              <a:t>Sınıf</a:t>
            </a:r>
            <a:r>
              <a:rPr lang="en-US" sz="1800" i="0" dirty="0">
                <a:solidFill>
                  <a:srgbClr val="0D0D0D"/>
                </a:solidFill>
                <a:effectLst/>
                <a:latin typeface="Söhne"/>
              </a:rPr>
              <a:t> </a:t>
            </a:r>
            <a:r>
              <a:rPr lang="en-US" sz="1800" i="0" dirty="0" err="1">
                <a:solidFill>
                  <a:srgbClr val="0D0D0D"/>
                </a:solidFill>
                <a:effectLst/>
                <a:latin typeface="Söhne"/>
              </a:rPr>
              <a:t>ve</a:t>
            </a:r>
            <a:r>
              <a:rPr lang="en-US" sz="1800" i="0" dirty="0">
                <a:solidFill>
                  <a:srgbClr val="0D0D0D"/>
                </a:solidFill>
                <a:effectLst/>
                <a:latin typeface="Söhne"/>
              </a:rPr>
              <a:t> </a:t>
            </a:r>
            <a:r>
              <a:rPr lang="en-US" sz="1800" i="0" dirty="0" err="1">
                <a:solidFill>
                  <a:srgbClr val="0D0D0D"/>
                </a:solidFill>
                <a:effectLst/>
                <a:latin typeface="Söhne"/>
              </a:rPr>
              <a:t>Çok</a:t>
            </a:r>
            <a:r>
              <a:rPr lang="en-US" sz="1800" i="0" dirty="0">
                <a:solidFill>
                  <a:srgbClr val="0D0D0D"/>
                </a:solidFill>
                <a:effectLst/>
                <a:latin typeface="Söhne"/>
              </a:rPr>
              <a:t> </a:t>
            </a:r>
            <a:r>
              <a:rPr lang="en-US" sz="1800" i="0" dirty="0" err="1">
                <a:solidFill>
                  <a:srgbClr val="0D0D0D"/>
                </a:solidFill>
                <a:effectLst/>
                <a:latin typeface="Söhne"/>
              </a:rPr>
              <a:t>Boyutlu</a:t>
            </a:r>
            <a:r>
              <a:rPr lang="en-US" sz="1800" i="0" dirty="0">
                <a:solidFill>
                  <a:srgbClr val="0D0D0D"/>
                </a:solidFill>
                <a:effectLst/>
                <a:latin typeface="Söhne"/>
              </a:rPr>
              <a:t> Veri </a:t>
            </a:r>
            <a:r>
              <a:rPr lang="en-US" sz="1800" i="0" dirty="0" err="1">
                <a:solidFill>
                  <a:srgbClr val="0D0D0D"/>
                </a:solidFill>
                <a:effectLst/>
                <a:latin typeface="Söhne"/>
              </a:rPr>
              <a:t>Kümesi</a:t>
            </a:r>
            <a:r>
              <a:rPr lang="en-US" sz="1800" i="0" dirty="0">
                <a:solidFill>
                  <a:srgbClr val="0D0D0D"/>
                </a:solidFill>
                <a:effectLst/>
                <a:latin typeface="Söhne"/>
              </a:rPr>
              <a:t> </a:t>
            </a:r>
            <a:r>
              <a:rPr lang="en-US" sz="1800" i="0" dirty="0" err="1">
                <a:solidFill>
                  <a:srgbClr val="0D0D0D"/>
                </a:solidFill>
                <a:effectLst/>
                <a:latin typeface="Söhne"/>
              </a:rPr>
              <a:t>Desteği</a:t>
            </a:r>
            <a:r>
              <a:rPr lang="en-US" sz="1800" i="0" dirty="0">
                <a:solidFill>
                  <a:srgbClr val="0D0D0D"/>
                </a:solidFill>
                <a:effectLst/>
                <a:latin typeface="Söhne"/>
              </a:rPr>
              <a:t>:</a:t>
            </a:r>
            <a:endParaRPr lang="en-US" sz="1800" dirty="0"/>
          </a:p>
        </p:txBody>
      </p:sp>
      <p:sp>
        <p:nvSpPr>
          <p:cNvPr id="5" name="Slayt Numarası Yer Tutucusu 4">
            <a:extLst>
              <a:ext uri="{FF2B5EF4-FFF2-40B4-BE49-F238E27FC236}">
                <a16:creationId xmlns:a16="http://schemas.microsoft.com/office/drawing/2014/main" id="{24753A38-E5AE-DBAD-05C7-9543BD05066A}"/>
              </a:ext>
            </a:extLst>
          </p:cNvPr>
          <p:cNvSpPr>
            <a:spLocks noGrp="1"/>
          </p:cNvSpPr>
          <p:nvPr>
            <p:ph type="sldNum" sz="quarter" idx="12"/>
          </p:nvPr>
        </p:nvSpPr>
        <p:spPr/>
        <p:txBody>
          <a:bodyPr/>
          <a:lstStyle/>
          <a:p>
            <a:pPr>
              <a:defRPr/>
            </a:pPr>
            <a:fld id="{1E09EE13-7A4C-43FA-BBE8-D81D5C0B929E}" type="slidenum">
              <a:rPr lang="tr-TR" smtClean="0"/>
              <a:pPr>
                <a:defRPr/>
              </a:pPr>
              <a:t>51</a:t>
            </a:fld>
            <a:endParaRPr lang="tr-TR"/>
          </a:p>
        </p:txBody>
      </p:sp>
      <p:pic>
        <p:nvPicPr>
          <p:cNvPr id="7" name="Resim 6" descr="metin, ekran görüntüsü, diyagram, daire içeren bir resim&#10;&#10;Açıklama otomatik olarak oluşturuldu">
            <a:extLst>
              <a:ext uri="{FF2B5EF4-FFF2-40B4-BE49-F238E27FC236}">
                <a16:creationId xmlns:a16="http://schemas.microsoft.com/office/drawing/2014/main" id="{5AD716DF-F893-CDC6-6D33-9A8020C78C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66" y="1340768"/>
            <a:ext cx="5703293" cy="4176464"/>
          </a:xfrm>
          <a:prstGeom prst="rect">
            <a:avLst/>
          </a:prstGeom>
        </p:spPr>
      </p:pic>
    </p:spTree>
    <p:extLst>
      <p:ext uri="{BB962C8B-B14F-4D97-AF65-F5344CB8AC3E}">
        <p14:creationId xmlns:p14="http://schemas.microsoft.com/office/powerpoint/2010/main" val="1995589555"/>
      </p:ext>
    </p:extLst>
  </p:cSld>
  <p:clrMapOvr>
    <a:masterClrMapping/>
  </p:clrMapOvr>
  <p:transition spd="med">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6577BB-C50E-1CC0-D613-7330C6CF9659}"/>
              </a:ext>
            </a:extLst>
          </p:cNvPr>
          <p:cNvSpPr>
            <a:spLocks noGrp="1"/>
          </p:cNvSpPr>
          <p:nvPr>
            <p:ph type="title"/>
          </p:nvPr>
        </p:nvSpPr>
        <p:spPr/>
        <p:txBody>
          <a:bodyPr/>
          <a:lstStyle/>
          <a:p>
            <a:r>
              <a:rPr lang="tr-TR" b="1" dirty="0"/>
              <a:t>KNN Dezavantajları</a:t>
            </a:r>
            <a:endParaRPr lang="en-US" b="1" dirty="0"/>
          </a:p>
        </p:txBody>
      </p:sp>
      <p:sp>
        <p:nvSpPr>
          <p:cNvPr id="3" name="İçerik Yer Tutucusu 2">
            <a:extLst>
              <a:ext uri="{FF2B5EF4-FFF2-40B4-BE49-F238E27FC236}">
                <a16:creationId xmlns:a16="http://schemas.microsoft.com/office/drawing/2014/main" id="{2C9D53B7-BFDE-4DAC-6649-E90E2BAC1ABF}"/>
              </a:ext>
            </a:extLst>
          </p:cNvPr>
          <p:cNvSpPr>
            <a:spLocks noGrp="1"/>
          </p:cNvSpPr>
          <p:nvPr>
            <p:ph idx="1"/>
          </p:nvPr>
        </p:nvSpPr>
        <p:spPr/>
        <p:txBody>
          <a:bodyPr>
            <a:normAutofit fontScale="85000" lnSpcReduction="20000"/>
          </a:bodyPr>
          <a:lstStyle/>
          <a:p>
            <a:pPr algn="just">
              <a:buFont typeface="+mj-lt"/>
              <a:buAutoNum type="arabicPeriod"/>
            </a:pPr>
            <a:r>
              <a:rPr lang="en-US" b="1" i="0" dirty="0" err="1">
                <a:solidFill>
                  <a:srgbClr val="0D0D0D"/>
                </a:solidFill>
                <a:effectLst/>
                <a:latin typeface="Söhne"/>
              </a:rPr>
              <a:t>Yüksek</a:t>
            </a:r>
            <a:r>
              <a:rPr lang="en-US" b="1" i="0" dirty="0">
                <a:solidFill>
                  <a:srgbClr val="0D0D0D"/>
                </a:solidFill>
                <a:effectLst/>
                <a:latin typeface="Söhne"/>
              </a:rPr>
              <a:t> </a:t>
            </a:r>
            <a:r>
              <a:rPr lang="en-US" b="1" i="0" dirty="0" err="1">
                <a:solidFill>
                  <a:srgbClr val="0D0D0D"/>
                </a:solidFill>
                <a:effectLst/>
                <a:latin typeface="Söhne"/>
              </a:rPr>
              <a:t>Hesaplama</a:t>
            </a:r>
            <a:r>
              <a:rPr lang="en-US" b="1" i="0" dirty="0">
                <a:solidFill>
                  <a:srgbClr val="0D0D0D"/>
                </a:solidFill>
                <a:effectLst/>
                <a:latin typeface="Söhne"/>
              </a:rPr>
              <a:t> </a:t>
            </a:r>
            <a:r>
              <a:rPr lang="en-US" b="1" i="0" dirty="0" err="1">
                <a:solidFill>
                  <a:srgbClr val="0D0D0D"/>
                </a:solidFill>
                <a:effectLst/>
                <a:latin typeface="Söhne"/>
              </a:rPr>
              <a:t>Maliyeti</a:t>
            </a:r>
            <a:r>
              <a:rPr lang="en-US" b="0" i="0" dirty="0">
                <a:solidFill>
                  <a:srgbClr val="0D0D0D"/>
                </a:solidFill>
                <a:effectLst/>
                <a:latin typeface="Söhne"/>
              </a:rPr>
              <a:t>: </a:t>
            </a:r>
            <a:r>
              <a:rPr lang="en-US" b="0" i="0" dirty="0" err="1">
                <a:solidFill>
                  <a:srgbClr val="0D0D0D"/>
                </a:solidFill>
                <a:effectLst/>
                <a:latin typeface="Söhne"/>
              </a:rPr>
              <a:t>Tahmin</a:t>
            </a:r>
            <a:r>
              <a:rPr lang="en-US" b="0" i="0" dirty="0">
                <a:solidFill>
                  <a:srgbClr val="0D0D0D"/>
                </a:solidFill>
                <a:effectLst/>
                <a:latin typeface="Söhne"/>
              </a:rPr>
              <a:t> </a:t>
            </a:r>
            <a:r>
              <a:rPr lang="en-US" b="0" i="0" dirty="0" err="1">
                <a:solidFill>
                  <a:srgbClr val="0D0D0D"/>
                </a:solidFill>
                <a:effectLst/>
                <a:latin typeface="Söhne"/>
              </a:rPr>
              <a:t>yapmak</a:t>
            </a:r>
            <a:r>
              <a:rPr lang="en-US" b="0" i="0" dirty="0">
                <a:solidFill>
                  <a:srgbClr val="0D0D0D"/>
                </a:solidFill>
                <a:effectLst/>
                <a:latin typeface="Söhne"/>
              </a:rPr>
              <a:t> </a:t>
            </a:r>
            <a:r>
              <a:rPr lang="en-US" b="0" i="0" dirty="0" err="1">
                <a:solidFill>
                  <a:srgbClr val="0D0D0D"/>
                </a:solidFill>
                <a:effectLst/>
                <a:latin typeface="Söhne"/>
              </a:rPr>
              <a:t>için</a:t>
            </a:r>
            <a:r>
              <a:rPr lang="en-US" b="0" i="0" dirty="0">
                <a:solidFill>
                  <a:srgbClr val="0D0D0D"/>
                </a:solidFill>
                <a:effectLst/>
                <a:latin typeface="Söhne"/>
              </a:rPr>
              <a:t> KNN </a:t>
            </a:r>
            <a:r>
              <a:rPr lang="en-US" b="0" i="0" dirty="0" err="1">
                <a:solidFill>
                  <a:srgbClr val="0D0D0D"/>
                </a:solidFill>
                <a:effectLst/>
                <a:latin typeface="Söhne"/>
              </a:rPr>
              <a:t>algoritması</a:t>
            </a:r>
            <a:r>
              <a:rPr lang="en-US" b="0" i="0" dirty="0">
                <a:solidFill>
                  <a:srgbClr val="0D0D0D"/>
                </a:solidFill>
                <a:effectLst/>
                <a:latin typeface="Söhne"/>
              </a:rPr>
              <a:t>, yeni </a:t>
            </a:r>
            <a:r>
              <a:rPr lang="en-US" b="0" i="0" dirty="0" err="1">
                <a:solidFill>
                  <a:srgbClr val="0D0D0D"/>
                </a:solidFill>
                <a:effectLst/>
                <a:latin typeface="Söhne"/>
              </a:rPr>
              <a:t>bir</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noktası</a:t>
            </a:r>
            <a:r>
              <a:rPr lang="en-US" b="0" i="0" dirty="0">
                <a:solidFill>
                  <a:srgbClr val="0D0D0D"/>
                </a:solidFill>
                <a:effectLst/>
                <a:latin typeface="Söhne"/>
              </a:rPr>
              <a:t> </a:t>
            </a:r>
            <a:r>
              <a:rPr lang="en-US" b="0" i="0" dirty="0" err="1">
                <a:solidFill>
                  <a:srgbClr val="0D0D0D"/>
                </a:solidFill>
                <a:effectLst/>
                <a:latin typeface="Söhne"/>
              </a:rPr>
              <a:t>ile</a:t>
            </a:r>
            <a:r>
              <a:rPr lang="en-US" b="0" i="0" dirty="0">
                <a:solidFill>
                  <a:srgbClr val="0D0D0D"/>
                </a:solidFill>
                <a:effectLst/>
                <a:latin typeface="Söhne"/>
              </a:rPr>
              <a:t> </a:t>
            </a:r>
            <a:r>
              <a:rPr lang="en-US" b="0" i="0" dirty="0" err="1">
                <a:solidFill>
                  <a:srgbClr val="0D0D0D"/>
                </a:solidFill>
                <a:effectLst/>
                <a:latin typeface="Söhne"/>
              </a:rPr>
              <a:t>diğer</a:t>
            </a:r>
            <a:r>
              <a:rPr lang="en-US" b="0" i="0" dirty="0">
                <a:solidFill>
                  <a:srgbClr val="0D0D0D"/>
                </a:solidFill>
                <a:effectLst/>
                <a:latin typeface="Söhne"/>
              </a:rPr>
              <a:t> </a:t>
            </a:r>
            <a:r>
              <a:rPr lang="en-US" b="0" i="0" dirty="0" err="1">
                <a:solidFill>
                  <a:srgbClr val="0D0D0D"/>
                </a:solidFill>
                <a:effectLst/>
                <a:latin typeface="Söhne"/>
              </a:rPr>
              <a:t>tüm</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noktaları</a:t>
            </a:r>
            <a:r>
              <a:rPr lang="en-US" b="0" i="0" dirty="0">
                <a:solidFill>
                  <a:srgbClr val="0D0D0D"/>
                </a:solidFill>
                <a:effectLst/>
                <a:latin typeface="Söhne"/>
              </a:rPr>
              <a:t> </a:t>
            </a:r>
            <a:r>
              <a:rPr lang="en-US" b="0" i="0" dirty="0" err="1">
                <a:solidFill>
                  <a:srgbClr val="0D0D0D"/>
                </a:solidFill>
                <a:effectLst/>
                <a:latin typeface="Söhne"/>
              </a:rPr>
              <a:t>arasındaki</a:t>
            </a:r>
            <a:r>
              <a:rPr lang="en-US" b="0" i="0" dirty="0">
                <a:solidFill>
                  <a:srgbClr val="0D0D0D"/>
                </a:solidFill>
                <a:effectLst/>
                <a:latin typeface="Söhne"/>
              </a:rPr>
              <a:t> </a:t>
            </a:r>
            <a:r>
              <a:rPr lang="en-US" b="0" i="0" dirty="0" err="1">
                <a:solidFill>
                  <a:srgbClr val="0D0D0D"/>
                </a:solidFill>
                <a:effectLst/>
                <a:latin typeface="Söhne"/>
              </a:rPr>
              <a:t>uzaklıkları</a:t>
            </a:r>
            <a:r>
              <a:rPr lang="en-US" b="0" i="0" dirty="0">
                <a:solidFill>
                  <a:srgbClr val="0D0D0D"/>
                </a:solidFill>
                <a:effectLst/>
                <a:latin typeface="Söhne"/>
              </a:rPr>
              <a:t> </a:t>
            </a:r>
            <a:r>
              <a:rPr lang="en-US" b="0" i="0" dirty="0" err="1">
                <a:solidFill>
                  <a:srgbClr val="0D0D0D"/>
                </a:solidFill>
                <a:effectLst/>
                <a:latin typeface="Söhne"/>
              </a:rPr>
              <a:t>hesaplamak</a:t>
            </a:r>
            <a:r>
              <a:rPr lang="en-US" b="0" i="0" dirty="0">
                <a:solidFill>
                  <a:srgbClr val="0D0D0D"/>
                </a:solidFill>
                <a:effectLst/>
                <a:latin typeface="Söhne"/>
              </a:rPr>
              <a:t> </a:t>
            </a:r>
            <a:r>
              <a:rPr lang="en-US" b="0" i="0" dirty="0" err="1">
                <a:solidFill>
                  <a:srgbClr val="0D0D0D"/>
                </a:solidFill>
                <a:effectLst/>
                <a:latin typeface="Söhne"/>
              </a:rPr>
              <a:t>zorundadır</a:t>
            </a:r>
            <a:r>
              <a:rPr lang="en-US" b="0" i="0" dirty="0">
                <a:solidFill>
                  <a:srgbClr val="0D0D0D"/>
                </a:solidFill>
                <a:effectLst/>
                <a:latin typeface="Söhne"/>
              </a:rPr>
              <a:t>. </a:t>
            </a:r>
            <a:r>
              <a:rPr lang="en-US" b="0" i="0" dirty="0" err="1">
                <a:solidFill>
                  <a:srgbClr val="0D0D0D"/>
                </a:solidFill>
                <a:effectLst/>
                <a:latin typeface="Söhne"/>
              </a:rPr>
              <a:t>Büyük</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setlerinde</a:t>
            </a:r>
            <a:r>
              <a:rPr lang="en-US" b="0" i="0" dirty="0">
                <a:solidFill>
                  <a:srgbClr val="0D0D0D"/>
                </a:solidFill>
                <a:effectLst/>
                <a:latin typeface="Söhne"/>
              </a:rPr>
              <a:t> </a:t>
            </a:r>
            <a:r>
              <a:rPr lang="en-US" b="0" i="0" dirty="0" err="1">
                <a:solidFill>
                  <a:srgbClr val="0D0D0D"/>
                </a:solidFill>
                <a:effectLst/>
                <a:latin typeface="Söhne"/>
              </a:rPr>
              <a:t>veya</a:t>
            </a:r>
            <a:r>
              <a:rPr lang="en-US" b="0" i="0" dirty="0">
                <a:solidFill>
                  <a:srgbClr val="0D0D0D"/>
                </a:solidFill>
                <a:effectLst/>
                <a:latin typeface="Söhne"/>
              </a:rPr>
              <a:t> </a:t>
            </a:r>
            <a:r>
              <a:rPr lang="en-US" b="0" i="0" dirty="0" err="1">
                <a:solidFill>
                  <a:srgbClr val="0D0D0D"/>
                </a:solidFill>
                <a:effectLst/>
                <a:latin typeface="Söhne"/>
              </a:rPr>
              <a:t>yüksek</a:t>
            </a:r>
            <a:r>
              <a:rPr lang="en-US" b="0" i="0" dirty="0">
                <a:solidFill>
                  <a:srgbClr val="0D0D0D"/>
                </a:solidFill>
                <a:effectLst/>
                <a:latin typeface="Söhne"/>
              </a:rPr>
              <a:t> </a:t>
            </a:r>
            <a:r>
              <a:rPr lang="en-US" b="0" i="0" dirty="0" err="1">
                <a:solidFill>
                  <a:srgbClr val="0D0D0D"/>
                </a:solidFill>
                <a:effectLst/>
                <a:latin typeface="Söhne"/>
              </a:rPr>
              <a:t>boyutlu</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setlerinde</a:t>
            </a:r>
            <a:r>
              <a:rPr lang="en-US" b="0" i="0" dirty="0">
                <a:solidFill>
                  <a:srgbClr val="0D0D0D"/>
                </a:solidFill>
                <a:effectLst/>
                <a:latin typeface="Söhne"/>
              </a:rPr>
              <a:t> </a:t>
            </a:r>
            <a:r>
              <a:rPr lang="en-US" b="0" i="0" dirty="0" err="1">
                <a:solidFill>
                  <a:srgbClr val="0D0D0D"/>
                </a:solidFill>
                <a:effectLst/>
                <a:latin typeface="Söhne"/>
              </a:rPr>
              <a:t>bu</a:t>
            </a:r>
            <a:r>
              <a:rPr lang="en-US" b="0" i="0" dirty="0">
                <a:solidFill>
                  <a:srgbClr val="0D0D0D"/>
                </a:solidFill>
                <a:effectLst/>
                <a:latin typeface="Söhne"/>
              </a:rPr>
              <a:t> </a:t>
            </a:r>
            <a:r>
              <a:rPr lang="en-US" b="0" i="0" dirty="0" err="1">
                <a:solidFill>
                  <a:srgbClr val="0D0D0D"/>
                </a:solidFill>
                <a:effectLst/>
                <a:latin typeface="Söhne"/>
              </a:rPr>
              <a:t>hesaplama</a:t>
            </a:r>
            <a:r>
              <a:rPr lang="en-US" b="0" i="0" dirty="0">
                <a:solidFill>
                  <a:srgbClr val="0D0D0D"/>
                </a:solidFill>
                <a:effectLst/>
                <a:latin typeface="Söhne"/>
              </a:rPr>
              <a:t> </a:t>
            </a:r>
            <a:r>
              <a:rPr lang="en-US" b="0" i="0" dirty="0" err="1">
                <a:solidFill>
                  <a:srgbClr val="0D0D0D"/>
                </a:solidFill>
                <a:effectLst/>
                <a:latin typeface="Söhne"/>
              </a:rPr>
              <a:t>maliyeti</a:t>
            </a:r>
            <a:r>
              <a:rPr lang="en-US" b="0" i="0" dirty="0">
                <a:solidFill>
                  <a:srgbClr val="0D0D0D"/>
                </a:solidFill>
                <a:effectLst/>
                <a:latin typeface="Söhne"/>
              </a:rPr>
              <a:t> </a:t>
            </a:r>
            <a:r>
              <a:rPr lang="en-US" b="0" i="0" dirty="0" err="1">
                <a:solidFill>
                  <a:srgbClr val="0D0D0D"/>
                </a:solidFill>
                <a:effectLst/>
                <a:latin typeface="Söhne"/>
              </a:rPr>
              <a:t>yüksek</a:t>
            </a:r>
            <a:r>
              <a:rPr lang="en-US" b="0" i="0" dirty="0">
                <a:solidFill>
                  <a:srgbClr val="0D0D0D"/>
                </a:solidFill>
                <a:effectLst/>
                <a:latin typeface="Söhne"/>
              </a:rPr>
              <a:t> </a:t>
            </a:r>
            <a:r>
              <a:rPr lang="en-US" b="0" i="0" dirty="0" err="1">
                <a:solidFill>
                  <a:srgbClr val="0D0D0D"/>
                </a:solidFill>
                <a:effectLst/>
                <a:latin typeface="Söhne"/>
              </a:rPr>
              <a:t>olabilir</a:t>
            </a:r>
            <a:r>
              <a:rPr lang="en-US" b="0" i="0" dirty="0">
                <a:solidFill>
                  <a:srgbClr val="0D0D0D"/>
                </a:solidFill>
                <a:effectLst/>
                <a:latin typeface="Söhne"/>
              </a:rPr>
              <a:t>.</a:t>
            </a:r>
          </a:p>
          <a:p>
            <a:pPr algn="just">
              <a:buFont typeface="+mj-lt"/>
              <a:buAutoNum type="arabicPeriod"/>
            </a:pPr>
            <a:r>
              <a:rPr lang="en-US" b="1" i="0" dirty="0">
                <a:solidFill>
                  <a:srgbClr val="0D0D0D"/>
                </a:solidFill>
                <a:effectLst/>
                <a:latin typeface="Söhne"/>
              </a:rPr>
              <a:t>Hassas Veri </a:t>
            </a:r>
            <a:r>
              <a:rPr lang="en-US" b="1" i="0" dirty="0" err="1">
                <a:solidFill>
                  <a:srgbClr val="0D0D0D"/>
                </a:solidFill>
                <a:effectLst/>
                <a:latin typeface="Söhne"/>
              </a:rPr>
              <a:t>Ön</a:t>
            </a:r>
            <a:r>
              <a:rPr lang="en-US" b="1" i="0" dirty="0">
                <a:solidFill>
                  <a:srgbClr val="0D0D0D"/>
                </a:solidFill>
                <a:effectLst/>
                <a:latin typeface="Söhne"/>
              </a:rPr>
              <a:t> </a:t>
            </a:r>
            <a:r>
              <a:rPr lang="en-US" b="1" i="0" dirty="0" err="1">
                <a:solidFill>
                  <a:srgbClr val="0D0D0D"/>
                </a:solidFill>
                <a:effectLst/>
                <a:latin typeface="Söhne"/>
              </a:rPr>
              <a:t>İşleme</a:t>
            </a:r>
            <a:r>
              <a:rPr lang="en-US" b="1" i="0" dirty="0">
                <a:solidFill>
                  <a:srgbClr val="0D0D0D"/>
                </a:solidFill>
                <a:effectLst/>
                <a:latin typeface="Söhne"/>
              </a:rPr>
              <a:t> </a:t>
            </a:r>
            <a:r>
              <a:rPr lang="en-US" b="1" i="0" dirty="0" err="1">
                <a:solidFill>
                  <a:srgbClr val="0D0D0D"/>
                </a:solidFill>
                <a:effectLst/>
                <a:latin typeface="Söhne"/>
              </a:rPr>
              <a:t>Gerekliliği</a:t>
            </a:r>
            <a:r>
              <a:rPr lang="en-US" b="0" i="0" dirty="0">
                <a:solidFill>
                  <a:srgbClr val="0D0D0D"/>
                </a:solidFill>
                <a:effectLst/>
                <a:latin typeface="Söhne"/>
              </a:rPr>
              <a:t>: KNN </a:t>
            </a:r>
            <a:r>
              <a:rPr lang="en-US" b="0" i="0" dirty="0" err="1">
                <a:solidFill>
                  <a:srgbClr val="0D0D0D"/>
                </a:solidFill>
                <a:effectLst/>
                <a:latin typeface="Söhne"/>
              </a:rPr>
              <a:t>algoritması</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setindeki</a:t>
            </a:r>
            <a:r>
              <a:rPr lang="en-US" b="0" i="0" dirty="0">
                <a:solidFill>
                  <a:srgbClr val="0D0D0D"/>
                </a:solidFill>
                <a:effectLst/>
                <a:latin typeface="Söhne"/>
              </a:rPr>
              <a:t> </a:t>
            </a:r>
            <a:r>
              <a:rPr lang="en-US" b="0" i="0" dirty="0" err="1">
                <a:solidFill>
                  <a:srgbClr val="0D0D0D"/>
                </a:solidFill>
                <a:effectLst/>
                <a:latin typeface="Söhne"/>
              </a:rPr>
              <a:t>gürültüye</a:t>
            </a:r>
            <a:r>
              <a:rPr lang="en-US" b="0" i="0" dirty="0">
                <a:solidFill>
                  <a:srgbClr val="0D0D0D"/>
                </a:solidFill>
                <a:effectLst/>
                <a:latin typeface="Söhne"/>
              </a:rPr>
              <a:t> </a:t>
            </a:r>
            <a:r>
              <a:rPr lang="en-US" b="0" i="0" dirty="0" err="1">
                <a:solidFill>
                  <a:srgbClr val="0D0D0D"/>
                </a:solidFill>
                <a:effectLst/>
                <a:latin typeface="Söhne"/>
              </a:rPr>
              <a:t>ve</a:t>
            </a:r>
            <a:r>
              <a:rPr lang="en-US" b="0" i="0" dirty="0">
                <a:solidFill>
                  <a:srgbClr val="0D0D0D"/>
                </a:solidFill>
                <a:effectLst/>
                <a:latin typeface="Söhne"/>
              </a:rPr>
              <a:t> </a:t>
            </a:r>
            <a:r>
              <a:rPr lang="en-US" b="0" i="0" dirty="0" err="1">
                <a:solidFill>
                  <a:srgbClr val="0D0D0D"/>
                </a:solidFill>
                <a:effectLst/>
                <a:latin typeface="Söhne"/>
              </a:rPr>
              <a:t>özellikler</a:t>
            </a:r>
            <a:r>
              <a:rPr lang="en-US" b="0" i="0" dirty="0">
                <a:solidFill>
                  <a:srgbClr val="0D0D0D"/>
                </a:solidFill>
                <a:effectLst/>
                <a:latin typeface="Söhne"/>
              </a:rPr>
              <a:t> </a:t>
            </a:r>
            <a:r>
              <a:rPr lang="en-US" b="0" i="0" dirty="0" err="1">
                <a:solidFill>
                  <a:srgbClr val="0D0D0D"/>
                </a:solidFill>
                <a:effectLst/>
                <a:latin typeface="Söhne"/>
              </a:rPr>
              <a:t>arasındaki</a:t>
            </a:r>
            <a:r>
              <a:rPr lang="en-US" b="0" i="0" dirty="0">
                <a:solidFill>
                  <a:srgbClr val="0D0D0D"/>
                </a:solidFill>
                <a:effectLst/>
                <a:latin typeface="Söhne"/>
              </a:rPr>
              <a:t> </a:t>
            </a:r>
            <a:r>
              <a:rPr lang="en-US" b="0" i="0" dirty="0" err="1">
                <a:solidFill>
                  <a:srgbClr val="0D0D0D"/>
                </a:solidFill>
                <a:effectLst/>
                <a:latin typeface="Söhne"/>
              </a:rPr>
              <a:t>ilişkisizliğe</a:t>
            </a:r>
            <a:r>
              <a:rPr lang="en-US" b="0" i="0" dirty="0">
                <a:solidFill>
                  <a:srgbClr val="0D0D0D"/>
                </a:solidFill>
                <a:effectLst/>
                <a:latin typeface="Söhne"/>
              </a:rPr>
              <a:t> </a:t>
            </a:r>
            <a:r>
              <a:rPr lang="en-US" b="0" i="0" dirty="0" err="1">
                <a:solidFill>
                  <a:srgbClr val="0D0D0D"/>
                </a:solidFill>
                <a:effectLst/>
                <a:latin typeface="Söhne"/>
              </a:rPr>
              <a:t>oldukça</a:t>
            </a:r>
            <a:r>
              <a:rPr lang="en-US" b="0" i="0" dirty="0">
                <a:solidFill>
                  <a:srgbClr val="0D0D0D"/>
                </a:solidFill>
                <a:effectLst/>
                <a:latin typeface="Söhne"/>
              </a:rPr>
              <a:t> </a:t>
            </a:r>
            <a:r>
              <a:rPr lang="en-US" b="0" i="0" dirty="0" err="1">
                <a:solidFill>
                  <a:srgbClr val="0D0D0D"/>
                </a:solidFill>
                <a:effectLst/>
                <a:latin typeface="Söhne"/>
              </a:rPr>
              <a:t>duyarlıdır</a:t>
            </a:r>
            <a:r>
              <a:rPr lang="en-US" b="0" i="0" dirty="0">
                <a:solidFill>
                  <a:srgbClr val="0D0D0D"/>
                </a:solidFill>
                <a:effectLst/>
                <a:latin typeface="Söhne"/>
              </a:rPr>
              <a:t>. Bu </a:t>
            </a:r>
            <a:r>
              <a:rPr lang="en-US" b="0" i="0" dirty="0" err="1">
                <a:solidFill>
                  <a:srgbClr val="0D0D0D"/>
                </a:solidFill>
                <a:effectLst/>
                <a:latin typeface="Söhne"/>
              </a:rPr>
              <a:t>nedenle</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setinin</a:t>
            </a:r>
            <a:r>
              <a:rPr lang="en-US" b="0" i="0" dirty="0">
                <a:solidFill>
                  <a:srgbClr val="0D0D0D"/>
                </a:solidFill>
                <a:effectLst/>
                <a:latin typeface="Söhne"/>
              </a:rPr>
              <a:t> </a:t>
            </a:r>
            <a:r>
              <a:rPr lang="en-US" b="0" i="0" dirty="0" err="1">
                <a:solidFill>
                  <a:srgbClr val="0D0D0D"/>
                </a:solidFill>
                <a:effectLst/>
                <a:latin typeface="Söhne"/>
              </a:rPr>
              <a:t>ön</a:t>
            </a:r>
            <a:r>
              <a:rPr lang="en-US" b="0" i="0" dirty="0">
                <a:solidFill>
                  <a:srgbClr val="0D0D0D"/>
                </a:solidFill>
                <a:effectLst/>
                <a:latin typeface="Söhne"/>
              </a:rPr>
              <a:t> </a:t>
            </a:r>
            <a:r>
              <a:rPr lang="en-US" b="0" i="0" dirty="0" err="1">
                <a:solidFill>
                  <a:srgbClr val="0D0D0D"/>
                </a:solidFill>
                <a:effectLst/>
                <a:latin typeface="Söhne"/>
              </a:rPr>
              <a:t>işlemesinin</a:t>
            </a:r>
            <a:r>
              <a:rPr lang="en-US" b="0" i="0" dirty="0">
                <a:solidFill>
                  <a:srgbClr val="0D0D0D"/>
                </a:solidFill>
                <a:effectLst/>
                <a:latin typeface="Söhne"/>
              </a:rPr>
              <a:t> </a:t>
            </a:r>
            <a:r>
              <a:rPr lang="en-US" b="0" i="0" dirty="0" err="1">
                <a:solidFill>
                  <a:srgbClr val="0D0D0D"/>
                </a:solidFill>
                <a:effectLst/>
                <a:latin typeface="Söhne"/>
              </a:rPr>
              <a:t>yapılması</a:t>
            </a:r>
            <a:r>
              <a:rPr lang="en-US" b="0" i="0" dirty="0">
                <a:solidFill>
                  <a:srgbClr val="0D0D0D"/>
                </a:solidFill>
                <a:effectLst/>
                <a:latin typeface="Söhne"/>
              </a:rPr>
              <a:t> </a:t>
            </a:r>
            <a:r>
              <a:rPr lang="en-US" b="0" i="0" dirty="0" err="1">
                <a:solidFill>
                  <a:srgbClr val="0D0D0D"/>
                </a:solidFill>
                <a:effectLst/>
                <a:latin typeface="Söhne"/>
              </a:rPr>
              <a:t>ve</a:t>
            </a:r>
            <a:r>
              <a:rPr lang="en-US" b="0" i="0" dirty="0">
                <a:solidFill>
                  <a:srgbClr val="0D0D0D"/>
                </a:solidFill>
                <a:effectLst/>
                <a:latin typeface="Söhne"/>
              </a:rPr>
              <a:t> </a:t>
            </a:r>
            <a:r>
              <a:rPr lang="en-US" b="0" i="0" dirty="0" err="1">
                <a:solidFill>
                  <a:srgbClr val="0D0D0D"/>
                </a:solidFill>
                <a:effectLst/>
                <a:latin typeface="Söhne"/>
              </a:rPr>
              <a:t>gereksiz</a:t>
            </a:r>
            <a:r>
              <a:rPr lang="en-US" b="0" i="0" dirty="0">
                <a:solidFill>
                  <a:srgbClr val="0D0D0D"/>
                </a:solidFill>
                <a:effectLst/>
                <a:latin typeface="Söhne"/>
              </a:rPr>
              <a:t> </a:t>
            </a:r>
            <a:r>
              <a:rPr lang="en-US" b="0" i="0" dirty="0" err="1">
                <a:solidFill>
                  <a:srgbClr val="0D0D0D"/>
                </a:solidFill>
                <a:effectLst/>
                <a:latin typeface="Söhne"/>
              </a:rPr>
              <a:t>veya</a:t>
            </a:r>
            <a:r>
              <a:rPr lang="en-US" b="0" i="0" dirty="0">
                <a:solidFill>
                  <a:srgbClr val="0D0D0D"/>
                </a:solidFill>
                <a:effectLst/>
                <a:latin typeface="Söhne"/>
              </a:rPr>
              <a:t> </a:t>
            </a:r>
            <a:r>
              <a:rPr lang="en-US" b="0" i="0" dirty="0" err="1">
                <a:solidFill>
                  <a:srgbClr val="0D0D0D"/>
                </a:solidFill>
                <a:effectLst/>
                <a:latin typeface="Söhne"/>
              </a:rPr>
              <a:t>bozuk</a:t>
            </a:r>
            <a:r>
              <a:rPr lang="en-US" b="0" i="0" dirty="0">
                <a:solidFill>
                  <a:srgbClr val="0D0D0D"/>
                </a:solidFill>
                <a:effectLst/>
                <a:latin typeface="Söhne"/>
              </a:rPr>
              <a:t> </a:t>
            </a:r>
            <a:r>
              <a:rPr lang="en-US" b="0" i="0" dirty="0" err="1">
                <a:solidFill>
                  <a:srgbClr val="0D0D0D"/>
                </a:solidFill>
                <a:effectLst/>
                <a:latin typeface="Söhne"/>
              </a:rPr>
              <a:t>özelliklerin</a:t>
            </a:r>
            <a:r>
              <a:rPr lang="en-US" b="0" i="0" dirty="0">
                <a:solidFill>
                  <a:srgbClr val="0D0D0D"/>
                </a:solidFill>
                <a:effectLst/>
                <a:latin typeface="Söhne"/>
              </a:rPr>
              <a:t> </a:t>
            </a:r>
            <a:r>
              <a:rPr lang="en-US" b="0" i="0" dirty="0" err="1">
                <a:solidFill>
                  <a:srgbClr val="0D0D0D"/>
                </a:solidFill>
                <a:effectLst/>
                <a:latin typeface="Söhne"/>
              </a:rPr>
              <a:t>kaldırılması</a:t>
            </a:r>
            <a:r>
              <a:rPr lang="en-US" b="0" i="0" dirty="0">
                <a:solidFill>
                  <a:srgbClr val="0D0D0D"/>
                </a:solidFill>
                <a:effectLst/>
                <a:latin typeface="Söhne"/>
              </a:rPr>
              <a:t> </a:t>
            </a:r>
            <a:r>
              <a:rPr lang="en-US" b="0" i="0" dirty="0" err="1">
                <a:solidFill>
                  <a:srgbClr val="0D0D0D"/>
                </a:solidFill>
                <a:effectLst/>
                <a:latin typeface="Söhne"/>
              </a:rPr>
              <a:t>önemlidir</a:t>
            </a:r>
            <a:r>
              <a:rPr lang="en-US" b="0" i="0" dirty="0">
                <a:solidFill>
                  <a:srgbClr val="0D0D0D"/>
                </a:solidFill>
                <a:effectLst/>
                <a:latin typeface="Söhne"/>
              </a:rPr>
              <a:t>.</a:t>
            </a:r>
          </a:p>
          <a:p>
            <a:pPr algn="just">
              <a:buFont typeface="+mj-lt"/>
              <a:buAutoNum type="arabicPeriod"/>
            </a:pPr>
            <a:r>
              <a:rPr lang="en-US" b="1" i="0" dirty="0" err="1">
                <a:solidFill>
                  <a:srgbClr val="0D0D0D"/>
                </a:solidFill>
                <a:effectLst/>
                <a:latin typeface="Söhne"/>
              </a:rPr>
              <a:t>Depolama</a:t>
            </a:r>
            <a:r>
              <a:rPr lang="en-US" b="1" i="0" dirty="0">
                <a:solidFill>
                  <a:srgbClr val="0D0D0D"/>
                </a:solidFill>
                <a:effectLst/>
                <a:latin typeface="Söhne"/>
              </a:rPr>
              <a:t> </a:t>
            </a:r>
            <a:r>
              <a:rPr lang="en-US" b="1" i="0" dirty="0" err="1">
                <a:solidFill>
                  <a:srgbClr val="0D0D0D"/>
                </a:solidFill>
                <a:effectLst/>
                <a:latin typeface="Söhne"/>
              </a:rPr>
              <a:t>Alanı</a:t>
            </a:r>
            <a:r>
              <a:rPr lang="en-US" b="1" i="0" dirty="0">
                <a:solidFill>
                  <a:srgbClr val="0D0D0D"/>
                </a:solidFill>
                <a:effectLst/>
                <a:latin typeface="Söhne"/>
              </a:rPr>
              <a:t> </a:t>
            </a:r>
            <a:r>
              <a:rPr lang="en-US" b="1" i="0" dirty="0" err="1">
                <a:solidFill>
                  <a:srgbClr val="0D0D0D"/>
                </a:solidFill>
                <a:effectLst/>
                <a:latin typeface="Söhne"/>
              </a:rPr>
              <a:t>İhtiyacı</a:t>
            </a:r>
            <a:r>
              <a:rPr lang="en-US" b="0" i="0" dirty="0">
                <a:solidFill>
                  <a:srgbClr val="0D0D0D"/>
                </a:solidFill>
                <a:effectLst/>
                <a:latin typeface="Söhne"/>
              </a:rPr>
              <a:t>: KNN </a:t>
            </a:r>
            <a:r>
              <a:rPr lang="en-US" b="0" i="0" dirty="0" err="1">
                <a:solidFill>
                  <a:srgbClr val="0D0D0D"/>
                </a:solidFill>
                <a:effectLst/>
                <a:latin typeface="Söhne"/>
              </a:rPr>
              <a:t>algoritması</a:t>
            </a:r>
            <a:r>
              <a:rPr lang="en-US" b="0" i="0" dirty="0">
                <a:solidFill>
                  <a:srgbClr val="0D0D0D"/>
                </a:solidFill>
                <a:effectLst/>
                <a:latin typeface="Söhne"/>
              </a:rPr>
              <a:t>, </a:t>
            </a:r>
            <a:r>
              <a:rPr lang="en-US" b="0" i="0" dirty="0" err="1">
                <a:solidFill>
                  <a:srgbClr val="0D0D0D"/>
                </a:solidFill>
                <a:effectLst/>
                <a:latin typeface="Söhne"/>
              </a:rPr>
              <a:t>eğitim</a:t>
            </a:r>
            <a:r>
              <a:rPr lang="en-US" b="0" i="0" dirty="0">
                <a:solidFill>
                  <a:srgbClr val="0D0D0D"/>
                </a:solidFill>
                <a:effectLst/>
                <a:latin typeface="Söhne"/>
              </a:rPr>
              <a:t> </a:t>
            </a:r>
            <a:r>
              <a:rPr lang="en-US" b="0" i="0" dirty="0" err="1">
                <a:solidFill>
                  <a:srgbClr val="0D0D0D"/>
                </a:solidFill>
                <a:effectLst/>
                <a:latin typeface="Söhne"/>
              </a:rPr>
              <a:t>aşamasında</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noktalarını</a:t>
            </a:r>
            <a:r>
              <a:rPr lang="en-US" b="0" i="0" dirty="0">
                <a:solidFill>
                  <a:srgbClr val="0D0D0D"/>
                </a:solidFill>
                <a:effectLst/>
                <a:latin typeface="Söhne"/>
              </a:rPr>
              <a:t> </a:t>
            </a:r>
            <a:r>
              <a:rPr lang="en-US" b="0" i="0" dirty="0" err="1">
                <a:solidFill>
                  <a:srgbClr val="0D0D0D"/>
                </a:solidFill>
                <a:effectLst/>
                <a:latin typeface="Söhne"/>
              </a:rPr>
              <a:t>bellekte</a:t>
            </a:r>
            <a:r>
              <a:rPr lang="en-US" b="0" i="0" dirty="0">
                <a:solidFill>
                  <a:srgbClr val="0D0D0D"/>
                </a:solidFill>
                <a:effectLst/>
                <a:latin typeface="Söhne"/>
              </a:rPr>
              <a:t> </a:t>
            </a:r>
            <a:r>
              <a:rPr lang="en-US" b="0" i="0" dirty="0" err="1">
                <a:solidFill>
                  <a:srgbClr val="0D0D0D"/>
                </a:solidFill>
                <a:effectLst/>
                <a:latin typeface="Söhne"/>
              </a:rPr>
              <a:t>saklar</a:t>
            </a:r>
            <a:r>
              <a:rPr lang="en-US" b="0" i="0" dirty="0">
                <a:solidFill>
                  <a:srgbClr val="0D0D0D"/>
                </a:solidFill>
                <a:effectLst/>
                <a:latin typeface="Söhne"/>
              </a:rPr>
              <a:t>. </a:t>
            </a:r>
            <a:r>
              <a:rPr lang="en-US" b="0" i="0" dirty="0" err="1">
                <a:solidFill>
                  <a:srgbClr val="0D0D0D"/>
                </a:solidFill>
                <a:effectLst/>
                <a:latin typeface="Söhne"/>
              </a:rPr>
              <a:t>Büyük</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setleriyle</a:t>
            </a:r>
            <a:r>
              <a:rPr lang="en-US" b="0" i="0" dirty="0">
                <a:solidFill>
                  <a:srgbClr val="0D0D0D"/>
                </a:solidFill>
                <a:effectLst/>
                <a:latin typeface="Söhne"/>
              </a:rPr>
              <a:t> </a:t>
            </a:r>
            <a:r>
              <a:rPr lang="en-US" b="0" i="0" dirty="0" err="1">
                <a:solidFill>
                  <a:srgbClr val="0D0D0D"/>
                </a:solidFill>
                <a:effectLst/>
                <a:latin typeface="Söhne"/>
              </a:rPr>
              <a:t>çalışırken</a:t>
            </a:r>
            <a:r>
              <a:rPr lang="en-US" b="0" i="0" dirty="0">
                <a:solidFill>
                  <a:srgbClr val="0D0D0D"/>
                </a:solidFill>
                <a:effectLst/>
                <a:latin typeface="Söhne"/>
              </a:rPr>
              <a:t> </a:t>
            </a:r>
            <a:r>
              <a:rPr lang="en-US" b="0" i="0" dirty="0" err="1">
                <a:solidFill>
                  <a:srgbClr val="0D0D0D"/>
                </a:solidFill>
                <a:effectLst/>
                <a:latin typeface="Söhne"/>
              </a:rPr>
              <a:t>bu</a:t>
            </a:r>
            <a:r>
              <a:rPr lang="en-US" b="0" i="0" dirty="0">
                <a:solidFill>
                  <a:srgbClr val="0D0D0D"/>
                </a:solidFill>
                <a:effectLst/>
                <a:latin typeface="Söhne"/>
              </a:rPr>
              <a:t> </a:t>
            </a:r>
            <a:r>
              <a:rPr lang="en-US" b="0" i="0" dirty="0" err="1">
                <a:solidFill>
                  <a:srgbClr val="0D0D0D"/>
                </a:solidFill>
                <a:effectLst/>
                <a:latin typeface="Söhne"/>
              </a:rPr>
              <a:t>bellek</a:t>
            </a:r>
            <a:r>
              <a:rPr lang="en-US" b="0" i="0" dirty="0">
                <a:solidFill>
                  <a:srgbClr val="0D0D0D"/>
                </a:solidFill>
                <a:effectLst/>
                <a:latin typeface="Söhne"/>
              </a:rPr>
              <a:t> </a:t>
            </a:r>
            <a:r>
              <a:rPr lang="en-US" b="0" i="0" dirty="0" err="1">
                <a:solidFill>
                  <a:srgbClr val="0D0D0D"/>
                </a:solidFill>
                <a:effectLst/>
                <a:latin typeface="Söhne"/>
              </a:rPr>
              <a:t>gereksinimi</a:t>
            </a:r>
            <a:r>
              <a:rPr lang="en-US" b="0" i="0" dirty="0">
                <a:solidFill>
                  <a:srgbClr val="0D0D0D"/>
                </a:solidFill>
                <a:effectLst/>
                <a:latin typeface="Söhne"/>
              </a:rPr>
              <a:t> </a:t>
            </a:r>
            <a:r>
              <a:rPr lang="en-US" b="0" i="0" dirty="0" err="1">
                <a:solidFill>
                  <a:srgbClr val="0D0D0D"/>
                </a:solidFill>
                <a:effectLst/>
                <a:latin typeface="Söhne"/>
              </a:rPr>
              <a:t>önemli</a:t>
            </a:r>
            <a:r>
              <a:rPr lang="en-US" b="0" i="0" dirty="0">
                <a:solidFill>
                  <a:srgbClr val="0D0D0D"/>
                </a:solidFill>
                <a:effectLst/>
                <a:latin typeface="Söhne"/>
              </a:rPr>
              <a:t> </a:t>
            </a:r>
            <a:r>
              <a:rPr lang="en-US" b="0" i="0" dirty="0" err="1">
                <a:solidFill>
                  <a:srgbClr val="0D0D0D"/>
                </a:solidFill>
                <a:effectLst/>
                <a:latin typeface="Söhne"/>
              </a:rPr>
              <a:t>olabilir</a:t>
            </a:r>
            <a:r>
              <a:rPr lang="en-US" b="0" i="0" dirty="0">
                <a:solidFill>
                  <a:srgbClr val="0D0D0D"/>
                </a:solidFill>
                <a:effectLst/>
                <a:latin typeface="Söhne"/>
              </a:rPr>
              <a:t>.</a:t>
            </a:r>
          </a:p>
          <a:p>
            <a:pPr algn="just">
              <a:buFont typeface="+mj-lt"/>
              <a:buAutoNum type="arabicPeriod"/>
            </a:pPr>
            <a:r>
              <a:rPr lang="en-US" b="1" i="0" dirty="0" err="1">
                <a:solidFill>
                  <a:srgbClr val="0D0D0D"/>
                </a:solidFill>
                <a:effectLst/>
                <a:latin typeface="Söhne"/>
              </a:rPr>
              <a:t>Ölçeklendirme</a:t>
            </a:r>
            <a:r>
              <a:rPr lang="en-US" b="1" i="0" dirty="0">
                <a:solidFill>
                  <a:srgbClr val="0D0D0D"/>
                </a:solidFill>
                <a:effectLst/>
                <a:latin typeface="Söhne"/>
              </a:rPr>
              <a:t> </a:t>
            </a:r>
            <a:r>
              <a:rPr lang="en-US" b="1" i="0" dirty="0" err="1">
                <a:solidFill>
                  <a:srgbClr val="0D0D0D"/>
                </a:solidFill>
                <a:effectLst/>
                <a:latin typeface="Söhne"/>
              </a:rPr>
              <a:t>Sorunları</a:t>
            </a:r>
            <a:r>
              <a:rPr lang="en-US" b="0" i="0" dirty="0">
                <a:solidFill>
                  <a:srgbClr val="0D0D0D"/>
                </a:solidFill>
                <a:effectLst/>
                <a:latin typeface="Söhne"/>
              </a:rPr>
              <a:t>: KNN </a:t>
            </a:r>
            <a:r>
              <a:rPr lang="en-US" b="0" i="0" dirty="0" err="1">
                <a:solidFill>
                  <a:srgbClr val="0D0D0D"/>
                </a:solidFill>
                <a:effectLst/>
                <a:latin typeface="Söhne"/>
              </a:rPr>
              <a:t>algoritması</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setindeki</a:t>
            </a:r>
            <a:r>
              <a:rPr lang="en-US" b="0" i="0" dirty="0">
                <a:solidFill>
                  <a:srgbClr val="0D0D0D"/>
                </a:solidFill>
                <a:effectLst/>
                <a:latin typeface="Söhne"/>
              </a:rPr>
              <a:t> </a:t>
            </a:r>
            <a:r>
              <a:rPr lang="en-US" b="0" i="0" dirty="0" err="1">
                <a:solidFill>
                  <a:srgbClr val="0D0D0D"/>
                </a:solidFill>
                <a:effectLst/>
                <a:latin typeface="Söhne"/>
              </a:rPr>
              <a:t>özelliklerin</a:t>
            </a:r>
            <a:r>
              <a:rPr lang="en-US" b="0" i="0" dirty="0">
                <a:solidFill>
                  <a:srgbClr val="0D0D0D"/>
                </a:solidFill>
                <a:effectLst/>
                <a:latin typeface="Söhne"/>
              </a:rPr>
              <a:t> </a:t>
            </a:r>
            <a:r>
              <a:rPr lang="en-US" b="0" i="0" dirty="0" err="1">
                <a:solidFill>
                  <a:srgbClr val="0D0D0D"/>
                </a:solidFill>
                <a:effectLst/>
                <a:latin typeface="Söhne"/>
              </a:rPr>
              <a:t>ölçeklerine</a:t>
            </a:r>
            <a:r>
              <a:rPr lang="en-US" b="0" i="0" dirty="0">
                <a:solidFill>
                  <a:srgbClr val="0D0D0D"/>
                </a:solidFill>
                <a:effectLst/>
                <a:latin typeface="Söhne"/>
              </a:rPr>
              <a:t> </a:t>
            </a:r>
            <a:r>
              <a:rPr lang="en-US" b="0" i="0" dirty="0" err="1">
                <a:solidFill>
                  <a:srgbClr val="0D0D0D"/>
                </a:solidFill>
                <a:effectLst/>
                <a:latin typeface="Söhne"/>
              </a:rPr>
              <a:t>duyarlıdır</a:t>
            </a:r>
            <a:r>
              <a:rPr lang="en-US" b="0" i="0" dirty="0">
                <a:solidFill>
                  <a:srgbClr val="0D0D0D"/>
                </a:solidFill>
                <a:effectLst/>
                <a:latin typeface="Söhne"/>
              </a:rPr>
              <a:t>. </a:t>
            </a:r>
            <a:r>
              <a:rPr lang="en-US" b="0" i="0" dirty="0" err="1">
                <a:solidFill>
                  <a:srgbClr val="0D0D0D"/>
                </a:solidFill>
                <a:effectLst/>
                <a:latin typeface="Söhne"/>
              </a:rPr>
              <a:t>Özelliklerin</a:t>
            </a:r>
            <a:r>
              <a:rPr lang="en-US" b="0" i="0" dirty="0">
                <a:solidFill>
                  <a:srgbClr val="0D0D0D"/>
                </a:solidFill>
                <a:effectLst/>
                <a:latin typeface="Söhne"/>
              </a:rPr>
              <a:t> </a:t>
            </a:r>
            <a:r>
              <a:rPr lang="en-US" b="0" i="0" dirty="0" err="1">
                <a:solidFill>
                  <a:srgbClr val="0D0D0D"/>
                </a:solidFill>
                <a:effectLst/>
                <a:latin typeface="Söhne"/>
              </a:rPr>
              <a:t>ölçekleri</a:t>
            </a:r>
            <a:r>
              <a:rPr lang="en-US" b="0" i="0" dirty="0">
                <a:solidFill>
                  <a:srgbClr val="0D0D0D"/>
                </a:solidFill>
                <a:effectLst/>
                <a:latin typeface="Söhne"/>
              </a:rPr>
              <a:t> </a:t>
            </a:r>
            <a:r>
              <a:rPr lang="en-US" b="0" i="0" dirty="0" err="1">
                <a:solidFill>
                  <a:srgbClr val="0D0D0D"/>
                </a:solidFill>
                <a:effectLst/>
                <a:latin typeface="Söhne"/>
              </a:rPr>
              <a:t>arasındaki</a:t>
            </a:r>
            <a:r>
              <a:rPr lang="en-US" b="0" i="0" dirty="0">
                <a:solidFill>
                  <a:srgbClr val="0D0D0D"/>
                </a:solidFill>
                <a:effectLst/>
                <a:latin typeface="Söhne"/>
              </a:rPr>
              <a:t> fark </a:t>
            </a:r>
            <a:r>
              <a:rPr lang="en-US" b="0" i="0" dirty="0" err="1">
                <a:solidFill>
                  <a:srgbClr val="0D0D0D"/>
                </a:solidFill>
                <a:effectLst/>
                <a:latin typeface="Söhne"/>
              </a:rPr>
              <a:t>çok</a:t>
            </a:r>
            <a:r>
              <a:rPr lang="en-US" b="0" i="0" dirty="0">
                <a:solidFill>
                  <a:srgbClr val="0D0D0D"/>
                </a:solidFill>
                <a:effectLst/>
                <a:latin typeface="Söhne"/>
              </a:rPr>
              <a:t> </a:t>
            </a:r>
            <a:r>
              <a:rPr lang="en-US" b="0" i="0" dirty="0" err="1">
                <a:solidFill>
                  <a:srgbClr val="0D0D0D"/>
                </a:solidFill>
                <a:effectLst/>
                <a:latin typeface="Söhne"/>
              </a:rPr>
              <a:t>büyük</a:t>
            </a:r>
            <a:r>
              <a:rPr lang="en-US" b="0" i="0" dirty="0">
                <a:solidFill>
                  <a:srgbClr val="0D0D0D"/>
                </a:solidFill>
                <a:effectLst/>
                <a:latin typeface="Söhne"/>
              </a:rPr>
              <a:t> </a:t>
            </a:r>
            <a:r>
              <a:rPr lang="en-US" b="0" i="0" dirty="0" err="1">
                <a:solidFill>
                  <a:srgbClr val="0D0D0D"/>
                </a:solidFill>
                <a:effectLst/>
                <a:latin typeface="Söhne"/>
              </a:rPr>
              <a:t>olduğunda</a:t>
            </a:r>
            <a:r>
              <a:rPr lang="en-US" b="0" i="0" dirty="0">
                <a:solidFill>
                  <a:srgbClr val="0D0D0D"/>
                </a:solidFill>
                <a:effectLst/>
                <a:latin typeface="Söhne"/>
              </a:rPr>
              <a:t> </a:t>
            </a:r>
            <a:r>
              <a:rPr lang="en-US" b="0" i="0" dirty="0" err="1">
                <a:solidFill>
                  <a:srgbClr val="0D0D0D"/>
                </a:solidFill>
                <a:effectLst/>
                <a:latin typeface="Söhne"/>
              </a:rPr>
              <a:t>veya</a:t>
            </a:r>
            <a:r>
              <a:rPr lang="en-US" b="0" i="0" dirty="0">
                <a:solidFill>
                  <a:srgbClr val="0D0D0D"/>
                </a:solidFill>
                <a:effectLst/>
                <a:latin typeface="Söhne"/>
              </a:rPr>
              <a:t> </a:t>
            </a:r>
            <a:r>
              <a:rPr lang="en-US" b="0" i="0" dirty="0" err="1">
                <a:solidFill>
                  <a:srgbClr val="0D0D0D"/>
                </a:solidFill>
                <a:effectLst/>
                <a:latin typeface="Söhne"/>
              </a:rPr>
              <a:t>farklı</a:t>
            </a:r>
            <a:r>
              <a:rPr lang="en-US" b="0" i="0" dirty="0">
                <a:solidFill>
                  <a:srgbClr val="0D0D0D"/>
                </a:solidFill>
                <a:effectLst/>
                <a:latin typeface="Söhne"/>
              </a:rPr>
              <a:t> </a:t>
            </a:r>
            <a:r>
              <a:rPr lang="en-US" b="0" i="0" dirty="0" err="1">
                <a:solidFill>
                  <a:srgbClr val="0D0D0D"/>
                </a:solidFill>
                <a:effectLst/>
                <a:latin typeface="Söhne"/>
              </a:rPr>
              <a:t>ölçeklerde</a:t>
            </a:r>
            <a:r>
              <a:rPr lang="en-US" b="0" i="0" dirty="0">
                <a:solidFill>
                  <a:srgbClr val="0D0D0D"/>
                </a:solidFill>
                <a:effectLst/>
                <a:latin typeface="Söhne"/>
              </a:rPr>
              <a:t> </a:t>
            </a:r>
            <a:r>
              <a:rPr lang="en-US" b="0" i="0" dirty="0" err="1">
                <a:solidFill>
                  <a:srgbClr val="0D0D0D"/>
                </a:solidFill>
                <a:effectLst/>
                <a:latin typeface="Söhne"/>
              </a:rPr>
              <a:t>ölçülen</a:t>
            </a:r>
            <a:r>
              <a:rPr lang="en-US" b="0" i="0" dirty="0">
                <a:solidFill>
                  <a:srgbClr val="0D0D0D"/>
                </a:solidFill>
                <a:effectLst/>
                <a:latin typeface="Söhne"/>
              </a:rPr>
              <a:t> </a:t>
            </a:r>
            <a:r>
              <a:rPr lang="en-US" b="0" i="0" dirty="0" err="1">
                <a:solidFill>
                  <a:srgbClr val="0D0D0D"/>
                </a:solidFill>
                <a:effectLst/>
                <a:latin typeface="Söhne"/>
              </a:rPr>
              <a:t>özellikler</a:t>
            </a:r>
            <a:r>
              <a:rPr lang="en-US" b="0" i="0" dirty="0">
                <a:solidFill>
                  <a:srgbClr val="0D0D0D"/>
                </a:solidFill>
                <a:effectLst/>
                <a:latin typeface="Söhne"/>
              </a:rPr>
              <a:t> </a:t>
            </a:r>
            <a:r>
              <a:rPr lang="en-US" b="0" i="0" dirty="0" err="1">
                <a:solidFill>
                  <a:srgbClr val="0D0D0D"/>
                </a:solidFill>
                <a:effectLst/>
                <a:latin typeface="Söhne"/>
              </a:rPr>
              <a:t>varsa</a:t>
            </a:r>
            <a:r>
              <a:rPr lang="en-US" b="0" i="0" dirty="0">
                <a:solidFill>
                  <a:srgbClr val="0D0D0D"/>
                </a:solidFill>
                <a:effectLst/>
                <a:latin typeface="Söhne"/>
              </a:rPr>
              <a:t>, </a:t>
            </a:r>
            <a:r>
              <a:rPr lang="en-US" b="0" i="0" dirty="0" err="1">
                <a:solidFill>
                  <a:srgbClr val="0D0D0D"/>
                </a:solidFill>
                <a:effectLst/>
                <a:latin typeface="Söhne"/>
              </a:rPr>
              <a:t>algoritmanın</a:t>
            </a:r>
            <a:r>
              <a:rPr lang="en-US" b="0" i="0" dirty="0">
                <a:solidFill>
                  <a:srgbClr val="0D0D0D"/>
                </a:solidFill>
                <a:effectLst/>
                <a:latin typeface="Söhne"/>
              </a:rPr>
              <a:t> </a:t>
            </a:r>
            <a:r>
              <a:rPr lang="en-US" b="0" i="0" dirty="0" err="1">
                <a:solidFill>
                  <a:srgbClr val="0D0D0D"/>
                </a:solidFill>
                <a:effectLst/>
                <a:latin typeface="Söhne"/>
              </a:rPr>
              <a:t>performansı</a:t>
            </a:r>
            <a:r>
              <a:rPr lang="en-US" b="0" i="0" dirty="0">
                <a:solidFill>
                  <a:srgbClr val="0D0D0D"/>
                </a:solidFill>
                <a:effectLst/>
                <a:latin typeface="Söhne"/>
              </a:rPr>
              <a:t> </a:t>
            </a:r>
            <a:r>
              <a:rPr lang="en-US" b="0" i="0" dirty="0" err="1">
                <a:solidFill>
                  <a:srgbClr val="0D0D0D"/>
                </a:solidFill>
                <a:effectLst/>
                <a:latin typeface="Söhne"/>
              </a:rPr>
              <a:t>etkilenebilir</a:t>
            </a:r>
            <a:r>
              <a:rPr lang="en-US" b="0" i="0" dirty="0">
                <a:solidFill>
                  <a:srgbClr val="0D0D0D"/>
                </a:solidFill>
                <a:effectLst/>
                <a:latin typeface="Söhne"/>
              </a:rPr>
              <a:t>.</a:t>
            </a:r>
          </a:p>
          <a:p>
            <a:pPr algn="just">
              <a:buFont typeface="+mj-lt"/>
              <a:buAutoNum type="arabicPeriod"/>
            </a:pPr>
            <a:r>
              <a:rPr lang="en-US" b="1" i="0" dirty="0" err="1">
                <a:solidFill>
                  <a:srgbClr val="0D0D0D"/>
                </a:solidFill>
                <a:effectLst/>
                <a:latin typeface="Söhne"/>
              </a:rPr>
              <a:t>Kısa</a:t>
            </a:r>
            <a:r>
              <a:rPr lang="en-US" b="1" i="0" dirty="0">
                <a:solidFill>
                  <a:srgbClr val="0D0D0D"/>
                </a:solidFill>
                <a:effectLst/>
                <a:latin typeface="Söhne"/>
              </a:rPr>
              <a:t> </a:t>
            </a:r>
            <a:r>
              <a:rPr lang="en-US" b="1" i="0" dirty="0" err="1">
                <a:solidFill>
                  <a:srgbClr val="0D0D0D"/>
                </a:solidFill>
                <a:effectLst/>
                <a:latin typeface="Söhne"/>
              </a:rPr>
              <a:t>Mesafe</a:t>
            </a:r>
            <a:r>
              <a:rPr lang="en-US" b="1" i="0" dirty="0">
                <a:solidFill>
                  <a:srgbClr val="0D0D0D"/>
                </a:solidFill>
                <a:effectLst/>
                <a:latin typeface="Söhne"/>
              </a:rPr>
              <a:t> </a:t>
            </a:r>
            <a:r>
              <a:rPr lang="en-US" b="1" i="0" dirty="0" err="1">
                <a:solidFill>
                  <a:srgbClr val="0D0D0D"/>
                </a:solidFill>
                <a:effectLst/>
                <a:latin typeface="Söhne"/>
              </a:rPr>
              <a:t>Yanlılığı</a:t>
            </a:r>
            <a:r>
              <a:rPr lang="en-US" b="0" i="0" dirty="0">
                <a:solidFill>
                  <a:srgbClr val="0D0D0D"/>
                </a:solidFill>
                <a:effectLst/>
                <a:latin typeface="Söhne"/>
              </a:rPr>
              <a:t>: KNN </a:t>
            </a:r>
            <a:r>
              <a:rPr lang="en-US" b="0" i="0" dirty="0" err="1">
                <a:solidFill>
                  <a:srgbClr val="0D0D0D"/>
                </a:solidFill>
                <a:effectLst/>
                <a:latin typeface="Söhne"/>
              </a:rPr>
              <a:t>algoritması</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noktalarının</a:t>
            </a:r>
            <a:r>
              <a:rPr lang="en-US" b="0" i="0" dirty="0">
                <a:solidFill>
                  <a:srgbClr val="0D0D0D"/>
                </a:solidFill>
                <a:effectLst/>
                <a:latin typeface="Söhne"/>
              </a:rPr>
              <a:t> </a:t>
            </a:r>
            <a:r>
              <a:rPr lang="en-US" b="0" i="0" dirty="0" err="1">
                <a:solidFill>
                  <a:srgbClr val="0D0D0D"/>
                </a:solidFill>
                <a:effectLst/>
                <a:latin typeface="Söhne"/>
              </a:rPr>
              <a:t>doğrudan</a:t>
            </a:r>
            <a:r>
              <a:rPr lang="en-US" b="0" i="0" dirty="0">
                <a:solidFill>
                  <a:srgbClr val="0D0D0D"/>
                </a:solidFill>
                <a:effectLst/>
                <a:latin typeface="Söhne"/>
              </a:rPr>
              <a:t> </a:t>
            </a:r>
            <a:r>
              <a:rPr lang="en-US" b="0" i="0" dirty="0" err="1">
                <a:solidFill>
                  <a:srgbClr val="0D0D0D"/>
                </a:solidFill>
                <a:effectLst/>
                <a:latin typeface="Söhne"/>
              </a:rPr>
              <a:t>uzaklık</a:t>
            </a:r>
            <a:r>
              <a:rPr lang="en-US" b="0" i="0" dirty="0">
                <a:solidFill>
                  <a:srgbClr val="0D0D0D"/>
                </a:solidFill>
                <a:effectLst/>
                <a:latin typeface="Söhne"/>
              </a:rPr>
              <a:t> </a:t>
            </a:r>
            <a:r>
              <a:rPr lang="en-US" b="0" i="0" dirty="0" err="1">
                <a:solidFill>
                  <a:srgbClr val="0D0D0D"/>
                </a:solidFill>
                <a:effectLst/>
                <a:latin typeface="Söhne"/>
              </a:rPr>
              <a:t>ölçümleri</a:t>
            </a:r>
            <a:r>
              <a:rPr lang="en-US" b="0" i="0" dirty="0">
                <a:solidFill>
                  <a:srgbClr val="0D0D0D"/>
                </a:solidFill>
                <a:effectLst/>
                <a:latin typeface="Söhne"/>
              </a:rPr>
              <a:t> </a:t>
            </a:r>
            <a:r>
              <a:rPr lang="en-US" b="0" i="0" dirty="0" err="1">
                <a:solidFill>
                  <a:srgbClr val="0D0D0D"/>
                </a:solidFill>
                <a:effectLst/>
                <a:latin typeface="Söhne"/>
              </a:rPr>
              <a:t>üzerinden</a:t>
            </a:r>
            <a:r>
              <a:rPr lang="en-US" b="0" i="0" dirty="0">
                <a:solidFill>
                  <a:srgbClr val="0D0D0D"/>
                </a:solidFill>
                <a:effectLst/>
                <a:latin typeface="Söhne"/>
              </a:rPr>
              <a:t> </a:t>
            </a:r>
            <a:r>
              <a:rPr lang="en-US" b="0" i="0" dirty="0" err="1">
                <a:solidFill>
                  <a:srgbClr val="0D0D0D"/>
                </a:solidFill>
                <a:effectLst/>
                <a:latin typeface="Söhne"/>
              </a:rPr>
              <a:t>karar</a:t>
            </a:r>
            <a:r>
              <a:rPr lang="en-US" b="0" i="0" dirty="0">
                <a:solidFill>
                  <a:srgbClr val="0D0D0D"/>
                </a:solidFill>
                <a:effectLst/>
                <a:latin typeface="Söhne"/>
              </a:rPr>
              <a:t> </a:t>
            </a:r>
            <a:r>
              <a:rPr lang="en-US" b="0" i="0" dirty="0" err="1">
                <a:solidFill>
                  <a:srgbClr val="0D0D0D"/>
                </a:solidFill>
                <a:effectLst/>
                <a:latin typeface="Söhne"/>
              </a:rPr>
              <a:t>verir</a:t>
            </a:r>
            <a:r>
              <a:rPr lang="en-US" b="0" i="0" dirty="0">
                <a:solidFill>
                  <a:srgbClr val="0D0D0D"/>
                </a:solidFill>
                <a:effectLst/>
                <a:latin typeface="Söhne"/>
              </a:rPr>
              <a:t>. Bu,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setindeki</a:t>
            </a:r>
            <a:r>
              <a:rPr lang="en-US" b="0" i="0" dirty="0">
                <a:solidFill>
                  <a:srgbClr val="0D0D0D"/>
                </a:solidFill>
                <a:effectLst/>
                <a:latin typeface="Söhne"/>
              </a:rPr>
              <a:t> </a:t>
            </a:r>
            <a:r>
              <a:rPr lang="en-US" b="0" i="0" dirty="0" err="1">
                <a:solidFill>
                  <a:srgbClr val="0D0D0D"/>
                </a:solidFill>
                <a:effectLst/>
                <a:latin typeface="Söhne"/>
              </a:rPr>
              <a:t>yoğunluğa</a:t>
            </a:r>
            <a:r>
              <a:rPr lang="en-US" b="0" i="0" dirty="0">
                <a:solidFill>
                  <a:srgbClr val="0D0D0D"/>
                </a:solidFill>
                <a:effectLst/>
                <a:latin typeface="Söhne"/>
              </a:rPr>
              <a:t> </a:t>
            </a:r>
            <a:r>
              <a:rPr lang="en-US" b="0" i="0" dirty="0" err="1">
                <a:solidFill>
                  <a:srgbClr val="0D0D0D"/>
                </a:solidFill>
                <a:effectLst/>
                <a:latin typeface="Söhne"/>
              </a:rPr>
              <a:t>veya</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noktalarının</a:t>
            </a:r>
            <a:r>
              <a:rPr lang="en-US" b="0" i="0" dirty="0">
                <a:solidFill>
                  <a:srgbClr val="0D0D0D"/>
                </a:solidFill>
                <a:effectLst/>
                <a:latin typeface="Söhne"/>
              </a:rPr>
              <a:t> </a:t>
            </a:r>
            <a:r>
              <a:rPr lang="en-US" b="0" i="0" dirty="0" err="1">
                <a:solidFill>
                  <a:srgbClr val="0D0D0D"/>
                </a:solidFill>
                <a:effectLst/>
                <a:latin typeface="Söhne"/>
              </a:rPr>
              <a:t>dağılımına</a:t>
            </a:r>
            <a:r>
              <a:rPr lang="en-US" b="0" i="0" dirty="0">
                <a:solidFill>
                  <a:srgbClr val="0D0D0D"/>
                </a:solidFill>
                <a:effectLst/>
                <a:latin typeface="Söhne"/>
              </a:rPr>
              <a:t> </a:t>
            </a:r>
            <a:r>
              <a:rPr lang="en-US" b="0" i="0" dirty="0" err="1">
                <a:solidFill>
                  <a:srgbClr val="0D0D0D"/>
                </a:solidFill>
                <a:effectLst/>
                <a:latin typeface="Söhne"/>
              </a:rPr>
              <a:t>bağlı</a:t>
            </a:r>
            <a:r>
              <a:rPr lang="en-US" b="0" i="0" dirty="0">
                <a:solidFill>
                  <a:srgbClr val="0D0D0D"/>
                </a:solidFill>
                <a:effectLst/>
                <a:latin typeface="Söhne"/>
              </a:rPr>
              <a:t> </a:t>
            </a:r>
            <a:r>
              <a:rPr lang="en-US" b="0" i="0" dirty="0" err="1">
                <a:solidFill>
                  <a:srgbClr val="0D0D0D"/>
                </a:solidFill>
                <a:effectLst/>
                <a:latin typeface="Söhne"/>
              </a:rPr>
              <a:t>olarak</a:t>
            </a:r>
            <a:r>
              <a:rPr lang="en-US" b="0" i="0" dirty="0">
                <a:solidFill>
                  <a:srgbClr val="0D0D0D"/>
                </a:solidFill>
                <a:effectLst/>
                <a:latin typeface="Söhne"/>
              </a:rPr>
              <a:t> </a:t>
            </a:r>
            <a:r>
              <a:rPr lang="en-US" b="0" i="0" dirty="0" err="1">
                <a:solidFill>
                  <a:srgbClr val="0D0D0D"/>
                </a:solidFill>
                <a:effectLst/>
                <a:latin typeface="Söhne"/>
              </a:rPr>
              <a:t>yanlı</a:t>
            </a:r>
            <a:r>
              <a:rPr lang="en-US" b="0" i="0" dirty="0">
                <a:solidFill>
                  <a:srgbClr val="0D0D0D"/>
                </a:solidFill>
                <a:effectLst/>
                <a:latin typeface="Söhne"/>
              </a:rPr>
              <a:t> </a:t>
            </a:r>
            <a:r>
              <a:rPr lang="en-US" b="0" i="0" dirty="0" err="1">
                <a:solidFill>
                  <a:srgbClr val="0D0D0D"/>
                </a:solidFill>
                <a:effectLst/>
                <a:latin typeface="Söhne"/>
              </a:rPr>
              <a:t>sonuçlara</a:t>
            </a:r>
            <a:r>
              <a:rPr lang="en-US" b="0" i="0" dirty="0">
                <a:solidFill>
                  <a:srgbClr val="0D0D0D"/>
                </a:solidFill>
                <a:effectLst/>
                <a:latin typeface="Söhne"/>
              </a:rPr>
              <a:t> </a:t>
            </a:r>
            <a:r>
              <a:rPr lang="en-US" b="0" i="0" dirty="0" err="1">
                <a:solidFill>
                  <a:srgbClr val="0D0D0D"/>
                </a:solidFill>
                <a:effectLst/>
                <a:latin typeface="Söhne"/>
              </a:rPr>
              <a:t>yol</a:t>
            </a:r>
            <a:r>
              <a:rPr lang="en-US" b="0" i="0" dirty="0">
                <a:solidFill>
                  <a:srgbClr val="0D0D0D"/>
                </a:solidFill>
                <a:effectLst/>
                <a:latin typeface="Söhne"/>
              </a:rPr>
              <a:t> </a:t>
            </a:r>
            <a:r>
              <a:rPr lang="en-US" b="0" i="0" dirty="0" err="1">
                <a:solidFill>
                  <a:srgbClr val="0D0D0D"/>
                </a:solidFill>
                <a:effectLst/>
                <a:latin typeface="Söhne"/>
              </a:rPr>
              <a:t>açabilir</a:t>
            </a:r>
            <a:r>
              <a:rPr lang="en-US" b="0" i="0" dirty="0">
                <a:solidFill>
                  <a:srgbClr val="0D0D0D"/>
                </a:solidFill>
                <a:effectLst/>
                <a:latin typeface="Söhne"/>
              </a:rPr>
              <a:t>.</a:t>
            </a:r>
          </a:p>
          <a:p>
            <a:pPr algn="just">
              <a:buFont typeface="+mj-lt"/>
              <a:buAutoNum type="arabicPeriod"/>
            </a:pPr>
            <a:r>
              <a:rPr lang="en-US" b="1" i="0" dirty="0" err="1">
                <a:solidFill>
                  <a:srgbClr val="0D0D0D"/>
                </a:solidFill>
                <a:effectLst/>
                <a:latin typeface="Söhne"/>
              </a:rPr>
              <a:t>Dengesiz</a:t>
            </a:r>
            <a:r>
              <a:rPr lang="en-US" b="1" i="0" dirty="0">
                <a:solidFill>
                  <a:srgbClr val="0D0D0D"/>
                </a:solidFill>
                <a:effectLst/>
                <a:latin typeface="Söhne"/>
              </a:rPr>
              <a:t> Veri </a:t>
            </a:r>
            <a:r>
              <a:rPr lang="en-US" b="1" i="0" dirty="0" err="1">
                <a:solidFill>
                  <a:srgbClr val="0D0D0D"/>
                </a:solidFill>
                <a:effectLst/>
                <a:latin typeface="Söhne"/>
              </a:rPr>
              <a:t>Dağılımı</a:t>
            </a:r>
            <a:r>
              <a:rPr lang="en-US" b="1" i="0" dirty="0">
                <a:solidFill>
                  <a:srgbClr val="0D0D0D"/>
                </a:solidFill>
                <a:effectLst/>
                <a:latin typeface="Söhne"/>
              </a:rPr>
              <a:t> </a:t>
            </a:r>
            <a:r>
              <a:rPr lang="en-US" b="1" i="0" dirty="0" err="1">
                <a:solidFill>
                  <a:srgbClr val="0D0D0D"/>
                </a:solidFill>
                <a:effectLst/>
                <a:latin typeface="Söhne"/>
              </a:rPr>
              <a:t>Sorunu</a:t>
            </a:r>
            <a:r>
              <a:rPr lang="en-US" b="0" i="0" dirty="0">
                <a:solidFill>
                  <a:srgbClr val="0D0D0D"/>
                </a:solidFill>
                <a:effectLst/>
                <a:latin typeface="Söhne"/>
              </a:rPr>
              <a:t>: KNN, </a:t>
            </a:r>
            <a:r>
              <a:rPr lang="en-US" b="0" i="0" dirty="0" err="1">
                <a:solidFill>
                  <a:srgbClr val="0D0D0D"/>
                </a:solidFill>
                <a:effectLst/>
                <a:latin typeface="Söhne"/>
              </a:rPr>
              <a:t>dengesiz</a:t>
            </a:r>
            <a:r>
              <a:rPr lang="en-US" b="0" i="0" dirty="0">
                <a:solidFill>
                  <a:srgbClr val="0D0D0D"/>
                </a:solidFill>
                <a:effectLst/>
                <a:latin typeface="Söhne"/>
              </a:rPr>
              <a:t> </a:t>
            </a:r>
            <a:r>
              <a:rPr lang="en-US" b="0" i="0" dirty="0" err="1">
                <a:solidFill>
                  <a:srgbClr val="0D0D0D"/>
                </a:solidFill>
                <a:effectLst/>
                <a:latin typeface="Söhne"/>
              </a:rPr>
              <a:t>sınıf</a:t>
            </a:r>
            <a:r>
              <a:rPr lang="en-US" b="0" i="0" dirty="0">
                <a:solidFill>
                  <a:srgbClr val="0D0D0D"/>
                </a:solidFill>
                <a:effectLst/>
                <a:latin typeface="Söhne"/>
              </a:rPr>
              <a:t> </a:t>
            </a:r>
            <a:r>
              <a:rPr lang="en-US" b="0" i="0" dirty="0" err="1">
                <a:solidFill>
                  <a:srgbClr val="0D0D0D"/>
                </a:solidFill>
                <a:effectLst/>
                <a:latin typeface="Söhne"/>
              </a:rPr>
              <a:t>dağılımlarına</a:t>
            </a:r>
            <a:r>
              <a:rPr lang="en-US" b="0" i="0" dirty="0">
                <a:solidFill>
                  <a:srgbClr val="0D0D0D"/>
                </a:solidFill>
                <a:effectLst/>
                <a:latin typeface="Söhne"/>
              </a:rPr>
              <a:t> </a:t>
            </a:r>
            <a:r>
              <a:rPr lang="en-US" b="0" i="0" dirty="0" err="1">
                <a:solidFill>
                  <a:srgbClr val="0D0D0D"/>
                </a:solidFill>
                <a:effectLst/>
                <a:latin typeface="Söhne"/>
              </a:rPr>
              <a:t>sahip</a:t>
            </a:r>
            <a:r>
              <a:rPr lang="en-US" b="0" i="0" dirty="0">
                <a:solidFill>
                  <a:srgbClr val="0D0D0D"/>
                </a:solidFill>
                <a:effectLst/>
                <a:latin typeface="Söhne"/>
              </a:rPr>
              <a:t> </a:t>
            </a:r>
            <a:r>
              <a:rPr lang="en-US" b="0" i="0" dirty="0" err="1">
                <a:solidFill>
                  <a:srgbClr val="0D0D0D"/>
                </a:solidFill>
                <a:effectLst/>
                <a:latin typeface="Söhne"/>
              </a:rPr>
              <a:t>veri</a:t>
            </a:r>
            <a:r>
              <a:rPr lang="en-US" b="0" i="0" dirty="0">
                <a:solidFill>
                  <a:srgbClr val="0D0D0D"/>
                </a:solidFill>
                <a:effectLst/>
                <a:latin typeface="Söhne"/>
              </a:rPr>
              <a:t> </a:t>
            </a:r>
            <a:r>
              <a:rPr lang="en-US" b="0" i="0" dirty="0" err="1">
                <a:solidFill>
                  <a:srgbClr val="0D0D0D"/>
                </a:solidFill>
                <a:effectLst/>
                <a:latin typeface="Söhne"/>
              </a:rPr>
              <a:t>setlerinde</a:t>
            </a:r>
            <a:r>
              <a:rPr lang="en-US" b="0" i="0" dirty="0">
                <a:solidFill>
                  <a:srgbClr val="0D0D0D"/>
                </a:solidFill>
                <a:effectLst/>
                <a:latin typeface="Söhne"/>
              </a:rPr>
              <a:t> </a:t>
            </a:r>
            <a:r>
              <a:rPr lang="en-US" b="0" i="0" dirty="0" err="1">
                <a:solidFill>
                  <a:srgbClr val="0D0D0D"/>
                </a:solidFill>
                <a:effectLst/>
                <a:latin typeface="Söhne"/>
              </a:rPr>
              <a:t>zayıf</a:t>
            </a:r>
            <a:r>
              <a:rPr lang="en-US" b="0" i="0" dirty="0">
                <a:solidFill>
                  <a:srgbClr val="0D0D0D"/>
                </a:solidFill>
                <a:effectLst/>
                <a:latin typeface="Söhne"/>
              </a:rPr>
              <a:t> </a:t>
            </a:r>
            <a:r>
              <a:rPr lang="en-US" b="0" i="0" dirty="0" err="1">
                <a:solidFill>
                  <a:srgbClr val="0D0D0D"/>
                </a:solidFill>
                <a:effectLst/>
                <a:latin typeface="Söhne"/>
              </a:rPr>
              <a:t>performans</a:t>
            </a:r>
            <a:r>
              <a:rPr lang="en-US" b="0" i="0" dirty="0">
                <a:solidFill>
                  <a:srgbClr val="0D0D0D"/>
                </a:solidFill>
                <a:effectLst/>
                <a:latin typeface="Söhne"/>
              </a:rPr>
              <a:t> </a:t>
            </a:r>
            <a:r>
              <a:rPr lang="en-US" b="0" i="0" dirty="0" err="1">
                <a:solidFill>
                  <a:srgbClr val="0D0D0D"/>
                </a:solidFill>
                <a:effectLst/>
                <a:latin typeface="Söhne"/>
              </a:rPr>
              <a:t>gösterebilir</a:t>
            </a:r>
            <a:r>
              <a:rPr lang="en-US" b="0" i="0" dirty="0">
                <a:solidFill>
                  <a:srgbClr val="0D0D0D"/>
                </a:solidFill>
                <a:effectLst/>
                <a:latin typeface="Söhne"/>
              </a:rPr>
              <a:t>. Nadir </a:t>
            </a:r>
            <a:r>
              <a:rPr lang="en-US" b="0" i="0" dirty="0" err="1">
                <a:solidFill>
                  <a:srgbClr val="0D0D0D"/>
                </a:solidFill>
                <a:effectLst/>
                <a:latin typeface="Söhne"/>
              </a:rPr>
              <a:t>sınıfların</a:t>
            </a:r>
            <a:r>
              <a:rPr lang="en-US" b="0" i="0" dirty="0">
                <a:solidFill>
                  <a:srgbClr val="0D0D0D"/>
                </a:solidFill>
                <a:effectLst/>
                <a:latin typeface="Söhne"/>
              </a:rPr>
              <a:t> </a:t>
            </a:r>
            <a:r>
              <a:rPr lang="en-US" b="0" i="0" dirty="0" err="1">
                <a:solidFill>
                  <a:srgbClr val="0D0D0D"/>
                </a:solidFill>
                <a:effectLst/>
                <a:latin typeface="Söhne"/>
              </a:rPr>
              <a:t>daha</a:t>
            </a:r>
            <a:r>
              <a:rPr lang="en-US" b="0" i="0" dirty="0">
                <a:solidFill>
                  <a:srgbClr val="0D0D0D"/>
                </a:solidFill>
                <a:effectLst/>
                <a:latin typeface="Söhne"/>
              </a:rPr>
              <a:t> </a:t>
            </a:r>
            <a:r>
              <a:rPr lang="en-US" b="0" i="0" dirty="0" err="1">
                <a:solidFill>
                  <a:srgbClr val="0D0D0D"/>
                </a:solidFill>
                <a:effectLst/>
                <a:latin typeface="Söhne"/>
              </a:rPr>
              <a:t>sık</a:t>
            </a:r>
            <a:r>
              <a:rPr lang="en-US" b="0" i="0" dirty="0">
                <a:solidFill>
                  <a:srgbClr val="0D0D0D"/>
                </a:solidFill>
                <a:effectLst/>
                <a:latin typeface="Söhne"/>
              </a:rPr>
              <a:t> </a:t>
            </a:r>
            <a:r>
              <a:rPr lang="en-US" b="0" i="0" dirty="0" err="1">
                <a:solidFill>
                  <a:srgbClr val="0D0D0D"/>
                </a:solidFill>
                <a:effectLst/>
                <a:latin typeface="Söhne"/>
              </a:rPr>
              <a:t>sınıflandırılmasına</a:t>
            </a:r>
            <a:r>
              <a:rPr lang="en-US" b="0" i="0" dirty="0">
                <a:solidFill>
                  <a:srgbClr val="0D0D0D"/>
                </a:solidFill>
                <a:effectLst/>
                <a:latin typeface="Söhne"/>
              </a:rPr>
              <a:t> </a:t>
            </a:r>
            <a:r>
              <a:rPr lang="en-US" b="0" i="0" dirty="0" err="1">
                <a:solidFill>
                  <a:srgbClr val="0D0D0D"/>
                </a:solidFill>
                <a:effectLst/>
                <a:latin typeface="Söhne"/>
              </a:rPr>
              <a:t>yol</a:t>
            </a:r>
            <a:r>
              <a:rPr lang="en-US" b="0" i="0" dirty="0">
                <a:solidFill>
                  <a:srgbClr val="0D0D0D"/>
                </a:solidFill>
                <a:effectLst/>
                <a:latin typeface="Söhne"/>
              </a:rPr>
              <a:t> </a:t>
            </a:r>
            <a:r>
              <a:rPr lang="en-US" b="0" i="0" dirty="0" err="1">
                <a:solidFill>
                  <a:srgbClr val="0D0D0D"/>
                </a:solidFill>
                <a:effectLst/>
                <a:latin typeface="Söhne"/>
              </a:rPr>
              <a:t>açabilir</a:t>
            </a:r>
            <a:r>
              <a:rPr lang="en-US" b="0" i="0" dirty="0">
                <a:solidFill>
                  <a:srgbClr val="0D0D0D"/>
                </a:solidFill>
                <a:effectLst/>
                <a:latin typeface="Söhne"/>
              </a:rPr>
              <a:t> </a:t>
            </a:r>
            <a:r>
              <a:rPr lang="en-US" b="0" i="0" dirty="0" err="1">
                <a:solidFill>
                  <a:srgbClr val="0D0D0D"/>
                </a:solidFill>
                <a:effectLst/>
                <a:latin typeface="Söhne"/>
              </a:rPr>
              <a:t>ve</a:t>
            </a:r>
            <a:r>
              <a:rPr lang="en-US" b="0" i="0" dirty="0">
                <a:solidFill>
                  <a:srgbClr val="0D0D0D"/>
                </a:solidFill>
                <a:effectLst/>
                <a:latin typeface="Söhne"/>
              </a:rPr>
              <a:t> </a:t>
            </a:r>
            <a:r>
              <a:rPr lang="en-US" b="0" i="0" dirty="0" err="1">
                <a:solidFill>
                  <a:srgbClr val="0D0D0D"/>
                </a:solidFill>
                <a:effectLst/>
                <a:latin typeface="Söhne"/>
              </a:rPr>
              <a:t>genel</a:t>
            </a:r>
            <a:r>
              <a:rPr lang="en-US" b="0" i="0" dirty="0">
                <a:solidFill>
                  <a:srgbClr val="0D0D0D"/>
                </a:solidFill>
                <a:effectLst/>
                <a:latin typeface="Söhne"/>
              </a:rPr>
              <a:t> </a:t>
            </a:r>
            <a:r>
              <a:rPr lang="en-US" b="0" i="0" dirty="0" err="1">
                <a:solidFill>
                  <a:srgbClr val="0D0D0D"/>
                </a:solidFill>
                <a:effectLst/>
                <a:latin typeface="Söhne"/>
              </a:rPr>
              <a:t>performansı</a:t>
            </a:r>
            <a:r>
              <a:rPr lang="en-US" b="0" i="0" dirty="0">
                <a:solidFill>
                  <a:srgbClr val="0D0D0D"/>
                </a:solidFill>
                <a:effectLst/>
                <a:latin typeface="Söhne"/>
              </a:rPr>
              <a:t> </a:t>
            </a:r>
            <a:r>
              <a:rPr lang="en-US" b="0" i="0" dirty="0" err="1">
                <a:solidFill>
                  <a:srgbClr val="0D0D0D"/>
                </a:solidFill>
                <a:effectLst/>
                <a:latin typeface="Söhne"/>
              </a:rPr>
              <a:t>etkileyebilir</a:t>
            </a:r>
            <a:r>
              <a:rPr lang="en-US" b="0" i="0" dirty="0">
                <a:solidFill>
                  <a:srgbClr val="0D0D0D"/>
                </a:solidFill>
                <a:effectLst/>
                <a:latin typeface="Söhne"/>
              </a:rPr>
              <a:t>.</a:t>
            </a:r>
          </a:p>
          <a:p>
            <a:endParaRPr lang="en-US" dirty="0"/>
          </a:p>
        </p:txBody>
      </p:sp>
      <p:sp>
        <p:nvSpPr>
          <p:cNvPr id="5" name="Slayt Numarası Yer Tutucusu 4">
            <a:extLst>
              <a:ext uri="{FF2B5EF4-FFF2-40B4-BE49-F238E27FC236}">
                <a16:creationId xmlns:a16="http://schemas.microsoft.com/office/drawing/2014/main" id="{7C3C053C-FEC3-EFA0-155A-BE94B1CE81D0}"/>
              </a:ext>
            </a:extLst>
          </p:cNvPr>
          <p:cNvSpPr>
            <a:spLocks noGrp="1"/>
          </p:cNvSpPr>
          <p:nvPr>
            <p:ph type="sldNum" sz="quarter" idx="12"/>
          </p:nvPr>
        </p:nvSpPr>
        <p:spPr/>
        <p:txBody>
          <a:bodyPr/>
          <a:lstStyle/>
          <a:p>
            <a:pPr>
              <a:defRPr/>
            </a:pPr>
            <a:fld id="{1E09EE13-7A4C-43FA-BBE8-D81D5C0B929E}" type="slidenum">
              <a:rPr lang="tr-TR" smtClean="0"/>
              <a:pPr>
                <a:defRPr/>
              </a:pPr>
              <a:t>52</a:t>
            </a:fld>
            <a:endParaRPr lang="tr-TR"/>
          </a:p>
        </p:txBody>
      </p:sp>
    </p:spTree>
    <p:extLst>
      <p:ext uri="{BB962C8B-B14F-4D97-AF65-F5344CB8AC3E}">
        <p14:creationId xmlns:p14="http://schemas.microsoft.com/office/powerpoint/2010/main" val="1305983091"/>
      </p:ext>
    </p:extLst>
  </p:cSld>
  <p:clrMapOvr>
    <a:masterClrMapping/>
  </p:clrMapOvr>
  <p:transition spd="med">
    <p:fade thruBlk="1"/>
  </p:transition>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6897</TotalTime>
  <Words>2567</Words>
  <Application>Microsoft Office PowerPoint</Application>
  <PresentationFormat>Ekran Gösterisi (4:3)</PresentationFormat>
  <Paragraphs>401</Paragraphs>
  <Slides>52</Slides>
  <Notes>9</Notes>
  <HiddenSlides>0</HiddenSlides>
  <MMClips>0</MMClips>
  <ScaleCrop>false</ScaleCrop>
  <HeadingPairs>
    <vt:vector size="8" baseType="variant">
      <vt:variant>
        <vt:lpstr>Kullanılan Yazı Tipleri</vt:lpstr>
      </vt:variant>
      <vt:variant>
        <vt:i4>16</vt:i4>
      </vt:variant>
      <vt:variant>
        <vt:lpstr>Tema</vt:lpstr>
      </vt:variant>
      <vt:variant>
        <vt:i4>1</vt:i4>
      </vt:variant>
      <vt:variant>
        <vt:lpstr>Eklenmiş OLE Hizmet Programları</vt:lpstr>
      </vt:variant>
      <vt:variant>
        <vt:i4>2</vt:i4>
      </vt:variant>
      <vt:variant>
        <vt:lpstr>Slayt Başlıkları</vt:lpstr>
      </vt:variant>
      <vt:variant>
        <vt:i4>52</vt:i4>
      </vt:variant>
    </vt:vector>
  </HeadingPairs>
  <TitlesOfParts>
    <vt:vector size="71" baseType="lpstr">
      <vt:lpstr>Abel</vt:lpstr>
      <vt:lpstr>Arial</vt:lpstr>
      <vt:lpstr>Arial Narrow</vt:lpstr>
      <vt:lpstr>Arial Tur</vt:lpstr>
      <vt:lpstr>Calibri</vt:lpstr>
      <vt:lpstr>Calibri Light</vt:lpstr>
      <vt:lpstr>Harrington</vt:lpstr>
      <vt:lpstr>inherit</vt:lpstr>
      <vt:lpstr>inter-bold</vt:lpstr>
      <vt:lpstr>inter-regular</vt:lpstr>
      <vt:lpstr>Lato</vt:lpstr>
      <vt:lpstr>Söhne</vt:lpstr>
      <vt:lpstr>Times New Roman</vt:lpstr>
      <vt:lpstr>Verdana</vt:lpstr>
      <vt:lpstr>Wingdings</vt:lpstr>
      <vt:lpstr>Wingdings 2</vt:lpstr>
      <vt:lpstr>Office Teması</vt:lpstr>
      <vt:lpstr>Equation</vt:lpstr>
      <vt:lpstr>Denklem</vt:lpstr>
      <vt:lpstr>PowerPoint Sunusu</vt:lpstr>
      <vt:lpstr>K En Yakın Komşuluk Algoritması (KNN) K-Nearest Neighbors</vt:lpstr>
      <vt:lpstr>K En Yakın Komşuluk Algoritması (KNN) K-Nearest Neighbors</vt:lpstr>
      <vt:lpstr>PowerPoint Sunusu</vt:lpstr>
      <vt:lpstr>PowerPoint Sunusu</vt:lpstr>
      <vt:lpstr>KNN Algoritması Parametreleri</vt:lpstr>
      <vt:lpstr>Uzaklık Ölçütleri</vt:lpstr>
      <vt:lpstr>Öklid Uzaklığı</vt:lpstr>
      <vt:lpstr>Manhattan Uzaklığı</vt:lpstr>
      <vt:lpstr>Chebyschev Uzaklığı</vt:lpstr>
      <vt:lpstr>Minkowski Uzaklığı</vt:lpstr>
      <vt:lpstr>Dilca (Distance Learning in Categorical Attribute)</vt:lpstr>
      <vt:lpstr>Simetrik belirsizlik katsayısı (SU)</vt:lpstr>
      <vt:lpstr>K Komşu Sayısı</vt:lpstr>
      <vt:lpstr>K Komşu Sayısı</vt:lpstr>
      <vt:lpstr>PowerPoint Sunusu</vt:lpstr>
      <vt:lpstr>PowerPoint Sunusu</vt:lpstr>
      <vt:lpstr>PowerPoint Sunusu</vt:lpstr>
      <vt:lpstr>PowerPoint Sunusu</vt:lpstr>
      <vt:lpstr>K-NN Nasıl Çalışır?</vt:lpstr>
      <vt:lpstr>PowerPoint Sunusu</vt:lpstr>
      <vt:lpstr>PowerPoint Sunusu</vt:lpstr>
      <vt:lpstr>PowerPoint Sunusu</vt:lpstr>
      <vt:lpstr>PowerPoint Sunusu</vt:lpstr>
      <vt:lpstr>PowerPoint Sunusu</vt:lpstr>
      <vt:lpstr>Eşit Sayıda Komşu Olması</vt:lpstr>
      <vt:lpstr>Örnek</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Örnek</vt:lpstr>
      <vt:lpstr>Örnek</vt:lpstr>
      <vt:lpstr>Örnek</vt:lpstr>
      <vt:lpstr>Örnek</vt:lpstr>
      <vt:lpstr>Örnek</vt:lpstr>
      <vt:lpstr>Örnek</vt:lpstr>
      <vt:lpstr>Örnek</vt:lpstr>
      <vt:lpstr>KNN Avantajları</vt:lpstr>
      <vt:lpstr>KNN Dezavantajları</vt:lpstr>
    </vt:vector>
  </TitlesOfParts>
  <Company>Office 2007 Corp.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  Madenciliği</dc:title>
  <dc:creator>YYURTAY</dc:creator>
  <cp:lastModifiedBy>MELİKE ÖZMEN ARSLAN</cp:lastModifiedBy>
  <cp:revision>278</cp:revision>
  <cp:lastPrinted>2024-03-26T08:26:43Z</cp:lastPrinted>
  <dcterms:created xsi:type="dcterms:W3CDTF">2009-02-03T08:32:31Z</dcterms:created>
  <dcterms:modified xsi:type="dcterms:W3CDTF">2026-05-27T21:54:30Z</dcterms:modified>
</cp:coreProperties>
</file>